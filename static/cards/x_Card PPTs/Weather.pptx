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931" r:id="rId4"/>
    <p:sldId id="932" r:id="rId5"/>
    <p:sldId id="258" r:id="rId6"/>
    <p:sldId id="259" r:id="rId7"/>
    <p:sldId id="682" r:id="rId8"/>
    <p:sldId id="683" r:id="rId9"/>
    <p:sldId id="407" r:id="rId10"/>
    <p:sldId id="408" r:id="rId11"/>
    <p:sldId id="463" r:id="rId12"/>
    <p:sldId id="464" r:id="rId13"/>
    <p:sldId id="899" r:id="rId14"/>
    <p:sldId id="900" r:id="rId15"/>
    <p:sldId id="409" r:id="rId16"/>
    <p:sldId id="410" r:id="rId17"/>
    <p:sldId id="700" r:id="rId18"/>
    <p:sldId id="701" r:id="rId19"/>
    <p:sldId id="411" r:id="rId20"/>
    <p:sldId id="412" r:id="rId21"/>
    <p:sldId id="413" r:id="rId22"/>
    <p:sldId id="414" r:id="rId23"/>
    <p:sldId id="415" r:id="rId24"/>
    <p:sldId id="416" r:id="rId25"/>
    <p:sldId id="417" r:id="rId26"/>
    <p:sldId id="418" r:id="rId27"/>
    <p:sldId id="419" r:id="rId28"/>
    <p:sldId id="420" r:id="rId29"/>
    <p:sldId id="630" r:id="rId30"/>
    <p:sldId id="631" r:id="rId31"/>
    <p:sldId id="732" r:id="rId32"/>
    <p:sldId id="733" r:id="rId33"/>
    <p:sldId id="423" r:id="rId34"/>
    <p:sldId id="424" r:id="rId35"/>
    <p:sldId id="425" r:id="rId36"/>
    <p:sldId id="426" r:id="rId37"/>
    <p:sldId id="730" r:id="rId38"/>
    <p:sldId id="731" r:id="rId39"/>
    <p:sldId id="321" r:id="rId40"/>
    <p:sldId id="322" r:id="rId41"/>
    <p:sldId id="323" r:id="rId42"/>
    <p:sldId id="324" r:id="rId43"/>
    <p:sldId id="325" r:id="rId44"/>
    <p:sldId id="326" r:id="rId45"/>
    <p:sldId id="327" r:id="rId46"/>
    <p:sldId id="328" r:id="rId47"/>
    <p:sldId id="357" r:id="rId48"/>
    <p:sldId id="358" r:id="rId49"/>
    <p:sldId id="359" r:id="rId50"/>
    <p:sldId id="360" r:id="rId51"/>
    <p:sldId id="329" r:id="rId52"/>
    <p:sldId id="330" r:id="rId53"/>
    <p:sldId id="331" r:id="rId54"/>
    <p:sldId id="332" r:id="rId55"/>
    <p:sldId id="465" r:id="rId56"/>
    <p:sldId id="466" r:id="rId57"/>
    <p:sldId id="467" r:id="rId58"/>
    <p:sldId id="468" r:id="rId59"/>
    <p:sldId id="776" r:id="rId60"/>
    <p:sldId id="777" r:id="rId61"/>
    <p:sldId id="262" r:id="rId62"/>
    <p:sldId id="263" r:id="rId63"/>
    <p:sldId id="289" r:id="rId64"/>
    <p:sldId id="290" r:id="rId65"/>
    <p:sldId id="291" r:id="rId66"/>
    <p:sldId id="292" r:id="rId67"/>
    <p:sldId id="751" r:id="rId68"/>
    <p:sldId id="752" r:id="rId69"/>
    <p:sldId id="293" r:id="rId70"/>
    <p:sldId id="294" r:id="rId71"/>
  </p:sldIdLst>
  <p:sldSz cx="4572000" cy="27432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201" d="100"/>
          <a:sy n="201" d="100"/>
        </p:scale>
        <p:origin x="1050" y="156"/>
      </p:cViewPr>
      <p:guideLst/>
    </p:cSldViewPr>
  </p:slideViewPr>
  <p:notesTextViewPr>
    <p:cViewPr>
      <p:scale>
        <a:sx n="1" d="1"/>
        <a:sy n="1" d="1"/>
      </p:scale>
      <p:origin x="0" y="0"/>
    </p:cViewPr>
  </p:notesTextViewPr>
  <p:sorterViewPr>
    <p:cViewPr>
      <p:scale>
        <a:sx n="200" d="100"/>
        <a:sy n="200" d="100"/>
      </p:scale>
      <p:origin x="0" y="-2632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500" y="448945"/>
            <a:ext cx="3429000" cy="955040"/>
          </a:xfrm>
          <a:prstGeom prst="rect">
            <a:avLst/>
          </a:prstGeom>
        </p:spPr>
        <p:txBody>
          <a:bodyPr anchor="b"/>
          <a:lstStyle>
            <a:lvl1pPr algn="ctr">
              <a:defRPr sz="2250"/>
            </a:lvl1pPr>
          </a:lstStyle>
          <a:p>
            <a:r>
              <a:rPr lang="en-US"/>
              <a:t>Click to edit Master title style</a:t>
            </a:r>
            <a:endParaRPr lang="en-US" dirty="0"/>
          </a:p>
        </p:txBody>
      </p:sp>
      <p:sp>
        <p:nvSpPr>
          <p:cNvPr id="3" name="Subtitle 2"/>
          <p:cNvSpPr>
            <a:spLocks noGrp="1"/>
          </p:cNvSpPr>
          <p:nvPr>
            <p:ph type="subTitle" idx="1"/>
          </p:nvPr>
        </p:nvSpPr>
        <p:spPr>
          <a:xfrm>
            <a:off x="571500" y="1440815"/>
            <a:ext cx="3429000" cy="662305"/>
          </a:xfrm>
          <a:prstGeom prst="rect">
            <a:avLst/>
          </a:prstGeom>
        </p:spPr>
        <p:txBody>
          <a:bodyPr/>
          <a:lstStyle>
            <a:lvl1pPr marL="0" indent="0" algn="ctr">
              <a:buNone/>
              <a:defRPr sz="900"/>
            </a:lvl1pPr>
            <a:lvl2pPr marL="171450" indent="0" algn="ctr">
              <a:buNone/>
              <a:defRPr sz="750"/>
            </a:lvl2pPr>
            <a:lvl3pPr marL="342900" indent="0" algn="ctr">
              <a:buNone/>
              <a:defRPr sz="675"/>
            </a:lvl3pPr>
            <a:lvl4pPr marL="514350" indent="0" algn="ctr">
              <a:buNone/>
              <a:defRPr sz="600"/>
            </a:lvl4pPr>
            <a:lvl5pPr marL="685800" indent="0" algn="ctr">
              <a:buNone/>
              <a:defRPr sz="600"/>
            </a:lvl5pPr>
            <a:lvl6pPr marL="857250" indent="0" algn="ctr">
              <a:buNone/>
              <a:defRPr sz="600"/>
            </a:lvl6pPr>
            <a:lvl7pPr marL="1028700" indent="0" algn="ctr">
              <a:buNone/>
              <a:defRPr sz="600"/>
            </a:lvl7pPr>
            <a:lvl8pPr marL="1200150" indent="0" algn="ctr">
              <a:buNone/>
              <a:defRPr sz="600"/>
            </a:lvl8pPr>
            <a:lvl9pPr marL="1371600" indent="0" algn="ctr">
              <a:buNone/>
              <a:defRPr sz="600"/>
            </a:lvl9pPr>
          </a:lstStyle>
          <a:p>
            <a:r>
              <a:rPr lang="en-US"/>
              <a:t>Click to edit Master subtitle style</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364263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314325" y="730250"/>
            <a:ext cx="394335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96151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1944" y="683895"/>
            <a:ext cx="3943350" cy="1141095"/>
          </a:xfrm>
          <a:prstGeom prst="rect">
            <a:avLst/>
          </a:prstGeom>
        </p:spPr>
        <p:txBody>
          <a:bodyPr anchor="b"/>
          <a:lstStyle>
            <a:lvl1pPr>
              <a:defRPr sz="2250"/>
            </a:lvl1pPr>
          </a:lstStyle>
          <a:p>
            <a:r>
              <a:rPr lang="en-US"/>
              <a:t>Click to edit Master title style</a:t>
            </a:r>
            <a:endParaRPr lang="en-US" dirty="0"/>
          </a:p>
        </p:txBody>
      </p:sp>
      <p:sp>
        <p:nvSpPr>
          <p:cNvPr id="3" name="Text Placeholder 2"/>
          <p:cNvSpPr>
            <a:spLocks noGrp="1"/>
          </p:cNvSpPr>
          <p:nvPr>
            <p:ph type="body" idx="1"/>
          </p:nvPr>
        </p:nvSpPr>
        <p:spPr>
          <a:xfrm>
            <a:off x="311944" y="1835785"/>
            <a:ext cx="3943350" cy="600075"/>
          </a:xfrm>
          <a:prstGeom prst="rect">
            <a:avLst/>
          </a:prstGeom>
        </p:spPr>
        <p:txBody>
          <a:bodyPr/>
          <a:lstStyle>
            <a:lvl1pPr marL="0" indent="0">
              <a:buNone/>
              <a:defRPr sz="900">
                <a:solidFill>
                  <a:schemeClr val="tx1">
                    <a:tint val="75000"/>
                  </a:schemeClr>
                </a:solidFill>
              </a:defRPr>
            </a:lvl1pPr>
            <a:lvl2pPr marL="171450" indent="0">
              <a:buNone/>
              <a:defRPr sz="750">
                <a:solidFill>
                  <a:schemeClr val="tx1">
                    <a:tint val="75000"/>
                  </a:schemeClr>
                </a:solidFill>
              </a:defRPr>
            </a:lvl2pPr>
            <a:lvl3pPr marL="342900" indent="0">
              <a:buNone/>
              <a:defRPr sz="675">
                <a:solidFill>
                  <a:schemeClr val="tx1">
                    <a:tint val="75000"/>
                  </a:schemeClr>
                </a:solidFill>
              </a:defRPr>
            </a:lvl3pPr>
            <a:lvl4pPr marL="514350" indent="0">
              <a:buNone/>
              <a:defRPr sz="600">
                <a:solidFill>
                  <a:schemeClr val="tx1">
                    <a:tint val="75000"/>
                  </a:schemeClr>
                </a:solidFill>
              </a:defRPr>
            </a:lvl4pPr>
            <a:lvl5pPr marL="685800" indent="0">
              <a:buNone/>
              <a:defRPr sz="600">
                <a:solidFill>
                  <a:schemeClr val="tx1">
                    <a:tint val="75000"/>
                  </a:schemeClr>
                </a:solidFill>
              </a:defRPr>
            </a:lvl5pPr>
            <a:lvl6pPr marL="857250" indent="0">
              <a:buNone/>
              <a:defRPr sz="600">
                <a:solidFill>
                  <a:schemeClr val="tx1">
                    <a:tint val="75000"/>
                  </a:schemeClr>
                </a:solidFill>
              </a:defRPr>
            </a:lvl6pPr>
            <a:lvl7pPr marL="1028700" indent="0">
              <a:buNone/>
              <a:defRPr sz="600">
                <a:solidFill>
                  <a:schemeClr val="tx1">
                    <a:tint val="75000"/>
                  </a:schemeClr>
                </a:solidFill>
              </a:defRPr>
            </a:lvl7pPr>
            <a:lvl8pPr marL="1200150" indent="0">
              <a:buNone/>
              <a:defRPr sz="600">
                <a:solidFill>
                  <a:schemeClr val="tx1">
                    <a:tint val="75000"/>
                  </a:schemeClr>
                </a:solidFill>
              </a:defRPr>
            </a:lvl8pPr>
            <a:lvl9pPr marL="1371600" indent="0">
              <a:buNone/>
              <a:defRPr sz="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490374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314325" y="730250"/>
            <a:ext cx="194310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14575" y="730250"/>
            <a:ext cx="194310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262417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14921" y="146050"/>
            <a:ext cx="3943350" cy="530225"/>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314921" y="672465"/>
            <a:ext cx="1934170" cy="329565"/>
          </a:xfrm>
          <a:prstGeom prst="rect">
            <a:avLst/>
          </a:prstGeom>
        </p:spPr>
        <p:txBody>
          <a:bodyPr anchor="b"/>
          <a:lstStyle>
            <a:lvl1pPr marL="0" indent="0">
              <a:buNone/>
              <a:defRPr sz="900" b="1"/>
            </a:lvl1pPr>
            <a:lvl2pPr marL="171450" indent="0">
              <a:buNone/>
              <a:defRPr sz="750" b="1"/>
            </a:lvl2pPr>
            <a:lvl3pPr marL="342900" indent="0">
              <a:buNone/>
              <a:defRPr sz="675"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4" name="Content Placeholder 3"/>
          <p:cNvSpPr>
            <a:spLocks noGrp="1"/>
          </p:cNvSpPr>
          <p:nvPr>
            <p:ph sz="half" idx="2"/>
          </p:nvPr>
        </p:nvSpPr>
        <p:spPr>
          <a:xfrm>
            <a:off x="314921" y="1002030"/>
            <a:ext cx="1934170" cy="14738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314575" y="672465"/>
            <a:ext cx="1943696" cy="329565"/>
          </a:xfrm>
          <a:prstGeom prst="rect">
            <a:avLst/>
          </a:prstGeom>
        </p:spPr>
        <p:txBody>
          <a:bodyPr anchor="b"/>
          <a:lstStyle>
            <a:lvl1pPr marL="0" indent="0">
              <a:buNone/>
              <a:defRPr sz="900" b="1"/>
            </a:lvl1pPr>
            <a:lvl2pPr marL="171450" indent="0">
              <a:buNone/>
              <a:defRPr sz="750" b="1"/>
            </a:lvl2pPr>
            <a:lvl3pPr marL="342900" indent="0">
              <a:buNone/>
              <a:defRPr sz="675"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6" name="Content Placeholder 5"/>
          <p:cNvSpPr>
            <a:spLocks noGrp="1"/>
          </p:cNvSpPr>
          <p:nvPr>
            <p:ph sz="quarter" idx="4"/>
          </p:nvPr>
        </p:nvSpPr>
        <p:spPr>
          <a:xfrm>
            <a:off x="2314575" y="1002030"/>
            <a:ext cx="1943696" cy="14738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8" name="Footer Placeholder 7"/>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9" name="Slide Number Placeholder 8"/>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2740136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4" name="Footer Placeholder 3"/>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5" name="Slide Number Placeholder 4"/>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2115089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3" name="Footer Placeholder 2"/>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4" name="Slide Number Placeholder 3"/>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769017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4921" y="182880"/>
            <a:ext cx="1474589" cy="640080"/>
          </a:xfrm>
          <a:prstGeom prst="rect">
            <a:avLst/>
          </a:prstGeom>
        </p:spPr>
        <p:txBody>
          <a:bodyPr anchor="b"/>
          <a:lstStyle>
            <a:lvl1pPr>
              <a:defRPr sz="1200"/>
            </a:lvl1pPr>
          </a:lstStyle>
          <a:p>
            <a:r>
              <a:rPr lang="en-US"/>
              <a:t>Click to edit Master title style</a:t>
            </a:r>
            <a:endParaRPr lang="en-US" dirty="0"/>
          </a:p>
        </p:txBody>
      </p:sp>
      <p:sp>
        <p:nvSpPr>
          <p:cNvPr id="3" name="Content Placeholder 2"/>
          <p:cNvSpPr>
            <a:spLocks noGrp="1"/>
          </p:cNvSpPr>
          <p:nvPr>
            <p:ph idx="1"/>
          </p:nvPr>
        </p:nvSpPr>
        <p:spPr>
          <a:xfrm>
            <a:off x="1943695" y="394970"/>
            <a:ext cx="2314575" cy="1949450"/>
          </a:xfrm>
          <a:prstGeom prst="rect">
            <a:avLst/>
          </a:prstGeom>
        </p:spPr>
        <p:txBody>
          <a:bodyPr/>
          <a:lstStyle>
            <a:lvl1pPr>
              <a:defRPr sz="1200"/>
            </a:lvl1pPr>
            <a:lvl2pPr>
              <a:defRPr sz="1050"/>
            </a:lvl2pPr>
            <a:lvl3pPr>
              <a:defRPr sz="900"/>
            </a:lvl3pPr>
            <a:lvl4pPr>
              <a:defRPr sz="750"/>
            </a:lvl4pPr>
            <a:lvl5pPr>
              <a:defRPr sz="750"/>
            </a:lvl5pPr>
            <a:lvl6pPr>
              <a:defRPr sz="750"/>
            </a:lvl6pPr>
            <a:lvl7pPr>
              <a:defRPr sz="750"/>
            </a:lvl7pPr>
            <a:lvl8pPr>
              <a:defRPr sz="750"/>
            </a:lvl8pPr>
            <a:lvl9pPr>
              <a:defRPr sz="7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14921" y="822960"/>
            <a:ext cx="1474589" cy="1524635"/>
          </a:xfrm>
          <a:prstGeom prst="rect">
            <a:avLst/>
          </a:prstGeom>
        </p:spPr>
        <p:txBody>
          <a:bodyPr/>
          <a:lstStyle>
            <a:lvl1pPr marL="0" indent="0">
              <a:buNone/>
              <a:defRPr sz="600"/>
            </a:lvl1pPr>
            <a:lvl2pPr marL="171450" indent="0">
              <a:buNone/>
              <a:defRPr sz="525"/>
            </a:lvl2pPr>
            <a:lvl3pPr marL="342900" indent="0">
              <a:buNone/>
              <a:defRPr sz="450"/>
            </a:lvl3pPr>
            <a:lvl4pPr marL="514350" indent="0">
              <a:buNone/>
              <a:defRPr sz="375"/>
            </a:lvl4pPr>
            <a:lvl5pPr marL="685800" indent="0">
              <a:buNone/>
              <a:defRPr sz="375"/>
            </a:lvl5pPr>
            <a:lvl6pPr marL="857250" indent="0">
              <a:buNone/>
              <a:defRPr sz="375"/>
            </a:lvl6pPr>
            <a:lvl7pPr marL="1028700" indent="0">
              <a:buNone/>
              <a:defRPr sz="375"/>
            </a:lvl7pPr>
            <a:lvl8pPr marL="1200150" indent="0">
              <a:buNone/>
              <a:defRPr sz="375"/>
            </a:lvl8pPr>
            <a:lvl9pPr marL="1371600" indent="0">
              <a:buNone/>
              <a:defRPr sz="375"/>
            </a:lvl9pPr>
          </a:lstStyle>
          <a:p>
            <a:pPr lvl="0"/>
            <a:r>
              <a:rPr lang="en-US"/>
              <a:t>Click to edit Master text styles</a:t>
            </a:r>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195399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4921" y="182880"/>
            <a:ext cx="1474589" cy="640080"/>
          </a:xfrm>
          <a:prstGeom prst="rect">
            <a:avLst/>
          </a:prstGeom>
        </p:spPr>
        <p:txBody>
          <a:bodyPr anchor="b"/>
          <a:lstStyle>
            <a:lvl1pPr>
              <a:defRPr sz="1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3695" y="394970"/>
            <a:ext cx="2314575" cy="1949450"/>
          </a:xfrm>
          <a:prstGeom prst="rect">
            <a:avLst/>
          </a:prstGeom>
        </p:spPr>
        <p:txBody>
          <a:bodyPr anchor="t"/>
          <a:lstStyle>
            <a:lvl1pPr marL="0" indent="0">
              <a:buNone/>
              <a:defRPr sz="1200"/>
            </a:lvl1pPr>
            <a:lvl2pPr marL="171450" indent="0">
              <a:buNone/>
              <a:defRPr sz="1050"/>
            </a:lvl2pPr>
            <a:lvl3pPr marL="342900" indent="0">
              <a:buNone/>
              <a:defRPr sz="900"/>
            </a:lvl3pPr>
            <a:lvl4pPr marL="514350" indent="0">
              <a:buNone/>
              <a:defRPr sz="750"/>
            </a:lvl4pPr>
            <a:lvl5pPr marL="685800" indent="0">
              <a:buNone/>
              <a:defRPr sz="750"/>
            </a:lvl5pPr>
            <a:lvl6pPr marL="857250" indent="0">
              <a:buNone/>
              <a:defRPr sz="750"/>
            </a:lvl6pPr>
            <a:lvl7pPr marL="1028700" indent="0">
              <a:buNone/>
              <a:defRPr sz="750"/>
            </a:lvl7pPr>
            <a:lvl8pPr marL="1200150" indent="0">
              <a:buNone/>
              <a:defRPr sz="750"/>
            </a:lvl8pPr>
            <a:lvl9pPr marL="1371600" indent="0">
              <a:buNone/>
              <a:defRPr sz="750"/>
            </a:lvl9pPr>
          </a:lstStyle>
          <a:p>
            <a:r>
              <a:rPr lang="en-US" dirty="0"/>
              <a:t>Click icon to add picture</a:t>
            </a:r>
          </a:p>
        </p:txBody>
      </p:sp>
      <p:sp>
        <p:nvSpPr>
          <p:cNvPr id="4" name="Text Placeholder 3"/>
          <p:cNvSpPr>
            <a:spLocks noGrp="1"/>
          </p:cNvSpPr>
          <p:nvPr>
            <p:ph type="body" sz="half" idx="2"/>
          </p:nvPr>
        </p:nvSpPr>
        <p:spPr>
          <a:xfrm>
            <a:off x="314921" y="822960"/>
            <a:ext cx="1474589" cy="1524635"/>
          </a:xfrm>
          <a:prstGeom prst="rect">
            <a:avLst/>
          </a:prstGeom>
        </p:spPr>
        <p:txBody>
          <a:bodyPr/>
          <a:lstStyle>
            <a:lvl1pPr marL="0" indent="0">
              <a:buNone/>
              <a:defRPr sz="600"/>
            </a:lvl1pPr>
            <a:lvl2pPr marL="171450" indent="0">
              <a:buNone/>
              <a:defRPr sz="525"/>
            </a:lvl2pPr>
            <a:lvl3pPr marL="342900" indent="0">
              <a:buNone/>
              <a:defRPr sz="450"/>
            </a:lvl3pPr>
            <a:lvl4pPr marL="514350" indent="0">
              <a:buNone/>
              <a:defRPr sz="375"/>
            </a:lvl4pPr>
            <a:lvl5pPr marL="685800" indent="0">
              <a:buNone/>
              <a:defRPr sz="375"/>
            </a:lvl5pPr>
            <a:lvl6pPr marL="857250" indent="0">
              <a:buNone/>
              <a:defRPr sz="375"/>
            </a:lvl6pPr>
            <a:lvl7pPr marL="1028700" indent="0">
              <a:buNone/>
              <a:defRPr sz="375"/>
            </a:lvl7pPr>
            <a:lvl8pPr marL="1200150" indent="0">
              <a:buNone/>
              <a:defRPr sz="375"/>
            </a:lvl8pPr>
            <a:lvl9pPr marL="1371600" indent="0">
              <a:buNone/>
              <a:defRPr sz="375"/>
            </a:lvl9pPr>
          </a:lstStyle>
          <a:p>
            <a:pPr lvl="0"/>
            <a:r>
              <a:rPr lang="en-US"/>
              <a:t>Click to edit Master text styles</a:t>
            </a:r>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11024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314325" y="730250"/>
            <a:ext cx="3943350" cy="174053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755794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71837" y="146050"/>
            <a:ext cx="985838" cy="2324735"/>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14325" y="146050"/>
            <a:ext cx="2900363" cy="232473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775824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8788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7A9946-5692-E818-A72E-A36AB2A2FEEA}"/>
              </a:ext>
            </a:extLst>
          </p:cNvPr>
          <p:cNvPicPr>
            <a:picLocks noChangeAspect="1"/>
          </p:cNvPicPr>
          <p:nvPr userDrawn="1"/>
        </p:nvPicPr>
        <p:blipFill>
          <a:blip r:embed="rId14">
            <a:clrChange>
              <a:clrFrom>
                <a:srgbClr val="FFFFFF"/>
              </a:clrFrom>
              <a:clrTo>
                <a:srgbClr val="FFFFFF">
                  <a:alpha val="0"/>
                </a:srgbClr>
              </a:clrTo>
            </a:clrChange>
          </a:blip>
          <a:stretch>
            <a:fillRect/>
          </a:stretch>
        </p:blipFill>
        <p:spPr>
          <a:xfrm>
            <a:off x="3700587" y="2403835"/>
            <a:ext cx="706443" cy="223451"/>
          </a:xfrm>
          <a:prstGeom prst="rect">
            <a:avLst/>
          </a:prstGeom>
        </p:spPr>
      </p:pic>
      <p:sp>
        <p:nvSpPr>
          <p:cNvPr id="4" name="TextBox 3">
            <a:extLst>
              <a:ext uri="{FF2B5EF4-FFF2-40B4-BE49-F238E27FC236}">
                <a16:creationId xmlns:a16="http://schemas.microsoft.com/office/drawing/2014/main" id="{DA4919B7-D03A-9B97-6C73-CC837D59682E}"/>
              </a:ext>
            </a:extLst>
          </p:cNvPr>
          <p:cNvSpPr txBox="1"/>
          <p:nvPr userDrawn="1"/>
        </p:nvSpPr>
        <p:spPr>
          <a:xfrm>
            <a:off x="4180007" y="2314225"/>
            <a:ext cx="325444" cy="261610"/>
          </a:xfrm>
          <a:prstGeom prst="rect">
            <a:avLst/>
          </a:prstGeom>
          <a:noFill/>
        </p:spPr>
        <p:txBody>
          <a:bodyPr wrap="square" rtlCol="0">
            <a:spAutoFit/>
          </a:bodyPr>
          <a:lstStyle/>
          <a:p>
            <a:pPr algn="r"/>
            <a:r>
              <a:rPr lang="en-US" sz="1100" dirty="0"/>
              <a:t>©</a:t>
            </a:r>
          </a:p>
        </p:txBody>
      </p:sp>
      <p:sp>
        <p:nvSpPr>
          <p:cNvPr id="2" name="TextBox 1">
            <a:extLst>
              <a:ext uri="{FF2B5EF4-FFF2-40B4-BE49-F238E27FC236}">
                <a16:creationId xmlns:a16="http://schemas.microsoft.com/office/drawing/2014/main" id="{0412EA83-402B-25E4-AC13-94DA49D0258B}"/>
              </a:ext>
            </a:extLst>
          </p:cNvPr>
          <p:cNvSpPr txBox="1"/>
          <p:nvPr userDrawn="1"/>
        </p:nvSpPr>
        <p:spPr>
          <a:xfrm>
            <a:off x="103694" y="2413266"/>
            <a:ext cx="1192955" cy="215444"/>
          </a:xfrm>
          <a:prstGeom prst="rect">
            <a:avLst/>
          </a:prstGeom>
          <a:noFill/>
        </p:spPr>
        <p:txBody>
          <a:bodyPr wrap="none" rtlCol="0">
            <a:spAutoFit/>
          </a:bodyPr>
          <a:lstStyle/>
          <a:p>
            <a:r>
              <a:rPr lang="en-US" sz="800" dirty="0"/>
              <a:t>triplesevenaviation.com</a:t>
            </a:r>
          </a:p>
        </p:txBody>
      </p:sp>
    </p:spTree>
    <p:extLst>
      <p:ext uri="{BB962C8B-B14F-4D97-AF65-F5344CB8AC3E}">
        <p14:creationId xmlns:p14="http://schemas.microsoft.com/office/powerpoint/2010/main" val="11431500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342900" rtl="0" eaLnBrk="1" latinLnBrk="0" hangingPunct="1">
        <a:lnSpc>
          <a:spcPct val="90000"/>
        </a:lnSpc>
        <a:spcBef>
          <a:spcPct val="0"/>
        </a:spcBef>
        <a:buNone/>
        <a:defRPr sz="1650" kern="1200">
          <a:solidFill>
            <a:schemeClr val="tx1"/>
          </a:solidFill>
          <a:latin typeface="+mj-lt"/>
          <a:ea typeface="+mj-ea"/>
          <a:cs typeface="+mj-cs"/>
        </a:defRPr>
      </a:lvl1pPr>
    </p:titleStyle>
    <p:bodyStyle>
      <a:lvl1pPr marL="85725" indent="-85725" algn="l" defTabSz="3429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1pPr>
      <a:lvl2pPr marL="257175" indent="-85725" algn="l" defTabSz="342900" rtl="0" eaLnBrk="1" latinLnBrk="0" hangingPunct="1">
        <a:lnSpc>
          <a:spcPct val="90000"/>
        </a:lnSpc>
        <a:spcBef>
          <a:spcPts val="188"/>
        </a:spcBef>
        <a:buFont typeface="Arial" panose="020B0604020202020204" pitchFamily="34" charset="0"/>
        <a:buChar char="•"/>
        <a:defRPr sz="900" kern="1200">
          <a:solidFill>
            <a:schemeClr val="tx1"/>
          </a:solidFill>
          <a:latin typeface="+mn-lt"/>
          <a:ea typeface="+mn-ea"/>
          <a:cs typeface="+mn-cs"/>
        </a:defRPr>
      </a:lvl2pPr>
      <a:lvl3pPr marL="428625" indent="-85725" algn="l" defTabSz="342900" rtl="0" eaLnBrk="1" latinLnBrk="0" hangingPunct="1">
        <a:lnSpc>
          <a:spcPct val="90000"/>
        </a:lnSpc>
        <a:spcBef>
          <a:spcPts val="188"/>
        </a:spcBef>
        <a:buFont typeface="Arial" panose="020B0604020202020204" pitchFamily="34" charset="0"/>
        <a:buChar char="•"/>
        <a:defRPr sz="750" kern="1200">
          <a:solidFill>
            <a:schemeClr val="tx1"/>
          </a:solidFill>
          <a:latin typeface="+mn-lt"/>
          <a:ea typeface="+mn-ea"/>
          <a:cs typeface="+mn-cs"/>
        </a:defRPr>
      </a:lvl3pPr>
      <a:lvl4pPr marL="6000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4pPr>
      <a:lvl5pPr marL="7715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5pPr>
      <a:lvl6pPr marL="9429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6pPr>
      <a:lvl7pPr marL="11144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7pPr>
      <a:lvl8pPr marL="12858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8pPr>
      <a:lvl9pPr marL="14573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9pPr>
    </p:bodyStyle>
    <p:otherStyle>
      <a:defPPr>
        <a:defRPr lang="en-US"/>
      </a:defPPr>
      <a:lvl1pPr marL="0" algn="l" defTabSz="342900" rtl="0" eaLnBrk="1" latinLnBrk="0" hangingPunct="1">
        <a:defRPr sz="675" kern="1200">
          <a:solidFill>
            <a:schemeClr val="tx1"/>
          </a:solidFill>
          <a:latin typeface="+mn-lt"/>
          <a:ea typeface="+mn-ea"/>
          <a:cs typeface="+mn-cs"/>
        </a:defRPr>
      </a:lvl1pPr>
      <a:lvl2pPr marL="171450" algn="l" defTabSz="342900" rtl="0" eaLnBrk="1" latinLnBrk="0" hangingPunct="1">
        <a:defRPr sz="675" kern="1200">
          <a:solidFill>
            <a:schemeClr val="tx1"/>
          </a:solidFill>
          <a:latin typeface="+mn-lt"/>
          <a:ea typeface="+mn-ea"/>
          <a:cs typeface="+mn-cs"/>
        </a:defRPr>
      </a:lvl2pPr>
      <a:lvl3pPr marL="342900" algn="l" defTabSz="342900" rtl="0" eaLnBrk="1" latinLnBrk="0" hangingPunct="1">
        <a:defRPr sz="675" kern="1200">
          <a:solidFill>
            <a:schemeClr val="tx1"/>
          </a:solidFill>
          <a:latin typeface="+mn-lt"/>
          <a:ea typeface="+mn-ea"/>
          <a:cs typeface="+mn-cs"/>
        </a:defRPr>
      </a:lvl3pPr>
      <a:lvl4pPr marL="514350" algn="l" defTabSz="342900" rtl="0" eaLnBrk="1" latinLnBrk="0" hangingPunct="1">
        <a:defRPr sz="675" kern="1200">
          <a:solidFill>
            <a:schemeClr val="tx1"/>
          </a:solidFill>
          <a:latin typeface="+mn-lt"/>
          <a:ea typeface="+mn-ea"/>
          <a:cs typeface="+mn-cs"/>
        </a:defRPr>
      </a:lvl4pPr>
      <a:lvl5pPr marL="685800" algn="l" defTabSz="342900" rtl="0" eaLnBrk="1" latinLnBrk="0" hangingPunct="1">
        <a:defRPr sz="675" kern="1200">
          <a:solidFill>
            <a:schemeClr val="tx1"/>
          </a:solidFill>
          <a:latin typeface="+mn-lt"/>
          <a:ea typeface="+mn-ea"/>
          <a:cs typeface="+mn-cs"/>
        </a:defRPr>
      </a:lvl5pPr>
      <a:lvl6pPr marL="857250" algn="l" defTabSz="342900" rtl="0" eaLnBrk="1" latinLnBrk="0" hangingPunct="1">
        <a:defRPr sz="675" kern="1200">
          <a:solidFill>
            <a:schemeClr val="tx1"/>
          </a:solidFill>
          <a:latin typeface="+mn-lt"/>
          <a:ea typeface="+mn-ea"/>
          <a:cs typeface="+mn-cs"/>
        </a:defRPr>
      </a:lvl6pPr>
      <a:lvl7pPr marL="1028700" algn="l" defTabSz="342900" rtl="0" eaLnBrk="1" latinLnBrk="0" hangingPunct="1">
        <a:defRPr sz="675" kern="1200">
          <a:solidFill>
            <a:schemeClr val="tx1"/>
          </a:solidFill>
          <a:latin typeface="+mn-lt"/>
          <a:ea typeface="+mn-ea"/>
          <a:cs typeface="+mn-cs"/>
        </a:defRPr>
      </a:lvl7pPr>
      <a:lvl8pPr marL="1200150" algn="l" defTabSz="342900" rtl="0" eaLnBrk="1" latinLnBrk="0" hangingPunct="1">
        <a:defRPr sz="675" kern="1200">
          <a:solidFill>
            <a:schemeClr val="tx1"/>
          </a:solidFill>
          <a:latin typeface="+mn-lt"/>
          <a:ea typeface="+mn-ea"/>
          <a:cs typeface="+mn-cs"/>
        </a:defRPr>
      </a:lvl8pPr>
      <a:lvl9pPr marL="1371600" algn="l" defTabSz="342900" rtl="0" eaLnBrk="1" latinLnBrk="0" hangingPunct="1">
        <a:defRPr sz="67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7951D1-6212-040B-2704-392993549611}"/>
              </a:ext>
            </a:extLst>
          </p:cNvPr>
          <p:cNvSpPr txBox="1"/>
          <p:nvPr/>
        </p:nvSpPr>
        <p:spPr>
          <a:xfrm>
            <a:off x="467240" y="1109990"/>
            <a:ext cx="3637520" cy="523220"/>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What is an occluded front and what does it look like on a prognosis chart?</a:t>
            </a:r>
          </a:p>
        </p:txBody>
      </p:sp>
      <p:sp>
        <p:nvSpPr>
          <p:cNvPr id="2" name="TextBox 1">
            <a:extLst>
              <a:ext uri="{FF2B5EF4-FFF2-40B4-BE49-F238E27FC236}">
                <a16:creationId xmlns:a16="http://schemas.microsoft.com/office/drawing/2014/main" id="{71663ADB-1DD1-EF8D-3F76-5F1F8452CB3C}"/>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3" name="Rectangle 2">
            <a:extLst>
              <a:ext uri="{FF2B5EF4-FFF2-40B4-BE49-F238E27FC236}">
                <a16:creationId xmlns:a16="http://schemas.microsoft.com/office/drawing/2014/main" id="{70A581E5-364A-0119-8751-3EB9DCEC377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E18AE9D1-20CE-BC82-4CB2-0A374B20EFB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998062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84DEAB-AE83-72F3-043B-3D998D149249}"/>
              </a:ext>
            </a:extLst>
          </p:cNvPr>
          <p:cNvSpPr txBox="1"/>
          <p:nvPr/>
        </p:nvSpPr>
        <p:spPr>
          <a:xfrm>
            <a:off x="175252" y="298722"/>
            <a:ext cx="4221496" cy="1169551"/>
          </a:xfrm>
          <a:prstGeom prst="rect">
            <a:avLst/>
          </a:prstGeom>
          <a:noFill/>
        </p:spPr>
        <p:txBody>
          <a:bodyPr wrap="square" rtlCol="0">
            <a:spAutoFit/>
          </a:bodyPr>
          <a:lstStyle/>
          <a:p>
            <a:pPr algn="just"/>
            <a:r>
              <a:rPr lang="en-US" sz="1000" dirty="0">
                <a:latin typeface="Times New Roman" panose="02020603050405020304" pitchFamily="18" charset="0"/>
                <a:cs typeface="Times New Roman" panose="02020603050405020304" pitchFamily="18" charset="0"/>
              </a:rPr>
              <a:t>An occluded front occurs when a cold air mass catches up to a warm front. The warm air is “occluded” or blocked from reaching the ground as it rises up and over the cold air. It is usually a sign </a:t>
            </a:r>
            <a:r>
              <a:rPr lang="en-US" sz="1000">
                <a:latin typeface="Times New Roman" panose="02020603050405020304" pitchFamily="18" charset="0"/>
                <a:cs typeface="Times New Roman" panose="02020603050405020304" pitchFamily="18" charset="0"/>
              </a:rPr>
              <a:t>the predominant </a:t>
            </a:r>
            <a:r>
              <a:rPr lang="en-US" sz="1000" dirty="0">
                <a:latin typeface="Times New Roman" panose="02020603050405020304" pitchFamily="18" charset="0"/>
                <a:cs typeface="Times New Roman" panose="02020603050405020304" pitchFamily="18" charset="0"/>
              </a:rPr>
              <a:t>recent weather has reached its mature stage. An occluded front is depicted by a purple frontal line with purple spikes and humps. When looking for an occluded front on a prog chart, always look for the “shark fin” formed by a cold front overtaking a warm front. You will usually find an occluded front there.</a:t>
            </a:r>
          </a:p>
        </p:txBody>
      </p:sp>
      <p:sp>
        <p:nvSpPr>
          <p:cNvPr id="18" name="TextBox 17">
            <a:extLst>
              <a:ext uri="{FF2B5EF4-FFF2-40B4-BE49-F238E27FC236}">
                <a16:creationId xmlns:a16="http://schemas.microsoft.com/office/drawing/2014/main" id="{3AFD3A19-8EAB-D73A-D97B-D87F59C3CAF3}"/>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pic>
        <p:nvPicPr>
          <p:cNvPr id="17" name="Picture 16">
            <a:extLst>
              <a:ext uri="{FF2B5EF4-FFF2-40B4-BE49-F238E27FC236}">
                <a16:creationId xmlns:a16="http://schemas.microsoft.com/office/drawing/2014/main" id="{A6D3EA14-A51B-3F36-14BA-50092AC28202}"/>
              </a:ext>
            </a:extLst>
          </p:cNvPr>
          <p:cNvPicPr>
            <a:picLocks noChangeAspect="1"/>
          </p:cNvPicPr>
          <p:nvPr/>
        </p:nvPicPr>
        <p:blipFill rotWithShape="1">
          <a:blip r:embed="rId2"/>
          <a:srcRect r="27852" b="25099"/>
          <a:stretch/>
        </p:blipFill>
        <p:spPr>
          <a:xfrm>
            <a:off x="2507770" y="1458557"/>
            <a:ext cx="912357" cy="861775"/>
          </a:xfrm>
          <a:prstGeom prst="rect">
            <a:avLst/>
          </a:prstGeom>
        </p:spPr>
      </p:pic>
      <p:pic>
        <p:nvPicPr>
          <p:cNvPr id="21" name="Picture 20">
            <a:extLst>
              <a:ext uri="{FF2B5EF4-FFF2-40B4-BE49-F238E27FC236}">
                <a16:creationId xmlns:a16="http://schemas.microsoft.com/office/drawing/2014/main" id="{6A3B1086-D489-BBB1-0465-7C36C788E427}"/>
              </a:ext>
            </a:extLst>
          </p:cNvPr>
          <p:cNvPicPr>
            <a:picLocks noChangeAspect="1"/>
          </p:cNvPicPr>
          <p:nvPr/>
        </p:nvPicPr>
        <p:blipFill>
          <a:blip r:embed="rId3"/>
          <a:stretch>
            <a:fillRect/>
          </a:stretch>
        </p:blipFill>
        <p:spPr>
          <a:xfrm>
            <a:off x="572651" y="1557303"/>
            <a:ext cx="1592768" cy="664282"/>
          </a:xfrm>
          <a:prstGeom prst="rect">
            <a:avLst/>
          </a:prstGeom>
        </p:spPr>
      </p:pic>
      <p:sp>
        <p:nvSpPr>
          <p:cNvPr id="22" name="TextBox 21">
            <a:extLst>
              <a:ext uri="{FF2B5EF4-FFF2-40B4-BE49-F238E27FC236}">
                <a16:creationId xmlns:a16="http://schemas.microsoft.com/office/drawing/2014/main" id="{39C0FC8F-858B-09A2-A5B7-3DBC1AE367E6}"/>
              </a:ext>
            </a:extLst>
          </p:cNvPr>
          <p:cNvSpPr txBox="1"/>
          <p:nvPr/>
        </p:nvSpPr>
        <p:spPr>
          <a:xfrm>
            <a:off x="3588700" y="1458557"/>
            <a:ext cx="839772" cy="246221"/>
          </a:xfrm>
          <a:prstGeom prst="rect">
            <a:avLst/>
          </a:prstGeom>
          <a:noFill/>
        </p:spPr>
        <p:txBody>
          <a:bodyPr wrap="square" rtlCol="0">
            <a:spAutoFit/>
          </a:bodyPr>
          <a:lstStyle/>
          <a:p>
            <a:pPr algn="just"/>
            <a:r>
              <a:rPr lang="en-US" sz="1000" dirty="0">
                <a:latin typeface="Times New Roman" panose="02020603050405020304" pitchFamily="18" charset="0"/>
                <a:cs typeface="Times New Roman" panose="02020603050405020304" pitchFamily="18" charset="0"/>
              </a:rPr>
              <a:t>“Shark fin”</a:t>
            </a:r>
          </a:p>
        </p:txBody>
      </p:sp>
      <p:sp>
        <p:nvSpPr>
          <p:cNvPr id="23" name="Freeform: Shape 22">
            <a:extLst>
              <a:ext uri="{FF2B5EF4-FFF2-40B4-BE49-F238E27FC236}">
                <a16:creationId xmlns:a16="http://schemas.microsoft.com/office/drawing/2014/main" id="{7C3DEC22-E590-9B85-A85F-3332F0FA6D08}"/>
              </a:ext>
            </a:extLst>
          </p:cNvPr>
          <p:cNvSpPr/>
          <p:nvPr/>
        </p:nvSpPr>
        <p:spPr>
          <a:xfrm>
            <a:off x="3029578" y="1673051"/>
            <a:ext cx="457200" cy="663191"/>
          </a:xfrm>
          <a:custGeom>
            <a:avLst/>
            <a:gdLst>
              <a:gd name="connsiteX0" fmla="*/ 95459 w 457200"/>
              <a:gd name="connsiteY0" fmla="*/ 653142 h 663191"/>
              <a:gd name="connsiteX1" fmla="*/ 95459 w 457200"/>
              <a:gd name="connsiteY1" fmla="*/ 547635 h 663191"/>
              <a:gd name="connsiteX2" fmla="*/ 90435 w 457200"/>
              <a:gd name="connsiteY2" fmla="*/ 427054 h 663191"/>
              <a:gd name="connsiteX3" fmla="*/ 60290 w 457200"/>
              <a:gd name="connsiteY3" fmla="*/ 271305 h 663191"/>
              <a:gd name="connsiteX4" fmla="*/ 25121 w 457200"/>
              <a:gd name="connsiteY4" fmla="*/ 125604 h 663191"/>
              <a:gd name="connsiteX5" fmla="*/ 0 w 457200"/>
              <a:gd name="connsiteY5" fmla="*/ 0 h 663191"/>
              <a:gd name="connsiteX6" fmla="*/ 110532 w 457200"/>
              <a:gd name="connsiteY6" fmla="*/ 40193 h 663191"/>
              <a:gd name="connsiteX7" fmla="*/ 195943 w 457200"/>
              <a:gd name="connsiteY7" fmla="*/ 105507 h 663191"/>
              <a:gd name="connsiteX8" fmla="*/ 271306 w 457200"/>
              <a:gd name="connsiteY8" fmla="*/ 195942 h 663191"/>
              <a:gd name="connsiteX9" fmla="*/ 366765 w 457200"/>
              <a:gd name="connsiteY9" fmla="*/ 331595 h 663191"/>
              <a:gd name="connsiteX10" fmla="*/ 432079 w 457200"/>
              <a:gd name="connsiteY10" fmla="*/ 467248 h 663191"/>
              <a:gd name="connsiteX11" fmla="*/ 452176 w 457200"/>
              <a:gd name="connsiteY11" fmla="*/ 617973 h 663191"/>
              <a:gd name="connsiteX12" fmla="*/ 457200 w 457200"/>
              <a:gd name="connsiteY12" fmla="*/ 663191 h 66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663191">
                <a:moveTo>
                  <a:pt x="95459" y="653142"/>
                </a:moveTo>
                <a:lnTo>
                  <a:pt x="95459" y="547635"/>
                </a:lnTo>
                <a:lnTo>
                  <a:pt x="90435" y="427054"/>
                </a:lnTo>
                <a:lnTo>
                  <a:pt x="60290" y="271305"/>
                </a:lnTo>
                <a:lnTo>
                  <a:pt x="25121" y="125604"/>
                </a:lnTo>
                <a:lnTo>
                  <a:pt x="0" y="0"/>
                </a:lnTo>
                <a:lnTo>
                  <a:pt x="110532" y="40193"/>
                </a:lnTo>
                <a:lnTo>
                  <a:pt x="195943" y="105507"/>
                </a:lnTo>
                <a:lnTo>
                  <a:pt x="271306" y="195942"/>
                </a:lnTo>
                <a:lnTo>
                  <a:pt x="366765" y="331595"/>
                </a:lnTo>
                <a:lnTo>
                  <a:pt x="432079" y="467248"/>
                </a:lnTo>
                <a:lnTo>
                  <a:pt x="452176" y="617973"/>
                </a:lnTo>
                <a:lnTo>
                  <a:pt x="457200" y="663191"/>
                </a:lnTo>
              </a:path>
            </a:pathLst>
          </a:cu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5" name="Straight Arrow Connector 24">
            <a:extLst>
              <a:ext uri="{FF2B5EF4-FFF2-40B4-BE49-F238E27FC236}">
                <a16:creationId xmlns:a16="http://schemas.microsoft.com/office/drawing/2014/main" id="{13F1C924-570E-CBB4-E8B5-D8D6D995B09B}"/>
              </a:ext>
            </a:extLst>
          </p:cNvPr>
          <p:cNvCxnSpPr/>
          <p:nvPr/>
        </p:nvCxnSpPr>
        <p:spPr>
          <a:xfrm flipH="1">
            <a:off x="3486778" y="1673051"/>
            <a:ext cx="341644" cy="3315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0140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38D99-C345-F2D1-A34C-A711D3D8F4B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FF39C92-5642-CF41-E641-881F02D3D50E}"/>
              </a:ext>
            </a:extLst>
          </p:cNvPr>
          <p:cNvSpPr txBox="1"/>
          <p:nvPr/>
        </p:nvSpPr>
        <p:spPr>
          <a:xfrm>
            <a:off x="679039" y="1002268"/>
            <a:ext cx="3213921" cy="738664"/>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How often are TAFs issued?</a:t>
            </a:r>
          </a:p>
          <a:p>
            <a:endParaRPr lang="en-US" sz="1400" dirty="0">
              <a:latin typeface="Times New Roman" panose="02020603050405020304" pitchFamily="18" charset="0"/>
              <a:cs typeface="Times New Roman" panose="02020603050405020304" pitchFamily="18" charset="0"/>
            </a:endParaRPr>
          </a:p>
          <a:p>
            <a:pPr algn="ctr"/>
            <a:r>
              <a:rPr lang="en-US" sz="1400" dirty="0">
                <a:latin typeface="Times New Roman" panose="02020603050405020304" pitchFamily="18" charset="0"/>
                <a:cs typeface="Times New Roman" panose="02020603050405020304" pitchFamily="18" charset="0"/>
              </a:rPr>
              <a:t>AIM 7-1-3</a:t>
            </a:r>
          </a:p>
        </p:txBody>
      </p:sp>
      <p:sp>
        <p:nvSpPr>
          <p:cNvPr id="5" name="TextBox 4">
            <a:extLst>
              <a:ext uri="{FF2B5EF4-FFF2-40B4-BE49-F238E27FC236}">
                <a16:creationId xmlns:a16="http://schemas.microsoft.com/office/drawing/2014/main" id="{93AC6317-3FFD-3FC6-8899-36B3BEF55863}"/>
              </a:ext>
            </a:extLst>
          </p:cNvPr>
          <p:cNvSpPr txBox="1"/>
          <p:nvPr/>
        </p:nvSpPr>
        <p:spPr>
          <a:xfrm>
            <a:off x="53340" y="55070"/>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8B347F04-543D-54F5-EFB6-6A00DE9A18B7}"/>
              </a:ext>
            </a:extLst>
          </p:cNvPr>
          <p:cNvSpPr/>
          <p:nvPr/>
        </p:nvSpPr>
        <p:spPr>
          <a:xfrm>
            <a:off x="4294078" y="101908"/>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D17B873E-97AF-D19D-89DD-FE7C2CBEAEE1}"/>
              </a:ext>
            </a:extLst>
          </p:cNvPr>
          <p:cNvSpPr txBox="1"/>
          <p:nvPr/>
        </p:nvSpPr>
        <p:spPr>
          <a:xfrm>
            <a:off x="4238625" y="63056"/>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385310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A88D6-485B-42B6-7EBD-93FD541DC1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B488676-A21A-E83F-75FA-B34DE9D499A1}"/>
              </a:ext>
            </a:extLst>
          </p:cNvPr>
          <p:cNvSpPr txBox="1"/>
          <p:nvPr/>
        </p:nvSpPr>
        <p:spPr>
          <a:xfrm>
            <a:off x="53340" y="55070"/>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3" name="TextBox 2">
            <a:extLst>
              <a:ext uri="{FF2B5EF4-FFF2-40B4-BE49-F238E27FC236}">
                <a16:creationId xmlns:a16="http://schemas.microsoft.com/office/drawing/2014/main" id="{B0971565-4E87-A01A-C11E-AD740BEEE2EE}"/>
              </a:ext>
            </a:extLst>
          </p:cNvPr>
          <p:cNvSpPr txBox="1"/>
          <p:nvPr/>
        </p:nvSpPr>
        <p:spPr>
          <a:xfrm>
            <a:off x="439022" y="1202323"/>
            <a:ext cx="3678888" cy="338554"/>
          </a:xfrm>
          <a:prstGeom prst="rect">
            <a:avLst/>
          </a:prstGeom>
          <a:noFill/>
        </p:spPr>
        <p:txBody>
          <a:bodyPr wrap="square" rtlCol="0">
            <a:spAutoFit/>
          </a:bodyPr>
          <a:lstStyle/>
          <a:p>
            <a:pPr algn="ctr"/>
            <a:r>
              <a:rPr lang="en-US" sz="1600" dirty="0">
                <a:latin typeface="Times New Roman" panose="02020603050405020304" pitchFamily="18" charset="0"/>
                <a:cs typeface="Times New Roman" panose="02020603050405020304" pitchFamily="18" charset="0"/>
              </a:rPr>
              <a:t>TAFs are issued every six hours.</a:t>
            </a:r>
          </a:p>
        </p:txBody>
      </p:sp>
    </p:spTree>
    <p:extLst>
      <p:ext uri="{BB962C8B-B14F-4D97-AF65-F5344CB8AC3E}">
        <p14:creationId xmlns:p14="http://schemas.microsoft.com/office/powerpoint/2010/main" val="936481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17B143-C736-8377-A31F-8FA3D64F507A}"/>
              </a:ext>
            </a:extLst>
          </p:cNvPr>
          <p:cNvSpPr txBox="1"/>
          <p:nvPr/>
        </p:nvSpPr>
        <p:spPr>
          <a:xfrm>
            <a:off x="676005" y="1109990"/>
            <a:ext cx="3219989" cy="523220"/>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What is a dry line and what does it look like on a prognosis chart?</a:t>
            </a:r>
          </a:p>
        </p:txBody>
      </p:sp>
      <p:sp>
        <p:nvSpPr>
          <p:cNvPr id="4" name="TextBox 3">
            <a:extLst>
              <a:ext uri="{FF2B5EF4-FFF2-40B4-BE49-F238E27FC236}">
                <a16:creationId xmlns:a16="http://schemas.microsoft.com/office/drawing/2014/main" id="{11D71D15-B91F-D64C-C421-86630881C55B}"/>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92E37390-F042-0C59-95D8-1721AD75673F}"/>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B0ACF3BB-83D1-F861-C661-71FCF94B3CF8}"/>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748550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FAAD2D7-3054-D8F4-3DC3-7DA18226F1A0}"/>
              </a:ext>
            </a:extLst>
          </p:cNvPr>
          <p:cNvSpPr txBox="1"/>
          <p:nvPr/>
        </p:nvSpPr>
        <p:spPr>
          <a:xfrm>
            <a:off x="486148" y="553606"/>
            <a:ext cx="3599704" cy="738664"/>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It is the boundary between two air masses of differing moisture content with one being dryer than the other.</a:t>
            </a:r>
          </a:p>
        </p:txBody>
      </p:sp>
      <p:pic>
        <p:nvPicPr>
          <p:cNvPr id="4" name="Picture 2" descr="AWC - Prog Charts">
            <a:extLst>
              <a:ext uri="{FF2B5EF4-FFF2-40B4-BE49-F238E27FC236}">
                <a16:creationId xmlns:a16="http://schemas.microsoft.com/office/drawing/2014/main" id="{B8EF44D7-2FC8-C6D1-8089-B81544082794}"/>
              </a:ext>
            </a:extLst>
          </p:cNvPr>
          <p:cNvPicPr>
            <a:picLocks noChangeAspect="1" noChangeArrowheads="1"/>
          </p:cNvPicPr>
          <p:nvPr/>
        </p:nvPicPr>
        <p:blipFill>
          <a:blip r:embed="rId2">
            <a:clrChange>
              <a:clrFrom>
                <a:srgbClr val="FFFFFF"/>
              </a:clrFrom>
              <a:clrTo>
                <a:srgbClr val="FFFFFF">
                  <a:alpha val="0"/>
                </a:srgbClr>
              </a:clrTo>
            </a:clrChange>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rot="20014302">
            <a:off x="1735991" y="1304124"/>
            <a:ext cx="1100017" cy="11912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420E412-6A42-9E13-1632-5A6B20D4DCE8}"/>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Tree>
    <p:extLst>
      <p:ext uri="{BB962C8B-B14F-4D97-AF65-F5344CB8AC3E}">
        <p14:creationId xmlns:p14="http://schemas.microsoft.com/office/powerpoint/2010/main" val="1374554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AFE631-1C85-EEE0-723F-79F38205DADC}"/>
              </a:ext>
            </a:extLst>
          </p:cNvPr>
          <p:cNvSpPr txBox="1"/>
          <p:nvPr/>
        </p:nvSpPr>
        <p:spPr>
          <a:xfrm>
            <a:off x="202406" y="1138256"/>
            <a:ext cx="4167187" cy="311496"/>
          </a:xfrm>
          <a:prstGeom prst="rect">
            <a:avLst/>
          </a:prstGeom>
          <a:noFill/>
        </p:spPr>
        <p:txBody>
          <a:bodyPr wrap="square">
            <a:spAutoFit/>
          </a:bodyPr>
          <a:lstStyle/>
          <a:p>
            <a:pPr marL="0" marR="0" algn="ctr">
              <a:lnSpc>
                <a:spcPct val="107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How long are Convective SIGMETs valid for?</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25C59B88-6DB8-7A36-3A55-8B156B8CF3B4}"/>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3" name="Rectangle 2">
            <a:extLst>
              <a:ext uri="{FF2B5EF4-FFF2-40B4-BE49-F238E27FC236}">
                <a16:creationId xmlns:a16="http://schemas.microsoft.com/office/drawing/2014/main" id="{AE2D44A1-BFBE-653C-C47D-F6B8905D6FE3}"/>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C511716-1CC2-B95D-0DD1-3F23E340C41F}"/>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43495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54D53A-2978-FC26-7B13-1D6B5BADE40B}"/>
              </a:ext>
            </a:extLst>
          </p:cNvPr>
          <p:cNvSpPr txBox="1"/>
          <p:nvPr/>
        </p:nvSpPr>
        <p:spPr>
          <a:xfrm>
            <a:off x="257174" y="424346"/>
            <a:ext cx="4057650" cy="276614"/>
          </a:xfrm>
          <a:prstGeom prst="rect">
            <a:avLst/>
          </a:prstGeom>
          <a:noFill/>
        </p:spPr>
        <p:txBody>
          <a:bodyPr wrap="square">
            <a:spAutoFit/>
          </a:bodyPr>
          <a:lstStyle/>
          <a:p>
            <a:pPr marL="0" marR="0" algn="ctr">
              <a:lnSpc>
                <a:spcPct val="107000"/>
              </a:lnSpc>
              <a:spcBef>
                <a:spcPts val="0"/>
              </a:spcBef>
              <a:spcAft>
                <a:spcPts val="0"/>
              </a:spcAft>
            </a:pPr>
            <a:r>
              <a:rPr lang="en-US" sz="12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Two hours unless superseded by the next issued SIGMET.</a:t>
            </a:r>
          </a:p>
        </p:txBody>
      </p:sp>
      <p:sp>
        <p:nvSpPr>
          <p:cNvPr id="4" name="TextBox 3">
            <a:extLst>
              <a:ext uri="{FF2B5EF4-FFF2-40B4-BE49-F238E27FC236}">
                <a16:creationId xmlns:a16="http://schemas.microsoft.com/office/drawing/2014/main" id="{9B8CD0DC-D3DC-A7BA-7A1B-61463993DFEC}"/>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pic>
        <p:nvPicPr>
          <p:cNvPr id="6" name="Picture 5">
            <a:extLst>
              <a:ext uri="{FF2B5EF4-FFF2-40B4-BE49-F238E27FC236}">
                <a16:creationId xmlns:a16="http://schemas.microsoft.com/office/drawing/2014/main" id="{F04DB8AA-822B-CE66-AECB-9F278D342D11}"/>
              </a:ext>
            </a:extLst>
          </p:cNvPr>
          <p:cNvPicPr>
            <a:picLocks noChangeAspect="1"/>
          </p:cNvPicPr>
          <p:nvPr/>
        </p:nvPicPr>
        <p:blipFill>
          <a:blip r:embed="rId2"/>
          <a:stretch>
            <a:fillRect/>
          </a:stretch>
        </p:blipFill>
        <p:spPr>
          <a:xfrm>
            <a:off x="1566993" y="807837"/>
            <a:ext cx="1438013" cy="1472748"/>
          </a:xfrm>
          <a:prstGeom prst="rect">
            <a:avLst/>
          </a:prstGeom>
        </p:spPr>
      </p:pic>
    </p:spTree>
    <p:extLst>
      <p:ext uri="{BB962C8B-B14F-4D97-AF65-F5344CB8AC3E}">
        <p14:creationId xmlns:p14="http://schemas.microsoft.com/office/powerpoint/2010/main" val="3419238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E3611F-35C0-6F06-6A90-7C9C6D4B4910}"/>
              </a:ext>
            </a:extLst>
          </p:cNvPr>
          <p:cNvSpPr txBox="1"/>
          <p:nvPr/>
        </p:nvSpPr>
        <p:spPr>
          <a:xfrm>
            <a:off x="843016" y="1080302"/>
            <a:ext cx="2885967" cy="324384"/>
          </a:xfrm>
          <a:prstGeom prst="rect">
            <a:avLst/>
          </a:prstGeom>
          <a:noFill/>
        </p:spPr>
        <p:txBody>
          <a:bodyPr wrap="square">
            <a:spAutoFit/>
          </a:bodyPr>
          <a:lstStyle/>
          <a:p>
            <a:pPr marR="0" lvl="0" algn="ctr">
              <a:lnSpc>
                <a:spcPct val="115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Describe advection </a:t>
            </a:r>
            <a:r>
              <a:rPr lang="en-US" sz="1400" dirty="0">
                <a:latin typeface="Times New Roman" panose="02020603050405020304" pitchFamily="18" charset="0"/>
                <a:ea typeface="Calibri" panose="020F0502020204030204" pitchFamily="34" charset="0"/>
                <a:cs typeface="Times New Roman" panose="02020603050405020304" pitchFamily="18" charset="0"/>
              </a:rPr>
              <a:t>f</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og.</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B6D16719-ECFA-FBDA-DEAE-A422EB887B9E}"/>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31193BBD-483E-D4BE-BBF3-8D448EB5FED9}"/>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D7DC32F-86B2-17A4-5C8A-E1CEA0869522}"/>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711404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1501E6-2821-DB03-E02A-7F504ED42F35}"/>
              </a:ext>
            </a:extLst>
          </p:cNvPr>
          <p:cNvSpPr txBox="1"/>
          <p:nvPr/>
        </p:nvSpPr>
        <p:spPr>
          <a:xfrm>
            <a:off x="449665" y="608347"/>
            <a:ext cx="2298560" cy="1384995"/>
          </a:xfrm>
          <a:prstGeom prst="rect">
            <a:avLst/>
          </a:prstGeom>
          <a:noFill/>
        </p:spPr>
        <p:txBody>
          <a:bodyPr wrap="square">
            <a:spAutoFit/>
          </a:bodyPr>
          <a:lstStyle/>
          <a:p>
            <a:pPr algn="just"/>
            <a:r>
              <a:rPr lang="en-US" sz="1200" dirty="0">
                <a:effectLst/>
                <a:latin typeface="Times New Roman" panose="02020603050405020304" pitchFamily="18" charset="0"/>
                <a:ea typeface="Calibri" panose="020F0502020204030204" pitchFamily="34" charset="0"/>
              </a:rPr>
              <a:t>Advection fog forms due to moist air moving over a colder surface, and the resulting cooling of the near-surface air to below its dew point temperature. Advection fog occurs over both water (steam fog) and land.</a:t>
            </a:r>
            <a:endParaRPr lang="en-US" sz="1200" dirty="0"/>
          </a:p>
        </p:txBody>
      </p:sp>
      <p:sp>
        <p:nvSpPr>
          <p:cNvPr id="4" name="TextBox 3">
            <a:extLst>
              <a:ext uri="{FF2B5EF4-FFF2-40B4-BE49-F238E27FC236}">
                <a16:creationId xmlns:a16="http://schemas.microsoft.com/office/drawing/2014/main" id="{14B93E59-12F2-7DBF-80AB-4D04A9A3C59F}"/>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pic>
        <p:nvPicPr>
          <p:cNvPr id="6" name="Picture 5">
            <a:extLst>
              <a:ext uri="{FF2B5EF4-FFF2-40B4-BE49-F238E27FC236}">
                <a16:creationId xmlns:a16="http://schemas.microsoft.com/office/drawing/2014/main" id="{521132B4-F9DE-6DD9-3C25-30AC2ED8B319}"/>
              </a:ext>
            </a:extLst>
          </p:cNvPr>
          <p:cNvPicPr>
            <a:picLocks noChangeAspect="1"/>
          </p:cNvPicPr>
          <p:nvPr/>
        </p:nvPicPr>
        <p:blipFill>
          <a:blip r:embed="rId2"/>
          <a:stretch>
            <a:fillRect/>
          </a:stretch>
        </p:blipFill>
        <p:spPr>
          <a:xfrm>
            <a:off x="2936789" y="608347"/>
            <a:ext cx="1273786" cy="1273786"/>
          </a:xfrm>
          <a:prstGeom prst="rect">
            <a:avLst/>
          </a:prstGeom>
        </p:spPr>
      </p:pic>
    </p:spTree>
    <p:extLst>
      <p:ext uri="{BB962C8B-B14F-4D97-AF65-F5344CB8AC3E}">
        <p14:creationId xmlns:p14="http://schemas.microsoft.com/office/powerpoint/2010/main" val="1530817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332AD59-6D0F-38D4-43E1-670F811CF437}"/>
              </a:ext>
            </a:extLst>
          </p:cNvPr>
          <p:cNvSpPr txBox="1"/>
          <p:nvPr/>
        </p:nvSpPr>
        <p:spPr>
          <a:xfrm>
            <a:off x="205192" y="1099363"/>
            <a:ext cx="4161616" cy="307777"/>
          </a:xfrm>
          <a:prstGeom prst="rect">
            <a:avLst/>
          </a:prstGeom>
          <a:noFill/>
        </p:spPr>
        <p:txBody>
          <a:bodyPr wrap="square">
            <a:spAutoFit/>
          </a:bodyPr>
          <a:lstStyle/>
          <a:p>
            <a:pPr algn="ctr"/>
            <a:r>
              <a:rPr lang="en-US" sz="1400" dirty="0">
                <a:solidFill>
                  <a:srgbClr val="000000"/>
                </a:solidFill>
                <a:latin typeface="Times New Roman" panose="02020603050405020304" pitchFamily="18" charset="0"/>
              </a:rPr>
              <a:t>Describe ice fog.</a:t>
            </a:r>
            <a:endParaRPr lang="en-US" sz="1400" dirty="0"/>
          </a:p>
        </p:txBody>
      </p:sp>
      <p:sp>
        <p:nvSpPr>
          <p:cNvPr id="2" name="TextBox 1">
            <a:extLst>
              <a:ext uri="{FF2B5EF4-FFF2-40B4-BE49-F238E27FC236}">
                <a16:creationId xmlns:a16="http://schemas.microsoft.com/office/drawing/2014/main" id="{A26EBB8A-9207-B1D0-F6F4-5253B7D1CA28}"/>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3" name="Rectangle 2">
            <a:extLst>
              <a:ext uri="{FF2B5EF4-FFF2-40B4-BE49-F238E27FC236}">
                <a16:creationId xmlns:a16="http://schemas.microsoft.com/office/drawing/2014/main" id="{AC230514-2E80-8D19-A35B-FD4E4B1DBFD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4CB01340-E4B1-0F97-6A42-723DFB298B5C}"/>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341495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7D3512-C9CD-2644-687B-E13D0E772DE9}"/>
              </a:ext>
            </a:extLst>
          </p:cNvPr>
          <p:cNvSpPr txBox="1"/>
          <p:nvPr/>
        </p:nvSpPr>
        <p:spPr>
          <a:xfrm>
            <a:off x="244475" y="317469"/>
            <a:ext cx="2689643" cy="2123658"/>
          </a:xfrm>
          <a:prstGeom prst="rect">
            <a:avLst/>
          </a:prstGeom>
          <a:noFill/>
        </p:spPr>
        <p:txBody>
          <a:bodyPr wrap="square">
            <a:spAutoFit/>
          </a:bodyPr>
          <a:lstStyle/>
          <a:p>
            <a:pPr algn="just"/>
            <a:r>
              <a:rPr lang="en-US" sz="1100" dirty="0">
                <a:effectLst/>
                <a:latin typeface="Times New Roman" panose="02020603050405020304" pitchFamily="18" charset="0"/>
                <a:ea typeface="Calibri" panose="020F0502020204030204" pitchFamily="34" charset="0"/>
              </a:rPr>
              <a:t>Ice fog is composed of ice crystals instead of water droplets and forms in extremely cold, arctic air. Ice fog of significant density is found near human habitation, in extremely cold air, and the burning of hydrocarbon fuels add large quantities of water vapor to the air. Steam vents, motor vehicle exhausts, and jet exhausts are major sources of water vapor that produce ice fog. A strong low-level inversion contributes to ice fog formation by trapping and concentrating the moisture in a shallow layer.</a:t>
            </a:r>
            <a:endParaRPr lang="en-US" sz="1100" dirty="0"/>
          </a:p>
        </p:txBody>
      </p:sp>
      <p:sp>
        <p:nvSpPr>
          <p:cNvPr id="3" name="TextBox 2">
            <a:extLst>
              <a:ext uri="{FF2B5EF4-FFF2-40B4-BE49-F238E27FC236}">
                <a16:creationId xmlns:a16="http://schemas.microsoft.com/office/drawing/2014/main" id="{87396E48-B79E-D0AB-85D1-8AF5104AC093}"/>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pic>
        <p:nvPicPr>
          <p:cNvPr id="6" name="Picture 5">
            <a:extLst>
              <a:ext uri="{FF2B5EF4-FFF2-40B4-BE49-F238E27FC236}">
                <a16:creationId xmlns:a16="http://schemas.microsoft.com/office/drawing/2014/main" id="{FF447935-F471-5966-14B3-B56C6D3BC8D9}"/>
              </a:ext>
            </a:extLst>
          </p:cNvPr>
          <p:cNvPicPr>
            <a:picLocks noChangeAspect="1"/>
          </p:cNvPicPr>
          <p:nvPr/>
        </p:nvPicPr>
        <p:blipFill>
          <a:blip r:embed="rId2"/>
          <a:stretch>
            <a:fillRect/>
          </a:stretch>
        </p:blipFill>
        <p:spPr>
          <a:xfrm>
            <a:off x="3021631" y="557683"/>
            <a:ext cx="1420839" cy="1427703"/>
          </a:xfrm>
          <a:prstGeom prst="rect">
            <a:avLst/>
          </a:prstGeom>
        </p:spPr>
      </p:pic>
    </p:spTree>
    <p:extLst>
      <p:ext uri="{BB962C8B-B14F-4D97-AF65-F5344CB8AC3E}">
        <p14:creationId xmlns:p14="http://schemas.microsoft.com/office/powerpoint/2010/main" val="101972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AFE631-1C85-EEE0-723F-79F38205DADC}"/>
              </a:ext>
            </a:extLst>
          </p:cNvPr>
          <p:cNvSpPr txBox="1"/>
          <p:nvPr/>
        </p:nvSpPr>
        <p:spPr>
          <a:xfrm>
            <a:off x="456009" y="1004906"/>
            <a:ext cx="3659982" cy="311496"/>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How </a:t>
            </a:r>
            <a:r>
              <a:rPr lang="en-US" sz="1400" dirty="0">
                <a:latin typeface="Times New Roman" panose="02020603050405020304" pitchFamily="18" charset="0"/>
                <a:ea typeface="Times New Roman" panose="02020603050405020304" pitchFamily="18" charset="0"/>
                <a:cs typeface="Times New Roman" panose="02020603050405020304" pitchFamily="18" charset="0"/>
              </a:rPr>
              <a:t>often</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are Convective SIGMETs issued?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25C59B88-6DB8-7A36-3A55-8B156B8CF3B4}"/>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3" name="Rectangle 2">
            <a:extLst>
              <a:ext uri="{FF2B5EF4-FFF2-40B4-BE49-F238E27FC236}">
                <a16:creationId xmlns:a16="http://schemas.microsoft.com/office/drawing/2014/main" id="{AE2D44A1-BFBE-653C-C47D-F6B8905D6FE3}"/>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C511716-1CC2-B95D-0DD1-3F23E340C41F}"/>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651202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54D53A-2978-FC26-7B13-1D6B5BADE40B}"/>
              </a:ext>
            </a:extLst>
          </p:cNvPr>
          <p:cNvSpPr txBox="1"/>
          <p:nvPr/>
        </p:nvSpPr>
        <p:spPr>
          <a:xfrm>
            <a:off x="469106" y="481496"/>
            <a:ext cx="3633788" cy="1462323"/>
          </a:xfrm>
          <a:prstGeom prst="rect">
            <a:avLst/>
          </a:prstGeom>
          <a:noFill/>
        </p:spPr>
        <p:txBody>
          <a:bodyPr wrap="square">
            <a:spAutoFit/>
          </a:bodyPr>
          <a:lstStyle/>
          <a:p>
            <a:pPr>
              <a:lnSpc>
                <a:spcPct val="107000"/>
              </a:lnSpc>
            </a:pPr>
            <a:r>
              <a:rPr lang="en-US" sz="1200" dirty="0">
                <a:latin typeface="Times New Roman" panose="02020603050405020304" pitchFamily="18" charset="0"/>
                <a:ea typeface="Calibri" panose="020F0502020204030204" pitchFamily="34" charset="0"/>
                <a:cs typeface="Times New Roman" panose="02020603050405020304" pitchFamily="18" charset="0"/>
              </a:rPr>
              <a:t>CONV SIGMETs are issued every two hours at 55 min past the hour.</a:t>
            </a:r>
          </a:p>
          <a:p>
            <a:pPr marL="0" marR="0">
              <a:lnSpc>
                <a:spcPct val="107000"/>
              </a:lnSpc>
              <a:spcBef>
                <a:spcPts val="0"/>
              </a:spcBef>
              <a:spcAft>
                <a:spcPts val="0"/>
              </a:spcAft>
            </a:pP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pPr>
            <a:r>
              <a:rPr lang="en-US" sz="1200" dirty="0">
                <a:latin typeface="Times New Roman" panose="02020603050405020304" pitchFamily="18" charset="0"/>
                <a:ea typeface="Calibri" panose="020F0502020204030204" pitchFamily="34" charset="0"/>
                <a:cs typeface="Times New Roman" panose="02020603050405020304" pitchFamily="18" charset="0"/>
              </a:rPr>
              <a:t>If you think about it for a moment, this makes sense. CONV SIGMETs are associated with more severe weather so it makes sense that CONV SIGMETs would be issued more frequently than a SIGMET or AIRMET.</a:t>
            </a:r>
          </a:p>
        </p:txBody>
      </p:sp>
      <p:sp>
        <p:nvSpPr>
          <p:cNvPr id="4" name="TextBox 3">
            <a:extLst>
              <a:ext uri="{FF2B5EF4-FFF2-40B4-BE49-F238E27FC236}">
                <a16:creationId xmlns:a16="http://schemas.microsoft.com/office/drawing/2014/main" id="{9B8CD0DC-D3DC-A7BA-7A1B-61463993DFEC}"/>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Tree>
    <p:extLst>
      <p:ext uri="{BB962C8B-B14F-4D97-AF65-F5344CB8AC3E}">
        <p14:creationId xmlns:p14="http://schemas.microsoft.com/office/powerpoint/2010/main" val="1302834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5B64B9-2574-6F57-1973-6653FA2BCD5E}"/>
              </a:ext>
            </a:extLst>
          </p:cNvPr>
          <p:cNvSpPr txBox="1"/>
          <p:nvPr/>
        </p:nvSpPr>
        <p:spPr>
          <a:xfrm>
            <a:off x="762000" y="1110044"/>
            <a:ext cx="3048000" cy="324384"/>
          </a:xfrm>
          <a:prstGeom prst="rect">
            <a:avLst/>
          </a:prstGeom>
          <a:noFill/>
        </p:spPr>
        <p:txBody>
          <a:bodyPr wrap="square">
            <a:spAutoFit/>
          </a:bodyPr>
          <a:lstStyle/>
          <a:p>
            <a:pPr marR="0" lvl="0" algn="ctr">
              <a:lnSpc>
                <a:spcPct val="115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Describe upslope </a:t>
            </a:r>
            <a:r>
              <a:rPr lang="en-US" sz="1400" dirty="0">
                <a:latin typeface="Times New Roman" panose="02020603050405020304" pitchFamily="18" charset="0"/>
                <a:ea typeface="Calibri" panose="020F0502020204030204" pitchFamily="34" charset="0"/>
                <a:cs typeface="Times New Roman" panose="02020603050405020304" pitchFamily="18" charset="0"/>
              </a:rPr>
              <a:t>f</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og.</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CE274803-7434-3457-AF02-E6E8E6613079}"/>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911AC569-9662-47BA-07EC-1D50EB6D3A9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10E6EAD-D842-F618-16CB-6328EB87C142}"/>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770462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8E57BE-4C42-0F47-9E58-859206EF2215}"/>
              </a:ext>
            </a:extLst>
          </p:cNvPr>
          <p:cNvSpPr txBox="1"/>
          <p:nvPr/>
        </p:nvSpPr>
        <p:spPr>
          <a:xfrm>
            <a:off x="180044" y="416049"/>
            <a:ext cx="2753237" cy="1832040"/>
          </a:xfrm>
          <a:prstGeom prst="rect">
            <a:avLst/>
          </a:prstGeom>
          <a:noFill/>
        </p:spPr>
        <p:txBody>
          <a:bodyPr wrap="square">
            <a:spAutoFit/>
          </a:bodyPr>
          <a:lstStyle/>
          <a:p>
            <a:pPr marR="0" lvl="0" algn="just">
              <a:lnSpc>
                <a:spcPct val="115000"/>
              </a:lnSpc>
              <a:spcBef>
                <a:spcPts val="0"/>
              </a:spcBef>
              <a:spcAft>
                <a:spcPts val="0"/>
              </a:spcAft>
            </a:pPr>
            <a:r>
              <a:rPr lang="en-US" sz="1100" dirty="0">
                <a:latin typeface="Times New Roman" panose="02020603050405020304" pitchFamily="18" charset="0"/>
                <a:ea typeface="Calibri" panose="020F0502020204030204" pitchFamily="34" charset="0"/>
                <a:cs typeface="Times New Roman" panose="02020603050405020304" pitchFamily="18" charset="0"/>
              </a:rPr>
              <a:t>Upslope fog</a:t>
            </a: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 occurs when sloping terrain lifts air, cooling it adiabatically to its dew point and saturation. Upslope fog generally forms at the higher elevations and builds downward into valleys. This fog can maintain itself at higher wind speeds because of increased lift and adiabatic cooling. Upsloping winds more than 10 to 12 knots usually result in stratus clouds rather than fog.</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4B5D77D-89F6-400E-9657-1454B53F5327}"/>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pic>
        <p:nvPicPr>
          <p:cNvPr id="6" name="Picture 5">
            <a:extLst>
              <a:ext uri="{FF2B5EF4-FFF2-40B4-BE49-F238E27FC236}">
                <a16:creationId xmlns:a16="http://schemas.microsoft.com/office/drawing/2014/main" id="{8B96266C-8161-7CFE-0641-A34ED040F9AF}"/>
              </a:ext>
            </a:extLst>
          </p:cNvPr>
          <p:cNvPicPr>
            <a:picLocks noChangeAspect="1"/>
          </p:cNvPicPr>
          <p:nvPr/>
        </p:nvPicPr>
        <p:blipFill>
          <a:blip r:embed="rId2"/>
          <a:stretch>
            <a:fillRect/>
          </a:stretch>
        </p:blipFill>
        <p:spPr>
          <a:xfrm>
            <a:off x="3040618" y="504426"/>
            <a:ext cx="1422156" cy="1449245"/>
          </a:xfrm>
          <a:prstGeom prst="rect">
            <a:avLst/>
          </a:prstGeom>
        </p:spPr>
      </p:pic>
    </p:spTree>
    <p:extLst>
      <p:ext uri="{BB962C8B-B14F-4D97-AF65-F5344CB8AC3E}">
        <p14:creationId xmlns:p14="http://schemas.microsoft.com/office/powerpoint/2010/main" val="2893895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AFE631-1C85-EEE0-723F-79F38205DADC}"/>
              </a:ext>
            </a:extLst>
          </p:cNvPr>
          <p:cNvSpPr txBox="1"/>
          <p:nvPr/>
        </p:nvSpPr>
        <p:spPr>
          <a:xfrm>
            <a:off x="965361" y="1215852"/>
            <a:ext cx="2641277" cy="311496"/>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How does frost affect an airfoil?</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25C59B88-6DB8-7A36-3A55-8B156B8CF3B4}"/>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3" name="Rectangle 2">
            <a:extLst>
              <a:ext uri="{FF2B5EF4-FFF2-40B4-BE49-F238E27FC236}">
                <a16:creationId xmlns:a16="http://schemas.microsoft.com/office/drawing/2014/main" id="{E03CEAA4-8BC2-1DA5-E3B5-2153BF56C249}"/>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937C5F1-2725-AC69-A71E-BDB3FC50407E}"/>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781649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54D53A-2978-FC26-7B13-1D6B5BADE40B}"/>
              </a:ext>
            </a:extLst>
          </p:cNvPr>
          <p:cNvSpPr txBox="1"/>
          <p:nvPr/>
        </p:nvSpPr>
        <p:spPr>
          <a:xfrm>
            <a:off x="498282" y="393930"/>
            <a:ext cx="3575435" cy="442429"/>
          </a:xfrm>
          <a:prstGeom prst="rect">
            <a:avLst/>
          </a:prstGeom>
          <a:noFill/>
        </p:spPr>
        <p:txBody>
          <a:bodyPr wrap="square">
            <a:spAutoFit/>
          </a:bodyPr>
          <a:lstStyle/>
          <a:p>
            <a:pPr marL="0" marR="0" algn="just">
              <a:lnSpc>
                <a:spcPct val="107000"/>
              </a:lnSpc>
              <a:spcBef>
                <a:spcPts val="0"/>
              </a:spcBef>
              <a:spcAft>
                <a:spcPts val="0"/>
              </a:spcAft>
            </a:pPr>
            <a:r>
              <a:rPr lang="en-US" sz="1100" dirty="0">
                <a:latin typeface="Times New Roman" panose="02020603050405020304" pitchFamily="18" charset="0"/>
                <a:ea typeface="Calibri" panose="020F0502020204030204" pitchFamily="34" charset="0"/>
                <a:cs typeface="Times New Roman" panose="02020603050405020304" pitchFamily="18" charset="0"/>
              </a:rPr>
              <a:t>Frost creates airflow separation and reduces the amount of lift generated by the wing. It also increases drag.</a:t>
            </a:r>
          </a:p>
        </p:txBody>
      </p:sp>
      <p:sp>
        <p:nvSpPr>
          <p:cNvPr id="4" name="TextBox 3">
            <a:extLst>
              <a:ext uri="{FF2B5EF4-FFF2-40B4-BE49-F238E27FC236}">
                <a16:creationId xmlns:a16="http://schemas.microsoft.com/office/drawing/2014/main" id="{9B8CD0DC-D3DC-A7BA-7A1B-61463993DFEC}"/>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pic>
        <p:nvPicPr>
          <p:cNvPr id="3" name="Picture 2">
            <a:extLst>
              <a:ext uri="{FF2B5EF4-FFF2-40B4-BE49-F238E27FC236}">
                <a16:creationId xmlns:a16="http://schemas.microsoft.com/office/drawing/2014/main" id="{CE55D21F-DDE2-9A1C-64A6-25ECACDF0B7F}"/>
              </a:ext>
            </a:extLst>
          </p:cNvPr>
          <p:cNvPicPr>
            <a:picLocks noChangeAspect="1"/>
          </p:cNvPicPr>
          <p:nvPr/>
        </p:nvPicPr>
        <p:blipFill>
          <a:blip r:embed="rId2">
            <a:grayscl/>
            <a:extLst>
              <a:ext uri="{28A0092B-C50C-407E-A947-70E740481C1C}">
                <a14:useLocalDpi xmlns:a14="http://schemas.microsoft.com/office/drawing/2010/main" val="0"/>
              </a:ext>
            </a:extLst>
          </a:blip>
          <a:srcRect/>
          <a:stretch>
            <a:fillRect/>
          </a:stretch>
        </p:blipFill>
        <p:spPr bwMode="auto">
          <a:xfrm>
            <a:off x="1034557" y="928774"/>
            <a:ext cx="2502885" cy="1364839"/>
          </a:xfrm>
          <a:prstGeom prst="rect">
            <a:avLst/>
          </a:prstGeom>
          <a:noFill/>
          <a:ln>
            <a:noFill/>
          </a:ln>
        </p:spPr>
      </p:pic>
    </p:spTree>
    <p:extLst>
      <p:ext uri="{BB962C8B-B14F-4D97-AF65-F5344CB8AC3E}">
        <p14:creationId xmlns:p14="http://schemas.microsoft.com/office/powerpoint/2010/main" val="2072253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BF9D09-864C-F1DE-E41E-DACF93F6FE64}"/>
              </a:ext>
            </a:extLst>
          </p:cNvPr>
          <p:cNvSpPr txBox="1"/>
          <p:nvPr/>
        </p:nvSpPr>
        <p:spPr>
          <a:xfrm>
            <a:off x="662932" y="1094601"/>
            <a:ext cx="3246135" cy="307777"/>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What is temperature / dewpoint spread?</a:t>
            </a:r>
          </a:p>
        </p:txBody>
      </p:sp>
      <p:sp>
        <p:nvSpPr>
          <p:cNvPr id="4" name="TextBox 3">
            <a:extLst>
              <a:ext uri="{FF2B5EF4-FFF2-40B4-BE49-F238E27FC236}">
                <a16:creationId xmlns:a16="http://schemas.microsoft.com/office/drawing/2014/main" id="{EC1B54A9-EDBE-8D2E-8423-549FEE3C4214}"/>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1B55C705-F478-A42B-5A92-C32F460BFD8C}"/>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D12036B-FDE6-0ECA-908E-42757EEC2281}"/>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6849534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2BED03-68B4-84D2-0C7D-FCFD49D34F33}"/>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TextBox 1">
            <a:extLst>
              <a:ext uri="{FF2B5EF4-FFF2-40B4-BE49-F238E27FC236}">
                <a16:creationId xmlns:a16="http://schemas.microsoft.com/office/drawing/2014/main" id="{48FC7AA5-5ACD-4C05-3714-613FD91E4D3F}"/>
              </a:ext>
            </a:extLst>
          </p:cNvPr>
          <p:cNvSpPr txBox="1"/>
          <p:nvPr/>
        </p:nvSpPr>
        <p:spPr>
          <a:xfrm>
            <a:off x="317500" y="387624"/>
            <a:ext cx="3937000" cy="1446550"/>
          </a:xfrm>
          <a:prstGeom prst="rect">
            <a:avLst/>
          </a:prstGeom>
          <a:noFill/>
        </p:spPr>
        <p:txBody>
          <a:bodyPr wrap="square" rtlCol="0">
            <a:spAutoFit/>
          </a:bodyPr>
          <a:lstStyle/>
          <a:p>
            <a:pPr algn="just"/>
            <a:r>
              <a:rPr lang="en-US" sz="1100" dirty="0">
                <a:latin typeface="Times New Roman" panose="02020603050405020304" pitchFamily="18" charset="0"/>
                <a:cs typeface="Times New Roman" panose="02020603050405020304" pitchFamily="18" charset="0"/>
              </a:rPr>
              <a:t>The difference between the current temperature and current dew point. When the spread reaches zero, precipitation will occur.</a:t>
            </a:r>
          </a:p>
          <a:p>
            <a:pPr algn="just"/>
            <a:endParaRPr lang="en-US" sz="1100" dirty="0">
              <a:latin typeface="Times New Roman" panose="02020603050405020304" pitchFamily="18" charset="0"/>
              <a:cs typeface="Times New Roman" panose="02020603050405020304" pitchFamily="18" charset="0"/>
            </a:endParaRPr>
          </a:p>
          <a:p>
            <a:pPr algn="just"/>
            <a:r>
              <a:rPr lang="en-US" sz="1100" dirty="0">
                <a:latin typeface="Times New Roman" panose="02020603050405020304" pitchFamily="18" charset="0"/>
                <a:cs typeface="Times New Roman" panose="02020603050405020304" pitchFamily="18" charset="0"/>
              </a:rPr>
              <a:t>Temp and dew point will be separated by a slash “/” on a METAR. In the example below, the temp is 23C and the dew point is minus 2C; therefore, the spread is 25 degrees.</a:t>
            </a:r>
          </a:p>
          <a:p>
            <a:pPr algn="just"/>
            <a:endParaRPr lang="en-US" sz="1100" dirty="0">
              <a:latin typeface="Times New Roman" panose="02020603050405020304" pitchFamily="18" charset="0"/>
              <a:cs typeface="Times New Roman" panose="02020603050405020304" pitchFamily="18" charset="0"/>
            </a:endParaRPr>
          </a:p>
          <a:p>
            <a:pPr algn="just"/>
            <a:r>
              <a:rPr lang="en-US" sz="1100" dirty="0">
                <a:latin typeface="Times New Roman" panose="02020603050405020304" pitchFamily="18" charset="0"/>
                <a:cs typeface="Times New Roman" panose="02020603050405020304" pitchFamily="18" charset="0"/>
              </a:rPr>
              <a:t>In METAR below, the temperature/dew point spread is 25 degrees.</a:t>
            </a:r>
          </a:p>
        </p:txBody>
      </p:sp>
      <p:sp>
        <p:nvSpPr>
          <p:cNvPr id="3" name="TextBox 2">
            <a:extLst>
              <a:ext uri="{FF2B5EF4-FFF2-40B4-BE49-F238E27FC236}">
                <a16:creationId xmlns:a16="http://schemas.microsoft.com/office/drawing/2014/main" id="{11AC90E0-8D47-2BD3-41D7-22C9F1AA73CD}"/>
              </a:ext>
            </a:extLst>
          </p:cNvPr>
          <p:cNvSpPr txBox="1"/>
          <p:nvPr/>
        </p:nvSpPr>
        <p:spPr>
          <a:xfrm>
            <a:off x="317500" y="1868488"/>
            <a:ext cx="3937000" cy="442429"/>
          </a:xfrm>
          <a:prstGeom prst="rect">
            <a:avLst/>
          </a:prstGeom>
          <a:noFill/>
        </p:spPr>
        <p:txBody>
          <a:bodyPr wrap="square">
            <a:spAutoFit/>
          </a:bodyPr>
          <a:lstStyle/>
          <a:p>
            <a:pPr marL="0" marR="0">
              <a:lnSpc>
                <a:spcPct val="107000"/>
              </a:lnSpc>
              <a:spcBef>
                <a:spcPts val="0"/>
              </a:spcBef>
              <a:spcAft>
                <a:spcPts val="0"/>
              </a:spcAft>
            </a:pP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KDEN 010300Z 0103/0206 </a:t>
            </a: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23/M02 </a:t>
            </a:r>
            <a:r>
              <a:rPr lang="en-US" sz="1100" dirty="0">
                <a:solidFill>
                  <a:schemeClr val="bg2">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VRB06KT P6SM VCSH FEW030 BKN080 OVC100</a:t>
            </a:r>
          </a:p>
        </p:txBody>
      </p:sp>
      <p:sp>
        <p:nvSpPr>
          <p:cNvPr id="7" name="Rectangle 6">
            <a:extLst>
              <a:ext uri="{FF2B5EF4-FFF2-40B4-BE49-F238E27FC236}">
                <a16:creationId xmlns:a16="http://schemas.microsoft.com/office/drawing/2014/main" id="{601ED799-1D42-96A1-DFB2-EB06AB26A8B9}"/>
              </a:ext>
            </a:extLst>
          </p:cNvPr>
          <p:cNvSpPr/>
          <p:nvPr/>
        </p:nvSpPr>
        <p:spPr>
          <a:xfrm>
            <a:off x="1981200" y="1868487"/>
            <a:ext cx="495300" cy="2508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978369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C08815-C3C6-A12D-8ECF-2C1C3F6F5311}"/>
              </a:ext>
            </a:extLst>
          </p:cNvPr>
          <p:cNvSpPr txBox="1"/>
          <p:nvPr/>
        </p:nvSpPr>
        <p:spPr>
          <a:xfrm>
            <a:off x="369276" y="1109990"/>
            <a:ext cx="3833447" cy="523220"/>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What type of clouds usually indicate the presence of turbulence?</a:t>
            </a:r>
          </a:p>
        </p:txBody>
      </p:sp>
      <p:sp>
        <p:nvSpPr>
          <p:cNvPr id="4" name="TextBox 3">
            <a:extLst>
              <a:ext uri="{FF2B5EF4-FFF2-40B4-BE49-F238E27FC236}">
                <a16:creationId xmlns:a16="http://schemas.microsoft.com/office/drawing/2014/main" id="{685311AB-5B97-B154-CF53-6FF2B7A0CE67}"/>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379D38EE-D4C8-DEB0-E47A-51FA29D6505A}"/>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0C15E70-0B0E-437E-64B5-3A302F269509}"/>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219597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3CA77B-81E1-FBD0-3B60-97F0226EB9B8}"/>
              </a:ext>
            </a:extLst>
          </p:cNvPr>
          <p:cNvSpPr txBox="1"/>
          <p:nvPr/>
        </p:nvSpPr>
        <p:spPr>
          <a:xfrm>
            <a:off x="631593" y="489206"/>
            <a:ext cx="3308813"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Cumulus and/or cumulonimbus clouds.</a:t>
            </a:r>
          </a:p>
        </p:txBody>
      </p:sp>
      <p:sp>
        <p:nvSpPr>
          <p:cNvPr id="4" name="TextBox 3">
            <a:extLst>
              <a:ext uri="{FF2B5EF4-FFF2-40B4-BE49-F238E27FC236}">
                <a16:creationId xmlns:a16="http://schemas.microsoft.com/office/drawing/2014/main" id="{E67AEADC-5F41-1BD2-96DE-7375CC809F50}"/>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pic>
        <p:nvPicPr>
          <p:cNvPr id="5" name="Picture 4">
            <a:extLst>
              <a:ext uri="{FF2B5EF4-FFF2-40B4-BE49-F238E27FC236}">
                <a16:creationId xmlns:a16="http://schemas.microsoft.com/office/drawing/2014/main" id="{D76C88EE-6171-CB3B-7FFA-27030349D32D}"/>
              </a:ext>
            </a:extLst>
          </p:cNvPr>
          <p:cNvPicPr>
            <a:picLocks noChangeAspect="1"/>
          </p:cNvPicPr>
          <p:nvPr/>
        </p:nvPicPr>
        <p:blipFill>
          <a:blip r:embed="rId2"/>
          <a:stretch>
            <a:fillRect/>
          </a:stretch>
        </p:blipFill>
        <p:spPr>
          <a:xfrm>
            <a:off x="1619486" y="920966"/>
            <a:ext cx="1333028" cy="1333028"/>
          </a:xfrm>
          <a:prstGeom prst="rect">
            <a:avLst/>
          </a:prstGeom>
        </p:spPr>
      </p:pic>
    </p:spTree>
    <p:extLst>
      <p:ext uri="{BB962C8B-B14F-4D97-AF65-F5344CB8AC3E}">
        <p14:creationId xmlns:p14="http://schemas.microsoft.com/office/powerpoint/2010/main" val="2296038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0FF682-C979-F993-5527-E234C9431E8D}"/>
              </a:ext>
            </a:extLst>
          </p:cNvPr>
          <p:cNvSpPr txBox="1"/>
          <p:nvPr/>
        </p:nvSpPr>
        <p:spPr>
          <a:xfrm>
            <a:off x="226088" y="1005114"/>
            <a:ext cx="4119823" cy="646331"/>
          </a:xfrm>
          <a:prstGeom prst="rect">
            <a:avLst/>
          </a:prstGeom>
          <a:noFill/>
        </p:spPr>
        <p:txBody>
          <a:bodyPr wrap="square" rtlCol="0">
            <a:spAutoFit/>
          </a:bodyPr>
          <a:lstStyle/>
          <a:p>
            <a:pPr algn="just"/>
            <a:r>
              <a:rPr lang="en-US" sz="1200" dirty="0">
                <a:latin typeface="Times New Roman" panose="02020603050405020304" pitchFamily="18" charset="0"/>
                <a:cs typeface="Times New Roman" panose="02020603050405020304" pitchFamily="18" charset="0"/>
              </a:rPr>
              <a:t>What key feature of a thunderstorm marks the end of the “mature” stage and the beginning of the dissipating stage of thunderstorm development?</a:t>
            </a:r>
          </a:p>
        </p:txBody>
      </p:sp>
      <p:sp>
        <p:nvSpPr>
          <p:cNvPr id="4" name="TextBox 3">
            <a:extLst>
              <a:ext uri="{FF2B5EF4-FFF2-40B4-BE49-F238E27FC236}">
                <a16:creationId xmlns:a16="http://schemas.microsoft.com/office/drawing/2014/main" id="{BA444095-E464-E675-0735-0E388EA5E981}"/>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36EC7477-97F8-61D7-9F6D-73AB37173AC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2697D78-A52D-7D5F-19F0-BADFCA281544}"/>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8266661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AC2FB4-B7F0-9521-1D46-4054924D1C90}"/>
              </a:ext>
            </a:extLst>
          </p:cNvPr>
          <p:cNvSpPr txBox="1"/>
          <p:nvPr/>
        </p:nvSpPr>
        <p:spPr>
          <a:xfrm>
            <a:off x="841643" y="266898"/>
            <a:ext cx="2888713"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The “Anvil Top.”</a:t>
            </a:r>
          </a:p>
        </p:txBody>
      </p:sp>
      <p:pic>
        <p:nvPicPr>
          <p:cNvPr id="1026" name="Picture 2" descr="70+ Anvil Top Stock Photos, Pictures &amp; Royalty-Free Images ...">
            <a:extLst>
              <a:ext uri="{FF2B5EF4-FFF2-40B4-BE49-F238E27FC236}">
                <a16:creationId xmlns:a16="http://schemas.microsoft.com/office/drawing/2014/main" id="{F6F2AB88-5B3F-887A-64C8-FCFF09529C60}"/>
              </a:ext>
            </a:extLst>
          </p:cNvPr>
          <p:cNvPicPr>
            <a:picLocks noChangeAspect="1" noChangeArrowheads="1"/>
          </p:cNvPicPr>
          <p:nvPr/>
        </p:nvPicPr>
        <p:blipFill>
          <a:blip r:embed="rId2">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a:off x="1171575" y="677864"/>
            <a:ext cx="2228850" cy="14859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31588EB-6256-FB9C-9292-AFFFF484D272}"/>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Tree>
    <p:extLst>
      <p:ext uri="{BB962C8B-B14F-4D97-AF65-F5344CB8AC3E}">
        <p14:creationId xmlns:p14="http://schemas.microsoft.com/office/powerpoint/2010/main" val="38542538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AF051E-D60C-2065-8CD4-786C353ECAD2}"/>
              </a:ext>
            </a:extLst>
          </p:cNvPr>
          <p:cNvSpPr txBox="1"/>
          <p:nvPr/>
        </p:nvSpPr>
        <p:spPr>
          <a:xfrm>
            <a:off x="668215" y="1040283"/>
            <a:ext cx="3235569" cy="523220"/>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You are flying at night and find yourself in a thunderstorm. What should you do?</a:t>
            </a:r>
          </a:p>
        </p:txBody>
      </p:sp>
      <p:sp>
        <p:nvSpPr>
          <p:cNvPr id="4" name="TextBox 3">
            <a:extLst>
              <a:ext uri="{FF2B5EF4-FFF2-40B4-BE49-F238E27FC236}">
                <a16:creationId xmlns:a16="http://schemas.microsoft.com/office/drawing/2014/main" id="{75308522-AFA1-A724-39E2-BC215142098E}"/>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FB659A35-3EC3-BBD5-FE41-30645C259B7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F504213B-4817-20C8-61BE-1286833AC07F}"/>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824190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C36F0C-65E3-F464-BE05-EC5B1BEDD51C}"/>
              </a:ext>
            </a:extLst>
          </p:cNvPr>
          <p:cNvSpPr txBox="1"/>
          <p:nvPr/>
        </p:nvSpPr>
        <p:spPr>
          <a:xfrm>
            <a:off x="486148" y="352090"/>
            <a:ext cx="3599704" cy="2039020"/>
          </a:xfrm>
          <a:prstGeom prst="rect">
            <a:avLst/>
          </a:prstGeom>
          <a:noFill/>
        </p:spPr>
        <p:txBody>
          <a:bodyPr wrap="square" rtlCol="0">
            <a:spAutoFit/>
          </a:bodyPr>
          <a:lstStyle/>
          <a:p>
            <a:pPr marL="171450" indent="-171450">
              <a:buFont typeface="Arial" panose="020B0604020202020204" pitchFamily="34" charset="0"/>
              <a:buChar char="•"/>
            </a:pPr>
            <a:r>
              <a:rPr lang="en-US" sz="1150" dirty="0">
                <a:latin typeface="Times New Roman" panose="02020603050405020304" pitchFamily="18" charset="0"/>
                <a:cs typeface="Times New Roman" panose="02020603050405020304" pitchFamily="18" charset="0"/>
              </a:rPr>
              <a:t>Turn on pitot heat and defrost.</a:t>
            </a:r>
          </a:p>
          <a:p>
            <a:pPr marL="171450" indent="-171450">
              <a:buFont typeface="Arial" panose="020B0604020202020204" pitchFamily="34" charset="0"/>
              <a:buChar char="•"/>
            </a:pPr>
            <a:r>
              <a:rPr lang="en-US" sz="1150" dirty="0">
                <a:latin typeface="Times New Roman" panose="02020603050405020304" pitchFamily="18" charset="0"/>
                <a:cs typeface="Times New Roman" panose="02020603050405020304" pitchFamily="18" charset="0"/>
              </a:rPr>
              <a:t>Turn off strobes if they are distracting.</a:t>
            </a:r>
          </a:p>
          <a:p>
            <a:pPr marL="171450" indent="-171450">
              <a:buFont typeface="Arial" panose="020B0604020202020204" pitchFamily="34" charset="0"/>
              <a:buChar char="•"/>
            </a:pPr>
            <a:r>
              <a:rPr lang="en-US" sz="1150" dirty="0">
                <a:latin typeface="Times New Roman" panose="02020603050405020304" pitchFamily="18" charset="0"/>
                <a:cs typeface="Times New Roman" panose="02020603050405020304" pitchFamily="18" charset="0"/>
              </a:rPr>
              <a:t>Set airspeed less than Va.</a:t>
            </a:r>
          </a:p>
          <a:p>
            <a:pPr marL="171450" indent="-171450">
              <a:buFont typeface="Arial" panose="020B0604020202020204" pitchFamily="34" charset="0"/>
              <a:buChar char="•"/>
            </a:pPr>
            <a:r>
              <a:rPr lang="en-US" sz="1150" dirty="0">
                <a:latin typeface="Times New Roman" panose="02020603050405020304" pitchFamily="18" charset="0"/>
                <a:cs typeface="Times New Roman" panose="02020603050405020304" pitchFamily="18" charset="0"/>
              </a:rPr>
              <a:t>Turn off autopilot.</a:t>
            </a:r>
          </a:p>
          <a:p>
            <a:pPr marL="171450" indent="-171450">
              <a:buFont typeface="Arial" panose="020B0604020202020204" pitchFamily="34" charset="0"/>
              <a:buChar char="•"/>
            </a:pPr>
            <a:r>
              <a:rPr lang="en-US" sz="1150" dirty="0">
                <a:latin typeface="Times New Roman" panose="02020603050405020304" pitchFamily="18" charset="0"/>
                <a:cs typeface="Times New Roman" panose="02020603050405020304" pitchFamily="18" charset="0"/>
              </a:rPr>
              <a:t>Turn interior lights to full intensity.</a:t>
            </a:r>
          </a:p>
          <a:p>
            <a:pPr marL="171450" indent="-171450">
              <a:buFont typeface="Arial" panose="020B0604020202020204" pitchFamily="34" charset="0"/>
              <a:buChar char="•"/>
            </a:pPr>
            <a:r>
              <a:rPr lang="en-US" sz="1150" dirty="0">
                <a:latin typeface="Times New Roman" panose="02020603050405020304" pitchFamily="18" charset="0"/>
                <a:cs typeface="Times New Roman" panose="02020603050405020304" pitchFamily="18" charset="0"/>
              </a:rPr>
              <a:t>Don’t chase speeds and altitudes. Set a power setting and leave it there. Focus on maintaining straight and level pitch and bank.</a:t>
            </a:r>
          </a:p>
          <a:p>
            <a:pPr marL="171450" indent="-171450">
              <a:buFont typeface="Arial" panose="020B0604020202020204" pitchFamily="34" charset="0"/>
              <a:buChar char="•"/>
            </a:pPr>
            <a:r>
              <a:rPr lang="en-US" sz="1150" dirty="0">
                <a:latin typeface="Times New Roman" panose="02020603050405020304" pitchFamily="18" charset="0"/>
                <a:cs typeface="Times New Roman" panose="02020603050405020304" pitchFamily="18" charset="0"/>
              </a:rPr>
              <a:t>Personally, I would do an instrument 180-degree turn and go back to where I came from. It will take you about 2 minutes at half standard rate.</a:t>
            </a:r>
          </a:p>
        </p:txBody>
      </p:sp>
      <p:sp>
        <p:nvSpPr>
          <p:cNvPr id="4" name="TextBox 3">
            <a:extLst>
              <a:ext uri="{FF2B5EF4-FFF2-40B4-BE49-F238E27FC236}">
                <a16:creationId xmlns:a16="http://schemas.microsoft.com/office/drawing/2014/main" id="{3CB3D8DD-0F06-A656-278B-1D4EACE3991E}"/>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Tree>
    <p:extLst>
      <p:ext uri="{BB962C8B-B14F-4D97-AF65-F5344CB8AC3E}">
        <p14:creationId xmlns:p14="http://schemas.microsoft.com/office/powerpoint/2010/main" val="23676388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93632-E310-B7E6-69B6-7215DD3BFD44}"/>
              </a:ext>
            </a:extLst>
          </p:cNvPr>
          <p:cNvSpPr txBox="1"/>
          <p:nvPr/>
        </p:nvSpPr>
        <p:spPr>
          <a:xfrm>
            <a:off x="486148" y="1109990"/>
            <a:ext cx="3599704" cy="523220"/>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Typically, AIRMETs and SIGMETs cover at least _______ square miles.</a:t>
            </a:r>
          </a:p>
        </p:txBody>
      </p:sp>
      <p:sp>
        <p:nvSpPr>
          <p:cNvPr id="4" name="TextBox 3">
            <a:extLst>
              <a:ext uri="{FF2B5EF4-FFF2-40B4-BE49-F238E27FC236}">
                <a16:creationId xmlns:a16="http://schemas.microsoft.com/office/drawing/2014/main" id="{9E82DFF5-7C82-9D8E-14F7-AE37837D40F6}"/>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503B8150-E129-E038-7BF1-2402F92CD899}"/>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F9474805-718B-F67F-0290-5F47231BFE2A}"/>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19505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8F6947-7EFB-6A42-2125-7BF2B6B1AB3D}"/>
              </a:ext>
            </a:extLst>
          </p:cNvPr>
          <p:cNvSpPr txBox="1"/>
          <p:nvPr/>
        </p:nvSpPr>
        <p:spPr>
          <a:xfrm>
            <a:off x="471972" y="412194"/>
            <a:ext cx="3628053" cy="646331"/>
          </a:xfrm>
          <a:prstGeom prst="rect">
            <a:avLst/>
          </a:prstGeom>
          <a:noFill/>
        </p:spPr>
        <p:txBody>
          <a:bodyPr wrap="square" rtlCol="0">
            <a:spAutoFit/>
          </a:bodyPr>
          <a:lstStyle/>
          <a:p>
            <a:pPr algn="just"/>
            <a:r>
              <a:rPr lang="en-US" sz="1200" dirty="0">
                <a:latin typeface="Times New Roman" panose="02020603050405020304" pitchFamily="18" charset="0"/>
                <a:cs typeface="Times New Roman" panose="02020603050405020304" pitchFamily="18" charset="0"/>
              </a:rPr>
              <a:t>3,000 square miles. Sometimes the specific weather phenomena covers only a small portion of the 3,000 square mile area – as little as 40%.</a:t>
            </a:r>
          </a:p>
        </p:txBody>
      </p:sp>
      <p:sp>
        <p:nvSpPr>
          <p:cNvPr id="4" name="TextBox 3">
            <a:extLst>
              <a:ext uri="{FF2B5EF4-FFF2-40B4-BE49-F238E27FC236}">
                <a16:creationId xmlns:a16="http://schemas.microsoft.com/office/drawing/2014/main" id="{3E4D0F9E-5143-298C-0E45-44A9C8EF8955}"/>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pic>
        <p:nvPicPr>
          <p:cNvPr id="6" name="Picture 5">
            <a:extLst>
              <a:ext uri="{FF2B5EF4-FFF2-40B4-BE49-F238E27FC236}">
                <a16:creationId xmlns:a16="http://schemas.microsoft.com/office/drawing/2014/main" id="{03EB3AA9-A1E9-C5EC-759B-F5FD9BDAAD6A}"/>
              </a:ext>
            </a:extLst>
          </p:cNvPr>
          <p:cNvPicPr>
            <a:picLocks noChangeAspect="1"/>
          </p:cNvPicPr>
          <p:nvPr/>
        </p:nvPicPr>
        <p:blipFill>
          <a:blip r:embed="rId2"/>
          <a:stretch>
            <a:fillRect/>
          </a:stretch>
        </p:blipFill>
        <p:spPr>
          <a:xfrm>
            <a:off x="1670119" y="1087402"/>
            <a:ext cx="1231760" cy="1243604"/>
          </a:xfrm>
          <a:prstGeom prst="rect">
            <a:avLst/>
          </a:prstGeom>
        </p:spPr>
      </p:pic>
    </p:spTree>
    <p:extLst>
      <p:ext uri="{BB962C8B-B14F-4D97-AF65-F5344CB8AC3E}">
        <p14:creationId xmlns:p14="http://schemas.microsoft.com/office/powerpoint/2010/main" val="41308491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C3439D-A3FA-448F-38A9-52344358D60C}"/>
              </a:ext>
            </a:extLst>
          </p:cNvPr>
          <p:cNvSpPr txBox="1"/>
          <p:nvPr/>
        </p:nvSpPr>
        <p:spPr>
          <a:xfrm>
            <a:off x="897648" y="1160561"/>
            <a:ext cx="2776703" cy="338554"/>
          </a:xfrm>
          <a:prstGeom prst="rect">
            <a:avLst/>
          </a:prstGeom>
          <a:noFill/>
        </p:spPr>
        <p:txBody>
          <a:bodyPr wrap="square">
            <a:spAutoFit/>
          </a:bodyPr>
          <a:lstStyle/>
          <a:p>
            <a:pPr marL="0" marR="0" algn="ctr">
              <a:spcBef>
                <a:spcPts val="0"/>
              </a:spcBef>
              <a:spcAft>
                <a:spcPts val="0"/>
              </a:spcAft>
            </a:pPr>
            <a:r>
              <a:rPr lang="en-US" sz="1600" dirty="0">
                <a:solidFill>
                  <a:srgbClr val="000000"/>
                </a:solidFill>
                <a:latin typeface="Times New Roman" panose="02020603050405020304" pitchFamily="18" charset="0"/>
                <a:ea typeface="Calibri" panose="020F0502020204030204" pitchFamily="34" charset="0"/>
              </a:rPr>
              <a:t>What is wind shear?</a:t>
            </a:r>
          </a:p>
        </p:txBody>
      </p:sp>
      <p:sp>
        <p:nvSpPr>
          <p:cNvPr id="3" name="TextBox 2">
            <a:extLst>
              <a:ext uri="{FF2B5EF4-FFF2-40B4-BE49-F238E27FC236}">
                <a16:creationId xmlns:a16="http://schemas.microsoft.com/office/drawing/2014/main" id="{54A11D8C-96BA-4767-E8F4-A859731F9FA0}"/>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4" name="Rectangle 3">
            <a:extLst>
              <a:ext uri="{FF2B5EF4-FFF2-40B4-BE49-F238E27FC236}">
                <a16:creationId xmlns:a16="http://schemas.microsoft.com/office/drawing/2014/main" id="{E917E011-777F-246C-7F2A-0172339EF95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7CDF75DD-28FD-8E18-617B-1D81FB6134E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2919304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2D20C0-7C63-E2E3-D594-5D93E4389DC2}"/>
              </a:ext>
            </a:extLst>
          </p:cNvPr>
          <p:cNvSpPr txBox="1"/>
          <p:nvPr/>
        </p:nvSpPr>
        <p:spPr>
          <a:xfrm>
            <a:off x="283143" y="464158"/>
            <a:ext cx="4005713" cy="1938992"/>
          </a:xfrm>
          <a:prstGeom prst="rect">
            <a:avLst/>
          </a:prstGeom>
          <a:noFill/>
        </p:spPr>
        <p:txBody>
          <a:bodyPr wrap="square">
            <a:spAutoFit/>
          </a:bodyPr>
          <a:lstStyle/>
          <a:p>
            <a:pPr marR="0" algn="just">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Wind shear is defined as the rate of change of wind velocity (direction and/or speed) per unit distance; conventionally expressed as vertical or horizontal wind shear. It may occur at any level in the atmosphere but three areas are of special concern:</a:t>
            </a:r>
          </a:p>
          <a:p>
            <a:pPr marR="0">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115888" lvl="1"/>
            <a:r>
              <a:rPr lang="en-US" sz="1200" dirty="0">
                <a:latin typeface="Times New Roman" panose="02020603050405020304" pitchFamily="18" charset="0"/>
                <a:ea typeface="Calibri" panose="020F0502020204030204" pitchFamily="34" charset="0"/>
                <a:cs typeface="Times New Roman" panose="02020603050405020304" pitchFamily="18" charset="0"/>
              </a:rPr>
              <a:t>1)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Wind shear with a low-level temperature inversion.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115888" lvl="1" algn="just"/>
            <a:r>
              <a:rPr lang="en-US" sz="1200" dirty="0">
                <a:effectLst/>
                <a:latin typeface="Times New Roman" panose="02020603050405020304" pitchFamily="18" charset="0"/>
                <a:ea typeface="Calibri" panose="020F0502020204030204" pitchFamily="34" charset="0"/>
                <a:cs typeface="Times New Roman" panose="02020603050405020304" pitchFamily="18" charset="0"/>
              </a:rPr>
              <a:t>2)  Wind shear in a frontal zone or thunderstorm.</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1" indent="-228600" algn="just"/>
            <a:r>
              <a:rPr lang="en-US" sz="1200" dirty="0">
                <a:effectLst/>
                <a:latin typeface="Times New Roman" panose="02020603050405020304" pitchFamily="18" charset="0"/>
                <a:ea typeface="Calibri" panose="020F0502020204030204" pitchFamily="34" charset="0"/>
                <a:cs typeface="Times New Roman" panose="02020603050405020304" pitchFamily="18" charset="0"/>
              </a:rPr>
              <a:t>3)  Clear air turbulence (CAT) at high levels associate with a jet stream or strong circulation.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D7F7728C-62FC-4AB7-0846-25AF58E33DC6}"/>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Tree>
    <p:extLst>
      <p:ext uri="{BB962C8B-B14F-4D97-AF65-F5344CB8AC3E}">
        <p14:creationId xmlns:p14="http://schemas.microsoft.com/office/powerpoint/2010/main" val="2176711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0F73A7-8322-F347-79B4-809397E08950}"/>
              </a:ext>
            </a:extLst>
          </p:cNvPr>
          <p:cNvSpPr txBox="1"/>
          <p:nvPr/>
        </p:nvSpPr>
        <p:spPr>
          <a:xfrm>
            <a:off x="526698" y="679102"/>
            <a:ext cx="3518603" cy="1384995"/>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You are flying a 430-mile cross country. You fail to adjust your altimeter setting as you fly from a region of high pressure to a region of low pressure. Assuming you flew at a constant altitude as read on your altimeter, are you now closer to the ground or further?</a:t>
            </a:r>
          </a:p>
        </p:txBody>
      </p:sp>
      <p:sp>
        <p:nvSpPr>
          <p:cNvPr id="3" name="TextBox 2">
            <a:extLst>
              <a:ext uri="{FF2B5EF4-FFF2-40B4-BE49-F238E27FC236}">
                <a16:creationId xmlns:a16="http://schemas.microsoft.com/office/drawing/2014/main" id="{E63A8BD7-382C-F052-33A2-D59D0DF6CFCE}"/>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4" name="Rectangle 3">
            <a:extLst>
              <a:ext uri="{FF2B5EF4-FFF2-40B4-BE49-F238E27FC236}">
                <a16:creationId xmlns:a16="http://schemas.microsoft.com/office/drawing/2014/main" id="{B0947DA5-91FC-60AF-0253-D620A7BF5523}"/>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F3783D1-6C17-F39D-1BE7-6954367A3FB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4653339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9EE508-C280-1C61-582E-737BD3C30ED6}"/>
              </a:ext>
            </a:extLst>
          </p:cNvPr>
          <p:cNvSpPr txBox="1"/>
          <p:nvPr/>
        </p:nvSpPr>
        <p:spPr>
          <a:xfrm>
            <a:off x="321547" y="498359"/>
            <a:ext cx="2386484" cy="1615827"/>
          </a:xfrm>
          <a:prstGeom prst="rect">
            <a:avLst/>
          </a:prstGeom>
          <a:noFill/>
        </p:spPr>
        <p:txBody>
          <a:bodyPr wrap="square" rtlCol="0">
            <a:spAutoFit/>
          </a:bodyPr>
          <a:lstStyle/>
          <a:p>
            <a:pPr algn="just"/>
            <a:r>
              <a:rPr lang="en-US" sz="1100" dirty="0">
                <a:latin typeface="Times New Roman" panose="02020603050405020304" pitchFamily="18" charset="0"/>
                <a:cs typeface="Times New Roman" panose="02020603050405020304" pitchFamily="18" charset="0"/>
              </a:rPr>
              <a:t>As you continue flying along, you are getting closer to the ground although the altitude on your altimeter stays the same. Remember “High to Low, Look Out Below.” As you fly from a high-pressure region to a low-pressure region, you will work your way closer to the ground if you do not adjust your altimeter setting.</a:t>
            </a:r>
          </a:p>
        </p:txBody>
      </p:sp>
      <p:sp>
        <p:nvSpPr>
          <p:cNvPr id="3" name="TextBox 2">
            <a:extLst>
              <a:ext uri="{FF2B5EF4-FFF2-40B4-BE49-F238E27FC236}">
                <a16:creationId xmlns:a16="http://schemas.microsoft.com/office/drawing/2014/main" id="{16AE538E-69D2-E4CF-2608-23411E66BCFF}"/>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pic>
        <p:nvPicPr>
          <p:cNvPr id="6" name="Picture 5">
            <a:extLst>
              <a:ext uri="{FF2B5EF4-FFF2-40B4-BE49-F238E27FC236}">
                <a16:creationId xmlns:a16="http://schemas.microsoft.com/office/drawing/2014/main" id="{AC8787D8-5E64-270D-1AE6-E5D0CECB03AA}"/>
              </a:ext>
            </a:extLst>
          </p:cNvPr>
          <p:cNvPicPr>
            <a:picLocks noChangeAspect="1"/>
          </p:cNvPicPr>
          <p:nvPr/>
        </p:nvPicPr>
        <p:blipFill>
          <a:blip r:embed="rId2"/>
          <a:stretch>
            <a:fillRect/>
          </a:stretch>
        </p:blipFill>
        <p:spPr>
          <a:xfrm>
            <a:off x="2837822" y="593165"/>
            <a:ext cx="1412631" cy="1426214"/>
          </a:xfrm>
          <a:prstGeom prst="rect">
            <a:avLst/>
          </a:prstGeom>
        </p:spPr>
      </p:pic>
    </p:spTree>
    <p:extLst>
      <p:ext uri="{BB962C8B-B14F-4D97-AF65-F5344CB8AC3E}">
        <p14:creationId xmlns:p14="http://schemas.microsoft.com/office/powerpoint/2010/main" val="25098583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0F73A7-8322-F347-79B4-809397E08950}"/>
              </a:ext>
            </a:extLst>
          </p:cNvPr>
          <p:cNvSpPr txBox="1"/>
          <p:nvPr/>
        </p:nvSpPr>
        <p:spPr>
          <a:xfrm>
            <a:off x="526698" y="1041220"/>
            <a:ext cx="3518603" cy="523220"/>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What are the three types of weather briefings you may receive from a briefer?</a:t>
            </a:r>
          </a:p>
        </p:txBody>
      </p:sp>
      <p:sp>
        <p:nvSpPr>
          <p:cNvPr id="3" name="TextBox 2">
            <a:extLst>
              <a:ext uri="{FF2B5EF4-FFF2-40B4-BE49-F238E27FC236}">
                <a16:creationId xmlns:a16="http://schemas.microsoft.com/office/drawing/2014/main" id="{E63A8BD7-382C-F052-33A2-D59D0DF6CFCE}"/>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4" name="Rectangle 3">
            <a:extLst>
              <a:ext uri="{FF2B5EF4-FFF2-40B4-BE49-F238E27FC236}">
                <a16:creationId xmlns:a16="http://schemas.microsoft.com/office/drawing/2014/main" id="{BE4BFF78-040A-0B76-DC16-B8E28F0DA1AE}"/>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D570ABC-57BA-8A9D-BB11-59B870E9E22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7463095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9EE508-C280-1C61-582E-737BD3C30ED6}"/>
              </a:ext>
            </a:extLst>
          </p:cNvPr>
          <p:cNvSpPr txBox="1"/>
          <p:nvPr/>
        </p:nvSpPr>
        <p:spPr>
          <a:xfrm>
            <a:off x="916181" y="873942"/>
            <a:ext cx="1252481" cy="738664"/>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Standard</a:t>
            </a:r>
          </a:p>
          <a:p>
            <a:pPr algn="ctr"/>
            <a:r>
              <a:rPr lang="en-US" sz="1400" dirty="0">
                <a:latin typeface="Times New Roman" panose="02020603050405020304" pitchFamily="18" charset="0"/>
                <a:cs typeface="Times New Roman" panose="02020603050405020304" pitchFamily="18" charset="0"/>
              </a:rPr>
              <a:t>Abbreviated</a:t>
            </a:r>
          </a:p>
          <a:p>
            <a:pPr algn="ctr"/>
            <a:r>
              <a:rPr lang="en-US" sz="1400" dirty="0">
                <a:latin typeface="Times New Roman" panose="02020603050405020304" pitchFamily="18" charset="0"/>
                <a:cs typeface="Times New Roman" panose="02020603050405020304" pitchFamily="18" charset="0"/>
              </a:rPr>
              <a:t>Outlook</a:t>
            </a:r>
          </a:p>
        </p:txBody>
      </p:sp>
      <p:sp>
        <p:nvSpPr>
          <p:cNvPr id="3" name="TextBox 2">
            <a:extLst>
              <a:ext uri="{FF2B5EF4-FFF2-40B4-BE49-F238E27FC236}">
                <a16:creationId xmlns:a16="http://schemas.microsoft.com/office/drawing/2014/main" id="{16AE538E-69D2-E4CF-2608-23411E66BCFF}"/>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pic>
        <p:nvPicPr>
          <p:cNvPr id="6" name="Picture 5">
            <a:extLst>
              <a:ext uri="{FF2B5EF4-FFF2-40B4-BE49-F238E27FC236}">
                <a16:creationId xmlns:a16="http://schemas.microsoft.com/office/drawing/2014/main" id="{5486D255-E741-1379-D058-F33D7E7B7C25}"/>
              </a:ext>
            </a:extLst>
          </p:cNvPr>
          <p:cNvPicPr>
            <a:picLocks noChangeAspect="1"/>
          </p:cNvPicPr>
          <p:nvPr/>
        </p:nvPicPr>
        <p:blipFill>
          <a:blip r:embed="rId2"/>
          <a:stretch>
            <a:fillRect/>
          </a:stretch>
        </p:blipFill>
        <p:spPr>
          <a:xfrm>
            <a:off x="2560237" y="510001"/>
            <a:ext cx="1517615" cy="1524842"/>
          </a:xfrm>
          <a:prstGeom prst="rect">
            <a:avLst/>
          </a:prstGeom>
        </p:spPr>
      </p:pic>
    </p:spTree>
    <p:extLst>
      <p:ext uri="{BB962C8B-B14F-4D97-AF65-F5344CB8AC3E}">
        <p14:creationId xmlns:p14="http://schemas.microsoft.com/office/powerpoint/2010/main" val="260075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DE432D-C3C7-64AF-F9CD-35BDA7474657}"/>
              </a:ext>
            </a:extLst>
          </p:cNvPr>
          <p:cNvSpPr txBox="1"/>
          <p:nvPr/>
        </p:nvSpPr>
        <p:spPr>
          <a:xfrm>
            <a:off x="400050" y="1031226"/>
            <a:ext cx="3786188" cy="523220"/>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What two factors affect the stability of the atmosphere?</a:t>
            </a:r>
          </a:p>
        </p:txBody>
      </p:sp>
      <p:sp>
        <p:nvSpPr>
          <p:cNvPr id="3" name="TextBox 2">
            <a:extLst>
              <a:ext uri="{FF2B5EF4-FFF2-40B4-BE49-F238E27FC236}">
                <a16:creationId xmlns:a16="http://schemas.microsoft.com/office/drawing/2014/main" id="{04C5E5D0-2088-FD81-23E6-272D90452A34}"/>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4" name="Rectangle 3">
            <a:extLst>
              <a:ext uri="{FF2B5EF4-FFF2-40B4-BE49-F238E27FC236}">
                <a16:creationId xmlns:a16="http://schemas.microsoft.com/office/drawing/2014/main" id="{3E6C17C3-6214-CBCF-A1A3-6790ADDF97E6}"/>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B124906-4114-F253-51E5-5109E98A5AF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7757342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02952E-5111-EB72-A1CE-DB0FE64B6843}"/>
              </a:ext>
            </a:extLst>
          </p:cNvPr>
          <p:cNvSpPr txBox="1"/>
          <p:nvPr/>
        </p:nvSpPr>
        <p:spPr>
          <a:xfrm>
            <a:off x="1142275" y="1217711"/>
            <a:ext cx="2287449"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Temperature and moisture.</a:t>
            </a:r>
          </a:p>
        </p:txBody>
      </p:sp>
      <p:sp>
        <p:nvSpPr>
          <p:cNvPr id="3" name="TextBox 2">
            <a:extLst>
              <a:ext uri="{FF2B5EF4-FFF2-40B4-BE49-F238E27FC236}">
                <a16:creationId xmlns:a16="http://schemas.microsoft.com/office/drawing/2014/main" id="{DF9CC528-3C0D-CED0-6F66-5CAD830275C8}"/>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Tree>
    <p:extLst>
      <p:ext uri="{BB962C8B-B14F-4D97-AF65-F5344CB8AC3E}">
        <p14:creationId xmlns:p14="http://schemas.microsoft.com/office/powerpoint/2010/main" val="12422779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DE432D-C3C7-64AF-F9CD-35BDA7474657}"/>
              </a:ext>
            </a:extLst>
          </p:cNvPr>
          <p:cNvSpPr txBox="1"/>
          <p:nvPr/>
        </p:nvSpPr>
        <p:spPr>
          <a:xfrm>
            <a:off x="329083" y="1109990"/>
            <a:ext cx="3913833" cy="523220"/>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When setting your altimeter, you should use a setting that is within ______ miles of your location.</a:t>
            </a:r>
          </a:p>
        </p:txBody>
      </p:sp>
      <p:sp>
        <p:nvSpPr>
          <p:cNvPr id="3" name="TextBox 2">
            <a:extLst>
              <a:ext uri="{FF2B5EF4-FFF2-40B4-BE49-F238E27FC236}">
                <a16:creationId xmlns:a16="http://schemas.microsoft.com/office/drawing/2014/main" id="{04C5E5D0-2088-FD81-23E6-272D90452A34}"/>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4" name="Rectangle 3">
            <a:extLst>
              <a:ext uri="{FF2B5EF4-FFF2-40B4-BE49-F238E27FC236}">
                <a16:creationId xmlns:a16="http://schemas.microsoft.com/office/drawing/2014/main" id="{AC2E123A-B005-F9FA-9F92-91A9CF0C73A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F88171D1-4243-2410-F0F3-06752901ED39}"/>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8822401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02952E-5111-EB72-A1CE-DB0FE64B6843}"/>
              </a:ext>
            </a:extLst>
          </p:cNvPr>
          <p:cNvSpPr txBox="1"/>
          <p:nvPr/>
        </p:nvSpPr>
        <p:spPr>
          <a:xfrm>
            <a:off x="1142275" y="1217711"/>
            <a:ext cx="2287449" cy="307777"/>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100 miles.</a:t>
            </a:r>
          </a:p>
        </p:txBody>
      </p:sp>
      <p:sp>
        <p:nvSpPr>
          <p:cNvPr id="3" name="TextBox 2">
            <a:extLst>
              <a:ext uri="{FF2B5EF4-FFF2-40B4-BE49-F238E27FC236}">
                <a16:creationId xmlns:a16="http://schemas.microsoft.com/office/drawing/2014/main" id="{DF9CC528-3C0D-CED0-6F66-5CAD830275C8}"/>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Tree>
    <p:extLst>
      <p:ext uri="{BB962C8B-B14F-4D97-AF65-F5344CB8AC3E}">
        <p14:creationId xmlns:p14="http://schemas.microsoft.com/office/powerpoint/2010/main" val="546152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48E575-3152-6552-D979-7F8BAF91DB61}"/>
              </a:ext>
            </a:extLst>
          </p:cNvPr>
          <p:cNvSpPr txBox="1"/>
          <p:nvPr/>
        </p:nvSpPr>
        <p:spPr>
          <a:xfrm>
            <a:off x="351692" y="760730"/>
            <a:ext cx="3888712" cy="998928"/>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Interpret this METAR…</a:t>
            </a:r>
          </a:p>
          <a:p>
            <a:pPr marL="0" marR="0">
              <a:lnSpc>
                <a:spcPct val="107000"/>
              </a:lnSpc>
              <a:spcBef>
                <a:spcPts val="0"/>
              </a:spcBef>
              <a:spcAft>
                <a:spcPts val="0"/>
              </a:spcAft>
            </a:pP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7000"/>
              </a:lnSpc>
            </a:pPr>
            <a:r>
              <a:rPr lang="en-US" sz="1400" dirty="0">
                <a:latin typeface="Times New Roman" panose="02020603050405020304" pitchFamily="18" charset="0"/>
                <a:ea typeface="Calibri" panose="020F0502020204030204" pitchFamily="34" charset="0"/>
                <a:cs typeface="Times New Roman" panose="02020603050405020304" pitchFamily="18" charset="0"/>
              </a:rPr>
              <a:t>METAR KDEN 272153Z 24025G33KT 10SM SCT043 SCT060 BKN110 BKN150 14/03</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0C2439B0-B115-5DF4-E074-E6F9DF78ADCF}"/>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D814E989-F21F-7E54-EA6F-C977FFF4879E}"/>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A6DE991-6EAB-031C-8296-E66AE0324444}"/>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9580247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97254E-B936-8085-1FF9-EED2004B4C5D}"/>
              </a:ext>
            </a:extLst>
          </p:cNvPr>
          <p:cNvSpPr txBox="1"/>
          <p:nvPr/>
        </p:nvSpPr>
        <p:spPr>
          <a:xfrm>
            <a:off x="271305" y="827443"/>
            <a:ext cx="4015505" cy="1003031"/>
          </a:xfrm>
          <a:prstGeom prst="rect">
            <a:avLst/>
          </a:prstGeom>
          <a:noFill/>
        </p:spPr>
        <p:txBody>
          <a:bodyPr wrap="square">
            <a:spAutoFit/>
          </a:bodyPr>
          <a:lstStyle/>
          <a:p>
            <a:pPr algn="just">
              <a:lnSpc>
                <a:spcPct val="107000"/>
              </a:lnSpc>
            </a:pPr>
            <a:r>
              <a:rPr lang="en-US" sz="1400" dirty="0">
                <a:latin typeface="Times New Roman" panose="02020603050405020304" pitchFamily="18" charset="0"/>
                <a:ea typeface="Calibri" panose="020F0502020204030204" pitchFamily="34" charset="0"/>
                <a:cs typeface="Times New Roman" panose="02020603050405020304" pitchFamily="18" charset="0"/>
              </a:rPr>
              <a:t>Issued by KDEN on the 27th at 21:53Z. Winds are from 240 at 25 gust 33 kts. 10 miles visibility. 4,300 scattered, 6,000 scattered, 11,000 broken, 15,000 broken, temperature 14C, dewpoint 3C.</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6CF862C6-5151-81D3-F722-57EA7E700575}"/>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Tree>
    <p:extLst>
      <p:ext uri="{BB962C8B-B14F-4D97-AF65-F5344CB8AC3E}">
        <p14:creationId xmlns:p14="http://schemas.microsoft.com/office/powerpoint/2010/main" val="26990880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1A3936-621B-9418-022E-09264D164FC2}"/>
              </a:ext>
            </a:extLst>
          </p:cNvPr>
          <p:cNvSpPr txBox="1"/>
          <p:nvPr/>
        </p:nvSpPr>
        <p:spPr>
          <a:xfrm>
            <a:off x="713432" y="1007051"/>
            <a:ext cx="3145135" cy="542008"/>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three conditions must be present for thunderstorm </a:t>
            </a:r>
            <a:r>
              <a:rPr lang="en-US" sz="1400" dirty="0">
                <a:latin typeface="Times New Roman" panose="02020603050405020304" pitchFamily="18" charset="0"/>
                <a:ea typeface="Calibri" panose="020F0502020204030204" pitchFamily="34" charset="0"/>
                <a:cs typeface="Times New Roman" panose="02020603050405020304" pitchFamily="18" charset="0"/>
              </a:rPr>
              <a:t>development</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4ADE1B9C-9B70-795F-17B8-62A9A2A5279F}"/>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60F34CF7-9B96-4FFD-A35D-92894AC740AF}"/>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FB4F78C0-0609-23F0-6A8A-1192EF5B1201}"/>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0709170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027FFB-6367-D6AE-CBD0-96C2168139A3}"/>
              </a:ext>
            </a:extLst>
          </p:cNvPr>
          <p:cNvSpPr txBox="1"/>
          <p:nvPr/>
        </p:nvSpPr>
        <p:spPr>
          <a:xfrm>
            <a:off x="239487" y="827061"/>
            <a:ext cx="2528870" cy="886397"/>
          </a:xfrm>
          <a:prstGeom prst="rect">
            <a:avLst/>
          </a:prstGeom>
          <a:noFill/>
        </p:spPr>
        <p:txBody>
          <a:bodyPr wrap="square">
            <a:spAutoFit/>
          </a:bodyPr>
          <a:lstStyle/>
          <a:p>
            <a:pPr marL="171450" marR="0" lvl="0" indent="-171450" algn="just">
              <a:lnSpc>
                <a:spcPct val="115000"/>
              </a:lnSpc>
              <a:spcBef>
                <a:spcPts val="0"/>
              </a:spcBef>
              <a:spcAft>
                <a:spcPts val="0"/>
              </a:spcAft>
              <a:buFont typeface="Arial" panose="020B0604020202020204" pitchFamily="34" charset="0"/>
              <a:buChar char="•"/>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Sufficient water vapor.</a:t>
            </a:r>
          </a:p>
          <a:p>
            <a:pPr marL="171450" marR="0" lvl="0" indent="-171450" algn="just">
              <a:lnSpc>
                <a:spcPct val="115000"/>
              </a:lnSpc>
              <a:spcBef>
                <a:spcPts val="0"/>
              </a:spcBef>
              <a:spcAft>
                <a:spcPts val="0"/>
              </a:spcAft>
              <a:buFont typeface="Arial" panose="020B0604020202020204" pitchFamily="34" charset="0"/>
              <a:buChar char="•"/>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An unstable lapse rate.</a:t>
            </a:r>
          </a:p>
          <a:p>
            <a:pPr marL="171450" marR="0" lvl="0" indent="-171450" algn="just">
              <a:spcBef>
                <a:spcPts val="0"/>
              </a:spcBef>
              <a:spcAft>
                <a:spcPts val="0"/>
              </a:spcAft>
              <a:buFont typeface="Arial" panose="020B0604020202020204" pitchFamily="34" charset="0"/>
              <a:buChar char="•"/>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An initial upward movement to start the storm process in motion.</a:t>
            </a:r>
          </a:p>
        </p:txBody>
      </p:sp>
      <p:sp>
        <p:nvSpPr>
          <p:cNvPr id="4" name="TextBox 3">
            <a:extLst>
              <a:ext uri="{FF2B5EF4-FFF2-40B4-BE49-F238E27FC236}">
                <a16:creationId xmlns:a16="http://schemas.microsoft.com/office/drawing/2014/main" id="{CB6B16CC-376F-B6A9-3AF3-11F1856E4C6B}"/>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pic>
        <p:nvPicPr>
          <p:cNvPr id="6" name="Picture 5">
            <a:extLst>
              <a:ext uri="{FF2B5EF4-FFF2-40B4-BE49-F238E27FC236}">
                <a16:creationId xmlns:a16="http://schemas.microsoft.com/office/drawing/2014/main" id="{437E22C7-F05B-D938-2F91-A1AD50B29403}"/>
              </a:ext>
            </a:extLst>
          </p:cNvPr>
          <p:cNvPicPr>
            <a:picLocks noChangeAspect="1"/>
          </p:cNvPicPr>
          <p:nvPr/>
        </p:nvPicPr>
        <p:blipFill>
          <a:blip r:embed="rId2"/>
          <a:stretch>
            <a:fillRect/>
          </a:stretch>
        </p:blipFill>
        <p:spPr>
          <a:xfrm>
            <a:off x="2980198" y="584302"/>
            <a:ext cx="1352315" cy="1371914"/>
          </a:xfrm>
          <a:prstGeom prst="rect">
            <a:avLst/>
          </a:prstGeom>
        </p:spPr>
      </p:pic>
    </p:spTree>
    <p:extLst>
      <p:ext uri="{BB962C8B-B14F-4D97-AF65-F5344CB8AC3E}">
        <p14:creationId xmlns:p14="http://schemas.microsoft.com/office/powerpoint/2010/main" val="3142222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E3A7C7-07AD-0894-8E3A-17E140E6C9AF}"/>
              </a:ext>
            </a:extLst>
          </p:cNvPr>
          <p:cNvSpPr txBox="1"/>
          <p:nvPr/>
        </p:nvSpPr>
        <p:spPr>
          <a:xfrm>
            <a:off x="531459" y="1100596"/>
            <a:ext cx="3509081" cy="542008"/>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You are 300 miles from your destination; how can you obtain weather at your destination?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C8AF0976-38C6-8CF7-6BDE-BEF49BD4F2B5}"/>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0D81C2F9-BE72-B182-BDF2-83E003558A3F}"/>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735462-8C69-00F8-19F7-B6BA45C006E8}"/>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3689363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D3AAAB-EDBD-DC38-2916-E56E2B24AE02}"/>
              </a:ext>
            </a:extLst>
          </p:cNvPr>
          <p:cNvSpPr txBox="1"/>
          <p:nvPr/>
        </p:nvSpPr>
        <p:spPr>
          <a:xfrm>
            <a:off x="336237" y="481450"/>
            <a:ext cx="3899525" cy="1659942"/>
          </a:xfrm>
          <a:prstGeom prst="rect">
            <a:avLst/>
          </a:prstGeom>
          <a:noFill/>
        </p:spPr>
        <p:txBody>
          <a:bodyPr wrap="square">
            <a:spAutoFit/>
          </a:bodyPr>
          <a:lstStyle/>
          <a:p>
            <a:pPr algn="just">
              <a:lnSpc>
                <a:spcPct val="107000"/>
              </a:lnSpc>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You are probably too far away to receive weather information directly from your destination so you’ll need to be creative.</a:t>
            </a:r>
          </a:p>
          <a:p>
            <a:pPr marL="0" marR="0" algn="just">
              <a:lnSpc>
                <a:spcPct val="107000"/>
              </a:lnSpc>
              <a:spcBef>
                <a:spcPts val="0"/>
              </a:spcBef>
              <a:spcAft>
                <a:spcPts val="0"/>
              </a:spcAft>
            </a:pP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The most timely and accurate means would be to contact FSS using a nearby RCO frequency. As a backup, you can use the weather data link through your avionics (ex: ADS-B In), ForeFlight</a:t>
            </a:r>
            <a:r>
              <a:rPr lang="en-US" sz="1200" dirty="0">
                <a:latin typeface="Times New Roman" panose="02020603050405020304" pitchFamily="18" charset="0"/>
                <a:ea typeface="Calibri" panose="020F0502020204030204" pitchFamily="34" charset="0"/>
                <a:cs typeface="Times New Roman" panose="02020603050405020304" pitchFamily="18" charset="0"/>
              </a:rPr>
              <a:t>,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or reach out to ATC.</a:t>
            </a:r>
          </a:p>
        </p:txBody>
      </p:sp>
      <p:sp>
        <p:nvSpPr>
          <p:cNvPr id="4" name="TextBox 3">
            <a:extLst>
              <a:ext uri="{FF2B5EF4-FFF2-40B4-BE49-F238E27FC236}">
                <a16:creationId xmlns:a16="http://schemas.microsoft.com/office/drawing/2014/main" id="{DB4582E6-7E39-E6B4-0F19-5324AD2334E0}"/>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Tree>
    <p:extLst>
      <p:ext uri="{BB962C8B-B14F-4D97-AF65-F5344CB8AC3E}">
        <p14:creationId xmlns:p14="http://schemas.microsoft.com/office/powerpoint/2010/main" val="20964032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4B7FFE-7781-19C8-8B44-0BAD7EE2BE4F}"/>
              </a:ext>
            </a:extLst>
          </p:cNvPr>
          <p:cNvSpPr txBox="1"/>
          <p:nvPr/>
        </p:nvSpPr>
        <p:spPr>
          <a:xfrm>
            <a:off x="1135806" y="1215852"/>
            <a:ext cx="2300387" cy="311496"/>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is "dew point?"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9BE7620D-4FCE-27E1-28AD-8A3406235028}"/>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49040E82-5B43-B78A-2D4E-F842136FDAEE}"/>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1CC00F5-3181-5D5D-B9FF-5059AEF2052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6451379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3472AE-5B77-22DF-0324-8A1B9D4E0363}"/>
              </a:ext>
            </a:extLst>
          </p:cNvPr>
          <p:cNvSpPr txBox="1"/>
          <p:nvPr/>
        </p:nvSpPr>
        <p:spPr>
          <a:xfrm>
            <a:off x="298591" y="1012076"/>
            <a:ext cx="3968757" cy="542008"/>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Dew point is the temperature to which a sample of air must be cooled to attain a state of saturation.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F1CD1C55-A12E-0CED-5876-B0D830173C6B}"/>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Tree>
    <p:extLst>
      <p:ext uri="{BB962C8B-B14F-4D97-AF65-F5344CB8AC3E}">
        <p14:creationId xmlns:p14="http://schemas.microsoft.com/office/powerpoint/2010/main" val="40938776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36E169-A4B3-B727-401A-DB57482391BA}"/>
              </a:ext>
            </a:extLst>
          </p:cNvPr>
          <p:cNvSpPr txBox="1"/>
          <p:nvPr/>
        </p:nvSpPr>
        <p:spPr>
          <a:xfrm>
            <a:off x="834063" y="1215852"/>
            <a:ext cx="2903874" cy="311496"/>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is a standard day?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E09BA393-0D4F-CF03-4F12-02CFE4C8CDE8}"/>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D79D9DDA-0EA4-4DFB-8D87-1379F83C29E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2A02CA8-511C-5522-D091-D18F48546816}"/>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4601540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4B5743-ADED-DEBA-A6B4-AB47FA3A2D95}"/>
              </a:ext>
            </a:extLst>
          </p:cNvPr>
          <p:cNvSpPr txBox="1"/>
          <p:nvPr/>
        </p:nvSpPr>
        <p:spPr>
          <a:xfrm>
            <a:off x="517114" y="1100596"/>
            <a:ext cx="3537771" cy="542008"/>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15 deg C (59 deg F).</a:t>
            </a:r>
          </a:p>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A pressure altitude of 29.92 inches of mercury.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A86172AE-4EBA-9E21-513C-097567172704}"/>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Tree>
    <p:extLst>
      <p:ext uri="{BB962C8B-B14F-4D97-AF65-F5344CB8AC3E}">
        <p14:creationId xmlns:p14="http://schemas.microsoft.com/office/powerpoint/2010/main" val="5176607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B0B710-0380-B4C1-D79C-6FEAA61BEC36}"/>
              </a:ext>
            </a:extLst>
          </p:cNvPr>
          <p:cNvSpPr txBox="1"/>
          <p:nvPr/>
        </p:nvSpPr>
        <p:spPr>
          <a:xfrm>
            <a:off x="288890" y="1182026"/>
            <a:ext cx="3994220" cy="311496"/>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What is density altitude and how do you calculate it?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5404A416-FC03-604E-A2F8-610ECA8CCF69}"/>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E823871A-3DB5-3F43-479F-A1C43ADD6AA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704397A-9B7E-7444-E87E-066C22182EF0}"/>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3167929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A06C8C-3039-3BEC-C453-E3AA75F8860B}"/>
              </a:ext>
            </a:extLst>
          </p:cNvPr>
          <p:cNvSpPr txBox="1"/>
          <p:nvPr/>
        </p:nvSpPr>
        <p:spPr>
          <a:xfrm>
            <a:off x="205991" y="317469"/>
            <a:ext cx="4114799" cy="675506"/>
          </a:xfrm>
          <a:prstGeom prst="rect">
            <a:avLst/>
          </a:prstGeom>
          <a:noFill/>
        </p:spPr>
        <p:txBody>
          <a:bodyPr wrap="square">
            <a:spAutoFit/>
          </a:bodyPr>
          <a:lstStyle/>
          <a:p>
            <a:pPr marL="0" marR="0" algn="just">
              <a:lnSpc>
                <a:spcPct val="107000"/>
              </a:lnSpc>
              <a:spcBef>
                <a:spcPts val="0"/>
              </a:spcBef>
              <a:spcAft>
                <a:spcPts val="0"/>
              </a:spcAf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DA is p</a:t>
            </a: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ressure altitude corrected for non-standard temperature</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It can be calculated using charts or an E6B flight computer. You can also use the following formula:</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547598CB-F4AE-168F-B507-4ED55A6DC760}"/>
              </a:ext>
            </a:extLst>
          </p:cNvPr>
          <p:cNvSpPr txBox="1"/>
          <p:nvPr/>
        </p:nvSpPr>
        <p:spPr>
          <a:xfrm>
            <a:off x="304564" y="1083296"/>
            <a:ext cx="1676872" cy="461665"/>
          </a:xfrm>
          <a:prstGeom prst="rect">
            <a:avLst/>
          </a:prstGeom>
          <a:noFill/>
        </p:spPr>
        <p:txBody>
          <a:bodyPr wrap="square">
            <a:spAutoFit/>
          </a:bodyPr>
          <a:lstStyle/>
          <a:p>
            <a:pPr algn="ctr" eaLnBrk="1" hangingPunct="1"/>
            <a:r>
              <a:rPr lang="en-US" altLang="en-US" sz="1200" dirty="0">
                <a:latin typeface="Times New Roman" panose="02020603050405020304" pitchFamily="18" charset="0"/>
                <a:cs typeface="Times New Roman" panose="02020603050405020304" pitchFamily="18" charset="0"/>
              </a:rPr>
              <a:t>Fahrenheit</a:t>
            </a:r>
          </a:p>
          <a:p>
            <a:pPr algn="ctr" eaLnBrk="1" hangingPunct="1"/>
            <a:r>
              <a:rPr lang="en-US" altLang="en-US" sz="1200" dirty="0">
                <a:latin typeface="Times New Roman" panose="02020603050405020304" pitchFamily="18" charset="0"/>
                <a:cs typeface="Times New Roman" panose="02020603050405020304" pitchFamily="18" charset="0"/>
              </a:rPr>
              <a:t>DA = PA + 66(T – ST)</a:t>
            </a:r>
          </a:p>
        </p:txBody>
      </p:sp>
      <p:sp>
        <p:nvSpPr>
          <p:cNvPr id="4" name="TextBox 3">
            <a:extLst>
              <a:ext uri="{FF2B5EF4-FFF2-40B4-BE49-F238E27FC236}">
                <a16:creationId xmlns:a16="http://schemas.microsoft.com/office/drawing/2014/main" id="{25901D2C-E76E-4EFF-E220-E65568959601}"/>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6" name="TextBox 5">
            <a:extLst>
              <a:ext uri="{FF2B5EF4-FFF2-40B4-BE49-F238E27FC236}">
                <a16:creationId xmlns:a16="http://schemas.microsoft.com/office/drawing/2014/main" id="{B3F38C2D-609F-52DD-01BE-D3D9E5A83F14}"/>
              </a:ext>
            </a:extLst>
          </p:cNvPr>
          <p:cNvSpPr txBox="1"/>
          <p:nvPr/>
        </p:nvSpPr>
        <p:spPr>
          <a:xfrm>
            <a:off x="1209675" y="1613380"/>
            <a:ext cx="2286000" cy="707886"/>
          </a:xfrm>
          <a:prstGeom prst="rect">
            <a:avLst/>
          </a:prstGeom>
          <a:noFill/>
        </p:spPr>
        <p:txBody>
          <a:bodyPr wrap="square">
            <a:spAutoFit/>
          </a:bodyPr>
          <a:lstStyle/>
          <a:p>
            <a:pPr algn="ctr" eaLnBrk="1" hangingPunct="1"/>
            <a:r>
              <a:rPr lang="en-US" altLang="en-US" sz="1000" dirty="0">
                <a:latin typeface="Times New Roman" panose="02020603050405020304" pitchFamily="18" charset="0"/>
                <a:cs typeface="Times New Roman" panose="02020603050405020304" pitchFamily="18" charset="0"/>
              </a:rPr>
              <a:t>Where:</a:t>
            </a:r>
          </a:p>
          <a:p>
            <a:pPr algn="ctr" eaLnBrk="1" hangingPunct="1"/>
            <a:r>
              <a:rPr lang="en-US" altLang="en-US" sz="1000" dirty="0">
                <a:latin typeface="Times New Roman" panose="02020603050405020304" pitchFamily="18" charset="0"/>
                <a:cs typeface="Times New Roman" panose="02020603050405020304" pitchFamily="18" charset="0"/>
              </a:rPr>
              <a:t>PA – Pressure Altitude</a:t>
            </a:r>
          </a:p>
          <a:p>
            <a:pPr algn="ctr" eaLnBrk="1" hangingPunct="1"/>
            <a:r>
              <a:rPr lang="en-US" altLang="en-US" sz="1000" dirty="0">
                <a:latin typeface="Times New Roman" panose="02020603050405020304" pitchFamily="18" charset="0"/>
                <a:cs typeface="Times New Roman" panose="02020603050405020304" pitchFamily="18" charset="0"/>
              </a:rPr>
              <a:t>T – Actual Temperature</a:t>
            </a:r>
          </a:p>
          <a:p>
            <a:pPr algn="ctr" eaLnBrk="1" hangingPunct="1"/>
            <a:r>
              <a:rPr lang="en-US" altLang="en-US" sz="1000" dirty="0">
                <a:latin typeface="Times New Roman" panose="02020603050405020304" pitchFamily="18" charset="0"/>
                <a:cs typeface="Times New Roman" panose="02020603050405020304" pitchFamily="18" charset="0"/>
              </a:rPr>
              <a:t>ST – Standard Temperature</a:t>
            </a:r>
          </a:p>
        </p:txBody>
      </p:sp>
      <p:sp>
        <p:nvSpPr>
          <p:cNvPr id="7" name="TextBox 6">
            <a:extLst>
              <a:ext uri="{FF2B5EF4-FFF2-40B4-BE49-F238E27FC236}">
                <a16:creationId xmlns:a16="http://schemas.microsoft.com/office/drawing/2014/main" id="{305A770B-0552-D860-8AF9-2BF928FFAF8B}"/>
              </a:ext>
            </a:extLst>
          </p:cNvPr>
          <p:cNvSpPr txBox="1"/>
          <p:nvPr/>
        </p:nvSpPr>
        <p:spPr>
          <a:xfrm>
            <a:off x="2352675" y="1083296"/>
            <a:ext cx="1914763" cy="461665"/>
          </a:xfrm>
          <a:prstGeom prst="rect">
            <a:avLst/>
          </a:prstGeom>
          <a:noFill/>
        </p:spPr>
        <p:txBody>
          <a:bodyPr wrap="square">
            <a:spAutoFit/>
          </a:bodyPr>
          <a:lstStyle/>
          <a:p>
            <a:pPr algn="ctr" eaLnBrk="1" hangingPunct="1"/>
            <a:r>
              <a:rPr lang="en-US" altLang="en-US" sz="1200" dirty="0">
                <a:latin typeface="Times New Roman" panose="02020603050405020304" pitchFamily="18" charset="0"/>
                <a:cs typeface="Times New Roman" panose="02020603050405020304" pitchFamily="18" charset="0"/>
              </a:rPr>
              <a:t>Celsius</a:t>
            </a:r>
          </a:p>
          <a:p>
            <a:pPr algn="ctr" eaLnBrk="1" hangingPunct="1"/>
            <a:r>
              <a:rPr lang="en-US" altLang="en-US" sz="1200" dirty="0">
                <a:latin typeface="Times New Roman" panose="02020603050405020304" pitchFamily="18" charset="0"/>
                <a:cs typeface="Times New Roman" panose="02020603050405020304" pitchFamily="18" charset="0"/>
              </a:rPr>
              <a:t>DA = PA + 118.8(T – ST)</a:t>
            </a:r>
          </a:p>
        </p:txBody>
      </p:sp>
    </p:spTree>
    <p:extLst>
      <p:ext uri="{BB962C8B-B14F-4D97-AF65-F5344CB8AC3E}">
        <p14:creationId xmlns:p14="http://schemas.microsoft.com/office/powerpoint/2010/main" val="30935001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1143FB-A9BB-4430-EEF4-2FAD3FE45819}"/>
              </a:ext>
            </a:extLst>
          </p:cNvPr>
          <p:cNvSpPr txBox="1"/>
          <p:nvPr/>
        </p:nvSpPr>
        <p:spPr>
          <a:xfrm>
            <a:off x="231052" y="1215852"/>
            <a:ext cx="4109896" cy="542008"/>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is an AIRMET?</a:t>
            </a: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AIM 7-1-6</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8EB4BAC9-45E2-2D1F-E6CA-39E3918ADADC}"/>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58C063EE-594B-849F-DA00-356BD303412A}"/>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579C161-BDE3-2B7F-0585-EA2F5834F2DC}"/>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2173777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55BE8B-4E9B-781F-0D20-F775F25A3DF2}"/>
              </a:ext>
            </a:extLst>
          </p:cNvPr>
          <p:cNvSpPr txBox="1"/>
          <p:nvPr/>
        </p:nvSpPr>
        <p:spPr>
          <a:xfrm>
            <a:off x="314011" y="985340"/>
            <a:ext cx="3943978" cy="772519"/>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Advisories of significant weather phenomena that describe conditions at intensities lower than those requiring the issuance of SIGMETs.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69A5E085-DCFA-2723-7D16-5931E4B633D4}"/>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Tree>
    <p:extLst>
      <p:ext uri="{BB962C8B-B14F-4D97-AF65-F5344CB8AC3E}">
        <p14:creationId xmlns:p14="http://schemas.microsoft.com/office/powerpoint/2010/main" val="26958265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8D988F-49C7-14F5-4DE3-3D96C4FF7C0D}"/>
              </a:ext>
            </a:extLst>
          </p:cNvPr>
          <p:cNvSpPr txBox="1"/>
          <p:nvPr/>
        </p:nvSpPr>
        <p:spPr>
          <a:xfrm>
            <a:off x="811404" y="1100596"/>
            <a:ext cx="2949192" cy="772519"/>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two formats are used to issue AIRMETs?</a:t>
            </a: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AIM 7-1-6</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4D3E7FFA-E4ED-AC3F-25C1-D570FFDC94CE}"/>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0481BF6F-9690-74C2-9CAA-337825945354}"/>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85D4A5C-5530-A682-AA32-EAEFB5F1401C}"/>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0600299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C14AF5-F725-C898-5002-695F176738BE}"/>
              </a:ext>
            </a:extLst>
          </p:cNvPr>
          <p:cNvSpPr txBox="1"/>
          <p:nvPr/>
        </p:nvSpPr>
        <p:spPr>
          <a:xfrm>
            <a:off x="424923" y="754828"/>
            <a:ext cx="3890962" cy="1233543"/>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AIRMET information is available in two formats: text bulletins (WA) and graphics (G-AIRMET). They are issued on a scheduled basis every 6 hours beginning at 0245 UTC. Unscheduled updates and corrections are issued as necessary.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7B9FFA7D-4794-AEE6-B156-2302CB2A2B62}"/>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Tree>
    <p:extLst>
      <p:ext uri="{BB962C8B-B14F-4D97-AF65-F5344CB8AC3E}">
        <p14:creationId xmlns:p14="http://schemas.microsoft.com/office/powerpoint/2010/main" val="33690163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E092D8-6136-B191-CE0B-A2B41846AD4E}"/>
              </a:ext>
            </a:extLst>
          </p:cNvPr>
          <p:cNvSpPr txBox="1"/>
          <p:nvPr/>
        </p:nvSpPr>
        <p:spPr>
          <a:xfrm>
            <a:off x="670592" y="976640"/>
            <a:ext cx="3230815" cy="523220"/>
          </a:xfrm>
          <a:prstGeom prst="rect">
            <a:avLst/>
          </a:prstGeom>
          <a:noFill/>
        </p:spPr>
        <p:txBody>
          <a:bodyPr wrap="square">
            <a:spAutoFit/>
          </a:bodyPr>
          <a:lstStyle/>
          <a:p>
            <a:pPr algn="just"/>
            <a:r>
              <a:rPr lang="en-US" sz="1400" dirty="0">
                <a:solidFill>
                  <a:srgbClr val="000000"/>
                </a:solidFill>
                <a:latin typeface="Times New Roman" panose="02020603050405020304" pitchFamily="18" charset="0"/>
              </a:rPr>
              <a:t>What weather phenomena will a CONV SIGMET report?</a:t>
            </a:r>
            <a:endParaRPr lang="en-US" sz="1400" dirty="0"/>
          </a:p>
        </p:txBody>
      </p:sp>
      <p:sp>
        <p:nvSpPr>
          <p:cNvPr id="3" name="TextBox 2">
            <a:extLst>
              <a:ext uri="{FF2B5EF4-FFF2-40B4-BE49-F238E27FC236}">
                <a16:creationId xmlns:a16="http://schemas.microsoft.com/office/drawing/2014/main" id="{3A9EB6DB-E141-9ECE-4BE4-0903BEBD89D6}"/>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4" name="Rectangle 3">
            <a:extLst>
              <a:ext uri="{FF2B5EF4-FFF2-40B4-BE49-F238E27FC236}">
                <a16:creationId xmlns:a16="http://schemas.microsoft.com/office/drawing/2014/main" id="{0AFAE8DB-C60C-6AF6-66FC-FC61B7996FBC}"/>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3BA1830-6C1A-6F3E-8E56-3D421457D306}"/>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11015849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59ED1C-C683-8B71-BF2E-D78249D9F793}"/>
              </a:ext>
            </a:extLst>
          </p:cNvPr>
          <p:cNvSpPr txBox="1"/>
          <p:nvPr/>
        </p:nvSpPr>
        <p:spPr>
          <a:xfrm>
            <a:off x="340368" y="407957"/>
            <a:ext cx="3891263" cy="807978"/>
          </a:xfrm>
          <a:prstGeom prst="rect">
            <a:avLst/>
          </a:prstGeom>
          <a:noFill/>
        </p:spPr>
        <p:txBody>
          <a:bodyPr wrap="square">
            <a:spAutoFit/>
          </a:bodyPr>
          <a:lstStyle/>
          <a:p>
            <a:pPr algn="just">
              <a:lnSpc>
                <a:spcPct val="107000"/>
              </a:lnSpc>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Convective SIGMETs report winds 50kts or greater, hail ¾ inch or greater, and tornados. All of this implies thunderstorms or embedded thunderstorms. Also, lines of thunderstorms 60 miles long or greater.</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408EB270-D8D1-CC0E-610A-243A50842D65}"/>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pic>
        <p:nvPicPr>
          <p:cNvPr id="6" name="Picture 5">
            <a:extLst>
              <a:ext uri="{FF2B5EF4-FFF2-40B4-BE49-F238E27FC236}">
                <a16:creationId xmlns:a16="http://schemas.microsoft.com/office/drawing/2014/main" id="{78F7CA18-C2DB-C34B-E849-FF63E2A23231}"/>
              </a:ext>
            </a:extLst>
          </p:cNvPr>
          <p:cNvPicPr>
            <a:picLocks noChangeAspect="1"/>
          </p:cNvPicPr>
          <p:nvPr/>
        </p:nvPicPr>
        <p:blipFill>
          <a:blip r:embed="rId2"/>
          <a:stretch>
            <a:fillRect/>
          </a:stretch>
        </p:blipFill>
        <p:spPr>
          <a:xfrm>
            <a:off x="1749408" y="1388268"/>
            <a:ext cx="1073183" cy="1083809"/>
          </a:xfrm>
          <a:prstGeom prst="rect">
            <a:avLst/>
          </a:prstGeom>
        </p:spPr>
      </p:pic>
    </p:spTree>
    <p:extLst>
      <p:ext uri="{BB962C8B-B14F-4D97-AF65-F5344CB8AC3E}">
        <p14:creationId xmlns:p14="http://schemas.microsoft.com/office/powerpoint/2010/main" val="40700630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0A4309-8B4E-F0A3-AC89-27A8C41AF06F}"/>
              </a:ext>
            </a:extLst>
          </p:cNvPr>
          <p:cNvSpPr txBox="1"/>
          <p:nvPr/>
        </p:nvSpPr>
        <p:spPr>
          <a:xfrm>
            <a:off x="261257" y="1016611"/>
            <a:ext cx="4049486" cy="500009"/>
          </a:xfrm>
          <a:prstGeom prst="rect">
            <a:avLst/>
          </a:prstGeom>
          <a:noFill/>
        </p:spPr>
        <p:txBody>
          <a:bodyPr wrap="square">
            <a:spAutoFit/>
          </a:bodyPr>
          <a:lstStyle/>
          <a:p>
            <a:pPr marL="0" marR="0" algn="just">
              <a:lnSpc>
                <a:spcPct val="115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What is the primary means of obtaining a weather briefing?</a:t>
            </a:r>
          </a:p>
          <a:p>
            <a:pPr marL="0" marR="0" algn="ctr">
              <a:lnSpc>
                <a:spcPct val="115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AIM 7-1-2</a:t>
            </a:r>
          </a:p>
        </p:txBody>
      </p:sp>
      <p:sp>
        <p:nvSpPr>
          <p:cNvPr id="2" name="TextBox 1">
            <a:extLst>
              <a:ext uri="{FF2B5EF4-FFF2-40B4-BE49-F238E27FC236}">
                <a16:creationId xmlns:a16="http://schemas.microsoft.com/office/drawing/2014/main" id="{5DEAEF13-79A3-A16D-8ED1-2C6A08D8759F}"/>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4" name="Rectangle 3">
            <a:extLst>
              <a:ext uri="{FF2B5EF4-FFF2-40B4-BE49-F238E27FC236}">
                <a16:creationId xmlns:a16="http://schemas.microsoft.com/office/drawing/2014/main" id="{9A6E96B7-2DB8-83F1-2F38-77D0D54D5A4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14C32F5-0A4A-33D7-4BA6-062FCD1D9B06}"/>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2443579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D8701A-078E-3350-500D-602D245C9152}"/>
              </a:ext>
            </a:extLst>
          </p:cNvPr>
          <p:cNvSpPr txBox="1"/>
          <p:nvPr/>
        </p:nvSpPr>
        <p:spPr>
          <a:xfrm>
            <a:off x="268884" y="756880"/>
            <a:ext cx="4077028" cy="869469"/>
          </a:xfrm>
          <a:prstGeom prst="rect">
            <a:avLst/>
          </a:prstGeom>
          <a:noFill/>
        </p:spPr>
        <p:txBody>
          <a:bodyPr wrap="square">
            <a:spAutoFit/>
          </a:bodyPr>
          <a:lstStyle/>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The primary source is an individual briefing obtained from a briefer at the AFSS/FSS. These briefings, which are tailored to your specific flight, are available 24 hours a day through the use of the toll-free number (1-800-WX-BRIEF).</a:t>
            </a:r>
          </a:p>
        </p:txBody>
      </p:sp>
      <p:sp>
        <p:nvSpPr>
          <p:cNvPr id="2" name="TextBox 1">
            <a:extLst>
              <a:ext uri="{FF2B5EF4-FFF2-40B4-BE49-F238E27FC236}">
                <a16:creationId xmlns:a16="http://schemas.microsoft.com/office/drawing/2014/main" id="{80726A15-15CA-635B-895B-BDF8F298FEB5}"/>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Tree>
    <p:extLst>
      <p:ext uri="{BB962C8B-B14F-4D97-AF65-F5344CB8AC3E}">
        <p14:creationId xmlns:p14="http://schemas.microsoft.com/office/powerpoint/2010/main" val="14977340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C94ED-3EB3-557E-9A11-C187AB15012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4DA428E-2E3B-383D-73E9-C27020A09D9E}"/>
              </a:ext>
            </a:extLst>
          </p:cNvPr>
          <p:cNvSpPr txBox="1"/>
          <p:nvPr/>
        </p:nvSpPr>
        <p:spPr>
          <a:xfrm>
            <a:off x="298938" y="683055"/>
            <a:ext cx="3974123" cy="1200329"/>
          </a:xfrm>
          <a:prstGeom prst="rect">
            <a:avLst/>
          </a:prstGeom>
          <a:noFill/>
        </p:spPr>
        <p:txBody>
          <a:bodyPr wrap="square" rtlCol="0">
            <a:spAutoFit/>
          </a:bodyPr>
          <a:lstStyle/>
          <a:p>
            <a:pPr algn="just"/>
            <a:r>
              <a:rPr lang="en-US" sz="1200" dirty="0">
                <a:latin typeface="Times New Roman" panose="02020603050405020304" pitchFamily="18" charset="0"/>
                <a:cs typeface="Times New Roman" panose="02020603050405020304" pitchFamily="18" charset="0"/>
              </a:rPr>
              <a:t>You are with a friend on an VFR cross country to KAMA to go eat at the Big Texan. You are cruising at 7,500 MSL and note your OAT is 10 deg C. You later climb to 9,500 MSL. You friend bets you a steak dinner that you can’t guess the current OAT. You take him on.</a:t>
            </a:r>
          </a:p>
          <a:p>
            <a:pPr algn="ctr"/>
            <a:r>
              <a:rPr lang="en-US" sz="1200" dirty="0">
                <a:latin typeface="Times New Roman" panose="02020603050405020304" pitchFamily="18" charset="0"/>
                <a:cs typeface="Times New Roman" panose="02020603050405020304" pitchFamily="18" charset="0"/>
              </a:rPr>
              <a:t>What is your guess?</a:t>
            </a:r>
          </a:p>
        </p:txBody>
      </p:sp>
      <p:sp>
        <p:nvSpPr>
          <p:cNvPr id="4" name="TextBox 3">
            <a:extLst>
              <a:ext uri="{FF2B5EF4-FFF2-40B4-BE49-F238E27FC236}">
                <a16:creationId xmlns:a16="http://schemas.microsoft.com/office/drawing/2014/main" id="{73C88C36-D850-A16C-FDE7-3F5A7C2D47B7}"/>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94441DA0-8CF5-DF76-8418-309F5548DE48}"/>
              </a:ext>
            </a:extLst>
          </p:cNvPr>
          <p:cNvSpPr/>
          <p:nvPr/>
        </p:nvSpPr>
        <p:spPr>
          <a:xfrm>
            <a:off x="4294078" y="101908"/>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424D18F-C23B-6188-5F98-E921F526677C}"/>
              </a:ext>
            </a:extLst>
          </p:cNvPr>
          <p:cNvSpPr txBox="1"/>
          <p:nvPr/>
        </p:nvSpPr>
        <p:spPr>
          <a:xfrm>
            <a:off x="4238625" y="63056"/>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4386070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8FF70-189D-6DCB-51E9-A35E755CC57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C595C84-475B-EA48-6FB4-466C71F1B999}"/>
              </a:ext>
            </a:extLst>
          </p:cNvPr>
          <p:cNvSpPr txBox="1"/>
          <p:nvPr/>
        </p:nvSpPr>
        <p:spPr>
          <a:xfrm>
            <a:off x="197198" y="263604"/>
            <a:ext cx="4177603" cy="1107996"/>
          </a:xfrm>
          <a:prstGeom prst="rect">
            <a:avLst/>
          </a:prstGeom>
          <a:noFill/>
        </p:spPr>
        <p:txBody>
          <a:bodyPr wrap="square" rtlCol="0">
            <a:spAutoFit/>
          </a:bodyPr>
          <a:lstStyle/>
          <a:p>
            <a:pPr algn="just"/>
            <a:r>
              <a:rPr lang="en-US" sz="1100" dirty="0">
                <a:latin typeface="Times New Roman" panose="02020603050405020304" pitchFamily="18" charset="0"/>
                <a:cs typeface="Times New Roman" panose="02020603050405020304" pitchFamily="18" charset="0"/>
              </a:rPr>
              <a:t>Your general knowledge is above average (because you have these cards of course!) and you know the standard lapse rate is 2 deg C decrease in temperature for every 1,000-foot altitude gain. So, you guess an OAT of 6 dec C.</a:t>
            </a:r>
          </a:p>
          <a:p>
            <a:pPr algn="just"/>
            <a:endParaRPr lang="en-US" sz="1100" dirty="0">
              <a:latin typeface="Times New Roman" panose="02020603050405020304" pitchFamily="18" charset="0"/>
              <a:cs typeface="Times New Roman" panose="02020603050405020304" pitchFamily="18" charset="0"/>
            </a:endParaRPr>
          </a:p>
          <a:p>
            <a:pPr algn="just"/>
            <a:r>
              <a:rPr lang="en-US" sz="1100" dirty="0">
                <a:latin typeface="Times New Roman" panose="02020603050405020304" pitchFamily="18" charset="0"/>
                <a:cs typeface="Times New Roman" panose="02020603050405020304" pitchFamily="18" charset="0"/>
              </a:rPr>
              <a:t>Make your friend pay dearly for questioning your aviation prowess!</a:t>
            </a:r>
          </a:p>
        </p:txBody>
      </p:sp>
      <p:sp>
        <p:nvSpPr>
          <p:cNvPr id="4" name="TextBox 3">
            <a:extLst>
              <a:ext uri="{FF2B5EF4-FFF2-40B4-BE49-F238E27FC236}">
                <a16:creationId xmlns:a16="http://schemas.microsoft.com/office/drawing/2014/main" id="{4CC359D2-7F95-7ABD-5FBA-CE6234722CB8}"/>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pic>
        <p:nvPicPr>
          <p:cNvPr id="6" name="Picture 5">
            <a:extLst>
              <a:ext uri="{FF2B5EF4-FFF2-40B4-BE49-F238E27FC236}">
                <a16:creationId xmlns:a16="http://schemas.microsoft.com/office/drawing/2014/main" id="{A76AE7AC-80EA-37CF-C986-EDA3163A3152}"/>
              </a:ext>
            </a:extLst>
          </p:cNvPr>
          <p:cNvPicPr>
            <a:picLocks noChangeAspect="1"/>
          </p:cNvPicPr>
          <p:nvPr/>
        </p:nvPicPr>
        <p:blipFill>
          <a:blip r:embed="rId2"/>
          <a:stretch>
            <a:fillRect/>
          </a:stretch>
        </p:blipFill>
        <p:spPr>
          <a:xfrm>
            <a:off x="1728317" y="1417843"/>
            <a:ext cx="1196329" cy="1213501"/>
          </a:xfrm>
          <a:prstGeom prst="rect">
            <a:avLst/>
          </a:prstGeom>
        </p:spPr>
      </p:pic>
    </p:spTree>
    <p:extLst>
      <p:ext uri="{BB962C8B-B14F-4D97-AF65-F5344CB8AC3E}">
        <p14:creationId xmlns:p14="http://schemas.microsoft.com/office/powerpoint/2010/main" val="16121565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68FFEC6-7C5B-06D9-D5F5-E8F469E23C37}"/>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TextBox 1">
            <a:extLst>
              <a:ext uri="{FF2B5EF4-FFF2-40B4-BE49-F238E27FC236}">
                <a16:creationId xmlns:a16="http://schemas.microsoft.com/office/drawing/2014/main" id="{A7C5EB0C-4312-B68E-91F7-F9C791D1E85A}"/>
              </a:ext>
            </a:extLst>
          </p:cNvPr>
          <p:cNvSpPr txBox="1"/>
          <p:nvPr/>
        </p:nvSpPr>
        <p:spPr>
          <a:xfrm>
            <a:off x="551792" y="966785"/>
            <a:ext cx="3468415" cy="523220"/>
          </a:xfrm>
          <a:prstGeom prst="rect">
            <a:avLst/>
          </a:prstGeom>
          <a:noFill/>
        </p:spPr>
        <p:txBody>
          <a:bodyPr wrap="square" rtlCol="0">
            <a:spAutoFit/>
          </a:bodyPr>
          <a:lstStyle/>
          <a:p>
            <a:pPr algn="just"/>
            <a:r>
              <a:rPr lang="en-US" sz="1400" dirty="0">
                <a:latin typeface="Times New Roman" panose="02020603050405020304" pitchFamily="18" charset="0"/>
                <a:cs typeface="Times New Roman" panose="02020603050405020304" pitchFamily="18" charset="0"/>
              </a:rPr>
              <a:t>What are the three stages of thunderstorm development?</a:t>
            </a:r>
          </a:p>
        </p:txBody>
      </p:sp>
      <p:sp>
        <p:nvSpPr>
          <p:cNvPr id="6" name="Rectangle 5">
            <a:extLst>
              <a:ext uri="{FF2B5EF4-FFF2-40B4-BE49-F238E27FC236}">
                <a16:creationId xmlns:a16="http://schemas.microsoft.com/office/drawing/2014/main" id="{E2BA4A26-E8C7-097B-AC8C-13478E2DCDB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209FD0BB-B004-394F-5968-09B4DB53E07D}"/>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5524706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3A69B13-9DA7-3B8A-3464-B8B1E0A02F2D}"/>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TextBox 1">
            <a:extLst>
              <a:ext uri="{FF2B5EF4-FFF2-40B4-BE49-F238E27FC236}">
                <a16:creationId xmlns:a16="http://schemas.microsoft.com/office/drawing/2014/main" id="{2787705D-5B9A-FE11-B4EC-892D1D68E8B7}"/>
              </a:ext>
            </a:extLst>
          </p:cNvPr>
          <p:cNvSpPr txBox="1"/>
          <p:nvPr/>
        </p:nvSpPr>
        <p:spPr>
          <a:xfrm>
            <a:off x="892570" y="240268"/>
            <a:ext cx="2786860" cy="738664"/>
          </a:xfrm>
          <a:prstGeom prst="rect">
            <a:avLst/>
          </a:prstGeom>
          <a:noFill/>
        </p:spPr>
        <p:txBody>
          <a:bodyPr wrap="square" rtlCol="0">
            <a:spAutoFit/>
          </a:bodyPr>
          <a:lstStyle/>
          <a:p>
            <a:pPr algn="ctr"/>
            <a:r>
              <a:rPr lang="en-US" sz="1400" dirty="0">
                <a:latin typeface="Times New Roman" panose="02020603050405020304" pitchFamily="18" charset="0"/>
                <a:cs typeface="Times New Roman" panose="02020603050405020304" pitchFamily="18" charset="0"/>
              </a:rPr>
              <a:t>Cumulus (developing)</a:t>
            </a:r>
          </a:p>
          <a:p>
            <a:pPr algn="ctr"/>
            <a:r>
              <a:rPr lang="en-US" sz="1400" dirty="0">
                <a:latin typeface="Times New Roman" panose="02020603050405020304" pitchFamily="18" charset="0"/>
                <a:cs typeface="Times New Roman" panose="02020603050405020304" pitchFamily="18" charset="0"/>
              </a:rPr>
              <a:t>Mature</a:t>
            </a:r>
          </a:p>
          <a:p>
            <a:pPr algn="ctr"/>
            <a:r>
              <a:rPr lang="en-US" sz="1400" dirty="0">
                <a:latin typeface="Times New Roman" panose="02020603050405020304" pitchFamily="18" charset="0"/>
                <a:cs typeface="Times New Roman" panose="02020603050405020304" pitchFamily="18" charset="0"/>
              </a:rPr>
              <a:t>Dissipating</a:t>
            </a:r>
          </a:p>
        </p:txBody>
      </p:sp>
      <p:pic>
        <p:nvPicPr>
          <p:cNvPr id="5" name="Picture 4">
            <a:extLst>
              <a:ext uri="{FF2B5EF4-FFF2-40B4-BE49-F238E27FC236}">
                <a16:creationId xmlns:a16="http://schemas.microsoft.com/office/drawing/2014/main" id="{E0C5BF6E-7B6A-8654-6BE5-BCBB94A48AE0}"/>
              </a:ext>
            </a:extLst>
          </p:cNvPr>
          <p:cNvPicPr>
            <a:picLocks noChangeAspect="1"/>
          </p:cNvPicPr>
          <p:nvPr/>
        </p:nvPicPr>
        <p:blipFill>
          <a:blip r:embed="rId2"/>
          <a:stretch>
            <a:fillRect/>
          </a:stretch>
        </p:blipFill>
        <p:spPr>
          <a:xfrm>
            <a:off x="1648494" y="1075533"/>
            <a:ext cx="1275011" cy="1281112"/>
          </a:xfrm>
          <a:prstGeom prst="rect">
            <a:avLst/>
          </a:prstGeom>
        </p:spPr>
      </p:pic>
    </p:spTree>
    <p:extLst>
      <p:ext uri="{BB962C8B-B14F-4D97-AF65-F5344CB8AC3E}">
        <p14:creationId xmlns:p14="http://schemas.microsoft.com/office/powerpoint/2010/main" val="27317017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F68AE4-6790-BD07-33D0-4A30313FCDE2}"/>
              </a:ext>
            </a:extLst>
          </p:cNvPr>
          <p:cNvSpPr txBox="1"/>
          <p:nvPr/>
        </p:nvSpPr>
        <p:spPr>
          <a:xfrm>
            <a:off x="693918" y="1209408"/>
            <a:ext cx="3183986" cy="324384"/>
          </a:xfrm>
          <a:prstGeom prst="rect">
            <a:avLst/>
          </a:prstGeom>
          <a:noFill/>
        </p:spPr>
        <p:txBody>
          <a:bodyPr wrap="square">
            <a:spAutoFit/>
          </a:bodyPr>
          <a:lstStyle/>
          <a:p>
            <a:pPr marR="0" lvl="0" algn="ctr">
              <a:lnSpc>
                <a:spcPct val="115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is precipitation fog?</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5A9C88E-48BE-C646-82FE-B3EC6FE276DA}"/>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8CB3153B-33B7-A965-F0E6-B0C8128B2BAA}"/>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F4158A1-062B-5793-A1C8-3B439240F191}"/>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911906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03FF8B-163E-E39F-BCB8-63EC90279B1A}"/>
              </a:ext>
            </a:extLst>
          </p:cNvPr>
          <p:cNvSpPr txBox="1"/>
          <p:nvPr/>
        </p:nvSpPr>
        <p:spPr>
          <a:xfrm>
            <a:off x="223855" y="424209"/>
            <a:ext cx="2494224" cy="1777859"/>
          </a:xfrm>
          <a:prstGeom prst="rect">
            <a:avLst/>
          </a:prstGeom>
          <a:noFill/>
        </p:spPr>
        <p:txBody>
          <a:bodyPr wrap="square">
            <a:spAutoFit/>
          </a:bodyPr>
          <a:lstStyle/>
          <a:p>
            <a:pPr marR="0" lvl="0" algn="just">
              <a:lnSpc>
                <a:spcPct val="115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This is fog that forms when rain is falling through cold air. This is common with a warm front but it can occur with cold fronts if </a:t>
            </a:r>
            <a:r>
              <a:rPr lang="en-US" sz="1200" dirty="0">
                <a:latin typeface="Times New Roman" panose="02020603050405020304" pitchFamily="18" charset="0"/>
                <a:ea typeface="Calibri" panose="020F0502020204030204" pitchFamily="34" charset="0"/>
                <a:cs typeface="Times New Roman" panose="02020603050405020304" pitchFamily="18" charset="0"/>
              </a:rPr>
              <a:t>the cold front is</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not moving fast. Cold air, dry at the surface while rain is falling through it, evaporates and causes the dew point to rise.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0CDF0005-9CE5-83BE-E0BB-E75362A0A886}"/>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pic>
        <p:nvPicPr>
          <p:cNvPr id="6" name="Picture 5">
            <a:extLst>
              <a:ext uri="{FF2B5EF4-FFF2-40B4-BE49-F238E27FC236}">
                <a16:creationId xmlns:a16="http://schemas.microsoft.com/office/drawing/2014/main" id="{898871CF-AF13-566F-6B41-B9FD2CB58B3A}"/>
              </a:ext>
            </a:extLst>
          </p:cNvPr>
          <p:cNvPicPr>
            <a:picLocks noChangeAspect="1"/>
          </p:cNvPicPr>
          <p:nvPr/>
        </p:nvPicPr>
        <p:blipFill>
          <a:blip r:embed="rId2"/>
          <a:stretch>
            <a:fillRect/>
          </a:stretch>
        </p:blipFill>
        <p:spPr>
          <a:xfrm>
            <a:off x="2924070" y="662350"/>
            <a:ext cx="1301576" cy="1301576"/>
          </a:xfrm>
          <a:prstGeom prst="rect">
            <a:avLst/>
          </a:prstGeom>
        </p:spPr>
      </p:pic>
    </p:spTree>
    <p:extLst>
      <p:ext uri="{BB962C8B-B14F-4D97-AF65-F5344CB8AC3E}">
        <p14:creationId xmlns:p14="http://schemas.microsoft.com/office/powerpoint/2010/main" val="39037068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299525-1729-F6FE-55BB-7EC1F64E85D3}"/>
              </a:ext>
            </a:extLst>
          </p:cNvPr>
          <p:cNvSpPr txBox="1"/>
          <p:nvPr/>
        </p:nvSpPr>
        <p:spPr>
          <a:xfrm>
            <a:off x="854885" y="1209408"/>
            <a:ext cx="2862230" cy="324384"/>
          </a:xfrm>
          <a:prstGeom prst="rect">
            <a:avLst/>
          </a:prstGeom>
          <a:noFill/>
        </p:spPr>
        <p:txBody>
          <a:bodyPr wrap="square">
            <a:spAutoFit/>
          </a:bodyPr>
          <a:lstStyle/>
          <a:p>
            <a:pPr marR="0" lvl="0" algn="ctr">
              <a:lnSpc>
                <a:spcPct val="115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is radiation fog?</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D7F6F1F4-5149-D852-187E-3165AB39283E}"/>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26D7E6D3-8B47-4B0D-ABD5-596AB216C342}"/>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6478AB2-AAAA-0F62-5614-1062F00FD655}"/>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6903069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CF3688-3BBF-E636-53DE-337BCF34A46F}"/>
              </a:ext>
            </a:extLst>
          </p:cNvPr>
          <p:cNvSpPr txBox="1"/>
          <p:nvPr/>
        </p:nvSpPr>
        <p:spPr>
          <a:xfrm>
            <a:off x="208927" y="619408"/>
            <a:ext cx="2489056" cy="1384995"/>
          </a:xfrm>
          <a:prstGeom prst="rect">
            <a:avLst/>
          </a:prstGeom>
          <a:noFill/>
        </p:spPr>
        <p:txBody>
          <a:bodyPr wrap="square">
            <a:spAutoFit/>
          </a:bodyPr>
          <a:lstStyle/>
          <a:p>
            <a:pPr algn="just"/>
            <a:r>
              <a:rPr lang="en-US" sz="1200" dirty="0">
                <a:effectLst/>
                <a:latin typeface="Times New Roman" panose="02020603050405020304" pitchFamily="18" charset="0"/>
                <a:ea typeface="Calibri" panose="020F0502020204030204" pitchFamily="34" charset="0"/>
              </a:rPr>
              <a:t>Radiation cooling produces this type of fog. Under stable nighttime conditions, long-wave radiation is emitted by the ground; this cools the ground, which causes a temperature inversion. In turn, moist air near the ground cools to its dew point. </a:t>
            </a:r>
            <a:endParaRPr lang="en-US" sz="1200" dirty="0"/>
          </a:p>
        </p:txBody>
      </p:sp>
      <p:sp>
        <p:nvSpPr>
          <p:cNvPr id="4" name="TextBox 3">
            <a:extLst>
              <a:ext uri="{FF2B5EF4-FFF2-40B4-BE49-F238E27FC236}">
                <a16:creationId xmlns:a16="http://schemas.microsoft.com/office/drawing/2014/main" id="{F4328520-9F5A-B3AA-E374-D053C7C0A108}"/>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pic>
        <p:nvPicPr>
          <p:cNvPr id="6" name="Picture 5">
            <a:extLst>
              <a:ext uri="{FF2B5EF4-FFF2-40B4-BE49-F238E27FC236}">
                <a16:creationId xmlns:a16="http://schemas.microsoft.com/office/drawing/2014/main" id="{0F2EE453-1E67-01A0-90B4-A243802EB22D}"/>
              </a:ext>
            </a:extLst>
          </p:cNvPr>
          <p:cNvPicPr>
            <a:picLocks noChangeAspect="1"/>
          </p:cNvPicPr>
          <p:nvPr/>
        </p:nvPicPr>
        <p:blipFill>
          <a:blip r:embed="rId2"/>
          <a:stretch>
            <a:fillRect/>
          </a:stretch>
        </p:blipFill>
        <p:spPr>
          <a:xfrm>
            <a:off x="2770582" y="522219"/>
            <a:ext cx="1475159" cy="1482184"/>
          </a:xfrm>
          <a:prstGeom prst="rect">
            <a:avLst/>
          </a:prstGeom>
        </p:spPr>
      </p:pic>
    </p:spTree>
    <p:extLst>
      <p:ext uri="{BB962C8B-B14F-4D97-AF65-F5344CB8AC3E}">
        <p14:creationId xmlns:p14="http://schemas.microsoft.com/office/powerpoint/2010/main" val="4795876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E9128C-C1FC-AE64-077E-9ABC20694F6D}"/>
              </a:ext>
            </a:extLst>
          </p:cNvPr>
          <p:cNvSpPr txBox="1"/>
          <p:nvPr/>
        </p:nvSpPr>
        <p:spPr>
          <a:xfrm>
            <a:off x="156063" y="813498"/>
            <a:ext cx="1804778" cy="1067665"/>
          </a:xfrm>
          <a:prstGeom prst="rect">
            <a:avLst/>
          </a:prstGeom>
          <a:noFill/>
        </p:spPr>
        <p:txBody>
          <a:bodyPr wrap="square">
            <a:spAutoFit/>
          </a:bodyPr>
          <a:lstStyle/>
          <a:p>
            <a:pPr marR="0" lvl="0" algn="just">
              <a:lnSpc>
                <a:spcPct val="115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You are reviewing a prognosis chart (prog chart) and see this. What is it?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1CCD7F08-A8B7-B455-6046-6F1A219ABE5A}"/>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pic>
        <p:nvPicPr>
          <p:cNvPr id="5" name="Picture 4">
            <a:extLst>
              <a:ext uri="{FF2B5EF4-FFF2-40B4-BE49-F238E27FC236}">
                <a16:creationId xmlns:a16="http://schemas.microsoft.com/office/drawing/2014/main" id="{36DBCBB1-DDCA-5504-0957-BB47ED0797EA}"/>
              </a:ext>
            </a:extLst>
          </p:cNvPr>
          <p:cNvPicPr>
            <a:picLocks noChangeAspect="1"/>
          </p:cNvPicPr>
          <p:nvPr/>
        </p:nvPicPr>
        <p:blipFill>
          <a:blip r:embed="rId2">
            <a:grayscl/>
          </a:blip>
          <a:stretch>
            <a:fillRect/>
          </a:stretch>
        </p:blipFill>
        <p:spPr>
          <a:xfrm>
            <a:off x="2461848" y="376813"/>
            <a:ext cx="1861772" cy="1537398"/>
          </a:xfrm>
          <a:prstGeom prst="rect">
            <a:avLst/>
          </a:prstGeom>
        </p:spPr>
      </p:pic>
      <p:cxnSp>
        <p:nvCxnSpPr>
          <p:cNvPr id="7" name="Straight Arrow Connector 6">
            <a:extLst>
              <a:ext uri="{FF2B5EF4-FFF2-40B4-BE49-F238E27FC236}">
                <a16:creationId xmlns:a16="http://schemas.microsoft.com/office/drawing/2014/main" id="{6E3E13EA-DF05-821E-CE15-B365985345ED}"/>
              </a:ext>
            </a:extLst>
          </p:cNvPr>
          <p:cNvCxnSpPr>
            <a:cxnSpLocks/>
          </p:cNvCxnSpPr>
          <p:nvPr/>
        </p:nvCxnSpPr>
        <p:spPr>
          <a:xfrm flipH="1">
            <a:off x="2110153" y="813498"/>
            <a:ext cx="718458" cy="262195"/>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52A542F-3124-F91B-EB2D-4211BBD50241}"/>
              </a:ext>
            </a:extLst>
          </p:cNvPr>
          <p:cNvCxnSpPr>
            <a:cxnSpLocks/>
          </p:cNvCxnSpPr>
          <p:nvPr/>
        </p:nvCxnSpPr>
        <p:spPr>
          <a:xfrm flipH="1">
            <a:off x="2110153" y="1075693"/>
            <a:ext cx="925863" cy="381632"/>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34B8187-8191-767A-FA3F-1445476962C6}"/>
              </a:ext>
            </a:extLst>
          </p:cNvPr>
          <p:cNvCxnSpPr/>
          <p:nvPr/>
        </p:nvCxnSpPr>
        <p:spPr>
          <a:xfrm flipH="1">
            <a:off x="2163223" y="1281165"/>
            <a:ext cx="1080198" cy="467667"/>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1D9AC839-DEEA-661A-79DD-39CC54400EF7}"/>
              </a:ext>
            </a:extLst>
          </p:cNvPr>
          <p:cNvCxnSpPr/>
          <p:nvPr/>
        </p:nvCxnSpPr>
        <p:spPr>
          <a:xfrm flipH="1">
            <a:off x="2312536" y="1599044"/>
            <a:ext cx="1080198" cy="467667"/>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68DAB635-8C72-3E23-A817-877419F6F776}"/>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B8BD6805-934A-E9E2-1E1D-DF79A245816F}"/>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5611129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9E3AF2-6FA9-856C-0D67-86B309EF67EF}"/>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TextBox 1">
            <a:extLst>
              <a:ext uri="{FF2B5EF4-FFF2-40B4-BE49-F238E27FC236}">
                <a16:creationId xmlns:a16="http://schemas.microsoft.com/office/drawing/2014/main" id="{C8030EF5-32C9-CE05-90BD-BC01DF862E8B}"/>
              </a:ext>
            </a:extLst>
          </p:cNvPr>
          <p:cNvSpPr txBox="1"/>
          <p:nvPr/>
        </p:nvSpPr>
        <p:spPr>
          <a:xfrm>
            <a:off x="300980" y="272252"/>
            <a:ext cx="3970040" cy="788999"/>
          </a:xfrm>
          <a:prstGeom prst="rect">
            <a:avLst/>
          </a:prstGeom>
          <a:noFill/>
        </p:spPr>
        <p:txBody>
          <a:bodyPr wrap="square">
            <a:spAutoFit/>
          </a:bodyPr>
          <a:lstStyle/>
          <a:p>
            <a:pPr marR="0" lvl="0" algn="just">
              <a:lnSpc>
                <a:spcPct val="115000"/>
              </a:lnSpc>
              <a:spcBef>
                <a:spcPts val="0"/>
              </a:spcBef>
              <a:spcAft>
                <a:spcPts val="0"/>
              </a:spcAft>
            </a:pPr>
            <a:r>
              <a:rPr lang="en-US" sz="1000" dirty="0">
                <a:effectLst/>
                <a:latin typeface="Times New Roman" panose="02020603050405020304" pitchFamily="18" charset="0"/>
                <a:ea typeface="Calibri" panose="020F0502020204030204" pitchFamily="34" charset="0"/>
                <a:cs typeface="Times New Roman" panose="02020603050405020304" pitchFamily="18" charset="0"/>
              </a:rPr>
              <a:t>It is a called a trough or trough line. Notice how it connects the lowest points along the isobar lines? Imagine what a valley would look like on a topographical map. The topo map might show a river or road connecting all of the lowest elevation points along the map.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DAF028B7-994A-E46E-D266-B41C66D5CD4B}"/>
              </a:ext>
            </a:extLst>
          </p:cNvPr>
          <p:cNvPicPr>
            <a:picLocks noChangeAspect="1"/>
          </p:cNvPicPr>
          <p:nvPr/>
        </p:nvPicPr>
        <p:blipFill>
          <a:blip r:embed="rId2">
            <a:grayscl/>
          </a:blip>
          <a:stretch>
            <a:fillRect/>
          </a:stretch>
        </p:blipFill>
        <p:spPr>
          <a:xfrm>
            <a:off x="815123" y="1115876"/>
            <a:ext cx="1112052" cy="968701"/>
          </a:xfrm>
          <a:prstGeom prst="rect">
            <a:avLst/>
          </a:prstGeom>
        </p:spPr>
      </p:pic>
      <p:sp>
        <p:nvSpPr>
          <p:cNvPr id="7" name="TextBox 6">
            <a:extLst>
              <a:ext uri="{FF2B5EF4-FFF2-40B4-BE49-F238E27FC236}">
                <a16:creationId xmlns:a16="http://schemas.microsoft.com/office/drawing/2014/main" id="{DBFD1798-875E-B786-814E-5D3BD68AA166}"/>
              </a:ext>
            </a:extLst>
          </p:cNvPr>
          <p:cNvSpPr txBox="1"/>
          <p:nvPr/>
        </p:nvSpPr>
        <p:spPr>
          <a:xfrm>
            <a:off x="759125" y="2084577"/>
            <a:ext cx="1224046" cy="241541"/>
          </a:xfrm>
          <a:prstGeom prst="rect">
            <a:avLst/>
          </a:prstGeom>
          <a:noFill/>
        </p:spPr>
        <p:txBody>
          <a:bodyPr wrap="square">
            <a:spAutoFit/>
          </a:bodyPr>
          <a:lstStyle/>
          <a:p>
            <a:pPr marR="0" lvl="0" algn="ctr">
              <a:lnSpc>
                <a:spcPct val="115000"/>
              </a:lnSpc>
              <a:spcBef>
                <a:spcPts val="0"/>
              </a:spcBef>
              <a:spcAft>
                <a:spcPts val="0"/>
              </a:spcAft>
            </a:pPr>
            <a:r>
              <a:rPr lang="en-US" sz="900" dirty="0">
                <a:latin typeface="Times New Roman" panose="02020603050405020304" pitchFamily="18" charset="0"/>
                <a:ea typeface="Calibri" panose="020F0502020204030204" pitchFamily="34" charset="0"/>
                <a:cs typeface="Times New Roman" panose="02020603050405020304" pitchFamily="18" charset="0"/>
              </a:rPr>
              <a:t>Topo Map with River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E89D56EB-69A8-CBEF-66A8-49186EA2E254}"/>
              </a:ext>
            </a:extLst>
          </p:cNvPr>
          <p:cNvPicPr>
            <a:picLocks noChangeAspect="1"/>
          </p:cNvPicPr>
          <p:nvPr/>
        </p:nvPicPr>
        <p:blipFill>
          <a:blip r:embed="rId3">
            <a:grayscl/>
          </a:blip>
          <a:stretch>
            <a:fillRect/>
          </a:stretch>
        </p:blipFill>
        <p:spPr>
          <a:xfrm>
            <a:off x="2580827" y="1115876"/>
            <a:ext cx="1173086" cy="968701"/>
          </a:xfrm>
          <a:prstGeom prst="rect">
            <a:avLst/>
          </a:prstGeom>
        </p:spPr>
      </p:pic>
      <p:sp>
        <p:nvSpPr>
          <p:cNvPr id="9" name="TextBox 8">
            <a:extLst>
              <a:ext uri="{FF2B5EF4-FFF2-40B4-BE49-F238E27FC236}">
                <a16:creationId xmlns:a16="http://schemas.microsoft.com/office/drawing/2014/main" id="{0C419A72-7CB7-93C2-70D8-F31DCA22B8CF}"/>
              </a:ext>
            </a:extLst>
          </p:cNvPr>
          <p:cNvSpPr txBox="1"/>
          <p:nvPr/>
        </p:nvSpPr>
        <p:spPr>
          <a:xfrm>
            <a:off x="2552302" y="2084577"/>
            <a:ext cx="1304146" cy="241541"/>
          </a:xfrm>
          <a:prstGeom prst="rect">
            <a:avLst/>
          </a:prstGeom>
          <a:noFill/>
        </p:spPr>
        <p:txBody>
          <a:bodyPr wrap="square">
            <a:spAutoFit/>
          </a:bodyPr>
          <a:lstStyle/>
          <a:p>
            <a:pPr marR="0" lvl="0" algn="ctr">
              <a:lnSpc>
                <a:spcPct val="115000"/>
              </a:lnSpc>
              <a:spcBef>
                <a:spcPts val="0"/>
              </a:spcBef>
              <a:spcAft>
                <a:spcPts val="0"/>
              </a:spcAft>
            </a:pPr>
            <a:r>
              <a:rPr lang="en-US" sz="900" dirty="0">
                <a:latin typeface="Times New Roman" panose="02020603050405020304" pitchFamily="18" charset="0"/>
                <a:ea typeface="Calibri" panose="020F0502020204030204" pitchFamily="34" charset="0"/>
                <a:cs typeface="Times New Roman" panose="02020603050405020304" pitchFamily="18" charset="0"/>
              </a:rPr>
              <a:t>Prog Chart with Trough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0" name="Straight Arrow Connector 9">
            <a:extLst>
              <a:ext uri="{FF2B5EF4-FFF2-40B4-BE49-F238E27FC236}">
                <a16:creationId xmlns:a16="http://schemas.microsoft.com/office/drawing/2014/main" id="{107B0E4F-8ABD-3435-22A0-4C57F263F339}"/>
              </a:ext>
            </a:extLst>
          </p:cNvPr>
          <p:cNvCxnSpPr>
            <a:cxnSpLocks/>
          </p:cNvCxnSpPr>
          <p:nvPr/>
        </p:nvCxnSpPr>
        <p:spPr>
          <a:xfrm flipV="1">
            <a:off x="1490071" y="1261068"/>
            <a:ext cx="557683" cy="282292"/>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7B86A9F-E4AC-B45B-9D52-8610A6EF1F45}"/>
              </a:ext>
            </a:extLst>
          </p:cNvPr>
          <p:cNvCxnSpPr>
            <a:cxnSpLocks/>
          </p:cNvCxnSpPr>
          <p:nvPr/>
        </p:nvCxnSpPr>
        <p:spPr>
          <a:xfrm flipV="1">
            <a:off x="1092307" y="1176789"/>
            <a:ext cx="557683" cy="282292"/>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0AA13C9-E7C2-BAAC-8FAA-BD95245064B8}"/>
              </a:ext>
            </a:extLst>
          </p:cNvPr>
          <p:cNvCxnSpPr>
            <a:cxnSpLocks/>
          </p:cNvCxnSpPr>
          <p:nvPr/>
        </p:nvCxnSpPr>
        <p:spPr>
          <a:xfrm flipV="1">
            <a:off x="1332612" y="1187290"/>
            <a:ext cx="557683" cy="282292"/>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A0CB9A0-02FF-CE5E-D0B3-BE3386C03A6C}"/>
              </a:ext>
            </a:extLst>
          </p:cNvPr>
          <p:cNvCxnSpPr>
            <a:cxnSpLocks/>
          </p:cNvCxnSpPr>
          <p:nvPr/>
        </p:nvCxnSpPr>
        <p:spPr>
          <a:xfrm flipV="1">
            <a:off x="1655764" y="1317935"/>
            <a:ext cx="557683" cy="282292"/>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CED07AF-8ABB-A10A-0B6B-4828F6D409AB}"/>
              </a:ext>
            </a:extLst>
          </p:cNvPr>
          <p:cNvCxnSpPr>
            <a:cxnSpLocks/>
          </p:cNvCxnSpPr>
          <p:nvPr/>
        </p:nvCxnSpPr>
        <p:spPr>
          <a:xfrm flipV="1">
            <a:off x="3205371" y="1383983"/>
            <a:ext cx="557683" cy="282292"/>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B307F93-1618-8B60-AF92-74F5F5B2AFF7}"/>
              </a:ext>
            </a:extLst>
          </p:cNvPr>
          <p:cNvCxnSpPr>
            <a:cxnSpLocks/>
          </p:cNvCxnSpPr>
          <p:nvPr/>
        </p:nvCxnSpPr>
        <p:spPr>
          <a:xfrm flipV="1">
            <a:off x="2999540" y="1187290"/>
            <a:ext cx="557683" cy="282292"/>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03D58C1-F7F5-4371-1C2C-2CDE099F2005}"/>
              </a:ext>
            </a:extLst>
          </p:cNvPr>
          <p:cNvCxnSpPr>
            <a:cxnSpLocks/>
          </p:cNvCxnSpPr>
          <p:nvPr/>
        </p:nvCxnSpPr>
        <p:spPr>
          <a:xfrm flipV="1">
            <a:off x="3115576" y="1273623"/>
            <a:ext cx="557683" cy="282292"/>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2ADB006-A539-7B62-87A1-F7D1E8777B8C}"/>
              </a:ext>
            </a:extLst>
          </p:cNvPr>
          <p:cNvCxnSpPr>
            <a:cxnSpLocks/>
          </p:cNvCxnSpPr>
          <p:nvPr/>
        </p:nvCxnSpPr>
        <p:spPr>
          <a:xfrm flipV="1">
            <a:off x="3278381" y="1504754"/>
            <a:ext cx="557683" cy="282292"/>
          </a:xfrm>
          <a:prstGeom prst="straightConnector1">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46097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E9128C-C1FC-AE64-077E-9ABC20694F6D}"/>
              </a:ext>
            </a:extLst>
          </p:cNvPr>
          <p:cNvSpPr txBox="1"/>
          <p:nvPr/>
        </p:nvSpPr>
        <p:spPr>
          <a:xfrm>
            <a:off x="789111" y="1047216"/>
            <a:ext cx="2993778" cy="324384"/>
          </a:xfrm>
          <a:prstGeom prst="rect">
            <a:avLst/>
          </a:prstGeom>
          <a:noFill/>
        </p:spPr>
        <p:txBody>
          <a:bodyPr wrap="square">
            <a:spAutoFit/>
          </a:bodyPr>
          <a:lstStyle/>
          <a:p>
            <a:pPr marR="0" lvl="0" algn="ctr">
              <a:lnSpc>
                <a:spcPct val="115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are the three types of AIRMETs?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1CCD7F08-A8B7-B455-6046-6F1A219ABE5A}"/>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Rectangle 1">
            <a:extLst>
              <a:ext uri="{FF2B5EF4-FFF2-40B4-BE49-F238E27FC236}">
                <a16:creationId xmlns:a16="http://schemas.microsoft.com/office/drawing/2014/main" id="{A1748DEE-2820-3884-A50A-2C2852EAC10C}"/>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3EC70065-ACE5-3108-5E82-565A2BA239BE}"/>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9974292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9E3AF2-6FA9-856C-0D67-86B309EF67EF}"/>
              </a:ext>
            </a:extLst>
          </p:cNvPr>
          <p:cNvSpPr txBox="1"/>
          <p:nvPr/>
        </p:nvSpPr>
        <p:spPr>
          <a:xfrm>
            <a:off x="60970" y="63553"/>
            <a:ext cx="638316"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Weather</a:t>
            </a:r>
          </a:p>
        </p:txBody>
      </p:sp>
      <p:sp>
        <p:nvSpPr>
          <p:cNvPr id="2" name="TextBox 1">
            <a:extLst>
              <a:ext uri="{FF2B5EF4-FFF2-40B4-BE49-F238E27FC236}">
                <a16:creationId xmlns:a16="http://schemas.microsoft.com/office/drawing/2014/main" id="{A2131485-EADF-C948-FAE8-A15CC622894B}"/>
              </a:ext>
            </a:extLst>
          </p:cNvPr>
          <p:cNvSpPr txBox="1"/>
          <p:nvPr/>
        </p:nvSpPr>
        <p:spPr>
          <a:xfrm>
            <a:off x="767410" y="234654"/>
            <a:ext cx="3495027" cy="646331"/>
          </a:xfrm>
          <a:prstGeom prst="rect">
            <a:avLst/>
          </a:prstGeom>
          <a:noFill/>
        </p:spPr>
        <p:txBody>
          <a:bodyPr wrap="square" rtlCol="0">
            <a:spAutoFit/>
          </a:bodyPr>
          <a:lstStyle/>
          <a:p>
            <a:pPr>
              <a:tabLst>
                <a:tab pos="971550" algn="l"/>
              </a:tabLst>
            </a:pPr>
            <a:r>
              <a:rPr lang="en-US" sz="1200" dirty="0">
                <a:latin typeface="Times New Roman" panose="02020603050405020304" pitchFamily="18" charset="0"/>
                <a:cs typeface="Times New Roman" panose="02020603050405020304" pitchFamily="18" charset="0"/>
              </a:rPr>
              <a:t>AIRMET – T :	Turbulence</a:t>
            </a:r>
          </a:p>
          <a:p>
            <a:pPr>
              <a:tabLst>
                <a:tab pos="971550" algn="l"/>
              </a:tabLst>
            </a:pPr>
            <a:r>
              <a:rPr lang="en-US" sz="1200" dirty="0">
                <a:latin typeface="Times New Roman" panose="02020603050405020304" pitchFamily="18" charset="0"/>
                <a:cs typeface="Times New Roman" panose="02020603050405020304" pitchFamily="18" charset="0"/>
              </a:rPr>
              <a:t>AIRMET – S :	IFR and/or Mountain Obscuration</a:t>
            </a:r>
          </a:p>
          <a:p>
            <a:pPr>
              <a:tabLst>
                <a:tab pos="971550" algn="l"/>
              </a:tabLst>
            </a:pPr>
            <a:r>
              <a:rPr lang="en-US" sz="1200" dirty="0">
                <a:latin typeface="Times New Roman" panose="02020603050405020304" pitchFamily="18" charset="0"/>
                <a:cs typeface="Times New Roman" panose="02020603050405020304" pitchFamily="18" charset="0"/>
              </a:rPr>
              <a:t>AIRMET – Z :	Icing</a:t>
            </a:r>
          </a:p>
        </p:txBody>
      </p:sp>
      <p:sp>
        <p:nvSpPr>
          <p:cNvPr id="5" name="TextBox 4">
            <a:extLst>
              <a:ext uri="{FF2B5EF4-FFF2-40B4-BE49-F238E27FC236}">
                <a16:creationId xmlns:a16="http://schemas.microsoft.com/office/drawing/2014/main" id="{67459253-A40E-CAC3-931E-F9FB9C00E24B}"/>
              </a:ext>
            </a:extLst>
          </p:cNvPr>
          <p:cNvSpPr txBox="1"/>
          <p:nvPr/>
        </p:nvSpPr>
        <p:spPr>
          <a:xfrm>
            <a:off x="2057401" y="1312117"/>
            <a:ext cx="2438400" cy="830997"/>
          </a:xfrm>
          <a:prstGeom prst="rect">
            <a:avLst/>
          </a:prstGeom>
          <a:noFill/>
        </p:spPr>
        <p:txBody>
          <a:bodyPr wrap="square">
            <a:spAutoFit/>
          </a:bodyPr>
          <a:lstStyle/>
          <a:p>
            <a:pPr algn="ctr"/>
            <a:r>
              <a:rPr lang="en-US" sz="1200" dirty="0">
                <a:latin typeface="Times New Roman" panose="02020603050405020304" pitchFamily="18" charset="0"/>
                <a:cs typeface="Times New Roman" panose="02020603050405020304" pitchFamily="18" charset="0"/>
              </a:rPr>
              <a:t>Helpful hints:</a:t>
            </a:r>
          </a:p>
          <a:p>
            <a:r>
              <a:rPr lang="en-US" sz="1200" dirty="0">
                <a:latin typeface="Times New Roman" panose="02020603050405020304" pitchFamily="18" charset="0"/>
                <a:cs typeface="Times New Roman" panose="02020603050405020304" pitchFamily="18" charset="0"/>
              </a:rPr>
              <a:t>“T” for Turbulence</a:t>
            </a:r>
          </a:p>
          <a:p>
            <a:r>
              <a:rPr lang="en-US" sz="1200" dirty="0">
                <a:latin typeface="Times New Roman" panose="02020603050405020304" pitchFamily="18" charset="0"/>
                <a:cs typeface="Times New Roman" panose="02020603050405020304" pitchFamily="18" charset="0"/>
              </a:rPr>
              <a:t>“S” for Sierra Nevada Mountains</a:t>
            </a:r>
          </a:p>
          <a:p>
            <a:r>
              <a:rPr lang="en-US" sz="1200" dirty="0">
                <a:latin typeface="Times New Roman" panose="02020603050405020304" pitchFamily="18" charset="0"/>
                <a:cs typeface="Times New Roman" panose="02020603050405020304" pitchFamily="18" charset="0"/>
              </a:rPr>
              <a:t>“Z” for Freezing</a:t>
            </a:r>
          </a:p>
        </p:txBody>
      </p:sp>
      <p:pic>
        <p:nvPicPr>
          <p:cNvPr id="6" name="Picture 5">
            <a:extLst>
              <a:ext uri="{FF2B5EF4-FFF2-40B4-BE49-F238E27FC236}">
                <a16:creationId xmlns:a16="http://schemas.microsoft.com/office/drawing/2014/main" id="{A5B1540A-C968-58D3-3761-B7427BE492A4}"/>
              </a:ext>
            </a:extLst>
          </p:cNvPr>
          <p:cNvPicPr>
            <a:picLocks noChangeAspect="1"/>
          </p:cNvPicPr>
          <p:nvPr/>
        </p:nvPicPr>
        <p:blipFill>
          <a:blip r:embed="rId2"/>
          <a:stretch>
            <a:fillRect/>
          </a:stretch>
        </p:blipFill>
        <p:spPr>
          <a:xfrm>
            <a:off x="349576" y="1042988"/>
            <a:ext cx="1303011" cy="1315724"/>
          </a:xfrm>
          <a:prstGeom prst="rect">
            <a:avLst/>
          </a:prstGeom>
        </p:spPr>
      </p:pic>
    </p:spTree>
    <p:extLst>
      <p:ext uri="{BB962C8B-B14F-4D97-AF65-F5344CB8AC3E}">
        <p14:creationId xmlns:p14="http://schemas.microsoft.com/office/powerpoint/2010/main" val="109781932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8500</TotalTime>
  <Words>2015</Words>
  <Application>Microsoft Office PowerPoint</Application>
  <PresentationFormat>Custom</PresentationFormat>
  <Paragraphs>228</Paragraphs>
  <Slides>70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70</vt:i4>
      </vt:variant>
    </vt:vector>
  </HeadingPairs>
  <TitlesOfParts>
    <vt:vector size="75" baseType="lpstr">
      <vt:lpstr>Arial</vt:lpstr>
      <vt:lpstr>Calibri</vt:lpstr>
      <vt:lpstr>Segoe UI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Bill Jones</dc:creator>
  <cp:lastModifiedBy>Bill Jones</cp:lastModifiedBy>
  <cp:revision>557</cp:revision>
  <dcterms:created xsi:type="dcterms:W3CDTF">2023-07-11T19:01:37Z</dcterms:created>
  <dcterms:modified xsi:type="dcterms:W3CDTF">2025-11-08T21:55:58Z</dcterms:modified>
</cp:coreProperties>
</file>