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722" r:id="rId2"/>
    <p:sldId id="723" r:id="rId3"/>
    <p:sldId id="710" r:id="rId4"/>
    <p:sldId id="711" r:id="rId5"/>
    <p:sldId id="367" r:id="rId6"/>
    <p:sldId id="368" r:id="rId7"/>
    <p:sldId id="371" r:id="rId8"/>
    <p:sldId id="372" r:id="rId9"/>
    <p:sldId id="950" r:id="rId10"/>
    <p:sldId id="951" r:id="rId11"/>
    <p:sldId id="610" r:id="rId12"/>
    <p:sldId id="611" r:id="rId13"/>
    <p:sldId id="616" r:id="rId14"/>
    <p:sldId id="617" r:id="rId15"/>
    <p:sldId id="618" r:id="rId16"/>
    <p:sldId id="619" r:id="rId17"/>
    <p:sldId id="620" r:id="rId18"/>
    <p:sldId id="621" r:id="rId19"/>
    <p:sldId id="622" r:id="rId20"/>
    <p:sldId id="623" r:id="rId21"/>
    <p:sldId id="706" r:id="rId22"/>
    <p:sldId id="707" r:id="rId23"/>
    <p:sldId id="624" r:id="rId24"/>
    <p:sldId id="625" r:id="rId25"/>
    <p:sldId id="395" r:id="rId26"/>
    <p:sldId id="396" r:id="rId27"/>
    <p:sldId id="397" r:id="rId28"/>
    <p:sldId id="398" r:id="rId29"/>
    <p:sldId id="728" r:id="rId30"/>
    <p:sldId id="729" r:id="rId31"/>
    <p:sldId id="724" r:id="rId32"/>
    <p:sldId id="725" r:id="rId33"/>
    <p:sldId id="897" r:id="rId34"/>
    <p:sldId id="898" r:id="rId35"/>
    <p:sldId id="542" r:id="rId36"/>
    <p:sldId id="543" r:id="rId37"/>
    <p:sldId id="546" r:id="rId38"/>
    <p:sldId id="547" r:id="rId39"/>
    <p:sldId id="469" r:id="rId40"/>
    <p:sldId id="470" r:id="rId41"/>
  </p:sldIdLst>
  <p:sldSz cx="4572000" cy="2743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201" d="100"/>
          <a:sy n="201" d="100"/>
        </p:scale>
        <p:origin x="1050" y="156"/>
      </p:cViewPr>
      <p:guideLst/>
    </p:cSldViewPr>
  </p:slideViewPr>
  <p:notesTextViewPr>
    <p:cViewPr>
      <p:scale>
        <a:sx n="1" d="1"/>
        <a:sy n="1" d="1"/>
      </p:scale>
      <p:origin x="0" y="0"/>
    </p:cViewPr>
  </p:notesTextViewPr>
  <p:sorterViewPr>
    <p:cViewPr>
      <p:scale>
        <a:sx n="200" d="100"/>
        <a:sy n="200" d="100"/>
      </p:scale>
      <p:origin x="0" y="-263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448945"/>
            <a:ext cx="3429000" cy="955040"/>
          </a:xfrm>
          <a:prstGeom prst="rect">
            <a:avLst/>
          </a:prstGeom>
        </p:spPr>
        <p:txBody>
          <a:bodyPr anchor="b"/>
          <a:lstStyle>
            <a:lvl1pPr algn="ctr">
              <a:defRPr sz="2250"/>
            </a:lvl1pPr>
          </a:lstStyle>
          <a:p>
            <a:r>
              <a:rPr lang="en-US"/>
              <a:t>Click to edit Master title style</a:t>
            </a:r>
            <a:endParaRPr lang="en-US" dirty="0"/>
          </a:p>
        </p:txBody>
      </p:sp>
      <p:sp>
        <p:nvSpPr>
          <p:cNvPr id="3" name="Subtitle 2"/>
          <p:cNvSpPr>
            <a:spLocks noGrp="1"/>
          </p:cNvSpPr>
          <p:nvPr>
            <p:ph type="subTitle" idx="1"/>
          </p:nvPr>
        </p:nvSpPr>
        <p:spPr>
          <a:xfrm>
            <a:off x="571500" y="1440815"/>
            <a:ext cx="3429000" cy="662305"/>
          </a:xfrm>
          <a:prstGeom prst="rect">
            <a:avLst/>
          </a:prstGeom>
        </p:spPr>
        <p:txBody>
          <a:bodyPr/>
          <a:lstStyle>
            <a:lvl1pPr marL="0" indent="0" algn="ctr">
              <a:buNone/>
              <a:defRPr sz="900"/>
            </a:lvl1pPr>
            <a:lvl2pPr marL="171450" indent="0" algn="ctr">
              <a:buNone/>
              <a:defRPr sz="750"/>
            </a:lvl2pPr>
            <a:lvl3pPr marL="342900" indent="0" algn="ctr">
              <a:buNone/>
              <a:defRPr sz="675"/>
            </a:lvl3pPr>
            <a:lvl4pPr marL="514350" indent="0" algn="ctr">
              <a:buNone/>
              <a:defRPr sz="600"/>
            </a:lvl4pPr>
            <a:lvl5pPr marL="685800" indent="0" algn="ctr">
              <a:buNone/>
              <a:defRPr sz="600"/>
            </a:lvl5pPr>
            <a:lvl6pPr marL="857250" indent="0" algn="ctr">
              <a:buNone/>
              <a:defRPr sz="600"/>
            </a:lvl6pPr>
            <a:lvl7pPr marL="1028700" indent="0" algn="ctr">
              <a:buNone/>
              <a:defRPr sz="600"/>
            </a:lvl7pPr>
            <a:lvl8pPr marL="1200150" indent="0" algn="ctr">
              <a:buNone/>
              <a:defRPr sz="600"/>
            </a:lvl8pPr>
            <a:lvl9pPr marL="1371600" indent="0" algn="ctr">
              <a:buNone/>
              <a:defRPr sz="600"/>
            </a:lvl9pPr>
          </a:lstStyle>
          <a:p>
            <a:r>
              <a:rPr lang="en-US"/>
              <a:t>Click to edit Master subtitle style</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36426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a:xfrm>
            <a:off x="314325" y="730250"/>
            <a:ext cx="394335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96151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1944" y="683895"/>
            <a:ext cx="3943350" cy="1141095"/>
          </a:xfrm>
          <a:prstGeom prst="rect">
            <a:avLst/>
          </a:prstGeom>
        </p:spPr>
        <p:txBody>
          <a:bodyPr anchor="b"/>
          <a:lstStyle>
            <a:lvl1pPr>
              <a:defRPr sz="2250"/>
            </a:lvl1pPr>
          </a:lstStyle>
          <a:p>
            <a:r>
              <a:rPr lang="en-US"/>
              <a:t>Click to edit Master title style</a:t>
            </a:r>
            <a:endParaRPr lang="en-US" dirty="0"/>
          </a:p>
        </p:txBody>
      </p:sp>
      <p:sp>
        <p:nvSpPr>
          <p:cNvPr id="3" name="Text Placeholder 2"/>
          <p:cNvSpPr>
            <a:spLocks noGrp="1"/>
          </p:cNvSpPr>
          <p:nvPr>
            <p:ph type="body" idx="1"/>
          </p:nvPr>
        </p:nvSpPr>
        <p:spPr>
          <a:xfrm>
            <a:off x="311944" y="1835785"/>
            <a:ext cx="3943350" cy="600075"/>
          </a:xfrm>
          <a:prstGeom prst="rect">
            <a:avLst/>
          </a:prstGeom>
        </p:spPr>
        <p:txBody>
          <a:bodyPr/>
          <a:lstStyle>
            <a:lvl1pPr marL="0" indent="0">
              <a:buNone/>
              <a:defRPr sz="900">
                <a:solidFill>
                  <a:schemeClr val="tx1">
                    <a:tint val="75000"/>
                  </a:schemeClr>
                </a:solidFill>
              </a:defRPr>
            </a:lvl1pPr>
            <a:lvl2pPr marL="171450" indent="0">
              <a:buNone/>
              <a:defRPr sz="750">
                <a:solidFill>
                  <a:schemeClr val="tx1">
                    <a:tint val="75000"/>
                  </a:schemeClr>
                </a:solidFill>
              </a:defRPr>
            </a:lvl2pPr>
            <a:lvl3pPr marL="342900" indent="0">
              <a:buNone/>
              <a:defRPr sz="675">
                <a:solidFill>
                  <a:schemeClr val="tx1">
                    <a:tint val="75000"/>
                  </a:schemeClr>
                </a:solidFill>
              </a:defRPr>
            </a:lvl3pPr>
            <a:lvl4pPr marL="514350" indent="0">
              <a:buNone/>
              <a:defRPr sz="600">
                <a:solidFill>
                  <a:schemeClr val="tx1">
                    <a:tint val="75000"/>
                  </a:schemeClr>
                </a:solidFill>
              </a:defRPr>
            </a:lvl4pPr>
            <a:lvl5pPr marL="685800" indent="0">
              <a:buNone/>
              <a:defRPr sz="600">
                <a:solidFill>
                  <a:schemeClr val="tx1">
                    <a:tint val="75000"/>
                  </a:schemeClr>
                </a:solidFill>
              </a:defRPr>
            </a:lvl5pPr>
            <a:lvl6pPr marL="857250" indent="0">
              <a:buNone/>
              <a:defRPr sz="600">
                <a:solidFill>
                  <a:schemeClr val="tx1">
                    <a:tint val="75000"/>
                  </a:schemeClr>
                </a:solidFill>
              </a:defRPr>
            </a:lvl6pPr>
            <a:lvl7pPr marL="1028700" indent="0">
              <a:buNone/>
              <a:defRPr sz="600">
                <a:solidFill>
                  <a:schemeClr val="tx1">
                    <a:tint val="75000"/>
                  </a:schemeClr>
                </a:solidFill>
              </a:defRPr>
            </a:lvl7pPr>
            <a:lvl8pPr marL="1200150" indent="0">
              <a:buNone/>
              <a:defRPr sz="600">
                <a:solidFill>
                  <a:schemeClr val="tx1">
                    <a:tint val="75000"/>
                  </a:schemeClr>
                </a:solidFill>
              </a:defRPr>
            </a:lvl8pPr>
            <a:lvl9pPr marL="1371600" indent="0">
              <a:buNone/>
              <a:defRPr sz="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490374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31432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314575" y="730250"/>
            <a:ext cx="1943100" cy="17405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26241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14921" y="146050"/>
            <a:ext cx="3943350" cy="530225"/>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314921" y="672465"/>
            <a:ext cx="1934170"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4" name="Content Placeholder 3"/>
          <p:cNvSpPr>
            <a:spLocks noGrp="1"/>
          </p:cNvSpPr>
          <p:nvPr>
            <p:ph sz="half" idx="2"/>
          </p:nvPr>
        </p:nvSpPr>
        <p:spPr>
          <a:xfrm>
            <a:off x="314921" y="1002030"/>
            <a:ext cx="1934170"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314575" y="672465"/>
            <a:ext cx="1943696" cy="329565"/>
          </a:xfrm>
          <a:prstGeom prst="rect">
            <a:avLst/>
          </a:prstGeom>
        </p:spPr>
        <p:txBody>
          <a:bodyPr anchor="b"/>
          <a:lstStyle>
            <a:lvl1pPr marL="0" indent="0">
              <a:buNone/>
              <a:defRPr sz="900" b="1"/>
            </a:lvl1pPr>
            <a:lvl2pPr marL="171450" indent="0">
              <a:buNone/>
              <a:defRPr sz="750" b="1"/>
            </a:lvl2pPr>
            <a:lvl3pPr marL="342900" indent="0">
              <a:buNone/>
              <a:defRPr sz="675" b="1"/>
            </a:lvl3pPr>
            <a:lvl4pPr marL="514350" indent="0">
              <a:buNone/>
              <a:defRPr sz="600" b="1"/>
            </a:lvl4pPr>
            <a:lvl5pPr marL="685800" indent="0">
              <a:buNone/>
              <a:defRPr sz="600" b="1"/>
            </a:lvl5pPr>
            <a:lvl6pPr marL="857250" indent="0">
              <a:buNone/>
              <a:defRPr sz="600" b="1"/>
            </a:lvl6pPr>
            <a:lvl7pPr marL="1028700" indent="0">
              <a:buNone/>
              <a:defRPr sz="600" b="1"/>
            </a:lvl7pPr>
            <a:lvl8pPr marL="1200150" indent="0">
              <a:buNone/>
              <a:defRPr sz="600" b="1"/>
            </a:lvl8pPr>
            <a:lvl9pPr marL="1371600" indent="0">
              <a:buNone/>
              <a:defRPr sz="600" b="1"/>
            </a:lvl9pPr>
          </a:lstStyle>
          <a:p>
            <a:pPr lvl="0"/>
            <a:r>
              <a:rPr lang="en-US"/>
              <a:t>Click to edit Master text styles</a:t>
            </a:r>
          </a:p>
        </p:txBody>
      </p:sp>
      <p:sp>
        <p:nvSpPr>
          <p:cNvPr id="6" name="Content Placeholder 5"/>
          <p:cNvSpPr>
            <a:spLocks noGrp="1"/>
          </p:cNvSpPr>
          <p:nvPr>
            <p:ph sz="quarter" idx="4"/>
          </p:nvPr>
        </p:nvSpPr>
        <p:spPr>
          <a:xfrm>
            <a:off x="2314575" y="1002030"/>
            <a:ext cx="1943696" cy="14738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8" name="Footer Placeholder 7"/>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9" name="Slide Number Placeholder 8"/>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740136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4" name="Footer Placeholder 3"/>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5" name="Slide Number Placeholder 4"/>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211508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3" name="Footer Placeholder 2"/>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4" name="Slide Number Placeholder 3"/>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69017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Content Placeholder 2"/>
          <p:cNvSpPr>
            <a:spLocks noGrp="1"/>
          </p:cNvSpPr>
          <p:nvPr>
            <p:ph idx="1"/>
          </p:nvPr>
        </p:nvSpPr>
        <p:spPr>
          <a:xfrm>
            <a:off x="1943695" y="394970"/>
            <a:ext cx="2314575" cy="1949450"/>
          </a:xfrm>
          <a:prstGeom prst="rect">
            <a:avLst/>
          </a:prstGeom>
        </p:spPr>
        <p:txBody>
          <a:bodyPr/>
          <a:lstStyle>
            <a:lvl1pPr>
              <a:defRPr sz="1200"/>
            </a:lvl1pPr>
            <a:lvl2pPr>
              <a:defRPr sz="1050"/>
            </a:lvl2pPr>
            <a:lvl3pPr>
              <a:defRPr sz="900"/>
            </a:lvl3pPr>
            <a:lvl4pPr>
              <a:defRPr sz="750"/>
            </a:lvl4pPr>
            <a:lvl5pPr>
              <a:defRPr sz="750"/>
            </a:lvl5pPr>
            <a:lvl6pPr>
              <a:defRPr sz="750"/>
            </a:lvl6pPr>
            <a:lvl7pPr>
              <a:defRPr sz="750"/>
            </a:lvl7pPr>
            <a:lvl8pPr>
              <a:defRPr sz="750"/>
            </a:lvl8pPr>
            <a:lvl9pPr>
              <a:defRPr sz="7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9539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14921" y="182880"/>
            <a:ext cx="1474589" cy="640080"/>
          </a:xfrm>
          <a:prstGeom prst="rect">
            <a:avLst/>
          </a:prstGeom>
        </p:spPr>
        <p:txBody>
          <a:bodyPr anchor="b"/>
          <a:lstStyle>
            <a:lvl1pPr>
              <a:defRPr sz="1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3695" y="394970"/>
            <a:ext cx="2314575" cy="1949450"/>
          </a:xfrm>
          <a:prstGeom prst="rect">
            <a:avLst/>
          </a:prstGeom>
        </p:spPr>
        <p:txBody>
          <a:bodyPr anchor="t"/>
          <a:lstStyle>
            <a:lvl1pPr marL="0" indent="0">
              <a:buNone/>
              <a:defRPr sz="1200"/>
            </a:lvl1pPr>
            <a:lvl2pPr marL="171450" indent="0">
              <a:buNone/>
              <a:defRPr sz="1050"/>
            </a:lvl2pPr>
            <a:lvl3pPr marL="342900" indent="0">
              <a:buNone/>
              <a:defRPr sz="900"/>
            </a:lvl3pPr>
            <a:lvl4pPr marL="514350" indent="0">
              <a:buNone/>
              <a:defRPr sz="750"/>
            </a:lvl4pPr>
            <a:lvl5pPr marL="685800" indent="0">
              <a:buNone/>
              <a:defRPr sz="750"/>
            </a:lvl5pPr>
            <a:lvl6pPr marL="857250" indent="0">
              <a:buNone/>
              <a:defRPr sz="750"/>
            </a:lvl6pPr>
            <a:lvl7pPr marL="1028700" indent="0">
              <a:buNone/>
              <a:defRPr sz="750"/>
            </a:lvl7pPr>
            <a:lvl8pPr marL="1200150" indent="0">
              <a:buNone/>
              <a:defRPr sz="750"/>
            </a:lvl8pPr>
            <a:lvl9pPr marL="1371600" indent="0">
              <a:buNone/>
              <a:defRPr sz="750"/>
            </a:lvl9pPr>
          </a:lstStyle>
          <a:p>
            <a:r>
              <a:rPr lang="en-US" dirty="0"/>
              <a:t>Click icon to add picture</a:t>
            </a:r>
          </a:p>
        </p:txBody>
      </p:sp>
      <p:sp>
        <p:nvSpPr>
          <p:cNvPr id="4" name="Text Placeholder 3"/>
          <p:cNvSpPr>
            <a:spLocks noGrp="1"/>
          </p:cNvSpPr>
          <p:nvPr>
            <p:ph type="body" sz="half" idx="2"/>
          </p:nvPr>
        </p:nvSpPr>
        <p:spPr>
          <a:xfrm>
            <a:off x="314921" y="822960"/>
            <a:ext cx="1474589" cy="1524635"/>
          </a:xfrm>
          <a:prstGeom prst="rect">
            <a:avLst/>
          </a:prstGeom>
        </p:spPr>
        <p:txBody>
          <a:bodyPr/>
          <a:lstStyle>
            <a:lvl1pPr marL="0" indent="0">
              <a:buNone/>
              <a:defRPr sz="600"/>
            </a:lvl1pPr>
            <a:lvl2pPr marL="171450" indent="0">
              <a:buNone/>
              <a:defRPr sz="525"/>
            </a:lvl2pPr>
            <a:lvl3pPr marL="342900" indent="0">
              <a:buNone/>
              <a:defRPr sz="450"/>
            </a:lvl3pPr>
            <a:lvl4pPr marL="514350" indent="0">
              <a:buNone/>
              <a:defRPr sz="375"/>
            </a:lvl4pPr>
            <a:lvl5pPr marL="685800" indent="0">
              <a:buNone/>
              <a:defRPr sz="375"/>
            </a:lvl5pPr>
            <a:lvl6pPr marL="857250" indent="0">
              <a:buNone/>
              <a:defRPr sz="375"/>
            </a:lvl6pPr>
            <a:lvl7pPr marL="1028700" indent="0">
              <a:buNone/>
              <a:defRPr sz="375"/>
            </a:lvl7pPr>
            <a:lvl8pPr marL="1200150" indent="0">
              <a:buNone/>
              <a:defRPr sz="375"/>
            </a:lvl8pPr>
            <a:lvl9pPr marL="1371600" indent="0">
              <a:buNone/>
              <a:defRPr sz="375"/>
            </a:lvl9pPr>
          </a:lstStyle>
          <a:p>
            <a:pPr lvl="0"/>
            <a:r>
              <a:rPr lang="en-US"/>
              <a:t>Click to edit Master text styles</a:t>
            </a:r>
          </a:p>
        </p:txBody>
      </p:sp>
      <p:sp>
        <p:nvSpPr>
          <p:cNvPr id="5" name="Date Placeholder 4"/>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6" name="Footer Placeholder 5"/>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7" name="Slide Number Placeholder 6"/>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11024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314325" y="146050"/>
            <a:ext cx="3943350" cy="530225"/>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314325" y="730250"/>
            <a:ext cx="3943350" cy="17405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375579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71837" y="146050"/>
            <a:ext cx="985838" cy="2324735"/>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14325" y="146050"/>
            <a:ext cx="2900363" cy="232473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314325" y="2542540"/>
            <a:ext cx="1028700" cy="146050"/>
          </a:xfrm>
          <a:prstGeom prst="rect">
            <a:avLst/>
          </a:prstGeom>
        </p:spPr>
        <p:txBody>
          <a:bodyPr/>
          <a:lstStyle/>
          <a:p>
            <a:fld id="{4A81E993-712E-43C1-8AB1-5E5D52B25E2B}" type="datetimeFigureOut">
              <a:rPr lang="en-US" smtClean="0"/>
              <a:t>11/8/2025</a:t>
            </a:fld>
            <a:endParaRPr lang="en-US" dirty="0"/>
          </a:p>
        </p:txBody>
      </p:sp>
      <p:sp>
        <p:nvSpPr>
          <p:cNvPr id="5" name="Footer Placeholder 4"/>
          <p:cNvSpPr>
            <a:spLocks noGrp="1"/>
          </p:cNvSpPr>
          <p:nvPr>
            <p:ph type="ftr" sz="quarter" idx="11"/>
          </p:nvPr>
        </p:nvSpPr>
        <p:spPr>
          <a:xfrm>
            <a:off x="1514475" y="2542540"/>
            <a:ext cx="1543050" cy="146050"/>
          </a:xfrm>
          <a:prstGeom prst="rect">
            <a:avLst/>
          </a:prstGeom>
        </p:spPr>
        <p:txBody>
          <a:bodyPr/>
          <a:lstStyle/>
          <a:p>
            <a:endParaRPr lang="en-US" dirty="0"/>
          </a:p>
        </p:txBody>
      </p:sp>
      <p:sp>
        <p:nvSpPr>
          <p:cNvPr id="6" name="Slide Number Placeholder 5"/>
          <p:cNvSpPr>
            <a:spLocks noGrp="1"/>
          </p:cNvSpPr>
          <p:nvPr>
            <p:ph type="sldNum" sz="quarter" idx="12"/>
          </p:nvPr>
        </p:nvSpPr>
        <p:spPr>
          <a:xfrm>
            <a:off x="3228975" y="2542540"/>
            <a:ext cx="1028700" cy="146050"/>
          </a:xfrm>
          <a:prstGeom prst="rect">
            <a:avLst/>
          </a:prstGeom>
        </p:spPr>
        <p:txBody>
          <a:bodyPr/>
          <a:lstStyle/>
          <a:p>
            <a:fld id="{AFDA9236-0A55-4089-8014-387C85F67325}" type="slidenum">
              <a:rPr lang="en-US" smtClean="0"/>
              <a:t>‹#›</a:t>
            </a:fld>
            <a:endParaRPr lang="en-US" dirty="0"/>
          </a:p>
        </p:txBody>
      </p:sp>
    </p:spTree>
    <p:extLst>
      <p:ext uri="{BB962C8B-B14F-4D97-AF65-F5344CB8AC3E}">
        <p14:creationId xmlns:p14="http://schemas.microsoft.com/office/powerpoint/2010/main" val="1775824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788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7A9946-5692-E818-A72E-A36AB2A2FEEA}"/>
              </a:ext>
            </a:extLst>
          </p:cNvPr>
          <p:cNvPicPr>
            <a:picLocks noChangeAspect="1"/>
          </p:cNvPicPr>
          <p:nvPr userDrawn="1"/>
        </p:nvPicPr>
        <p:blipFill>
          <a:blip r:embed="rId14">
            <a:clrChange>
              <a:clrFrom>
                <a:srgbClr val="FFFFFF"/>
              </a:clrFrom>
              <a:clrTo>
                <a:srgbClr val="FFFFFF">
                  <a:alpha val="0"/>
                </a:srgbClr>
              </a:clrTo>
            </a:clrChange>
          </a:blip>
          <a:stretch>
            <a:fillRect/>
          </a:stretch>
        </p:blipFill>
        <p:spPr>
          <a:xfrm>
            <a:off x="3700587" y="2403835"/>
            <a:ext cx="706443" cy="223451"/>
          </a:xfrm>
          <a:prstGeom prst="rect">
            <a:avLst/>
          </a:prstGeom>
        </p:spPr>
      </p:pic>
      <p:sp>
        <p:nvSpPr>
          <p:cNvPr id="4" name="TextBox 3">
            <a:extLst>
              <a:ext uri="{FF2B5EF4-FFF2-40B4-BE49-F238E27FC236}">
                <a16:creationId xmlns:a16="http://schemas.microsoft.com/office/drawing/2014/main" id="{DA4919B7-D03A-9B97-6C73-CC837D59682E}"/>
              </a:ext>
            </a:extLst>
          </p:cNvPr>
          <p:cNvSpPr txBox="1"/>
          <p:nvPr userDrawn="1"/>
        </p:nvSpPr>
        <p:spPr>
          <a:xfrm>
            <a:off x="4180007" y="2314225"/>
            <a:ext cx="325444" cy="261610"/>
          </a:xfrm>
          <a:prstGeom prst="rect">
            <a:avLst/>
          </a:prstGeom>
          <a:noFill/>
        </p:spPr>
        <p:txBody>
          <a:bodyPr wrap="square" rtlCol="0">
            <a:spAutoFit/>
          </a:bodyPr>
          <a:lstStyle/>
          <a:p>
            <a:pPr algn="r"/>
            <a:r>
              <a:rPr lang="en-US" sz="1100" dirty="0"/>
              <a:t>©</a:t>
            </a:r>
          </a:p>
        </p:txBody>
      </p:sp>
      <p:sp>
        <p:nvSpPr>
          <p:cNvPr id="2" name="TextBox 1">
            <a:extLst>
              <a:ext uri="{FF2B5EF4-FFF2-40B4-BE49-F238E27FC236}">
                <a16:creationId xmlns:a16="http://schemas.microsoft.com/office/drawing/2014/main" id="{0412EA83-402B-25E4-AC13-94DA49D0258B}"/>
              </a:ext>
            </a:extLst>
          </p:cNvPr>
          <p:cNvSpPr txBox="1"/>
          <p:nvPr userDrawn="1"/>
        </p:nvSpPr>
        <p:spPr>
          <a:xfrm>
            <a:off x="103694" y="2413266"/>
            <a:ext cx="1192955" cy="215444"/>
          </a:xfrm>
          <a:prstGeom prst="rect">
            <a:avLst/>
          </a:prstGeom>
          <a:noFill/>
        </p:spPr>
        <p:txBody>
          <a:bodyPr wrap="none" rtlCol="0">
            <a:spAutoFit/>
          </a:bodyPr>
          <a:lstStyle/>
          <a:p>
            <a:r>
              <a:rPr lang="en-US" sz="800" dirty="0"/>
              <a:t>triplesevenaviation.com</a:t>
            </a:r>
          </a:p>
        </p:txBody>
      </p:sp>
    </p:spTree>
    <p:extLst>
      <p:ext uri="{BB962C8B-B14F-4D97-AF65-F5344CB8AC3E}">
        <p14:creationId xmlns:p14="http://schemas.microsoft.com/office/powerpoint/2010/main" val="114315006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342900" rtl="0" eaLnBrk="1" latinLnBrk="0" hangingPunct="1">
        <a:lnSpc>
          <a:spcPct val="90000"/>
        </a:lnSpc>
        <a:spcBef>
          <a:spcPct val="0"/>
        </a:spcBef>
        <a:buNone/>
        <a:defRPr sz="1650" kern="1200">
          <a:solidFill>
            <a:schemeClr val="tx1"/>
          </a:solidFill>
          <a:latin typeface="+mj-lt"/>
          <a:ea typeface="+mj-ea"/>
          <a:cs typeface="+mj-cs"/>
        </a:defRPr>
      </a:lvl1pPr>
    </p:titleStyle>
    <p:bodyStyle>
      <a:lvl1pPr marL="85725" indent="-85725" algn="l" defTabSz="3429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1pPr>
      <a:lvl2pPr marL="257175" indent="-85725" algn="l" defTabSz="342900" rtl="0" eaLnBrk="1" latinLnBrk="0" hangingPunct="1">
        <a:lnSpc>
          <a:spcPct val="90000"/>
        </a:lnSpc>
        <a:spcBef>
          <a:spcPts val="188"/>
        </a:spcBef>
        <a:buFont typeface="Arial" panose="020B0604020202020204" pitchFamily="34" charset="0"/>
        <a:buChar char="•"/>
        <a:defRPr sz="900" kern="1200">
          <a:solidFill>
            <a:schemeClr val="tx1"/>
          </a:solidFill>
          <a:latin typeface="+mn-lt"/>
          <a:ea typeface="+mn-ea"/>
          <a:cs typeface="+mn-cs"/>
        </a:defRPr>
      </a:lvl2pPr>
      <a:lvl3pPr marL="428625" indent="-85725" algn="l" defTabSz="342900" rtl="0" eaLnBrk="1" latinLnBrk="0" hangingPunct="1">
        <a:lnSpc>
          <a:spcPct val="90000"/>
        </a:lnSpc>
        <a:spcBef>
          <a:spcPts val="188"/>
        </a:spcBef>
        <a:buFont typeface="Arial" panose="020B0604020202020204" pitchFamily="34" charset="0"/>
        <a:buChar char="•"/>
        <a:defRPr sz="750" kern="1200">
          <a:solidFill>
            <a:schemeClr val="tx1"/>
          </a:solidFill>
          <a:latin typeface="+mn-lt"/>
          <a:ea typeface="+mn-ea"/>
          <a:cs typeface="+mn-cs"/>
        </a:defRPr>
      </a:lvl3pPr>
      <a:lvl4pPr marL="6000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4pPr>
      <a:lvl5pPr marL="7715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5pPr>
      <a:lvl6pPr marL="9429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6pPr>
      <a:lvl7pPr marL="11144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7pPr>
      <a:lvl8pPr marL="128587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8pPr>
      <a:lvl9pPr marL="1457325" indent="-85725" algn="l" defTabSz="342900" rtl="0" eaLnBrk="1" latinLnBrk="0" hangingPunct="1">
        <a:lnSpc>
          <a:spcPct val="90000"/>
        </a:lnSpc>
        <a:spcBef>
          <a:spcPts val="188"/>
        </a:spcBef>
        <a:buFont typeface="Arial" panose="020B0604020202020204" pitchFamily="34" charset="0"/>
        <a:buChar char="•"/>
        <a:defRPr sz="675" kern="1200">
          <a:solidFill>
            <a:schemeClr val="tx1"/>
          </a:solidFill>
          <a:latin typeface="+mn-lt"/>
          <a:ea typeface="+mn-ea"/>
          <a:cs typeface="+mn-cs"/>
        </a:defRPr>
      </a:lvl9pPr>
    </p:bodyStyle>
    <p:otherStyle>
      <a:defPPr>
        <a:defRPr lang="en-US"/>
      </a:defPPr>
      <a:lvl1pPr marL="0" algn="l" defTabSz="342900" rtl="0" eaLnBrk="1" latinLnBrk="0" hangingPunct="1">
        <a:defRPr sz="675" kern="1200">
          <a:solidFill>
            <a:schemeClr val="tx1"/>
          </a:solidFill>
          <a:latin typeface="+mn-lt"/>
          <a:ea typeface="+mn-ea"/>
          <a:cs typeface="+mn-cs"/>
        </a:defRPr>
      </a:lvl1pPr>
      <a:lvl2pPr marL="171450" algn="l" defTabSz="342900" rtl="0" eaLnBrk="1" latinLnBrk="0" hangingPunct="1">
        <a:defRPr sz="675" kern="1200">
          <a:solidFill>
            <a:schemeClr val="tx1"/>
          </a:solidFill>
          <a:latin typeface="+mn-lt"/>
          <a:ea typeface="+mn-ea"/>
          <a:cs typeface="+mn-cs"/>
        </a:defRPr>
      </a:lvl2pPr>
      <a:lvl3pPr marL="342900" algn="l" defTabSz="342900" rtl="0" eaLnBrk="1" latinLnBrk="0" hangingPunct="1">
        <a:defRPr sz="675" kern="1200">
          <a:solidFill>
            <a:schemeClr val="tx1"/>
          </a:solidFill>
          <a:latin typeface="+mn-lt"/>
          <a:ea typeface="+mn-ea"/>
          <a:cs typeface="+mn-cs"/>
        </a:defRPr>
      </a:lvl3pPr>
      <a:lvl4pPr marL="514350" algn="l" defTabSz="342900" rtl="0" eaLnBrk="1" latinLnBrk="0" hangingPunct="1">
        <a:defRPr sz="675" kern="1200">
          <a:solidFill>
            <a:schemeClr val="tx1"/>
          </a:solidFill>
          <a:latin typeface="+mn-lt"/>
          <a:ea typeface="+mn-ea"/>
          <a:cs typeface="+mn-cs"/>
        </a:defRPr>
      </a:lvl4pPr>
      <a:lvl5pPr marL="685800" algn="l" defTabSz="342900" rtl="0" eaLnBrk="1" latinLnBrk="0" hangingPunct="1">
        <a:defRPr sz="675" kern="1200">
          <a:solidFill>
            <a:schemeClr val="tx1"/>
          </a:solidFill>
          <a:latin typeface="+mn-lt"/>
          <a:ea typeface="+mn-ea"/>
          <a:cs typeface="+mn-cs"/>
        </a:defRPr>
      </a:lvl5pPr>
      <a:lvl6pPr marL="857250" algn="l" defTabSz="342900" rtl="0" eaLnBrk="1" latinLnBrk="0" hangingPunct="1">
        <a:defRPr sz="675" kern="1200">
          <a:solidFill>
            <a:schemeClr val="tx1"/>
          </a:solidFill>
          <a:latin typeface="+mn-lt"/>
          <a:ea typeface="+mn-ea"/>
          <a:cs typeface="+mn-cs"/>
        </a:defRPr>
      </a:lvl6pPr>
      <a:lvl7pPr marL="1028700" algn="l" defTabSz="342900" rtl="0" eaLnBrk="1" latinLnBrk="0" hangingPunct="1">
        <a:defRPr sz="675" kern="1200">
          <a:solidFill>
            <a:schemeClr val="tx1"/>
          </a:solidFill>
          <a:latin typeface="+mn-lt"/>
          <a:ea typeface="+mn-ea"/>
          <a:cs typeface="+mn-cs"/>
        </a:defRPr>
      </a:lvl7pPr>
      <a:lvl8pPr marL="1200150" algn="l" defTabSz="342900" rtl="0" eaLnBrk="1" latinLnBrk="0" hangingPunct="1">
        <a:defRPr sz="675" kern="1200">
          <a:solidFill>
            <a:schemeClr val="tx1"/>
          </a:solidFill>
          <a:latin typeface="+mn-lt"/>
          <a:ea typeface="+mn-ea"/>
          <a:cs typeface="+mn-cs"/>
        </a:defRPr>
      </a:lvl8pPr>
      <a:lvl9pPr marL="1371600" algn="l" defTabSz="342900" rtl="0" eaLnBrk="1" latinLnBrk="0" hangingPunct="1">
        <a:defRPr sz="67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53F32-5D48-ADFD-CB4E-6F51C5994B00}"/>
              </a:ext>
            </a:extLst>
          </p:cNvPr>
          <p:cNvSpPr txBox="1"/>
          <p:nvPr/>
        </p:nvSpPr>
        <p:spPr>
          <a:xfrm>
            <a:off x="47958" y="53045"/>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49F35B98-822B-0E40-41F7-83D7375AD234}"/>
              </a:ext>
            </a:extLst>
          </p:cNvPr>
          <p:cNvSpPr txBox="1"/>
          <p:nvPr/>
        </p:nvSpPr>
        <p:spPr>
          <a:xfrm>
            <a:off x="495727" y="754828"/>
            <a:ext cx="3580545" cy="998928"/>
          </a:xfrm>
          <a:prstGeom prst="rect">
            <a:avLst/>
          </a:prstGeom>
          <a:noFill/>
        </p:spPr>
        <p:txBody>
          <a:bodyPr wrap="square">
            <a:spAutoFit/>
          </a:bodyPr>
          <a:lstStyle/>
          <a:p>
            <a:pPr marL="0" marR="0" algn="just">
              <a:lnSpc>
                <a:spcPct val="107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During your runup, you notice there is no RPM drop when the ignition switch is in LEFT. What is wrong?</a:t>
            </a:r>
          </a:p>
          <a:p>
            <a:pPr marL="0" marR="0" algn="ctr">
              <a:lnSpc>
                <a:spcPct val="107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FAA-H-8083-25</a:t>
            </a:r>
          </a:p>
        </p:txBody>
      </p:sp>
      <p:sp>
        <p:nvSpPr>
          <p:cNvPr id="4" name="Rectangle 3">
            <a:extLst>
              <a:ext uri="{FF2B5EF4-FFF2-40B4-BE49-F238E27FC236}">
                <a16:creationId xmlns:a16="http://schemas.microsoft.com/office/drawing/2014/main" id="{530AC530-6C6C-5DD2-6EA2-072734DD08E0}"/>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EE57E33-2E86-625C-2D22-644C104E0DE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5601353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53F32-5D48-ADFD-CB4E-6F51C5994B00}"/>
              </a:ext>
            </a:extLst>
          </p:cNvPr>
          <p:cNvSpPr txBox="1"/>
          <p:nvPr/>
        </p:nvSpPr>
        <p:spPr>
          <a:xfrm>
            <a:off x="47958" y="53045"/>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49F35B98-822B-0E40-41F7-83D7375AD234}"/>
              </a:ext>
            </a:extLst>
          </p:cNvPr>
          <p:cNvSpPr txBox="1"/>
          <p:nvPr/>
        </p:nvSpPr>
        <p:spPr>
          <a:xfrm>
            <a:off x="495727" y="683391"/>
            <a:ext cx="3580545" cy="1233543"/>
          </a:xfrm>
          <a:prstGeom prst="rect">
            <a:avLst/>
          </a:prstGeom>
          <a:noFill/>
        </p:spPr>
        <p:txBody>
          <a:bodyPr wrap="square">
            <a:spAutoFit/>
          </a:bodyPr>
          <a:lstStyle/>
          <a:p>
            <a:pPr marL="0" marR="0" algn="just">
              <a:lnSpc>
                <a:spcPct val="107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 right magneto P-lead (grounding wire) is disconnected or the right magneto has completely failed. When you move the ignition switch to LEFT, the right magneto should have grounded out.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510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53F32-5D48-ADFD-CB4E-6F51C5994B00}"/>
              </a:ext>
            </a:extLst>
          </p:cNvPr>
          <p:cNvSpPr txBox="1"/>
          <p:nvPr/>
        </p:nvSpPr>
        <p:spPr>
          <a:xfrm>
            <a:off x="47958" y="53045"/>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49F35B98-822B-0E40-41F7-83D7375AD234}"/>
              </a:ext>
            </a:extLst>
          </p:cNvPr>
          <p:cNvSpPr txBox="1"/>
          <p:nvPr/>
        </p:nvSpPr>
        <p:spPr>
          <a:xfrm>
            <a:off x="495727" y="754828"/>
            <a:ext cx="3580545" cy="1003031"/>
          </a:xfrm>
          <a:prstGeom prst="rect">
            <a:avLst/>
          </a:prstGeom>
          <a:noFill/>
        </p:spPr>
        <p:txBody>
          <a:bodyPr wrap="square">
            <a:spAutoFit/>
          </a:bodyPr>
          <a:lstStyle/>
          <a:p>
            <a:pPr marL="0" marR="0" algn="just">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are on a cross country flight and drop into an uncontrolled airfield. When you are ready to depart, you find the AWOS is out of service. What will you set your altimeter to?</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00698316-4E1E-EE57-5487-38C9C7C65EF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870D0BEF-B14D-A7B1-638F-FEA16E0B4C89}"/>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31303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53F32-5D48-ADFD-CB4E-6F51C5994B00}"/>
              </a:ext>
            </a:extLst>
          </p:cNvPr>
          <p:cNvSpPr txBox="1"/>
          <p:nvPr/>
        </p:nvSpPr>
        <p:spPr>
          <a:xfrm>
            <a:off x="47958" y="53045"/>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49F35B98-822B-0E40-41F7-83D7375AD234}"/>
              </a:ext>
            </a:extLst>
          </p:cNvPr>
          <p:cNvSpPr txBox="1"/>
          <p:nvPr/>
        </p:nvSpPr>
        <p:spPr>
          <a:xfrm>
            <a:off x="495727" y="716356"/>
            <a:ext cx="3580545" cy="1310487"/>
          </a:xfrm>
          <a:prstGeom prst="rect">
            <a:avLst/>
          </a:prstGeom>
          <a:noFill/>
        </p:spPr>
        <p:txBody>
          <a:bodyPr wrap="square">
            <a:spAutoFit/>
          </a:bodyPr>
          <a:lstStyle/>
          <a:p>
            <a:pPr marL="0" marR="0" algn="just">
              <a:lnSpc>
                <a:spcPct val="107000"/>
              </a:lnSpc>
              <a:spcBef>
                <a:spcPts val="0"/>
              </a:spcBef>
              <a:spcAft>
                <a:spcPts val="60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should adjust the altimeter setting until the altimeter reads the same as the field elevation.</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6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If there is another altimeter setting available nearby you can use that one. Ideally, you want the source to be within at least 100 nm.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01270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653F32-5D48-ADFD-CB4E-6F51C5994B00}"/>
              </a:ext>
            </a:extLst>
          </p:cNvPr>
          <p:cNvSpPr txBox="1"/>
          <p:nvPr/>
        </p:nvSpPr>
        <p:spPr>
          <a:xfrm>
            <a:off x="47958" y="53045"/>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49F35B98-822B-0E40-41F7-83D7375AD234}"/>
              </a:ext>
            </a:extLst>
          </p:cNvPr>
          <p:cNvSpPr txBox="1"/>
          <p:nvPr/>
        </p:nvSpPr>
        <p:spPr>
          <a:xfrm>
            <a:off x="639763" y="1149177"/>
            <a:ext cx="3292474" cy="542008"/>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On the traditional “six pack,” w</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hat are your pitot static instruments?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D36D791F-7AA0-F6EF-7AB0-9B0415C4468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3962EE9-2980-DC91-1D9D-79A9815166E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7507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5D0547-8A8C-1973-D74C-B440C834BE0E}"/>
              </a:ext>
            </a:extLst>
          </p:cNvPr>
          <p:cNvSpPr txBox="1"/>
          <p:nvPr/>
        </p:nvSpPr>
        <p:spPr>
          <a:xfrm>
            <a:off x="47660"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6" name="TextBox 5">
            <a:extLst>
              <a:ext uri="{FF2B5EF4-FFF2-40B4-BE49-F238E27FC236}">
                <a16:creationId xmlns:a16="http://schemas.microsoft.com/office/drawing/2014/main" id="{0B04FA33-D0BC-9C13-947C-797215D79139}"/>
              </a:ext>
            </a:extLst>
          </p:cNvPr>
          <p:cNvSpPr txBox="1"/>
          <p:nvPr/>
        </p:nvSpPr>
        <p:spPr>
          <a:xfrm>
            <a:off x="639763" y="534988"/>
            <a:ext cx="3292474" cy="1597553"/>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Altimeter</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VVI (or VSI)</a:t>
            </a: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Airspeed Indicator</a:t>
            </a:r>
          </a:p>
          <a:p>
            <a:pPr marL="0" marR="0" algn="ctr">
              <a:lnSpc>
                <a:spcPct val="107000"/>
              </a:lnSpc>
              <a:spcBef>
                <a:spcPts val="0"/>
              </a:spcBef>
              <a:spcAft>
                <a:spcPts val="0"/>
              </a:spcAft>
            </a:pP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Did you notice something? On a traditional six pack, every</a:t>
            </a:r>
            <a:r>
              <a:rPr lang="en-US" sz="1200" dirty="0">
                <a:latin typeface="Times New Roman" panose="02020603050405020304" pitchFamily="18" charset="0"/>
                <a:ea typeface="Calibri" panose="020F0502020204030204" pitchFamily="34" charset="0"/>
                <a:cs typeface="Times New Roman" panose="02020603050405020304" pitchFamily="18" charset="0"/>
              </a:rPr>
              <a:t> instrument that has a needle is a pitot static instrument.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28491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C885F0-E084-05FC-81A2-6DDB875C3E05}"/>
              </a:ext>
            </a:extLst>
          </p:cNvPr>
          <p:cNvSpPr txBox="1"/>
          <p:nvPr/>
        </p:nvSpPr>
        <p:spPr>
          <a:xfrm>
            <a:off x="47958"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4062B6D3-AE92-C4B7-758B-231492DAB768}"/>
              </a:ext>
            </a:extLst>
          </p:cNvPr>
          <p:cNvSpPr txBox="1"/>
          <p:nvPr/>
        </p:nvSpPr>
        <p:spPr>
          <a:xfrm>
            <a:off x="260768" y="870084"/>
            <a:ext cx="4050464" cy="1003031"/>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On a traditional “six pack” layout, w</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hich of your flight instruments contain gyroscopes?</a:t>
            </a:r>
          </a:p>
          <a:p>
            <a:pPr marL="0" marR="0" algn="ctr">
              <a:lnSpc>
                <a:spcPct val="107000"/>
              </a:lnSpc>
              <a:spcBef>
                <a:spcPts val="0"/>
              </a:spcBef>
              <a:spcAft>
                <a:spcPts val="0"/>
              </a:spcAft>
            </a:pPr>
            <a:endParaRPr lang="en-US" sz="1400"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How are they powered?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a:extLst>
              <a:ext uri="{FF2B5EF4-FFF2-40B4-BE49-F238E27FC236}">
                <a16:creationId xmlns:a16="http://schemas.microsoft.com/office/drawing/2014/main" id="{A621B9D1-8867-B13D-8CD1-65B1BF8EAF3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99D942B-078C-F835-0AB8-487B21C3BD18}"/>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654965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DE6910-7403-46CC-55F9-EE2BE088ED85}"/>
              </a:ext>
            </a:extLst>
          </p:cNvPr>
          <p:cNvSpPr txBox="1"/>
          <p:nvPr/>
        </p:nvSpPr>
        <p:spPr>
          <a:xfrm>
            <a:off x="552003" y="985340"/>
            <a:ext cx="3467994" cy="772519"/>
          </a:xfrm>
          <a:prstGeom prst="rect">
            <a:avLst/>
          </a:prstGeom>
          <a:noFill/>
        </p:spPr>
        <p:txBody>
          <a:bodyPr wrap="square">
            <a:spAutoFit/>
          </a:bodyPr>
          <a:lstStyle/>
          <a:p>
            <a:pPr marL="0" marR="0" algn="ctr">
              <a:lnSpc>
                <a:spcPct val="107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Turn Rate Indicator – Electric Powered</a:t>
            </a:r>
          </a:p>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Directional Gyro – Vacuum</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Powered</a:t>
            </a:r>
            <a:endParaRPr lang="en-US" sz="1400" dirty="0">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ADI </a:t>
            </a:r>
            <a:r>
              <a:rPr lang="en-US" sz="1400" dirty="0">
                <a:latin typeface="Times New Roman" panose="02020603050405020304" pitchFamily="18" charset="0"/>
                <a:ea typeface="Calibri" panose="020F0502020204030204" pitchFamily="34" charset="0"/>
                <a:cs typeface="Times New Roman" panose="02020603050405020304" pitchFamily="18" charset="0"/>
              </a:rPr>
              <a:t>–</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Vacuum</a:t>
            </a: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 Powered</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6E1BE91-6184-1E46-317B-6BC4C3B4DAFC}"/>
              </a:ext>
            </a:extLst>
          </p:cNvPr>
          <p:cNvSpPr txBox="1"/>
          <p:nvPr/>
        </p:nvSpPr>
        <p:spPr>
          <a:xfrm>
            <a:off x="47958"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4043220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3F2F8-8E38-7E4D-1782-D610EB0512D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D699C2-822D-07E3-87EB-0D7BB2716DE2}"/>
              </a:ext>
            </a:extLst>
          </p:cNvPr>
          <p:cNvSpPr txBox="1"/>
          <p:nvPr/>
        </p:nvSpPr>
        <p:spPr>
          <a:xfrm>
            <a:off x="291460" y="1060104"/>
            <a:ext cx="3989079" cy="474232"/>
          </a:xfrm>
          <a:prstGeom prst="rect">
            <a:avLst/>
          </a:prstGeom>
          <a:noFill/>
        </p:spPr>
        <p:txBody>
          <a:bodyPr wrap="square">
            <a:spAutoFit/>
          </a:bodyPr>
          <a:lstStyle/>
          <a:p>
            <a:pPr algn="just">
              <a:lnSpc>
                <a:spcPct val="107000"/>
              </a:lnSpc>
            </a:pPr>
            <a:r>
              <a:rPr lang="en-US" sz="1200" dirty="0">
                <a:latin typeface="Times New Roman" panose="02020603050405020304" pitchFamily="18" charset="0"/>
                <a:cs typeface="Times New Roman" panose="02020603050405020304" pitchFamily="18" charset="0"/>
              </a:rPr>
              <a:t>Why does carb heat/alternate air typically reduce power on </a:t>
            </a:r>
            <a:r>
              <a:rPr lang="en-US" sz="1200">
                <a:latin typeface="Times New Roman" panose="02020603050405020304" pitchFamily="18" charset="0"/>
                <a:cs typeface="Times New Roman" panose="02020603050405020304" pitchFamily="18" charset="0"/>
              </a:rPr>
              <a:t>the engine</a:t>
            </a:r>
            <a:r>
              <a:rPr lang="en-US" sz="1200" dirty="0">
                <a:latin typeface="Times New Roman" panose="02020603050405020304" pitchFamily="18" charset="0"/>
                <a:cs typeface="Times New Roman" panose="02020603050405020304" pitchFamily="18" charset="0"/>
              </a:rPr>
              <a:t>?</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D004DD3-44E3-DC8B-6836-DD3ED756C7EB}"/>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Rectangle 1">
            <a:extLst>
              <a:ext uri="{FF2B5EF4-FFF2-40B4-BE49-F238E27FC236}">
                <a16:creationId xmlns:a16="http://schemas.microsoft.com/office/drawing/2014/main" id="{C602587B-5AC5-17F2-FB0B-491F114FF6F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AD215AE-922A-96AC-3F14-0BC60F7BBE8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852164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F7806-7F2C-3165-8CF7-1C086942924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4C4D6F-2A21-6D5A-4591-CD1C228BDB95}"/>
              </a:ext>
            </a:extLst>
          </p:cNvPr>
          <p:cNvSpPr txBox="1"/>
          <p:nvPr/>
        </p:nvSpPr>
        <p:spPr>
          <a:xfrm>
            <a:off x="400098" y="541629"/>
            <a:ext cx="3771804" cy="1659942"/>
          </a:xfrm>
          <a:prstGeom prst="rect">
            <a:avLst/>
          </a:prstGeom>
          <a:noFill/>
        </p:spPr>
        <p:txBody>
          <a:bodyPr wrap="square">
            <a:spAutoFit/>
          </a:bodyPr>
          <a:lstStyle/>
          <a:p>
            <a:pPr algn="just">
              <a:spcAft>
                <a:spcPts val="600"/>
              </a:spcAft>
            </a:pPr>
            <a:r>
              <a:rPr lang="en-US" sz="1200" dirty="0">
                <a:latin typeface="Times New Roman" panose="02020603050405020304" pitchFamily="18" charset="0"/>
                <a:cs typeface="Times New Roman" panose="02020603050405020304" pitchFamily="18" charset="0"/>
              </a:rPr>
              <a:t>With carb heat on, the engine is drawing in warmer air. This is equivalent to operating at a higher density altitude. The amount of oxygen per cubic volume is reduced and, when warmer air is used, the mixture tends to be enrichened.</a:t>
            </a:r>
          </a:p>
          <a:p>
            <a:pPr algn="just">
              <a:spcAft>
                <a:spcPts val="600"/>
              </a:spcAft>
            </a:pPr>
            <a:r>
              <a:rPr lang="en-US" sz="1200" dirty="0">
                <a:latin typeface="Times New Roman" panose="02020603050405020304" pitchFamily="18" charset="0"/>
                <a:cs typeface="Times New Roman" panose="02020603050405020304" pitchFamily="18" charset="0"/>
              </a:rPr>
              <a:t>Many alternate air intakes are within the engine cowling and they therefore draw in air that is much warmer than the outside air.</a:t>
            </a:r>
          </a:p>
        </p:txBody>
      </p:sp>
      <p:sp>
        <p:nvSpPr>
          <p:cNvPr id="4" name="TextBox 3">
            <a:extLst>
              <a:ext uri="{FF2B5EF4-FFF2-40B4-BE49-F238E27FC236}">
                <a16:creationId xmlns:a16="http://schemas.microsoft.com/office/drawing/2014/main" id="{366BD573-130A-EC6F-54FC-0798FF185CDD}"/>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1814331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0805B488-2E85-D939-5C59-6D62EAAD5F03}"/>
              </a:ext>
            </a:extLst>
          </p:cNvPr>
          <p:cNvSpPr txBox="1"/>
          <p:nvPr/>
        </p:nvSpPr>
        <p:spPr>
          <a:xfrm>
            <a:off x="377825" y="1085528"/>
            <a:ext cx="3816350" cy="819904"/>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You have a fairly new ELT. When activated, what frequencies will it transmit on?</a:t>
            </a:r>
          </a:p>
          <a:p>
            <a:pPr marL="0" marR="0" algn="ctr">
              <a:lnSpc>
                <a:spcPct val="115000"/>
              </a:lnSpc>
              <a:spcBef>
                <a:spcPts val="0"/>
              </a:spcBef>
              <a:spcAft>
                <a:spcPts val="0"/>
              </a:spcAft>
            </a:pPr>
            <a:r>
              <a:rPr lang="en-US" sz="1400" dirty="0">
                <a:effectLst/>
                <a:latin typeface="Times New Roman" panose="02020603050405020304" pitchFamily="18" charset="0"/>
                <a:ea typeface="Times New Roman" panose="02020603050405020304" pitchFamily="18" charset="0"/>
                <a:cs typeface="Times New Roman" panose="02020603050405020304" pitchFamily="18" charset="0"/>
              </a:rPr>
              <a:t>AIM 6-2-5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5B0CAE17-8C0D-4CA4-B942-EEEFACFE3B3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F1A3CC1-2181-4898-E1D5-18A2E526D47B}"/>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34414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BDC9CE2D-B391-5F87-B242-1D007E337753}"/>
              </a:ext>
            </a:extLst>
          </p:cNvPr>
          <p:cNvSpPr txBox="1"/>
          <p:nvPr/>
        </p:nvSpPr>
        <p:spPr>
          <a:xfrm>
            <a:off x="789392" y="310326"/>
            <a:ext cx="2832100" cy="819904"/>
          </a:xfrm>
          <a:prstGeom prst="rect">
            <a:avLst/>
          </a:prstGeom>
          <a:noFill/>
        </p:spPr>
        <p:txBody>
          <a:bodyPr wrap="square">
            <a:spAutoFit/>
          </a:bodyPr>
          <a:lstStyle/>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121.5 KHz (VHF)</a:t>
            </a:r>
          </a:p>
          <a:p>
            <a:pPr marL="0" marR="0" algn="ctr">
              <a:lnSpc>
                <a:spcPct val="115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243.0 KHz (UHF)</a:t>
            </a:r>
          </a:p>
          <a:p>
            <a:pPr marL="0" marR="0" algn="ctr">
              <a:lnSpc>
                <a:spcPct val="115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4</a:t>
            </a: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06 MHz (UHF)</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FFD7D6DA-4FD9-AC11-24BC-3DC59AA8E50E}"/>
              </a:ext>
            </a:extLst>
          </p:cNvPr>
          <p:cNvSpPr txBox="1"/>
          <p:nvPr/>
        </p:nvSpPr>
        <p:spPr>
          <a:xfrm>
            <a:off x="364230" y="1130230"/>
            <a:ext cx="3739033" cy="1140762"/>
          </a:xfrm>
          <a:prstGeom prst="rect">
            <a:avLst/>
          </a:prstGeom>
          <a:noFill/>
        </p:spPr>
        <p:txBody>
          <a:bodyPr wrap="square">
            <a:spAutoFit/>
          </a:bodyPr>
          <a:lstStyle/>
          <a:p>
            <a:pPr algn="just">
              <a:lnSpc>
                <a:spcPct val="115000"/>
              </a:lnSpc>
            </a:pP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Varsity Level: </a:t>
            </a:r>
            <a:r>
              <a:rPr lang="en-US" sz="1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T</a:t>
            </a: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he 406 MHz frequency will be received by </a:t>
            </a:r>
            <a:r>
              <a:rPr lang="en-US" sz="1200" dirty="0">
                <a:latin typeface="Times New Roman" panose="02020603050405020304" pitchFamily="18" charset="0"/>
                <a:cs typeface="Times New Roman" panose="02020603050405020304" pitchFamily="18" charset="0"/>
              </a:rPr>
              <a:t>COSPAS-SARSAT </a:t>
            </a: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satellites and in turn notify several national search and rescue centers. Additionally, if so programmed, the 406 MHz signal can contain personal information</a:t>
            </a:r>
            <a:r>
              <a:rPr lang="en-US" sz="1200" dirty="0">
                <a:solidFill>
                  <a:srgbClr val="222222"/>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12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and contact information. </a:t>
            </a:r>
            <a:endParaRPr lang="en-US" sz="1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78179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5140BA46-C914-8DC3-A882-F82CC2E9B768}"/>
              </a:ext>
            </a:extLst>
          </p:cNvPr>
          <p:cNvSpPr txBox="1"/>
          <p:nvPr/>
        </p:nvSpPr>
        <p:spPr>
          <a:xfrm>
            <a:off x="425450" y="894546"/>
            <a:ext cx="3733800" cy="954107"/>
          </a:xfrm>
          <a:prstGeom prst="rect">
            <a:avLst/>
          </a:prstGeom>
          <a:noFill/>
        </p:spPr>
        <p:txBody>
          <a:bodyPr wrap="square">
            <a:spAutoFit/>
          </a:bodyPr>
          <a:lstStyle/>
          <a:p>
            <a:pPr algn="just"/>
            <a:r>
              <a:rPr lang="en-US" sz="1400" dirty="0">
                <a:effectLst/>
                <a:latin typeface="Times New Roman" panose="02020603050405020304" pitchFamily="18" charset="0"/>
                <a:ea typeface="Times New Roman" panose="02020603050405020304" pitchFamily="18" charset="0"/>
              </a:rPr>
              <a:t>What four strokes must occur in each cylinder of a typical four stroke engine in order for it to produce full power?</a:t>
            </a:r>
          </a:p>
          <a:p>
            <a:pPr algn="ctr"/>
            <a:r>
              <a:rPr lang="en-US" sz="1400" dirty="0">
                <a:effectLst/>
                <a:latin typeface="Times New Roman" panose="02020603050405020304" pitchFamily="18" charset="0"/>
                <a:ea typeface="Times New Roman" panose="02020603050405020304" pitchFamily="18" charset="0"/>
              </a:rPr>
              <a:t>FAA-H-8083-25</a:t>
            </a:r>
            <a:endParaRPr lang="en-US" sz="1400" dirty="0"/>
          </a:p>
        </p:txBody>
      </p:sp>
      <p:sp>
        <p:nvSpPr>
          <p:cNvPr id="3" name="Rectangle 2">
            <a:extLst>
              <a:ext uri="{FF2B5EF4-FFF2-40B4-BE49-F238E27FC236}">
                <a16:creationId xmlns:a16="http://schemas.microsoft.com/office/drawing/2014/main" id="{B792E0A0-0AA0-E17C-E3DB-B92DB5FB17F6}"/>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D31699D8-CD3F-75C6-57A8-7F84CBC6256D}"/>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4405594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964B51F0-EFB5-FAA7-B327-5D4846569ADF}"/>
              </a:ext>
            </a:extLst>
          </p:cNvPr>
          <p:cNvSpPr txBox="1"/>
          <p:nvPr/>
        </p:nvSpPr>
        <p:spPr>
          <a:xfrm>
            <a:off x="364230" y="482670"/>
            <a:ext cx="3839831" cy="1777859"/>
          </a:xfrm>
          <a:prstGeom prst="rect">
            <a:avLst/>
          </a:prstGeom>
          <a:noFill/>
        </p:spPr>
        <p:txBody>
          <a:bodyPr wrap="square">
            <a:spAutoFit/>
          </a:bodyPr>
          <a:lstStyle/>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INTAKE – the fuel/air mixture is drawn into the cylinder by the downward piston stroke.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COMPRESSION – the fuel/air mixture is compressed by the upward piston stroke.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POWER – the spark plug ignites the fuel/air mixture forcing the piston downward thus producing power.</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EXHAUST – the burned gases are pushed out of cylinder by the upward piston stroke.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8456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B24787A3-03ED-D3D7-979B-BFED1A5EE879}"/>
              </a:ext>
            </a:extLst>
          </p:cNvPr>
          <p:cNvSpPr txBox="1"/>
          <p:nvPr/>
        </p:nvSpPr>
        <p:spPr>
          <a:xfrm>
            <a:off x="424774" y="796177"/>
            <a:ext cx="3722451" cy="815801"/>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What change occurs to the fuel/air mixture when applying carburetor heat?</a:t>
            </a:r>
          </a:p>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FAA-H-8083-25</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06671F1C-BCF9-6C9F-4218-3A956D5895E8}"/>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16D3333-94A1-4209-F8F5-A91165C6FC7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2478875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A49E1C42-1965-1F7E-46A1-EC910F71B6BE}"/>
              </a:ext>
            </a:extLst>
          </p:cNvPr>
          <p:cNvSpPr txBox="1"/>
          <p:nvPr/>
        </p:nvSpPr>
        <p:spPr>
          <a:xfrm>
            <a:off x="303576" y="1211460"/>
            <a:ext cx="3964847" cy="320280"/>
          </a:xfrm>
          <a:prstGeom prst="rect">
            <a:avLst/>
          </a:prstGeom>
          <a:noFill/>
        </p:spPr>
        <p:txBody>
          <a:bodyPr wrap="square">
            <a:spAutoFit/>
          </a:bodyPr>
          <a:lstStyle/>
          <a:p>
            <a:pPr marL="0" marR="0" algn="ctr">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Using carb heat will normally enrichen the mixture.</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9530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A84E5162-063A-1C4D-8EDC-0525A3C833E3}"/>
              </a:ext>
            </a:extLst>
          </p:cNvPr>
          <p:cNvSpPr txBox="1"/>
          <p:nvPr/>
        </p:nvSpPr>
        <p:spPr>
          <a:xfrm>
            <a:off x="774845" y="927298"/>
            <a:ext cx="3022310" cy="568041"/>
          </a:xfrm>
          <a:prstGeom prst="rect">
            <a:avLst/>
          </a:prstGeom>
          <a:noFill/>
        </p:spPr>
        <p:txBody>
          <a:bodyPr wrap="square">
            <a:spAutoFit/>
          </a:bodyPr>
          <a:lstStyle/>
          <a:p>
            <a:pPr marL="0" marR="0" algn="just">
              <a:lnSpc>
                <a:spcPct val="115000"/>
              </a:lnSpc>
              <a:spcBef>
                <a:spcPts val="0"/>
              </a:spcBef>
              <a:spcAft>
                <a:spcPts val="0"/>
              </a:spcAft>
            </a:pPr>
            <a:r>
              <a:rPr lang="en-US" sz="1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How many spark plugs are there per cylinder and why?</a:t>
            </a: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F826DF93-077A-DFFD-CBC3-BDD4346BC2BB}"/>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528289B-B957-1BF6-FC38-6823E5E28FF2}"/>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891237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C2F2ED97-1354-C06D-1D4C-CAE0A590DB4B}"/>
              </a:ext>
            </a:extLst>
          </p:cNvPr>
          <p:cNvSpPr txBox="1"/>
          <p:nvPr/>
        </p:nvSpPr>
        <p:spPr>
          <a:xfrm>
            <a:off x="304800" y="183368"/>
            <a:ext cx="3962400" cy="720710"/>
          </a:xfrm>
          <a:prstGeom prst="rect">
            <a:avLst/>
          </a:prstGeom>
          <a:noFill/>
        </p:spPr>
        <p:txBody>
          <a:bodyPr wrap="square">
            <a:spAutoFit/>
          </a:bodyPr>
          <a:lstStyle/>
          <a:p>
            <a:pPr marL="0" marR="0" algn="ctr">
              <a:lnSpc>
                <a:spcPct val="115000"/>
              </a:lnSpc>
              <a:spcBef>
                <a:spcPts val="0"/>
              </a:spcBef>
              <a:spcAft>
                <a:spcPts val="600"/>
              </a:spcAft>
            </a:pPr>
            <a:r>
              <a:rPr lang="en-US" sz="1100" dirty="0">
                <a:effectLst/>
                <a:latin typeface="Times New Roman" panose="02020603050405020304" pitchFamily="18" charset="0"/>
                <a:ea typeface="Calibri" panose="020F0502020204030204" pitchFamily="34" charset="0"/>
                <a:cs typeface="Times New Roman" panose="02020603050405020304" pitchFamily="18" charset="0"/>
              </a:rPr>
              <a:t>Two spark plugs per cylinder.</a:t>
            </a:r>
            <a:endParaRPr lang="en-US" sz="11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600"/>
              </a:spcAft>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This provides redundancy and more efficient combustion – which leads to more power. </a:t>
            </a:r>
          </a:p>
        </p:txBody>
      </p:sp>
      <p:sp>
        <p:nvSpPr>
          <p:cNvPr id="3" name="TextBox 2">
            <a:extLst>
              <a:ext uri="{FF2B5EF4-FFF2-40B4-BE49-F238E27FC236}">
                <a16:creationId xmlns:a16="http://schemas.microsoft.com/office/drawing/2014/main" id="{BE8CA346-1CE6-70DB-9343-07AEF1918BA6}"/>
              </a:ext>
            </a:extLst>
          </p:cNvPr>
          <p:cNvSpPr txBox="1"/>
          <p:nvPr/>
        </p:nvSpPr>
        <p:spPr>
          <a:xfrm>
            <a:off x="304800" y="904078"/>
            <a:ext cx="3962400" cy="1455142"/>
          </a:xfrm>
          <a:prstGeom prst="rect">
            <a:avLst/>
          </a:prstGeom>
          <a:noFill/>
        </p:spPr>
        <p:txBody>
          <a:bodyPr wrap="square">
            <a:spAutoFit/>
          </a:bodyPr>
          <a:lstStyle/>
          <a:p>
            <a:pPr marL="0" marR="0" algn="just">
              <a:lnSpc>
                <a:spcPct val="115000"/>
              </a:lnSpc>
              <a:spcBef>
                <a:spcPts val="0"/>
              </a:spcBef>
              <a:spcAft>
                <a:spcPts val="600"/>
              </a:spcAft>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Watch what happens to your EGT during a mag check. See how EGT goes up? This is because combustion is still occurring with the exhaust gases as they pass through the exhaust system. This release of energy should be happening in the cylinder. But it’s not, so there is a loss of power – hence the drop in RPM.</a:t>
            </a:r>
            <a:endParaRPr lang="en-US" sz="105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600"/>
              </a:spcAft>
            </a:pPr>
            <a:r>
              <a:rPr lang="en-US" sz="1050" dirty="0">
                <a:effectLst/>
                <a:latin typeface="Times New Roman" panose="02020603050405020304" pitchFamily="18" charset="0"/>
                <a:ea typeface="Calibri" panose="020F0502020204030204" pitchFamily="34" charset="0"/>
                <a:cs typeface="Times New Roman" panose="02020603050405020304" pitchFamily="18" charset="0"/>
              </a:rPr>
              <a:t>Note: if your aircraft burns Jet-A or diesel fuel, you won’t have spark plugs.</a:t>
            </a:r>
          </a:p>
        </p:txBody>
      </p:sp>
    </p:spTree>
    <p:extLst>
      <p:ext uri="{BB962C8B-B14F-4D97-AF65-F5344CB8AC3E}">
        <p14:creationId xmlns:p14="http://schemas.microsoft.com/office/powerpoint/2010/main" val="2305017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F7071DEA-66C7-F342-BB18-DDAC8484D8EA}"/>
              </a:ext>
            </a:extLst>
          </p:cNvPr>
          <p:cNvSpPr txBox="1"/>
          <p:nvPr/>
        </p:nvSpPr>
        <p:spPr>
          <a:xfrm>
            <a:off x="621799" y="1087579"/>
            <a:ext cx="3328401" cy="568041"/>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the voltage and amperage of your aircraft’s alternator?</a:t>
            </a:r>
          </a:p>
        </p:txBody>
      </p:sp>
      <p:sp>
        <p:nvSpPr>
          <p:cNvPr id="3" name="Rectangle 2">
            <a:extLst>
              <a:ext uri="{FF2B5EF4-FFF2-40B4-BE49-F238E27FC236}">
                <a16:creationId xmlns:a16="http://schemas.microsoft.com/office/drawing/2014/main" id="{2FA66FF4-08A8-97E0-BDC2-C5AB0798344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93C2D91-D09F-5E45-E877-F9B67459410E}"/>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698157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E35D63E2-B914-181B-3D20-B44D1862DF54}"/>
              </a:ext>
            </a:extLst>
          </p:cNvPr>
          <p:cNvSpPr txBox="1"/>
          <p:nvPr/>
        </p:nvSpPr>
        <p:spPr>
          <a:xfrm>
            <a:off x="364230" y="963699"/>
            <a:ext cx="3898319" cy="815801"/>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Study your aircraft systems and know the answer for your specific aircraft. Typically, a small GA aircraft is 14 Volts and 60 Amps.</a:t>
            </a:r>
          </a:p>
        </p:txBody>
      </p:sp>
    </p:spTree>
    <p:extLst>
      <p:ext uri="{BB962C8B-B14F-4D97-AF65-F5344CB8AC3E}">
        <p14:creationId xmlns:p14="http://schemas.microsoft.com/office/powerpoint/2010/main" val="4045362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F7071DEA-66C7-F342-BB18-DDAC8484D8EA}"/>
              </a:ext>
            </a:extLst>
          </p:cNvPr>
          <p:cNvSpPr txBox="1"/>
          <p:nvPr/>
        </p:nvSpPr>
        <p:spPr>
          <a:xfrm>
            <a:off x="621799" y="1211460"/>
            <a:ext cx="3328401" cy="320280"/>
          </a:xfrm>
          <a:prstGeom prst="rect">
            <a:avLst/>
          </a:prstGeom>
          <a:noFill/>
        </p:spPr>
        <p:txBody>
          <a:bodyPr wrap="square">
            <a:spAutoFit/>
          </a:bodyPr>
          <a:lstStyle/>
          <a:p>
            <a:pPr marL="0" marR="0" algn="ctr">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your aircraft’s rated horsepower?</a:t>
            </a:r>
          </a:p>
        </p:txBody>
      </p:sp>
      <p:sp>
        <p:nvSpPr>
          <p:cNvPr id="3" name="Rectangle 2">
            <a:extLst>
              <a:ext uri="{FF2B5EF4-FFF2-40B4-BE49-F238E27FC236}">
                <a16:creationId xmlns:a16="http://schemas.microsoft.com/office/drawing/2014/main" id="{87DFD089-90CE-3204-AFD2-046CA19BA58E}"/>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3B9C865-0061-6923-7819-1C645157C31C}"/>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149213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E35D63E2-B914-181B-3D20-B44D1862DF54}"/>
              </a:ext>
            </a:extLst>
          </p:cNvPr>
          <p:cNvSpPr txBox="1"/>
          <p:nvPr/>
        </p:nvSpPr>
        <p:spPr>
          <a:xfrm>
            <a:off x="364230" y="1087579"/>
            <a:ext cx="3898319" cy="568041"/>
          </a:xfrm>
          <a:prstGeom prst="rect">
            <a:avLst/>
          </a:prstGeom>
          <a:noFill/>
        </p:spPr>
        <p:txBody>
          <a:bodyPr wrap="square">
            <a:spAutoFit/>
          </a:bodyPr>
          <a:lstStyle/>
          <a:p>
            <a:pPr marL="0" marR="0" algn="just">
              <a:lnSpc>
                <a:spcPct val="115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Study your aircraft systems and know the answer for your specific aircraft.</a:t>
            </a:r>
          </a:p>
        </p:txBody>
      </p:sp>
    </p:spTree>
    <p:extLst>
      <p:ext uri="{BB962C8B-B14F-4D97-AF65-F5344CB8AC3E}">
        <p14:creationId xmlns:p14="http://schemas.microsoft.com/office/powerpoint/2010/main" val="41487754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DDA2BDDF-C1F5-4A74-E2F9-FDF965113D9D}"/>
              </a:ext>
            </a:extLst>
          </p:cNvPr>
          <p:cNvSpPr txBox="1"/>
          <p:nvPr/>
        </p:nvSpPr>
        <p:spPr>
          <a:xfrm>
            <a:off x="336840" y="1049107"/>
            <a:ext cx="3898319" cy="644985"/>
          </a:xfrm>
          <a:prstGeom prst="rect">
            <a:avLst/>
          </a:prstGeom>
          <a:noFill/>
        </p:spPr>
        <p:txBody>
          <a:bodyPr wrap="square">
            <a:spAutoFit/>
          </a:bodyPr>
          <a:lstStyle/>
          <a:p>
            <a:pPr marL="0" marR="0" algn="ctr">
              <a:lnSpc>
                <a:spcPct val="115000"/>
              </a:lnSpc>
              <a:spcAft>
                <a:spcPts val="6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What is “preignition?”</a:t>
            </a:r>
          </a:p>
          <a:p>
            <a:pPr algn="ctr">
              <a:lnSpc>
                <a:spcPct val="115000"/>
              </a:lnSpc>
              <a:spcAft>
                <a:spcPts val="600"/>
              </a:spcAft>
            </a:pPr>
            <a:r>
              <a:rPr lang="en-US" sz="1400" dirty="0">
                <a:latin typeface="Times New Roman" panose="02020603050405020304" pitchFamily="18" charset="0"/>
                <a:cs typeface="Times New Roman" panose="02020603050405020304" pitchFamily="18" charset="0"/>
              </a:rPr>
              <a:t>FAA-H-8083-25B, Ch 7</a:t>
            </a:r>
          </a:p>
        </p:txBody>
      </p:sp>
      <p:sp>
        <p:nvSpPr>
          <p:cNvPr id="3" name="Rectangle 2">
            <a:extLst>
              <a:ext uri="{FF2B5EF4-FFF2-40B4-BE49-F238E27FC236}">
                <a16:creationId xmlns:a16="http://schemas.microsoft.com/office/drawing/2014/main" id="{49E4DDFC-BF25-4168-D6B7-491052973B1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E0EF386-9DDC-F283-C1B5-B65710F28D5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604670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CE1CE71-6B4F-B0C0-8477-3074FA7D7F30}"/>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TextBox 1">
            <a:extLst>
              <a:ext uri="{FF2B5EF4-FFF2-40B4-BE49-F238E27FC236}">
                <a16:creationId xmlns:a16="http://schemas.microsoft.com/office/drawing/2014/main" id="{DC5A3DE3-44A9-0127-9CFD-A40E6E349680}"/>
              </a:ext>
            </a:extLst>
          </p:cNvPr>
          <p:cNvSpPr txBox="1"/>
          <p:nvPr/>
        </p:nvSpPr>
        <p:spPr>
          <a:xfrm>
            <a:off x="179870" y="479048"/>
            <a:ext cx="2970288" cy="1785104"/>
          </a:xfrm>
          <a:prstGeom prst="rect">
            <a:avLst/>
          </a:prstGeom>
          <a:noFill/>
        </p:spPr>
        <p:txBody>
          <a:bodyPr wrap="square">
            <a:spAutoFit/>
          </a:bodyPr>
          <a:lstStyle/>
          <a:p>
            <a:pPr algn="just"/>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Pre-ignition occurs when the fuel air mixture ignites prior to the spark plug firing. This results in reduced engine power and high operating temperatures. </a:t>
            </a:r>
            <a:r>
              <a:rPr lang="en-US" sz="1000" dirty="0">
                <a:latin typeface="Times New Roman" panose="02020603050405020304" pitchFamily="18" charset="0"/>
                <a:ea typeface="Times New Roman" panose="02020603050405020304" pitchFamily="18" charset="0"/>
                <a:cs typeface="Times New Roman" panose="02020603050405020304" pitchFamily="18" charset="0"/>
              </a:rPr>
              <a:t>Pre-ignition </a:t>
            </a:r>
            <a:r>
              <a:rPr lang="en-US" sz="1000" dirty="0">
                <a:effectLst/>
                <a:latin typeface="Times New Roman" panose="02020603050405020304" pitchFamily="18" charset="0"/>
                <a:ea typeface="Times New Roman" panose="02020603050405020304" pitchFamily="18" charset="0"/>
                <a:cs typeface="Times New Roman" panose="02020603050405020304" pitchFamily="18" charset="0"/>
              </a:rPr>
              <a:t>is usually caused by a residual hot spot in the combustion chamber, often created by a small carbon deposit on a spark plug, a cracked spark plug insulator, or other damage in the cylinder that causes a part to heat sufficiently to ignite the fuel air charge. Pre-ignition may cause severe engine damage because the expanding gases exert excessive pressure on the piston while still on its up stroke.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36E024AB-1E78-ACCA-EC0B-F35B47B73C87}"/>
              </a:ext>
            </a:extLst>
          </p:cNvPr>
          <p:cNvPicPr>
            <a:picLocks noChangeAspect="1"/>
          </p:cNvPicPr>
          <p:nvPr/>
        </p:nvPicPr>
        <p:blipFill>
          <a:blip r:embed="rId2"/>
          <a:stretch>
            <a:fillRect/>
          </a:stretch>
        </p:blipFill>
        <p:spPr>
          <a:xfrm>
            <a:off x="3150158" y="619722"/>
            <a:ext cx="1328266" cy="1321755"/>
          </a:xfrm>
          <a:prstGeom prst="rect">
            <a:avLst/>
          </a:prstGeom>
        </p:spPr>
      </p:pic>
    </p:spTree>
    <p:extLst>
      <p:ext uri="{BB962C8B-B14F-4D97-AF65-F5344CB8AC3E}">
        <p14:creationId xmlns:p14="http://schemas.microsoft.com/office/powerpoint/2010/main" val="25667973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695BAE-023D-3A53-4CD9-6354D95FD5D8}"/>
              </a:ext>
            </a:extLst>
          </p:cNvPr>
          <p:cNvSpPr txBox="1"/>
          <p:nvPr/>
        </p:nvSpPr>
        <p:spPr>
          <a:xfrm>
            <a:off x="434478" y="1060104"/>
            <a:ext cx="3776662" cy="311496"/>
          </a:xfrm>
          <a:prstGeom prst="rect">
            <a:avLst/>
          </a:prstGeom>
          <a:noFill/>
        </p:spPr>
        <p:txBody>
          <a:bodyPr wrap="square">
            <a:spAutoFit/>
          </a:bodyPr>
          <a:lstStyle/>
          <a:p>
            <a:pPr marL="0" marR="0" algn="ctr">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Where does your carb heat get its heat?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A3231A5-C2EE-4064-BB36-D856A9A3A3A9}"/>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Rectangle 1">
            <a:extLst>
              <a:ext uri="{FF2B5EF4-FFF2-40B4-BE49-F238E27FC236}">
                <a16:creationId xmlns:a16="http://schemas.microsoft.com/office/drawing/2014/main" id="{D981BD46-D4F0-A8E8-1152-657C39B9ABA9}"/>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8A67FC6-E62A-E790-DCB4-4F53D7DAAE6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704138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C8C758-7FF2-DC56-77C3-551B54EF44F1}"/>
              </a:ext>
            </a:extLst>
          </p:cNvPr>
          <p:cNvSpPr txBox="1"/>
          <p:nvPr/>
        </p:nvSpPr>
        <p:spPr>
          <a:xfrm>
            <a:off x="458647" y="368569"/>
            <a:ext cx="3654705" cy="873124"/>
          </a:xfrm>
          <a:prstGeom prst="rect">
            <a:avLst/>
          </a:prstGeom>
          <a:noFill/>
        </p:spPr>
        <p:txBody>
          <a:bodyPr wrap="square">
            <a:spAutoFit/>
          </a:bodyPr>
          <a:lstStyle/>
          <a:p>
            <a:pPr marL="0" marR="0" algn="just">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Outside, unfiltered, air is drawn across the exhaust system and heated. It is then directed to the airbox and in turn to the carburetor. Normal filtered air is blocked when carb heat is on.</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F38139C5-B1C7-8112-B386-07CAB4D03FFF}"/>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pic>
        <p:nvPicPr>
          <p:cNvPr id="6" name="Picture 5">
            <a:extLst>
              <a:ext uri="{FF2B5EF4-FFF2-40B4-BE49-F238E27FC236}">
                <a16:creationId xmlns:a16="http://schemas.microsoft.com/office/drawing/2014/main" id="{8568481E-8711-3CC0-74BA-9BC6E2150680}"/>
              </a:ext>
            </a:extLst>
          </p:cNvPr>
          <p:cNvPicPr>
            <a:picLocks noChangeAspect="1"/>
          </p:cNvPicPr>
          <p:nvPr/>
        </p:nvPicPr>
        <p:blipFill>
          <a:blip r:embed="rId2"/>
          <a:stretch>
            <a:fillRect/>
          </a:stretch>
        </p:blipFill>
        <p:spPr>
          <a:xfrm>
            <a:off x="1645469" y="1241693"/>
            <a:ext cx="1281059" cy="1268500"/>
          </a:xfrm>
          <a:prstGeom prst="rect">
            <a:avLst/>
          </a:prstGeom>
        </p:spPr>
      </p:pic>
    </p:spTree>
    <p:extLst>
      <p:ext uri="{BB962C8B-B14F-4D97-AF65-F5344CB8AC3E}">
        <p14:creationId xmlns:p14="http://schemas.microsoft.com/office/powerpoint/2010/main" val="3767569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8E5331-1CE3-5B74-A2D9-A9821758E8CF}"/>
              </a:ext>
            </a:extLst>
          </p:cNvPr>
          <p:cNvSpPr txBox="1"/>
          <p:nvPr/>
        </p:nvSpPr>
        <p:spPr>
          <a:xfrm>
            <a:off x="687316" y="668796"/>
            <a:ext cx="3197368" cy="1233543"/>
          </a:xfrm>
          <a:prstGeom prst="rect">
            <a:avLst/>
          </a:prstGeom>
          <a:noFill/>
        </p:spPr>
        <p:txBody>
          <a:bodyPr wrap="square">
            <a:spAutoFit/>
          </a:bodyPr>
          <a:lstStyle/>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Where does the power for engine ignition come from?</a:t>
            </a:r>
          </a:p>
          <a:p>
            <a:pPr marL="0" marR="0" algn="just">
              <a:lnSpc>
                <a:spcPct val="107000"/>
              </a:lnSpc>
              <a:spcBef>
                <a:spcPts val="0"/>
              </a:spcBef>
              <a:spcAft>
                <a:spcPts val="0"/>
              </a:spcAft>
            </a:pPr>
            <a:endParaRPr lang="en-US" sz="1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What happens to this source of power if you turn your master switch off?</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207BBE6-C91F-A0F4-4B9D-9767145B424F}"/>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Rectangle 1">
            <a:extLst>
              <a:ext uri="{FF2B5EF4-FFF2-40B4-BE49-F238E27FC236}">
                <a16:creationId xmlns:a16="http://schemas.microsoft.com/office/drawing/2014/main" id="{DE3C61E5-D051-A973-2CF6-A9A34F0F109F}"/>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36D05BFC-5E34-32A5-A6BC-6584BC0A0E6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454572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4A85850-397A-5B26-4B03-AC38EBC501AD}"/>
              </a:ext>
            </a:extLst>
          </p:cNvPr>
          <p:cNvSpPr txBox="1"/>
          <p:nvPr/>
        </p:nvSpPr>
        <p:spPr>
          <a:xfrm>
            <a:off x="397669" y="771352"/>
            <a:ext cx="3776662" cy="1233543"/>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From two magnetos.</a:t>
            </a:r>
          </a:p>
          <a:p>
            <a:pPr marL="0" marR="0" algn="ctr">
              <a:lnSpc>
                <a:spcPct val="107000"/>
              </a:lnSpc>
              <a:spcBef>
                <a:spcPts val="0"/>
              </a:spcBef>
              <a:spcAft>
                <a:spcPts val="0"/>
              </a:spcAft>
            </a:pPr>
            <a:endPar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Your aircraft’s master switch has no effect on the magnetos. They operate completely independent of the aircraft’s electrical system.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6CFDC4DB-79DA-F01C-118D-6104D2FAEC1C}"/>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33238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129930-65C4-07F4-4044-758010EA4E5C}"/>
              </a:ext>
            </a:extLst>
          </p:cNvPr>
          <p:cNvSpPr txBox="1"/>
          <p:nvPr/>
        </p:nvSpPr>
        <p:spPr>
          <a:xfrm>
            <a:off x="291460" y="1060104"/>
            <a:ext cx="3989079" cy="311496"/>
          </a:xfrm>
          <a:prstGeom prst="rect">
            <a:avLst/>
          </a:prstGeom>
          <a:noFill/>
        </p:spPr>
        <p:txBody>
          <a:bodyPr wrap="square">
            <a:spAutoFit/>
          </a:bodyPr>
          <a:lstStyle/>
          <a:p>
            <a:pPr marL="0" marR="0" algn="ctr">
              <a:lnSpc>
                <a:spcPct val="107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What is an advantage of a constant speed propeller?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DDAF5B5-B480-038A-0836-61B34D49B233}"/>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Rectangle 1">
            <a:extLst>
              <a:ext uri="{FF2B5EF4-FFF2-40B4-BE49-F238E27FC236}">
                <a16:creationId xmlns:a16="http://schemas.microsoft.com/office/drawing/2014/main" id="{AE88D227-D70D-4A5D-BF7B-B77A499663D5}"/>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38E1E41-7B1C-DF38-4D90-740A57237E8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4065067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9EB8B7-C6EB-F61B-339B-40E152B590EB}"/>
              </a:ext>
            </a:extLst>
          </p:cNvPr>
          <p:cNvSpPr txBox="1"/>
          <p:nvPr/>
        </p:nvSpPr>
        <p:spPr>
          <a:xfrm>
            <a:off x="400098" y="1100596"/>
            <a:ext cx="3771804" cy="542008"/>
          </a:xfrm>
          <a:prstGeom prst="rect">
            <a:avLst/>
          </a:prstGeom>
          <a:noFill/>
        </p:spPr>
        <p:txBody>
          <a:bodyPr wrap="square">
            <a:spAutoFit/>
          </a:bodyPr>
          <a:lstStyle/>
          <a:p>
            <a:pPr marL="0" marR="0" algn="just">
              <a:lnSpc>
                <a:spcPct val="107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The pilot can select the most efficient propeller pitch for all phases of flight.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A9C67D7E-D1BB-87E3-A46C-20018D298331}"/>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22955923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129930-65C4-07F4-4044-758010EA4E5C}"/>
              </a:ext>
            </a:extLst>
          </p:cNvPr>
          <p:cNvSpPr txBox="1"/>
          <p:nvPr/>
        </p:nvSpPr>
        <p:spPr>
          <a:xfrm>
            <a:off x="278745" y="870084"/>
            <a:ext cx="4014510" cy="772519"/>
          </a:xfrm>
          <a:prstGeom prst="rect">
            <a:avLst/>
          </a:prstGeom>
          <a:noFill/>
        </p:spPr>
        <p:txBody>
          <a:bodyPr wrap="square">
            <a:spAutoFit/>
          </a:bodyPr>
          <a:lstStyle/>
          <a:p>
            <a:pPr marL="0" marR="0" algn="just">
              <a:lnSpc>
                <a:spcPct val="107000"/>
              </a:lnSpc>
              <a:spcBef>
                <a:spcPts val="0"/>
              </a:spcBef>
              <a:spcAft>
                <a:spcPts val="0"/>
              </a:spcAft>
            </a:pPr>
            <a:r>
              <a:rPr lang="en-US" sz="1400" dirty="0">
                <a:solidFill>
                  <a:srgbClr val="222222"/>
                </a:solidFill>
                <a:latin typeface="Times New Roman" panose="02020603050405020304" pitchFamily="18" charset="0"/>
                <a:ea typeface="Calibri" panose="020F0502020204030204" pitchFamily="34" charset="0"/>
                <a:cs typeface="Times New Roman" panose="02020603050405020304" pitchFamily="18" charset="0"/>
              </a:rPr>
              <a:t>You are flying an aircraft with a constant speed propeller. Your first engine instrument indication of carb icing will most likely be _____________.</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CDDAF5B5-B480-038A-0836-61B34D49B233}"/>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2" name="Rectangle 1">
            <a:extLst>
              <a:ext uri="{FF2B5EF4-FFF2-40B4-BE49-F238E27FC236}">
                <a16:creationId xmlns:a16="http://schemas.microsoft.com/office/drawing/2014/main" id="{9CCD9381-D0EA-5241-03B0-0BE854A2F46D}"/>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88EAB16-F1D6-0E48-E3DC-E67DA3206237}"/>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13154636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9EB8B7-C6EB-F61B-339B-40E152B590EB}"/>
              </a:ext>
            </a:extLst>
          </p:cNvPr>
          <p:cNvSpPr txBox="1"/>
          <p:nvPr/>
        </p:nvSpPr>
        <p:spPr>
          <a:xfrm>
            <a:off x="254397" y="526368"/>
            <a:ext cx="4063206" cy="1462323"/>
          </a:xfrm>
          <a:prstGeom prst="rect">
            <a:avLst/>
          </a:prstGeom>
          <a:noFill/>
        </p:spPr>
        <p:txBody>
          <a:bodyPr wrap="square">
            <a:spAutoFit/>
          </a:bodyPr>
          <a:lstStyle/>
          <a:p>
            <a:pPr marL="0" marR="0" algn="ctr">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A reduction in manifold pressure.</a:t>
            </a:r>
          </a:p>
          <a:p>
            <a:pPr marL="0" marR="0" algn="ctr">
              <a:lnSpc>
                <a:spcPct val="107000"/>
              </a:lnSpc>
              <a:spcBef>
                <a:spcPts val="0"/>
              </a:spcBef>
              <a:spcAft>
                <a:spcPts val="0"/>
              </a:spcAft>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latin typeface="Times New Roman" panose="02020603050405020304" pitchFamily="18" charset="0"/>
                <a:ea typeface="Calibri" panose="020F0502020204030204" pitchFamily="34" charset="0"/>
                <a:cs typeface="Times New Roman" panose="02020603050405020304" pitchFamily="18" charset="0"/>
              </a:rPr>
              <a:t>You might think the answer is RPM. But as horsepower decreases, the governor will adjust the propeller pitch to maintain the RPM selected by the RPM lever. So, your only real indication of a reduction in power is a reduction in manifold pressure.</a:t>
            </a:r>
          </a:p>
        </p:txBody>
      </p:sp>
      <p:sp>
        <p:nvSpPr>
          <p:cNvPr id="4" name="TextBox 3">
            <a:extLst>
              <a:ext uri="{FF2B5EF4-FFF2-40B4-BE49-F238E27FC236}">
                <a16:creationId xmlns:a16="http://schemas.microsoft.com/office/drawing/2014/main" id="{A9C67D7E-D1BB-87E3-A46C-20018D298331}"/>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1140480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AB707-69DA-7DBE-57CB-BDD8F6AA9A1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C09F73-6900-83C6-D4E1-90C8EB0E567B}"/>
              </a:ext>
            </a:extLst>
          </p:cNvPr>
          <p:cNvSpPr txBox="1"/>
          <p:nvPr/>
        </p:nvSpPr>
        <p:spPr>
          <a:xfrm>
            <a:off x="46257" y="63056"/>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FB16A71C-FAB3-9CC3-6D88-855095B22DA2}"/>
              </a:ext>
            </a:extLst>
          </p:cNvPr>
          <p:cNvSpPr txBox="1"/>
          <p:nvPr/>
        </p:nvSpPr>
        <p:spPr>
          <a:xfrm>
            <a:off x="486148" y="863768"/>
            <a:ext cx="3599704" cy="1015663"/>
          </a:xfrm>
          <a:prstGeom prst="rect">
            <a:avLst/>
          </a:prstGeom>
          <a:noFill/>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You have a 50 Amp hour battery.</a:t>
            </a:r>
          </a:p>
          <a:p>
            <a:pPr algn="ctr"/>
            <a:endParaRPr lang="en-US" sz="1200" dirty="0">
              <a:latin typeface="Times New Roman" panose="02020603050405020304" pitchFamily="18" charset="0"/>
              <a:cs typeface="Times New Roman" panose="02020603050405020304" pitchFamily="18" charset="0"/>
            </a:endParaRPr>
          </a:p>
          <a:p>
            <a:pPr algn="just"/>
            <a:r>
              <a:rPr lang="en-US" sz="1200" dirty="0">
                <a:latin typeface="Times New Roman" panose="02020603050405020304" pitchFamily="18" charset="0"/>
                <a:cs typeface="Times New Roman" panose="02020603050405020304" pitchFamily="18" charset="0"/>
              </a:rPr>
              <a:t>You just experienced an alternator failure. How can you approximate the time remaining until complete electrical failure?</a:t>
            </a:r>
          </a:p>
        </p:txBody>
      </p:sp>
      <p:sp>
        <p:nvSpPr>
          <p:cNvPr id="4" name="Rectangle 3">
            <a:extLst>
              <a:ext uri="{FF2B5EF4-FFF2-40B4-BE49-F238E27FC236}">
                <a16:creationId xmlns:a16="http://schemas.microsoft.com/office/drawing/2014/main" id="{0D45EF2D-1321-F204-E47F-283EA61C7DE5}"/>
              </a:ext>
            </a:extLst>
          </p:cNvPr>
          <p:cNvSpPr/>
          <p:nvPr/>
        </p:nvSpPr>
        <p:spPr>
          <a:xfrm>
            <a:off x="4294078" y="101908"/>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BF7B3F1B-2B6B-0471-9A92-79E8763D3EC9}"/>
              </a:ext>
            </a:extLst>
          </p:cNvPr>
          <p:cNvSpPr txBox="1"/>
          <p:nvPr/>
        </p:nvSpPr>
        <p:spPr>
          <a:xfrm>
            <a:off x="4238625" y="63056"/>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000760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436E-F163-8478-5340-82FA9F8A52D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6A38EC-E41E-D7FF-A4DC-280183639E3A}"/>
              </a:ext>
            </a:extLst>
          </p:cNvPr>
          <p:cNvSpPr txBox="1"/>
          <p:nvPr/>
        </p:nvSpPr>
        <p:spPr>
          <a:xfrm>
            <a:off x="46257" y="63056"/>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TextBox 2">
            <a:extLst>
              <a:ext uri="{FF2B5EF4-FFF2-40B4-BE49-F238E27FC236}">
                <a16:creationId xmlns:a16="http://schemas.microsoft.com/office/drawing/2014/main" id="{2018B817-C106-D9B4-CB37-96C8F9309DDE}"/>
              </a:ext>
            </a:extLst>
          </p:cNvPr>
          <p:cNvSpPr txBox="1"/>
          <p:nvPr/>
        </p:nvSpPr>
        <p:spPr>
          <a:xfrm>
            <a:off x="180975" y="286687"/>
            <a:ext cx="4157663" cy="2169825"/>
          </a:xfrm>
          <a:prstGeom prst="rect">
            <a:avLst/>
          </a:prstGeom>
          <a:noFill/>
        </p:spPr>
        <p:txBody>
          <a:bodyPr wrap="square" rtlCol="0">
            <a:spAutoFit/>
          </a:bodyPr>
          <a:lstStyle/>
          <a:p>
            <a:pPr algn="just">
              <a:spcAft>
                <a:spcPts val="600"/>
              </a:spcAft>
            </a:pPr>
            <a:r>
              <a:rPr lang="en-US" sz="1000" dirty="0">
                <a:latin typeface="Times New Roman" panose="02020603050405020304" pitchFamily="18" charset="0"/>
                <a:cs typeface="Times New Roman" panose="02020603050405020304" pitchFamily="18" charset="0"/>
              </a:rPr>
              <a:t>Note the amp rating on each of the circuit breakers for the equipment you have turned on/operating. Add them up. Then divide 50 by that number. This approximates the time (in hours) you have.</a:t>
            </a:r>
          </a:p>
          <a:p>
            <a:pPr algn="just">
              <a:spcAft>
                <a:spcPts val="600"/>
              </a:spcAft>
            </a:pPr>
            <a:r>
              <a:rPr lang="en-US" sz="1000" dirty="0">
                <a:latin typeface="Times New Roman" panose="02020603050405020304" pitchFamily="18" charset="0"/>
                <a:cs typeface="Times New Roman" panose="02020603050405020304" pitchFamily="18" charset="0"/>
              </a:rPr>
              <a:t>Example: you are drawing 35 amps. 50/35 = 1.4  You have approximately 1.4 hours of battery life.</a:t>
            </a:r>
          </a:p>
          <a:p>
            <a:pPr algn="just">
              <a:spcAft>
                <a:spcPts val="600"/>
              </a:spcAft>
            </a:pPr>
            <a:r>
              <a:rPr lang="en-US" sz="1000" dirty="0">
                <a:latin typeface="Times New Roman" panose="02020603050405020304" pitchFamily="18" charset="0"/>
                <a:cs typeface="Times New Roman" panose="02020603050405020304" pitchFamily="18" charset="0"/>
              </a:rPr>
              <a:t>Important: there will be systems drawing current from the battery for which you won't know the amperage. Some POHs/AFMs may have this data. In other words, the number you come up with is a rough approximation.</a:t>
            </a:r>
          </a:p>
          <a:p>
            <a:pPr algn="just"/>
            <a:r>
              <a:rPr lang="en-US" sz="1000" dirty="0">
                <a:latin typeface="Times New Roman" panose="02020603050405020304" pitchFamily="18" charset="0"/>
                <a:cs typeface="Times New Roman" panose="02020603050405020304" pitchFamily="18" charset="0"/>
              </a:rPr>
              <a:t>Additionally, most aircraft components won’t keep running until your battery is down to zero volts. Most will shutdown after a drop of only a few volts. In other words, 1.4-hour battery life doesn’t mean your aircraft components will operate for 1.4 hours.</a:t>
            </a:r>
          </a:p>
        </p:txBody>
      </p:sp>
    </p:spTree>
    <p:extLst>
      <p:ext uri="{BB962C8B-B14F-4D97-AF65-F5344CB8AC3E}">
        <p14:creationId xmlns:p14="http://schemas.microsoft.com/office/powerpoint/2010/main" val="2306057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5E4DAA-BBB1-186A-6307-B155CBB12248}"/>
              </a:ext>
            </a:extLst>
          </p:cNvPr>
          <p:cNvSpPr txBox="1"/>
          <p:nvPr/>
        </p:nvSpPr>
        <p:spPr>
          <a:xfrm>
            <a:off x="442515" y="832991"/>
            <a:ext cx="3686969" cy="1077218"/>
          </a:xfrm>
          <a:prstGeom prst="rect">
            <a:avLst/>
          </a:prstGeom>
          <a:noFill/>
        </p:spPr>
        <p:txBody>
          <a:bodyPr wrap="square">
            <a:spAutoFit/>
          </a:bodyPr>
          <a:lstStyle/>
          <a:p>
            <a:pPr marL="0" marR="0" algn="just">
              <a:spcBef>
                <a:spcPts val="0"/>
              </a:spcBef>
              <a:spcAft>
                <a:spcPts val="0"/>
              </a:spcAft>
            </a:pPr>
            <a:r>
              <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When is your magnetic compass the most accurate?</a:t>
            </a:r>
          </a:p>
          <a:p>
            <a:pPr marL="0" marR="0" algn="ctr">
              <a:spcBef>
                <a:spcPts val="0"/>
              </a:spcBef>
              <a:spcAft>
                <a:spcPts val="0"/>
              </a:spcAft>
            </a:pPr>
            <a:endPar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AIM 8-1-3</a:t>
            </a:r>
            <a:endParaRPr lang="en-US" sz="16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2BFB0A34-A52F-40FF-5056-8CD8995E76DC}"/>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Rectangle 2">
            <a:extLst>
              <a:ext uri="{FF2B5EF4-FFF2-40B4-BE49-F238E27FC236}">
                <a16:creationId xmlns:a16="http://schemas.microsoft.com/office/drawing/2014/main" id="{C7FDBCEA-FBF7-8834-B960-8D867AED0C01}"/>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A550D90-5DAE-D458-DD6B-79E378EA656F}"/>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963173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4BD839-DF3D-FD3E-FBD9-9A0AF19693A9}"/>
              </a:ext>
            </a:extLst>
          </p:cNvPr>
          <p:cNvSpPr txBox="1"/>
          <p:nvPr/>
        </p:nvSpPr>
        <p:spPr>
          <a:xfrm>
            <a:off x="494853" y="1217711"/>
            <a:ext cx="3582294" cy="307777"/>
          </a:xfrm>
          <a:prstGeom prst="rect">
            <a:avLst/>
          </a:prstGeom>
          <a:noFill/>
        </p:spPr>
        <p:txBody>
          <a:bodyPr wrap="square">
            <a:spAutoFit/>
          </a:bodyPr>
          <a:lstStyle/>
          <a:p>
            <a:pPr marL="0" marR="0" algn="ctr">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During straight and level, unaccelerated flight.</a:t>
            </a:r>
          </a:p>
        </p:txBody>
      </p:sp>
      <p:sp>
        <p:nvSpPr>
          <p:cNvPr id="4" name="TextBox 3">
            <a:extLst>
              <a:ext uri="{FF2B5EF4-FFF2-40B4-BE49-F238E27FC236}">
                <a16:creationId xmlns:a16="http://schemas.microsoft.com/office/drawing/2014/main" id="{5C592236-E43D-5AE8-80F0-C9955E664DDC}"/>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32156042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6FB1E3-4E81-56A5-AC6A-CBC2F74C9767}"/>
              </a:ext>
            </a:extLst>
          </p:cNvPr>
          <p:cNvSpPr txBox="1"/>
          <p:nvPr/>
        </p:nvSpPr>
        <p:spPr>
          <a:xfrm>
            <a:off x="497647" y="1002268"/>
            <a:ext cx="3576706" cy="738664"/>
          </a:xfrm>
          <a:prstGeom prst="rect">
            <a:avLst/>
          </a:prstGeom>
          <a:noFill/>
        </p:spPr>
        <p:txBody>
          <a:bodyPr wrap="square">
            <a:spAutoFit/>
          </a:bodyPr>
          <a:lstStyle/>
          <a:p>
            <a:pPr marL="0" marR="0" algn="just">
              <a:spcBef>
                <a:spcPts val="0"/>
              </a:spcBef>
              <a:spcAft>
                <a:spcPts val="0"/>
              </a:spcAft>
            </a:pPr>
            <a:r>
              <a:rPr lang="en-US" sz="1400" dirty="0">
                <a:solidFill>
                  <a:srgbClr val="000000"/>
                </a:solidFill>
                <a:latin typeface="Times New Roman" panose="02020603050405020304" pitchFamily="18" charset="0"/>
                <a:ea typeface="Calibri" panose="020F0502020204030204" pitchFamily="34" charset="0"/>
              </a:rPr>
              <a:t>The alternator’s (or generator’s) output voltage, if working properly, will be _______ than the battery voltage.</a:t>
            </a:r>
          </a:p>
        </p:txBody>
      </p:sp>
      <p:sp>
        <p:nvSpPr>
          <p:cNvPr id="4" name="TextBox 3">
            <a:extLst>
              <a:ext uri="{FF2B5EF4-FFF2-40B4-BE49-F238E27FC236}">
                <a16:creationId xmlns:a16="http://schemas.microsoft.com/office/drawing/2014/main" id="{9F96B089-8CF6-31F2-B6C9-2ABEA701F86A}"/>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Rectangle 2">
            <a:extLst>
              <a:ext uri="{FF2B5EF4-FFF2-40B4-BE49-F238E27FC236}">
                <a16:creationId xmlns:a16="http://schemas.microsoft.com/office/drawing/2014/main" id="{555B0AA1-2343-AA59-3C55-4CC1BB3C4434}"/>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324B214-4BBE-350F-3944-D09FAF2DB301}"/>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20979581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151912-E4E1-60AE-A8DA-F3753C107998}"/>
              </a:ext>
            </a:extLst>
          </p:cNvPr>
          <p:cNvSpPr txBox="1"/>
          <p:nvPr/>
        </p:nvSpPr>
        <p:spPr>
          <a:xfrm>
            <a:off x="331597" y="494049"/>
            <a:ext cx="3923880" cy="1569660"/>
          </a:xfrm>
          <a:prstGeom prst="rect">
            <a:avLst/>
          </a:prstGeom>
          <a:noFill/>
        </p:spPr>
        <p:txBody>
          <a:bodyPr wrap="square">
            <a:spAutoFit/>
          </a:bodyPr>
          <a:lstStyle/>
          <a:p>
            <a:pPr marL="0" marR="0" algn="ctr">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Higher.</a:t>
            </a:r>
          </a:p>
          <a:p>
            <a:pPr marL="0" marR="0" algn="ctr">
              <a:spcBef>
                <a:spcPts val="0"/>
              </a:spcBef>
              <a:spcAft>
                <a:spcPts val="0"/>
              </a:spcAft>
            </a:pPr>
            <a:endParaRPr lang="en-US" sz="1200" dirty="0">
              <a:solidFill>
                <a:srgbClr val="000000"/>
              </a:solidFill>
              <a:latin typeface="Times New Roman" panose="02020603050405020304" pitchFamily="18" charset="0"/>
              <a:ea typeface="Calibri" panose="020F0502020204030204" pitchFamily="34" charset="0"/>
            </a:endParaRPr>
          </a:p>
          <a:p>
            <a:pPr marL="0" marR="0" algn="just">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To move voltage from source A to storage B, source A must be higher.</a:t>
            </a:r>
          </a:p>
          <a:p>
            <a:pPr marL="0" marR="0" algn="just">
              <a:spcBef>
                <a:spcPts val="0"/>
              </a:spcBef>
              <a:spcAft>
                <a:spcPts val="0"/>
              </a:spcAft>
            </a:pPr>
            <a:endParaRPr lang="en-US" sz="1200" dirty="0">
              <a:solidFill>
                <a:srgbClr val="000000"/>
              </a:solidFill>
              <a:latin typeface="Times New Roman" panose="02020603050405020304" pitchFamily="18" charset="0"/>
              <a:ea typeface="Calibri" panose="020F0502020204030204" pitchFamily="34" charset="0"/>
            </a:endParaRPr>
          </a:p>
          <a:p>
            <a:pPr marL="0" marR="0" algn="just">
              <a:spcBef>
                <a:spcPts val="0"/>
              </a:spcBef>
              <a:spcAft>
                <a:spcPts val="0"/>
              </a:spcAft>
            </a:pPr>
            <a:r>
              <a:rPr lang="en-US" sz="1200" dirty="0">
                <a:solidFill>
                  <a:srgbClr val="000000"/>
                </a:solidFill>
                <a:latin typeface="Times New Roman" panose="02020603050405020304" pitchFamily="18" charset="0"/>
                <a:ea typeface="Calibri" panose="020F0502020204030204" pitchFamily="34" charset="0"/>
              </a:rPr>
              <a:t>Much like water. To move water from a lake into a tank with a given back pressure, the water pressure from the lake must be great than the back pressure of the tank.</a:t>
            </a:r>
          </a:p>
        </p:txBody>
      </p:sp>
      <p:sp>
        <p:nvSpPr>
          <p:cNvPr id="3" name="TextBox 2">
            <a:extLst>
              <a:ext uri="{FF2B5EF4-FFF2-40B4-BE49-F238E27FC236}">
                <a16:creationId xmlns:a16="http://schemas.microsoft.com/office/drawing/2014/main" id="{4AE701BD-9433-BADB-AE19-B0A3C0F71FF5}"/>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25130985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CBE0926-E3C6-8547-E8C7-558B83EA6D67}"/>
              </a:ext>
            </a:extLst>
          </p:cNvPr>
          <p:cNvSpPr txBox="1"/>
          <p:nvPr/>
        </p:nvSpPr>
        <p:spPr>
          <a:xfrm>
            <a:off x="496356" y="911780"/>
            <a:ext cx="3579287" cy="815608"/>
          </a:xfrm>
          <a:prstGeom prst="rect">
            <a:avLst/>
          </a:prstGeom>
          <a:noFill/>
        </p:spPr>
        <p:txBody>
          <a:bodyPr wrap="square">
            <a:spAutoFit/>
          </a:bodyPr>
          <a:lstStyle/>
          <a:p>
            <a:pPr algn="just">
              <a:spcAft>
                <a:spcPts val="600"/>
              </a:spcAft>
            </a:pPr>
            <a:r>
              <a:rPr lang="en-US" sz="1400" dirty="0">
                <a:solidFill>
                  <a:srgbClr val="000000"/>
                </a:solidFill>
                <a:latin typeface="Times New Roman" panose="02020603050405020304" pitchFamily="18" charset="0"/>
              </a:rPr>
              <a:t>Why do most small GA aircraft use alternators instead of generators?</a:t>
            </a:r>
          </a:p>
          <a:p>
            <a:pPr algn="ctr">
              <a:spcAft>
                <a:spcPts val="600"/>
              </a:spcAft>
            </a:pPr>
            <a:r>
              <a:rPr lang="en-US" sz="1400" dirty="0">
                <a:solidFill>
                  <a:srgbClr val="000000"/>
                </a:solidFill>
                <a:latin typeface="Times New Roman" panose="02020603050405020304" pitchFamily="18" charset="0"/>
              </a:rPr>
              <a:t>FAA-H-8083-25B, Ch 7</a:t>
            </a:r>
            <a:endParaRPr lang="en-US" sz="1400" dirty="0"/>
          </a:p>
        </p:txBody>
      </p:sp>
      <p:sp>
        <p:nvSpPr>
          <p:cNvPr id="2" name="TextBox 1">
            <a:extLst>
              <a:ext uri="{FF2B5EF4-FFF2-40B4-BE49-F238E27FC236}">
                <a16:creationId xmlns:a16="http://schemas.microsoft.com/office/drawing/2014/main" id="{9E72C292-2132-934E-4F79-A5A085CBBA46}"/>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
        <p:nvSpPr>
          <p:cNvPr id="3" name="Rectangle 2">
            <a:extLst>
              <a:ext uri="{FF2B5EF4-FFF2-40B4-BE49-F238E27FC236}">
                <a16:creationId xmlns:a16="http://schemas.microsoft.com/office/drawing/2014/main" id="{21CAD9FE-9B25-16E2-DCB3-5C20BEC29542}"/>
              </a:ext>
            </a:extLst>
          </p:cNvPr>
          <p:cNvSpPr/>
          <p:nvPr/>
        </p:nvSpPr>
        <p:spPr>
          <a:xfrm>
            <a:off x="4294078" y="81812"/>
            <a:ext cx="176212" cy="17621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38CD5FA3-3239-4E98-BFFC-4EF20D910F7A}"/>
              </a:ext>
            </a:extLst>
          </p:cNvPr>
          <p:cNvSpPr txBox="1"/>
          <p:nvPr/>
        </p:nvSpPr>
        <p:spPr>
          <a:xfrm>
            <a:off x="4238625" y="42960"/>
            <a:ext cx="287118" cy="253916"/>
          </a:xfrm>
          <a:prstGeom prst="rect">
            <a:avLst/>
          </a:prstGeom>
          <a:noFill/>
        </p:spPr>
        <p:txBody>
          <a:bodyPr wrap="square" rtlCol="0">
            <a:spAutoFit/>
          </a:bodyPr>
          <a:lstStyle/>
          <a:p>
            <a:r>
              <a:rPr lang="en-US" sz="1050" b="1" dirty="0">
                <a:solidFill>
                  <a:schemeClr val="bg1">
                    <a:lumMod val="95000"/>
                  </a:schemeClr>
                </a:solidFill>
                <a:latin typeface="Segoe UI Semibold" panose="020B0702040204020203" pitchFamily="34" charset="0"/>
                <a:cs typeface="Segoe UI Semibold" panose="020B0702040204020203" pitchFamily="34" charset="0"/>
              </a:rPr>
              <a:t>Q</a:t>
            </a:r>
          </a:p>
        </p:txBody>
      </p:sp>
    </p:spTree>
    <p:extLst>
      <p:ext uri="{BB962C8B-B14F-4D97-AF65-F5344CB8AC3E}">
        <p14:creationId xmlns:p14="http://schemas.microsoft.com/office/powerpoint/2010/main" val="3647874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DBE759-6BE1-885E-4E60-312DEB22E3D4}"/>
              </a:ext>
            </a:extLst>
          </p:cNvPr>
          <p:cNvSpPr txBox="1"/>
          <p:nvPr/>
        </p:nvSpPr>
        <p:spPr>
          <a:xfrm>
            <a:off x="386741" y="526436"/>
            <a:ext cx="3798517" cy="1600438"/>
          </a:xfrm>
          <a:prstGeom prst="rect">
            <a:avLst/>
          </a:prstGeom>
          <a:noFill/>
        </p:spPr>
        <p:txBody>
          <a:bodyPr wrap="square">
            <a:spAutoFit/>
          </a:bodyPr>
          <a:lstStyle/>
          <a:p>
            <a:pPr algn="ctr"/>
            <a:r>
              <a:rPr lang="en-US" sz="1400" dirty="0">
                <a:solidFill>
                  <a:srgbClr val="000000"/>
                </a:solidFill>
                <a:latin typeface="Times New Roman" panose="02020603050405020304" pitchFamily="18" charset="0"/>
              </a:rPr>
              <a:t>Alternators weigh less.</a:t>
            </a:r>
          </a:p>
          <a:p>
            <a:pPr algn="ctr"/>
            <a:r>
              <a:rPr lang="en-US" sz="1400" dirty="0">
                <a:solidFill>
                  <a:srgbClr val="000000"/>
                </a:solidFill>
                <a:latin typeface="Times New Roman" panose="02020603050405020304" pitchFamily="18" charset="0"/>
              </a:rPr>
              <a:t>Alternators are cheaper.</a:t>
            </a:r>
          </a:p>
          <a:p>
            <a:pPr algn="ctr"/>
            <a:r>
              <a:rPr lang="en-US" sz="1400" dirty="0">
                <a:solidFill>
                  <a:srgbClr val="000000"/>
                </a:solidFill>
                <a:latin typeface="Times New Roman" panose="02020603050405020304" pitchFamily="18" charset="0"/>
              </a:rPr>
              <a:t>Alternators require less maintenance.</a:t>
            </a:r>
          </a:p>
          <a:p>
            <a:pPr algn="ctr"/>
            <a:r>
              <a:rPr lang="en-US" sz="1400" dirty="0">
                <a:solidFill>
                  <a:srgbClr val="000000"/>
                </a:solidFill>
                <a:latin typeface="Times New Roman" panose="02020603050405020304" pitchFamily="18" charset="0"/>
              </a:rPr>
              <a:t>Alternators generate more current at lower RPM.</a:t>
            </a:r>
          </a:p>
          <a:p>
            <a:pPr algn="ctr"/>
            <a:endParaRPr lang="en-US" sz="1400" dirty="0">
              <a:solidFill>
                <a:srgbClr val="000000"/>
              </a:solidFill>
              <a:latin typeface="Times New Roman" panose="02020603050405020304" pitchFamily="18" charset="0"/>
            </a:endParaRPr>
          </a:p>
          <a:p>
            <a:r>
              <a:rPr lang="en-US" sz="1400" dirty="0">
                <a:solidFill>
                  <a:srgbClr val="000000"/>
                </a:solidFill>
                <a:latin typeface="Times New Roman" panose="02020603050405020304" pitchFamily="18" charset="0"/>
              </a:rPr>
              <a:t>By the way, for these same reasons…your car has an alternator.</a:t>
            </a:r>
            <a:endParaRPr lang="en-US" sz="1400" dirty="0"/>
          </a:p>
        </p:txBody>
      </p:sp>
      <p:sp>
        <p:nvSpPr>
          <p:cNvPr id="4" name="TextBox 3">
            <a:extLst>
              <a:ext uri="{FF2B5EF4-FFF2-40B4-BE49-F238E27FC236}">
                <a16:creationId xmlns:a16="http://schemas.microsoft.com/office/drawing/2014/main" id="{1276B495-5368-2FAC-A1CC-275272182747}"/>
              </a:ext>
            </a:extLst>
          </p:cNvPr>
          <p:cNvSpPr txBox="1"/>
          <p:nvPr/>
        </p:nvSpPr>
        <p:spPr>
          <a:xfrm>
            <a:off x="47477" y="56410"/>
            <a:ext cx="633507" cy="253916"/>
          </a:xfrm>
          <a:prstGeom prst="rect">
            <a:avLst/>
          </a:prstGeom>
          <a:noFill/>
        </p:spPr>
        <p:txBody>
          <a:bodyPr wrap="none" rtlCol="0">
            <a:spAutoFit/>
          </a:bodyPr>
          <a:lstStyle/>
          <a:p>
            <a:r>
              <a:rPr lang="en-US" sz="1050" dirty="0">
                <a:latin typeface="Times New Roman" panose="02020603050405020304" pitchFamily="18" charset="0"/>
                <a:cs typeface="Times New Roman" panose="02020603050405020304" pitchFamily="18" charset="0"/>
              </a:rPr>
              <a:t>Systems</a:t>
            </a:r>
          </a:p>
        </p:txBody>
      </p:sp>
    </p:spTree>
    <p:extLst>
      <p:ext uri="{BB962C8B-B14F-4D97-AF65-F5344CB8AC3E}">
        <p14:creationId xmlns:p14="http://schemas.microsoft.com/office/powerpoint/2010/main" val="5482042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8500</TotalTime>
  <Words>1368</Words>
  <Application>Microsoft Office PowerPoint</Application>
  <PresentationFormat>Custom</PresentationFormat>
  <Paragraphs>147</Paragraphs>
  <Slides>40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Segoe UI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Bill Jones</dc:creator>
  <cp:lastModifiedBy>Bill Jones</cp:lastModifiedBy>
  <cp:revision>557</cp:revision>
  <dcterms:created xsi:type="dcterms:W3CDTF">2023-07-11T19:01:37Z</dcterms:created>
  <dcterms:modified xsi:type="dcterms:W3CDTF">2025-11-08T21:56:54Z</dcterms:modified>
</cp:coreProperties>
</file>