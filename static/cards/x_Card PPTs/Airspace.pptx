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67" r:id="rId3"/>
    <p:sldId id="375" r:id="rId4"/>
    <p:sldId id="376" r:id="rId5"/>
    <p:sldId id="684" r:id="rId6"/>
    <p:sldId id="685" r:id="rId7"/>
    <p:sldId id="686" r:id="rId8"/>
    <p:sldId id="687" r:id="rId9"/>
    <p:sldId id="457" r:id="rId10"/>
    <p:sldId id="458" r:id="rId11"/>
    <p:sldId id="692" r:id="rId12"/>
    <p:sldId id="693" r:id="rId13"/>
    <p:sldId id="435" r:id="rId14"/>
    <p:sldId id="436" r:id="rId15"/>
    <p:sldId id="447" r:id="rId16"/>
    <p:sldId id="448" r:id="rId17"/>
    <p:sldId id="393" r:id="rId18"/>
    <p:sldId id="394" r:id="rId19"/>
    <p:sldId id="688" r:id="rId20"/>
    <p:sldId id="689" r:id="rId21"/>
    <p:sldId id="690" r:id="rId22"/>
    <p:sldId id="691" r:id="rId23"/>
    <p:sldId id="580" r:id="rId24"/>
    <p:sldId id="581" r:id="rId25"/>
    <p:sldId id="530" r:id="rId26"/>
    <p:sldId id="531" r:id="rId27"/>
    <p:sldId id="520" r:id="rId28"/>
    <p:sldId id="521" r:id="rId29"/>
    <p:sldId id="694" r:id="rId30"/>
    <p:sldId id="695" r:id="rId31"/>
    <p:sldId id="270" r:id="rId32"/>
    <p:sldId id="265" r:id="rId33"/>
    <p:sldId id="271" r:id="rId34"/>
    <p:sldId id="272" r:id="rId35"/>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2CDE6D-6E86-0761-83E9-1AF3F87B3A1F}"/>
              </a:ext>
            </a:extLst>
          </p:cNvPr>
          <p:cNvPicPr>
            <a:picLocks noChangeAspect="1"/>
          </p:cNvPicPr>
          <p:nvPr/>
        </p:nvPicPr>
        <p:blipFill>
          <a:blip r:embed="rId2"/>
          <a:stretch>
            <a:fillRect/>
          </a:stretch>
        </p:blipFill>
        <p:spPr>
          <a:xfrm>
            <a:off x="390526" y="562034"/>
            <a:ext cx="1895474" cy="1621265"/>
          </a:xfrm>
          <a:prstGeom prst="rect">
            <a:avLst/>
          </a:prstGeom>
        </p:spPr>
      </p:pic>
      <p:sp>
        <p:nvSpPr>
          <p:cNvPr id="4" name="TextBox 3">
            <a:extLst>
              <a:ext uri="{FF2B5EF4-FFF2-40B4-BE49-F238E27FC236}">
                <a16:creationId xmlns:a16="http://schemas.microsoft.com/office/drawing/2014/main" id="{836B29FC-CD8E-8DB6-F56D-C1CA6E9666CA}"/>
              </a:ext>
            </a:extLst>
          </p:cNvPr>
          <p:cNvSpPr txBox="1"/>
          <p:nvPr/>
        </p:nvSpPr>
        <p:spPr>
          <a:xfrm>
            <a:off x="2503814" y="679102"/>
            <a:ext cx="1722878" cy="1384995"/>
          </a:xfrm>
          <a:prstGeom prst="rect">
            <a:avLst/>
          </a:prstGeom>
          <a:noFill/>
        </p:spPr>
        <p:txBody>
          <a:bodyPr wrap="square">
            <a:spAutoFit/>
          </a:bodyPr>
          <a:lstStyle/>
          <a:p>
            <a:r>
              <a:rPr lang="en-US" sz="1400" dirty="0">
                <a:solidFill>
                  <a:srgbClr val="000000"/>
                </a:solidFill>
                <a:latin typeface="Times New Roman" panose="02020603050405020304" pitchFamily="18" charset="0"/>
              </a:rPr>
              <a:t>You are flying into KLBL. To what altitude does the Class E airspace around KLBL extend down to?</a:t>
            </a:r>
            <a:endParaRPr lang="en-US" sz="1400" dirty="0"/>
          </a:p>
        </p:txBody>
      </p:sp>
      <p:sp>
        <p:nvSpPr>
          <p:cNvPr id="2" name="TextBox 1">
            <a:extLst>
              <a:ext uri="{FF2B5EF4-FFF2-40B4-BE49-F238E27FC236}">
                <a16:creationId xmlns:a16="http://schemas.microsoft.com/office/drawing/2014/main" id="{760AFA00-7ECF-5E50-6A7F-DC99B10A0469}"/>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5" name="Rectangle 4">
            <a:extLst>
              <a:ext uri="{FF2B5EF4-FFF2-40B4-BE49-F238E27FC236}">
                <a16:creationId xmlns:a16="http://schemas.microsoft.com/office/drawing/2014/main" id="{71F04B8C-CD37-DA0D-7D35-7F0197D01CF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2988944-8AB3-8CA4-D423-8C1A84C4A4E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004945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5C5787-9D74-6927-7AAD-55B3CAA578E3}"/>
              </a:ext>
            </a:extLst>
          </p:cNvPr>
          <p:cNvSpPr txBox="1"/>
          <p:nvPr/>
        </p:nvSpPr>
        <p:spPr>
          <a:xfrm>
            <a:off x="617973" y="190352"/>
            <a:ext cx="3336054" cy="830997"/>
          </a:xfrm>
          <a:prstGeom prst="rect">
            <a:avLst/>
          </a:prstGeom>
          <a:noFill/>
        </p:spPr>
        <p:txBody>
          <a:bodyPr wrap="square">
            <a:spAutoFit/>
          </a:bodyPr>
          <a:lstStyle/>
          <a:p>
            <a:pPr algn="just"/>
            <a:r>
              <a:rPr lang="en-US" sz="1200" dirty="0">
                <a:latin typeface="Times New Roman" panose="02020603050405020304" pitchFamily="18" charset="0"/>
              </a:rPr>
              <a:t>At first, the Class E extends down to 700 AGL (gradient magenta line). But as you get closer to the airfield, the dashed magenta line tells us the Class E around KLBL extends to the surface.</a:t>
            </a:r>
            <a:endParaRPr lang="en-US" sz="1200" dirty="0"/>
          </a:p>
        </p:txBody>
      </p:sp>
      <p:pic>
        <p:nvPicPr>
          <p:cNvPr id="2" name="Picture 1">
            <a:extLst>
              <a:ext uri="{FF2B5EF4-FFF2-40B4-BE49-F238E27FC236}">
                <a16:creationId xmlns:a16="http://schemas.microsoft.com/office/drawing/2014/main" id="{4DA4869F-1EDD-45FB-4590-0A1269BFF290}"/>
              </a:ext>
            </a:extLst>
          </p:cNvPr>
          <p:cNvPicPr>
            <a:picLocks noChangeAspect="1"/>
          </p:cNvPicPr>
          <p:nvPr/>
        </p:nvPicPr>
        <p:blipFill>
          <a:blip r:embed="rId2"/>
          <a:stretch>
            <a:fillRect/>
          </a:stretch>
        </p:blipFill>
        <p:spPr>
          <a:xfrm>
            <a:off x="286377" y="1144839"/>
            <a:ext cx="1375287" cy="1176331"/>
          </a:xfrm>
          <a:prstGeom prst="rect">
            <a:avLst/>
          </a:prstGeom>
        </p:spPr>
      </p:pic>
      <p:cxnSp>
        <p:nvCxnSpPr>
          <p:cNvPr id="7" name="Straight Arrow Connector 6">
            <a:extLst>
              <a:ext uri="{FF2B5EF4-FFF2-40B4-BE49-F238E27FC236}">
                <a16:creationId xmlns:a16="http://schemas.microsoft.com/office/drawing/2014/main" id="{351D2BBC-97D4-2F3D-C94C-E4BAA93D218F}"/>
              </a:ext>
            </a:extLst>
          </p:cNvPr>
          <p:cNvCxnSpPr>
            <a:cxnSpLocks/>
          </p:cNvCxnSpPr>
          <p:nvPr/>
        </p:nvCxnSpPr>
        <p:spPr>
          <a:xfrm flipH="1" flipV="1">
            <a:off x="1547445" y="1848878"/>
            <a:ext cx="628023" cy="3414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6DCD418-C397-D9F8-E67F-5835FB8C3077}"/>
              </a:ext>
            </a:extLst>
          </p:cNvPr>
          <p:cNvSpPr txBox="1"/>
          <p:nvPr/>
        </p:nvSpPr>
        <p:spPr>
          <a:xfrm>
            <a:off x="1728315" y="2190365"/>
            <a:ext cx="1607738" cy="261610"/>
          </a:xfrm>
          <a:prstGeom prst="rect">
            <a:avLst/>
          </a:prstGeom>
          <a:noFill/>
        </p:spPr>
        <p:txBody>
          <a:bodyPr wrap="square">
            <a:spAutoFit/>
          </a:bodyPr>
          <a:lstStyle/>
          <a:p>
            <a:pPr algn="just"/>
            <a:r>
              <a:rPr lang="en-US" sz="1050" dirty="0">
                <a:latin typeface="Times New Roman" panose="02020603050405020304" pitchFamily="18" charset="0"/>
              </a:rPr>
              <a:t>Gradient magenta line.</a:t>
            </a:r>
            <a:endParaRPr lang="en-US" sz="1050" dirty="0"/>
          </a:p>
        </p:txBody>
      </p:sp>
      <p:sp>
        <p:nvSpPr>
          <p:cNvPr id="11" name="TextBox 10">
            <a:extLst>
              <a:ext uri="{FF2B5EF4-FFF2-40B4-BE49-F238E27FC236}">
                <a16:creationId xmlns:a16="http://schemas.microsoft.com/office/drawing/2014/main" id="{1F11E3E4-77F6-7C0B-D4D4-FD53FDC07837}"/>
              </a:ext>
            </a:extLst>
          </p:cNvPr>
          <p:cNvSpPr txBox="1"/>
          <p:nvPr/>
        </p:nvSpPr>
        <p:spPr>
          <a:xfrm>
            <a:off x="1728315" y="1213442"/>
            <a:ext cx="1607738" cy="261610"/>
          </a:xfrm>
          <a:prstGeom prst="rect">
            <a:avLst/>
          </a:prstGeom>
          <a:noFill/>
        </p:spPr>
        <p:txBody>
          <a:bodyPr wrap="square">
            <a:spAutoFit/>
          </a:bodyPr>
          <a:lstStyle/>
          <a:p>
            <a:pPr algn="just"/>
            <a:r>
              <a:rPr lang="en-US" sz="1050" dirty="0">
                <a:latin typeface="Times New Roman" panose="02020603050405020304" pitchFamily="18" charset="0"/>
              </a:rPr>
              <a:t>Dashed magenta line.</a:t>
            </a:r>
            <a:endParaRPr lang="en-US" sz="1050" dirty="0"/>
          </a:p>
        </p:txBody>
      </p:sp>
      <p:cxnSp>
        <p:nvCxnSpPr>
          <p:cNvPr id="12" name="Straight Arrow Connector 11">
            <a:extLst>
              <a:ext uri="{FF2B5EF4-FFF2-40B4-BE49-F238E27FC236}">
                <a16:creationId xmlns:a16="http://schemas.microsoft.com/office/drawing/2014/main" id="{0C8491AD-1DF9-F3A3-7D21-C75FD51C7DAD}"/>
              </a:ext>
            </a:extLst>
          </p:cNvPr>
          <p:cNvCxnSpPr>
            <a:cxnSpLocks/>
            <a:stCxn id="11" idx="1"/>
          </p:cNvCxnSpPr>
          <p:nvPr/>
        </p:nvCxnSpPr>
        <p:spPr>
          <a:xfrm flipH="1">
            <a:off x="1233433" y="1344247"/>
            <a:ext cx="494882" cy="908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D15934E-5B88-11F4-55E4-ADEB3EAEBD7E}"/>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pic>
        <p:nvPicPr>
          <p:cNvPr id="15" name="Picture 14">
            <a:extLst>
              <a:ext uri="{FF2B5EF4-FFF2-40B4-BE49-F238E27FC236}">
                <a16:creationId xmlns:a16="http://schemas.microsoft.com/office/drawing/2014/main" id="{E4DAA156-2DE0-4C8A-2596-188A5131595C}"/>
              </a:ext>
            </a:extLst>
          </p:cNvPr>
          <p:cNvPicPr>
            <a:picLocks noChangeAspect="1"/>
          </p:cNvPicPr>
          <p:nvPr/>
        </p:nvPicPr>
        <p:blipFill>
          <a:blip r:embed="rId3"/>
          <a:stretch>
            <a:fillRect/>
          </a:stretch>
        </p:blipFill>
        <p:spPr>
          <a:xfrm>
            <a:off x="3205424" y="1036835"/>
            <a:ext cx="1214174" cy="1220011"/>
          </a:xfrm>
          <a:prstGeom prst="rect">
            <a:avLst/>
          </a:prstGeom>
        </p:spPr>
      </p:pic>
    </p:spTree>
    <p:extLst>
      <p:ext uri="{BB962C8B-B14F-4D97-AF65-F5344CB8AC3E}">
        <p14:creationId xmlns:p14="http://schemas.microsoft.com/office/powerpoint/2010/main" val="618826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6AE15F-E2A4-210D-25E7-13B2BDCDAEC4}"/>
              </a:ext>
            </a:extLst>
          </p:cNvPr>
          <p:cNvSpPr txBox="1"/>
          <p:nvPr/>
        </p:nvSpPr>
        <p:spPr>
          <a:xfrm>
            <a:off x="444639" y="804365"/>
            <a:ext cx="3682721" cy="1003031"/>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Can a student pilot fly in Class B airspace?</a:t>
            </a:r>
          </a:p>
          <a:p>
            <a:pPr marL="0" marR="0" algn="ctr">
              <a:lnSpc>
                <a:spcPct val="107000"/>
              </a:lnSpc>
              <a:spcBef>
                <a:spcPts val="0"/>
              </a:spcBef>
              <a:spcAft>
                <a:spcPts val="0"/>
              </a:spcAft>
            </a:pPr>
            <a:endParaRPr 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must they receive first?</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61.95(a)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0559AF8-2F8D-E04D-8CC4-D21D48107A3B}"/>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Rectangle 1">
            <a:extLst>
              <a:ext uri="{FF2B5EF4-FFF2-40B4-BE49-F238E27FC236}">
                <a16:creationId xmlns:a16="http://schemas.microsoft.com/office/drawing/2014/main" id="{DB50C248-CBA0-8BDB-2C8B-36D2E6EA299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80EF761-2160-524F-F86C-C08D92B1DEA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313E1F98-D8B2-371B-87A6-C2EC0EDBCBA8}"/>
              </a:ext>
            </a:extLst>
          </p:cNvPr>
          <p:cNvSpPr txBox="1"/>
          <p:nvPr/>
        </p:nvSpPr>
        <p:spPr>
          <a:xfrm>
            <a:off x="3255152" y="2108357"/>
            <a:ext cx="1219901" cy="233269"/>
          </a:xfrm>
          <a:prstGeom prst="rect">
            <a:avLst/>
          </a:prstGeom>
          <a:noFill/>
        </p:spPr>
        <p:txBody>
          <a:bodyPr wrap="square">
            <a:spAutoFit/>
          </a:bodyPr>
          <a:lstStyle/>
          <a:p>
            <a:pPr algn="r">
              <a:lnSpc>
                <a:spcPct val="107000"/>
              </a:lnSpc>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 ACS - PA.I.E.K1</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8333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447B36-3AF6-C102-EF24-0826A41FEE4C}"/>
              </a:ext>
            </a:extLst>
          </p:cNvPr>
          <p:cNvSpPr txBox="1"/>
          <p:nvPr/>
        </p:nvSpPr>
        <p:spPr>
          <a:xfrm>
            <a:off x="645090" y="722447"/>
            <a:ext cx="3281820" cy="1003031"/>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Yes.</a:t>
            </a:r>
          </a:p>
          <a:p>
            <a:pPr marL="0" marR="0">
              <a:lnSpc>
                <a:spcPct val="107000"/>
              </a:lnSpc>
              <a:spcBef>
                <a:spcPts val="0"/>
              </a:spcBef>
              <a:spcAft>
                <a:spcPts val="0"/>
              </a:spcAft>
            </a:pPr>
            <a:endParaRPr 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Training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for the specific Class B airspace and a logbook endorsement is required.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05FE2BD-F7AA-7F23-F1E7-152C2D373C04}"/>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Tree>
    <p:extLst>
      <p:ext uri="{BB962C8B-B14F-4D97-AF65-F5344CB8AC3E}">
        <p14:creationId xmlns:p14="http://schemas.microsoft.com/office/powerpoint/2010/main" val="1778121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0E5662-F9C5-D0DE-5B95-571F1E0EBE48}"/>
              </a:ext>
            </a:extLst>
          </p:cNvPr>
          <p:cNvSpPr txBox="1"/>
          <p:nvPr/>
        </p:nvSpPr>
        <p:spPr>
          <a:xfrm>
            <a:off x="694194" y="1002781"/>
            <a:ext cx="3183612" cy="73763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high does Class C airspace extend?</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050" dirty="0">
                <a:latin typeface="Times New Roman" panose="02020603050405020304" pitchFamily="18" charset="0"/>
                <a:ea typeface="Calibri" panose="020F0502020204030204" pitchFamily="34" charset="0"/>
                <a:cs typeface="Times New Roman" panose="02020603050405020304" pitchFamily="18" charset="0"/>
              </a:rPr>
              <a:t>PHAK Ch 15</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992191E-B783-473F-43FF-9694AC13EB56}"/>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Rectangle 1">
            <a:extLst>
              <a:ext uri="{FF2B5EF4-FFF2-40B4-BE49-F238E27FC236}">
                <a16:creationId xmlns:a16="http://schemas.microsoft.com/office/drawing/2014/main" id="{8C80C1E3-F5DF-998C-0A8B-7725311F3AA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CF93BDD-E84D-5A3B-E99B-52F1FA26815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07725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F07908-1A53-6741-A57B-86DEADF21A04}"/>
              </a:ext>
            </a:extLst>
          </p:cNvPr>
          <p:cNvSpPr txBox="1"/>
          <p:nvPr/>
        </p:nvSpPr>
        <p:spPr>
          <a:xfrm>
            <a:off x="979250" y="184108"/>
            <a:ext cx="2955143" cy="264560"/>
          </a:xfrm>
          <a:prstGeom prst="rect">
            <a:avLst/>
          </a:prstGeom>
          <a:noFill/>
        </p:spPr>
        <p:txBody>
          <a:bodyPr wrap="square">
            <a:spAutoFit/>
          </a:bodyPr>
          <a:lstStyle/>
          <a:p>
            <a:pPr marL="0" marR="0" algn="ctr">
              <a:lnSpc>
                <a:spcPct val="107000"/>
              </a:lnSpc>
              <a:spcBef>
                <a:spcPts val="0"/>
              </a:spcBef>
              <a:spcAft>
                <a:spcPts val="0"/>
              </a:spcAft>
            </a:pP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Typically, 4,000 feet AGL and charted in MSL.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C396077-9922-8E26-11BC-219CC9EDA930}"/>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pic>
        <p:nvPicPr>
          <p:cNvPr id="5" name="Picture 4">
            <a:extLst>
              <a:ext uri="{FF2B5EF4-FFF2-40B4-BE49-F238E27FC236}">
                <a16:creationId xmlns:a16="http://schemas.microsoft.com/office/drawing/2014/main" id="{D185F29E-38D9-3C67-A16B-15E5BBF1A7DF}"/>
              </a:ext>
            </a:extLst>
          </p:cNvPr>
          <p:cNvPicPr>
            <a:picLocks noChangeAspect="1"/>
          </p:cNvPicPr>
          <p:nvPr/>
        </p:nvPicPr>
        <p:blipFill rotWithShape="1">
          <a:blip r:embed="rId2"/>
          <a:srcRect l="4596" t="5231" r="6918" b="2907"/>
          <a:stretch/>
        </p:blipFill>
        <p:spPr>
          <a:xfrm>
            <a:off x="307484" y="703385"/>
            <a:ext cx="1542422" cy="1477107"/>
          </a:xfrm>
          <a:prstGeom prst="rect">
            <a:avLst/>
          </a:prstGeom>
        </p:spPr>
      </p:pic>
      <p:sp>
        <p:nvSpPr>
          <p:cNvPr id="6" name="TextBox 5">
            <a:extLst>
              <a:ext uri="{FF2B5EF4-FFF2-40B4-BE49-F238E27FC236}">
                <a16:creationId xmlns:a16="http://schemas.microsoft.com/office/drawing/2014/main" id="{E943344E-37C8-A317-6EC2-FB4376FAC53B}"/>
              </a:ext>
            </a:extLst>
          </p:cNvPr>
          <p:cNvSpPr txBox="1"/>
          <p:nvPr/>
        </p:nvSpPr>
        <p:spPr>
          <a:xfrm>
            <a:off x="2088554" y="611298"/>
            <a:ext cx="2414609" cy="264560"/>
          </a:xfrm>
          <a:prstGeom prst="rect">
            <a:avLst/>
          </a:prstGeom>
          <a:noFill/>
        </p:spPr>
        <p:txBody>
          <a:bodyPr wrap="square">
            <a:spAutoFit/>
          </a:bodyPr>
          <a:lstStyle/>
          <a:p>
            <a:pPr marL="0" marR="0" algn="r">
              <a:lnSpc>
                <a:spcPct val="107000"/>
              </a:lnSpc>
              <a:spcBef>
                <a:spcPts val="0"/>
              </a:spcBef>
              <a:spcAft>
                <a:spcPts val="0"/>
              </a:spcAft>
            </a:pP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KTOL Class C goes up to 4,700 MSL</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489517BA-CEB3-3E64-E923-7C399BAEA91D}"/>
              </a:ext>
            </a:extLst>
          </p:cNvPr>
          <p:cNvCxnSpPr>
            <a:cxnSpLocks/>
          </p:cNvCxnSpPr>
          <p:nvPr/>
        </p:nvCxnSpPr>
        <p:spPr>
          <a:xfrm flipH="1">
            <a:off x="1291213" y="792303"/>
            <a:ext cx="1029709" cy="4185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9A47DF6-3F18-5897-A454-82D206028FB1}"/>
              </a:ext>
            </a:extLst>
          </p:cNvPr>
          <p:cNvSpPr txBox="1"/>
          <p:nvPr/>
        </p:nvSpPr>
        <p:spPr>
          <a:xfrm>
            <a:off x="2088554" y="1001564"/>
            <a:ext cx="2414609" cy="264560"/>
          </a:xfrm>
          <a:prstGeom prst="rect">
            <a:avLst/>
          </a:prstGeom>
          <a:noFill/>
        </p:spPr>
        <p:txBody>
          <a:bodyPr wrap="square">
            <a:spAutoFit/>
          </a:bodyPr>
          <a:lstStyle/>
          <a:p>
            <a:pPr marL="0" marR="0" algn="r">
              <a:lnSpc>
                <a:spcPct val="107000"/>
              </a:lnSpc>
              <a:spcBef>
                <a:spcPts val="0"/>
              </a:spcBef>
              <a:spcAft>
                <a:spcPts val="0"/>
              </a:spcAft>
            </a:pP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KTOL field elevation is 684 MSL </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B698ED6B-D1B6-DC48-5486-DB112FA63279}"/>
              </a:ext>
            </a:extLst>
          </p:cNvPr>
          <p:cNvCxnSpPr>
            <a:cxnSpLocks/>
          </p:cNvCxnSpPr>
          <p:nvPr/>
        </p:nvCxnSpPr>
        <p:spPr>
          <a:xfrm flipH="1">
            <a:off x="1150536" y="1175657"/>
            <a:ext cx="1306286" cy="51068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AB7449DB-E59F-B74E-8842-77C6E0FF3DC1}"/>
              </a:ext>
            </a:extLst>
          </p:cNvPr>
          <p:cNvGrpSpPr/>
          <p:nvPr/>
        </p:nvGrpSpPr>
        <p:grpSpPr>
          <a:xfrm>
            <a:off x="2990275" y="1266124"/>
            <a:ext cx="760152" cy="627736"/>
            <a:chOff x="3411415" y="1380921"/>
            <a:chExt cx="760152" cy="627736"/>
          </a:xfrm>
        </p:grpSpPr>
        <p:sp>
          <p:nvSpPr>
            <p:cNvPr id="13" name="TextBox 12">
              <a:extLst>
                <a:ext uri="{FF2B5EF4-FFF2-40B4-BE49-F238E27FC236}">
                  <a16:creationId xmlns:a16="http://schemas.microsoft.com/office/drawing/2014/main" id="{72EC9986-13EE-DD1F-6A71-D07226058A6D}"/>
                </a:ext>
              </a:extLst>
            </p:cNvPr>
            <p:cNvSpPr txBox="1"/>
            <p:nvPr/>
          </p:nvSpPr>
          <p:spPr>
            <a:xfrm>
              <a:off x="3411415" y="1380921"/>
              <a:ext cx="760152" cy="627736"/>
            </a:xfrm>
            <a:prstGeom prst="rect">
              <a:avLst/>
            </a:prstGeom>
            <a:noFill/>
          </p:spPr>
          <p:txBody>
            <a:bodyPr wrap="square">
              <a:spAutoFit/>
            </a:bodyPr>
            <a:lstStyle/>
            <a:p>
              <a:pPr marL="0" marR="0" algn="r">
                <a:lnSpc>
                  <a:spcPct val="107000"/>
                </a:lnSpc>
                <a:spcBef>
                  <a:spcPts val="0"/>
                </a:spcBef>
                <a:spcAft>
                  <a:spcPts val="0"/>
                </a:spcAft>
              </a:pP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4,700</a:t>
              </a:r>
            </a:p>
            <a:p>
              <a:pPr marL="0" marR="0" algn="r">
                <a:lnSpc>
                  <a:spcPct val="107000"/>
                </a:lnSpc>
                <a:spcBef>
                  <a:spcPts val="0"/>
                </a:spcBef>
                <a:spcAft>
                  <a:spcPts val="0"/>
                </a:spcAft>
              </a:pPr>
              <a:r>
                <a:rPr lang="en-US" sz="1100" dirty="0">
                  <a:latin typeface="Times New Roman" panose="02020603050405020304" pitchFamily="18" charset="0"/>
                  <a:ea typeface="Calibri" panose="020F0502020204030204" pitchFamily="34" charset="0"/>
                  <a:cs typeface="Times New Roman" panose="02020603050405020304" pitchFamily="18" charset="0"/>
                </a:rPr>
                <a:t>-  684</a:t>
              </a:r>
            </a:p>
            <a:p>
              <a:pPr marL="0" marR="0" algn="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4,016</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81CD45AB-BFA9-0DEE-2498-D26C3B9F96BD}"/>
                </a:ext>
              </a:extLst>
            </p:cNvPr>
            <p:cNvCxnSpPr/>
            <p:nvPr/>
          </p:nvCxnSpPr>
          <p:spPr>
            <a:xfrm>
              <a:off x="3702817" y="1778558"/>
              <a:ext cx="3969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3A0EDBA8-42F1-0954-EECD-550F0B5FA31A}"/>
              </a:ext>
            </a:extLst>
          </p:cNvPr>
          <p:cNvSpPr txBox="1"/>
          <p:nvPr/>
        </p:nvSpPr>
        <p:spPr>
          <a:xfrm>
            <a:off x="3281677" y="2108357"/>
            <a:ext cx="1219901" cy="233269"/>
          </a:xfrm>
          <a:prstGeom prst="rect">
            <a:avLst/>
          </a:prstGeom>
          <a:noFill/>
        </p:spPr>
        <p:txBody>
          <a:bodyPr wrap="square">
            <a:spAutoFit/>
          </a:bodyPr>
          <a:lstStyle/>
          <a:p>
            <a:pPr algn="r">
              <a:lnSpc>
                <a:spcPct val="107000"/>
              </a:lnSpc>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 ACS - PA.I.E.K1</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705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0E5662-F9C5-D0DE-5B95-571F1E0EBE48}"/>
              </a:ext>
            </a:extLst>
          </p:cNvPr>
          <p:cNvSpPr txBox="1"/>
          <p:nvPr/>
        </p:nvSpPr>
        <p:spPr>
          <a:xfrm>
            <a:off x="392314" y="870084"/>
            <a:ext cx="3787371" cy="1003031"/>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high does Class D airspace typically extend?</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How wide is Class D airspace?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AIM 3-2-5 (a)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992191E-B783-473F-43FF-9694AC13EB56}"/>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Rectangle 1">
            <a:extLst>
              <a:ext uri="{FF2B5EF4-FFF2-40B4-BE49-F238E27FC236}">
                <a16:creationId xmlns:a16="http://schemas.microsoft.com/office/drawing/2014/main" id="{4FFC6EAB-96F9-591E-DD98-E0664A9C750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FE5A59F-5D79-F62B-E77D-D0EA06C50E0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22084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396077-9922-8E26-11BC-219CC9EDA930}"/>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grpSp>
        <p:nvGrpSpPr>
          <p:cNvPr id="73" name="Group 72">
            <a:extLst>
              <a:ext uri="{FF2B5EF4-FFF2-40B4-BE49-F238E27FC236}">
                <a16:creationId xmlns:a16="http://schemas.microsoft.com/office/drawing/2014/main" id="{C67D9E52-1A97-B1DB-1947-742326D8ED73}"/>
              </a:ext>
            </a:extLst>
          </p:cNvPr>
          <p:cNvGrpSpPr/>
          <p:nvPr/>
        </p:nvGrpSpPr>
        <p:grpSpPr>
          <a:xfrm>
            <a:off x="349281" y="1401278"/>
            <a:ext cx="3978219" cy="960656"/>
            <a:chOff x="289382" y="820229"/>
            <a:chExt cx="3993235" cy="964282"/>
          </a:xfrm>
        </p:grpSpPr>
        <p:sp>
          <p:nvSpPr>
            <p:cNvPr id="32" name="Parallelogram 31">
              <a:extLst>
                <a:ext uri="{FF2B5EF4-FFF2-40B4-BE49-F238E27FC236}">
                  <a16:creationId xmlns:a16="http://schemas.microsoft.com/office/drawing/2014/main" id="{486B8F8B-2A7F-C6C6-4119-E6CB0501102C}"/>
                </a:ext>
              </a:extLst>
            </p:cNvPr>
            <p:cNvSpPr/>
            <p:nvPr/>
          </p:nvSpPr>
          <p:spPr>
            <a:xfrm>
              <a:off x="289382" y="1294878"/>
              <a:ext cx="3993235" cy="489633"/>
            </a:xfrm>
            <a:prstGeom prst="parallelogram">
              <a:avLst>
                <a:gd name="adj" fmla="val 182143"/>
              </a:avLst>
            </a:prstGeom>
            <a:solidFill>
              <a:srgbClr val="92D05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a:extLst>
                <a:ext uri="{FF2B5EF4-FFF2-40B4-BE49-F238E27FC236}">
                  <a16:creationId xmlns:a16="http://schemas.microsoft.com/office/drawing/2014/main" id="{501FFB51-2FC8-1C2B-EF0E-789BE12A2AE5}"/>
                </a:ext>
              </a:extLst>
            </p:cNvPr>
            <p:cNvCxnSpPr>
              <a:cxnSpLocks/>
            </p:cNvCxnSpPr>
            <p:nvPr/>
          </p:nvCxnSpPr>
          <p:spPr>
            <a:xfrm>
              <a:off x="1116080" y="1441672"/>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989C357-F774-4A75-5348-90408935C175}"/>
                </a:ext>
              </a:extLst>
            </p:cNvPr>
            <p:cNvCxnSpPr>
              <a:cxnSpLocks/>
            </p:cNvCxnSpPr>
            <p:nvPr/>
          </p:nvCxnSpPr>
          <p:spPr>
            <a:xfrm>
              <a:off x="1243965" y="1324084"/>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0184A46-2869-3A00-D746-B2A4AA077554}"/>
                </a:ext>
              </a:extLst>
            </p:cNvPr>
            <p:cNvCxnSpPr>
              <a:cxnSpLocks/>
            </p:cNvCxnSpPr>
            <p:nvPr/>
          </p:nvCxnSpPr>
          <p:spPr>
            <a:xfrm>
              <a:off x="1389447" y="1324084"/>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22CBC5-86B7-FC62-AFA0-458CEAF608EB}"/>
                </a:ext>
              </a:extLst>
            </p:cNvPr>
            <p:cNvCxnSpPr>
              <a:cxnSpLocks/>
            </p:cNvCxnSpPr>
            <p:nvPr/>
          </p:nvCxnSpPr>
          <p:spPr>
            <a:xfrm>
              <a:off x="1554995" y="1324084"/>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357927-C41E-3E00-322C-9C07922BFF5A}"/>
                </a:ext>
              </a:extLst>
            </p:cNvPr>
            <p:cNvCxnSpPr>
              <a:cxnSpLocks/>
            </p:cNvCxnSpPr>
            <p:nvPr/>
          </p:nvCxnSpPr>
          <p:spPr>
            <a:xfrm>
              <a:off x="841990" y="1531513"/>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Isosceles Triangle 37">
              <a:extLst>
                <a:ext uri="{FF2B5EF4-FFF2-40B4-BE49-F238E27FC236}">
                  <a16:creationId xmlns:a16="http://schemas.microsoft.com/office/drawing/2014/main" id="{419E2751-4727-BCE5-EC10-5C2D4D0B0DBD}"/>
                </a:ext>
              </a:extLst>
            </p:cNvPr>
            <p:cNvSpPr/>
            <p:nvPr/>
          </p:nvSpPr>
          <p:spPr>
            <a:xfrm>
              <a:off x="798512" y="1456384"/>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9" name="Straight Connector 38">
              <a:extLst>
                <a:ext uri="{FF2B5EF4-FFF2-40B4-BE49-F238E27FC236}">
                  <a16:creationId xmlns:a16="http://schemas.microsoft.com/office/drawing/2014/main" id="{47D4BA7E-0F8B-B2E9-36E3-33444A711354}"/>
                </a:ext>
              </a:extLst>
            </p:cNvPr>
            <p:cNvCxnSpPr>
              <a:cxnSpLocks/>
            </p:cNvCxnSpPr>
            <p:nvPr/>
          </p:nvCxnSpPr>
          <p:spPr>
            <a:xfrm>
              <a:off x="1007537" y="1531513"/>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Isosceles Triangle 39">
              <a:extLst>
                <a:ext uri="{FF2B5EF4-FFF2-40B4-BE49-F238E27FC236}">
                  <a16:creationId xmlns:a16="http://schemas.microsoft.com/office/drawing/2014/main" id="{A28E0BE6-7F15-D0F4-56CF-E0C8D2DB8053}"/>
                </a:ext>
              </a:extLst>
            </p:cNvPr>
            <p:cNvSpPr/>
            <p:nvPr/>
          </p:nvSpPr>
          <p:spPr>
            <a:xfrm>
              <a:off x="964060" y="1456384"/>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2967EE43-7F9B-0538-D51B-8AF698163FB0}"/>
                </a:ext>
              </a:extLst>
            </p:cNvPr>
            <p:cNvCxnSpPr>
              <a:cxnSpLocks/>
            </p:cNvCxnSpPr>
            <p:nvPr/>
          </p:nvCxnSpPr>
          <p:spPr>
            <a:xfrm>
              <a:off x="1153020" y="1531513"/>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Isosceles Triangle 41">
              <a:extLst>
                <a:ext uri="{FF2B5EF4-FFF2-40B4-BE49-F238E27FC236}">
                  <a16:creationId xmlns:a16="http://schemas.microsoft.com/office/drawing/2014/main" id="{506D694D-A1AD-07DA-27C0-A093488459A0}"/>
                </a:ext>
              </a:extLst>
            </p:cNvPr>
            <p:cNvSpPr/>
            <p:nvPr/>
          </p:nvSpPr>
          <p:spPr>
            <a:xfrm>
              <a:off x="1109543" y="1456384"/>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3761BB53-B48D-246B-AFE7-B26D5A5AC41E}"/>
                </a:ext>
              </a:extLst>
            </p:cNvPr>
            <p:cNvCxnSpPr>
              <a:cxnSpLocks/>
            </p:cNvCxnSpPr>
            <p:nvPr/>
          </p:nvCxnSpPr>
          <p:spPr>
            <a:xfrm>
              <a:off x="1318568" y="1531513"/>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Isosceles Triangle 43">
              <a:extLst>
                <a:ext uri="{FF2B5EF4-FFF2-40B4-BE49-F238E27FC236}">
                  <a16:creationId xmlns:a16="http://schemas.microsoft.com/office/drawing/2014/main" id="{E9D53162-D630-D6A9-2968-147A2735E02E}"/>
                </a:ext>
              </a:extLst>
            </p:cNvPr>
            <p:cNvSpPr/>
            <p:nvPr/>
          </p:nvSpPr>
          <p:spPr>
            <a:xfrm>
              <a:off x="1275092" y="1456384"/>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7" name="Group 46">
              <a:extLst>
                <a:ext uri="{FF2B5EF4-FFF2-40B4-BE49-F238E27FC236}">
                  <a16:creationId xmlns:a16="http://schemas.microsoft.com/office/drawing/2014/main" id="{35AA2088-5286-A378-8FEF-026C95889140}"/>
                </a:ext>
              </a:extLst>
            </p:cNvPr>
            <p:cNvGrpSpPr/>
            <p:nvPr/>
          </p:nvGrpSpPr>
          <p:grpSpPr>
            <a:xfrm>
              <a:off x="1378763" y="1528027"/>
              <a:ext cx="205682" cy="204660"/>
              <a:chOff x="2312132" y="5374489"/>
              <a:chExt cx="195263" cy="250821"/>
            </a:xfrm>
          </p:grpSpPr>
          <p:sp>
            <p:nvSpPr>
              <p:cNvPr id="69" name="Rectangle 68">
                <a:extLst>
                  <a:ext uri="{FF2B5EF4-FFF2-40B4-BE49-F238E27FC236}">
                    <a16:creationId xmlns:a16="http://schemas.microsoft.com/office/drawing/2014/main" id="{B6C21748-96E3-B04E-633B-8B8CBF461ED1}"/>
                  </a:ext>
                </a:extLst>
              </p:cNvPr>
              <p:cNvSpPr/>
              <p:nvPr/>
            </p:nvSpPr>
            <p:spPr>
              <a:xfrm>
                <a:off x="2340713" y="5487198"/>
                <a:ext cx="142875" cy="138112"/>
              </a:xfrm>
              <a:prstGeom prst="rect">
                <a:avLst/>
              </a:prstGeom>
              <a:solidFill>
                <a:srgbClr val="CC99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Isosceles Triangle 69">
                <a:extLst>
                  <a:ext uri="{FF2B5EF4-FFF2-40B4-BE49-F238E27FC236}">
                    <a16:creationId xmlns:a16="http://schemas.microsoft.com/office/drawing/2014/main" id="{AE10CEF5-748E-C429-F325-4C866602C64E}"/>
                  </a:ext>
                </a:extLst>
              </p:cNvPr>
              <p:cNvSpPr/>
              <p:nvPr/>
            </p:nvSpPr>
            <p:spPr>
              <a:xfrm>
                <a:off x="2312132" y="5374489"/>
                <a:ext cx="195263" cy="112712"/>
              </a:xfrm>
              <a:prstGeom prst="triangle">
                <a:avLst/>
              </a:prstGeom>
              <a:solidFill>
                <a:srgbClr val="CC99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8" name="Straight Connector 47">
              <a:extLst>
                <a:ext uri="{FF2B5EF4-FFF2-40B4-BE49-F238E27FC236}">
                  <a16:creationId xmlns:a16="http://schemas.microsoft.com/office/drawing/2014/main" id="{5324B291-D21E-82B6-452B-217DFA1213F5}"/>
                </a:ext>
              </a:extLst>
            </p:cNvPr>
            <p:cNvCxnSpPr>
              <a:cxnSpLocks/>
            </p:cNvCxnSpPr>
            <p:nvPr/>
          </p:nvCxnSpPr>
          <p:spPr>
            <a:xfrm>
              <a:off x="950531" y="1441672"/>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D1932D42-C997-8454-904E-5D077838C119}"/>
                </a:ext>
              </a:extLst>
            </p:cNvPr>
            <p:cNvSpPr/>
            <p:nvPr/>
          </p:nvSpPr>
          <p:spPr>
            <a:xfrm>
              <a:off x="907053" y="1366543"/>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Isosceles Triangle 49">
              <a:extLst>
                <a:ext uri="{FF2B5EF4-FFF2-40B4-BE49-F238E27FC236}">
                  <a16:creationId xmlns:a16="http://schemas.microsoft.com/office/drawing/2014/main" id="{B29FFD38-8893-A482-F4AD-B65679C836C7}"/>
                </a:ext>
              </a:extLst>
            </p:cNvPr>
            <p:cNvSpPr/>
            <p:nvPr/>
          </p:nvSpPr>
          <p:spPr>
            <a:xfrm>
              <a:off x="1072601" y="1366543"/>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Connector 50">
              <a:extLst>
                <a:ext uri="{FF2B5EF4-FFF2-40B4-BE49-F238E27FC236}">
                  <a16:creationId xmlns:a16="http://schemas.microsoft.com/office/drawing/2014/main" id="{B593E50F-21E3-BD91-06AC-C5BF716BBB73}"/>
                </a:ext>
              </a:extLst>
            </p:cNvPr>
            <p:cNvCxnSpPr>
              <a:cxnSpLocks/>
            </p:cNvCxnSpPr>
            <p:nvPr/>
          </p:nvCxnSpPr>
          <p:spPr>
            <a:xfrm>
              <a:off x="1261561" y="1441672"/>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Isosceles Triangle 51">
              <a:extLst>
                <a:ext uri="{FF2B5EF4-FFF2-40B4-BE49-F238E27FC236}">
                  <a16:creationId xmlns:a16="http://schemas.microsoft.com/office/drawing/2014/main" id="{BDB01360-40A2-80A0-17AD-11A8DD078728}"/>
                </a:ext>
              </a:extLst>
            </p:cNvPr>
            <p:cNvSpPr/>
            <p:nvPr/>
          </p:nvSpPr>
          <p:spPr>
            <a:xfrm>
              <a:off x="1218084" y="1366543"/>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Isosceles Triangle 53">
              <a:extLst>
                <a:ext uri="{FF2B5EF4-FFF2-40B4-BE49-F238E27FC236}">
                  <a16:creationId xmlns:a16="http://schemas.microsoft.com/office/drawing/2014/main" id="{7A69FEDC-3B26-0A65-4B6A-A5710A5F14BE}"/>
                </a:ext>
              </a:extLst>
            </p:cNvPr>
            <p:cNvSpPr/>
            <p:nvPr/>
          </p:nvSpPr>
          <p:spPr>
            <a:xfrm>
              <a:off x="1383632" y="1366543"/>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FD71742-DFB7-9B19-CD96-DB21963B4E9B}"/>
                </a:ext>
              </a:extLst>
            </p:cNvPr>
            <p:cNvCxnSpPr>
              <a:cxnSpLocks/>
            </p:cNvCxnSpPr>
            <p:nvPr/>
          </p:nvCxnSpPr>
          <p:spPr>
            <a:xfrm>
              <a:off x="1078417" y="1324084"/>
              <a:ext cx="0" cy="145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Isosceles Triangle 57">
              <a:extLst>
                <a:ext uri="{FF2B5EF4-FFF2-40B4-BE49-F238E27FC236}">
                  <a16:creationId xmlns:a16="http://schemas.microsoft.com/office/drawing/2014/main" id="{A0E894E2-F149-41B0-EC2B-29FC2F0FE2FF}"/>
                </a:ext>
              </a:extLst>
            </p:cNvPr>
            <p:cNvSpPr/>
            <p:nvPr/>
          </p:nvSpPr>
          <p:spPr>
            <a:xfrm>
              <a:off x="1034938" y="1248955"/>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Isosceles Triangle 58">
              <a:extLst>
                <a:ext uri="{FF2B5EF4-FFF2-40B4-BE49-F238E27FC236}">
                  <a16:creationId xmlns:a16="http://schemas.microsoft.com/office/drawing/2014/main" id="{F0A546EC-2CA8-3B09-5DEE-D1532460B459}"/>
                </a:ext>
              </a:extLst>
            </p:cNvPr>
            <p:cNvSpPr/>
            <p:nvPr/>
          </p:nvSpPr>
          <p:spPr>
            <a:xfrm>
              <a:off x="1200488" y="1248955"/>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Isosceles Triangle 59">
              <a:extLst>
                <a:ext uri="{FF2B5EF4-FFF2-40B4-BE49-F238E27FC236}">
                  <a16:creationId xmlns:a16="http://schemas.microsoft.com/office/drawing/2014/main" id="{1FB823BC-10D1-2CB8-3599-4149329592C0}"/>
                </a:ext>
              </a:extLst>
            </p:cNvPr>
            <p:cNvSpPr/>
            <p:nvPr/>
          </p:nvSpPr>
          <p:spPr>
            <a:xfrm>
              <a:off x="1345970" y="1248955"/>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Isosceles Triangle 60">
              <a:extLst>
                <a:ext uri="{FF2B5EF4-FFF2-40B4-BE49-F238E27FC236}">
                  <a16:creationId xmlns:a16="http://schemas.microsoft.com/office/drawing/2014/main" id="{B1B19936-B7E5-AF85-4C1E-E9C1B7FF09B1}"/>
                </a:ext>
              </a:extLst>
            </p:cNvPr>
            <p:cNvSpPr/>
            <p:nvPr/>
          </p:nvSpPr>
          <p:spPr>
            <a:xfrm>
              <a:off x="1511518" y="1248955"/>
              <a:ext cx="86955" cy="124351"/>
            </a:xfrm>
            <a:prstGeom prst="triangle">
              <a:avLst/>
            </a:prstGeom>
            <a:solidFill>
              <a:srgbClr val="00B050"/>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4" name="Group 63">
              <a:extLst>
                <a:ext uri="{FF2B5EF4-FFF2-40B4-BE49-F238E27FC236}">
                  <a16:creationId xmlns:a16="http://schemas.microsoft.com/office/drawing/2014/main" id="{B22E9547-A8E3-B12F-D1CF-A0781BC7C6AB}"/>
                </a:ext>
              </a:extLst>
            </p:cNvPr>
            <p:cNvGrpSpPr/>
            <p:nvPr/>
          </p:nvGrpSpPr>
          <p:grpSpPr>
            <a:xfrm>
              <a:off x="2512087" y="820229"/>
              <a:ext cx="1329126" cy="620923"/>
              <a:chOff x="4637322" y="2379804"/>
              <a:chExt cx="1261797" cy="760980"/>
            </a:xfrm>
          </p:grpSpPr>
          <p:sp>
            <p:nvSpPr>
              <p:cNvPr id="66" name="Freeform 35">
                <a:extLst>
                  <a:ext uri="{FF2B5EF4-FFF2-40B4-BE49-F238E27FC236}">
                    <a16:creationId xmlns:a16="http://schemas.microsoft.com/office/drawing/2014/main" id="{59A68215-CD9C-0885-870F-32C5748F014F}"/>
                  </a:ext>
                </a:extLst>
              </p:cNvPr>
              <p:cNvSpPr/>
              <p:nvPr/>
            </p:nvSpPr>
            <p:spPr>
              <a:xfrm>
                <a:off x="4637322" y="2379804"/>
                <a:ext cx="1261797" cy="760980"/>
              </a:xfrm>
              <a:custGeom>
                <a:avLst/>
                <a:gdLst>
                  <a:gd name="connsiteX0" fmla="*/ 0 w 1231900"/>
                  <a:gd name="connsiteY0" fmla="*/ 742950 h 742950"/>
                  <a:gd name="connsiteX1" fmla="*/ 304800 w 1231900"/>
                  <a:gd name="connsiteY1" fmla="*/ 647700 h 742950"/>
                  <a:gd name="connsiteX2" fmla="*/ 469900 w 1231900"/>
                  <a:gd name="connsiteY2" fmla="*/ 431800 h 742950"/>
                  <a:gd name="connsiteX3" fmla="*/ 603250 w 1231900"/>
                  <a:gd name="connsiteY3" fmla="*/ 177800 h 742950"/>
                  <a:gd name="connsiteX4" fmla="*/ 692150 w 1231900"/>
                  <a:gd name="connsiteY4" fmla="*/ 381000 h 742950"/>
                  <a:gd name="connsiteX5" fmla="*/ 806450 w 1231900"/>
                  <a:gd name="connsiteY5" fmla="*/ 0 h 742950"/>
                  <a:gd name="connsiteX6" fmla="*/ 889000 w 1231900"/>
                  <a:gd name="connsiteY6" fmla="*/ 285750 h 742950"/>
                  <a:gd name="connsiteX7" fmla="*/ 939800 w 1231900"/>
                  <a:gd name="connsiteY7" fmla="*/ 190500 h 742950"/>
                  <a:gd name="connsiteX8" fmla="*/ 1066800 w 1231900"/>
                  <a:gd name="connsiteY8" fmla="*/ 463550 h 742950"/>
                  <a:gd name="connsiteX9" fmla="*/ 1079500 w 1231900"/>
                  <a:gd name="connsiteY9" fmla="*/ 565150 h 742950"/>
                  <a:gd name="connsiteX10" fmla="*/ 1231900 w 1231900"/>
                  <a:gd name="connsiteY10" fmla="*/ 73660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1900" h="742950">
                    <a:moveTo>
                      <a:pt x="0" y="742950"/>
                    </a:moveTo>
                    <a:lnTo>
                      <a:pt x="304800" y="647700"/>
                    </a:lnTo>
                    <a:lnTo>
                      <a:pt x="469900" y="431800"/>
                    </a:lnTo>
                    <a:lnTo>
                      <a:pt x="603250" y="177800"/>
                    </a:lnTo>
                    <a:lnTo>
                      <a:pt x="692150" y="381000"/>
                    </a:lnTo>
                    <a:lnTo>
                      <a:pt x="806450" y="0"/>
                    </a:lnTo>
                    <a:lnTo>
                      <a:pt x="889000" y="285750"/>
                    </a:lnTo>
                    <a:lnTo>
                      <a:pt x="939800" y="190500"/>
                    </a:lnTo>
                    <a:lnTo>
                      <a:pt x="1066800" y="463550"/>
                    </a:lnTo>
                    <a:lnTo>
                      <a:pt x="1079500" y="565150"/>
                    </a:lnTo>
                    <a:lnTo>
                      <a:pt x="1231900" y="736600"/>
                    </a:lnTo>
                  </a:path>
                </a:pathLst>
              </a:custGeom>
              <a:solidFill>
                <a:schemeClr val="bg1">
                  <a:lumMod val="85000"/>
                </a:schemeClr>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75">
                <a:extLst>
                  <a:ext uri="{FF2B5EF4-FFF2-40B4-BE49-F238E27FC236}">
                    <a16:creationId xmlns:a16="http://schemas.microsoft.com/office/drawing/2014/main" id="{43C61A3D-3DA0-BBA1-A5AB-C905B112E3A2}"/>
                  </a:ext>
                </a:extLst>
              </p:cNvPr>
              <p:cNvSpPr/>
              <p:nvPr/>
            </p:nvSpPr>
            <p:spPr>
              <a:xfrm>
                <a:off x="5105761" y="2843345"/>
                <a:ext cx="247650" cy="247650"/>
              </a:xfrm>
              <a:custGeom>
                <a:avLst/>
                <a:gdLst>
                  <a:gd name="connsiteX0" fmla="*/ 0 w 247650"/>
                  <a:gd name="connsiteY0" fmla="*/ 247650 h 247650"/>
                  <a:gd name="connsiteX1" fmla="*/ 176212 w 247650"/>
                  <a:gd name="connsiteY1" fmla="*/ 0 h 247650"/>
                  <a:gd name="connsiteX2" fmla="*/ 247650 w 247650"/>
                  <a:gd name="connsiteY2" fmla="*/ 138113 h 247650"/>
                </a:gdLst>
                <a:ahLst/>
                <a:cxnLst>
                  <a:cxn ang="0">
                    <a:pos x="connsiteX0" y="connsiteY0"/>
                  </a:cxn>
                  <a:cxn ang="0">
                    <a:pos x="connsiteX1" y="connsiteY1"/>
                  </a:cxn>
                  <a:cxn ang="0">
                    <a:pos x="connsiteX2" y="connsiteY2"/>
                  </a:cxn>
                </a:cxnLst>
                <a:rect l="l" t="t" r="r" b="b"/>
                <a:pathLst>
                  <a:path w="247650" h="247650">
                    <a:moveTo>
                      <a:pt x="0" y="247650"/>
                    </a:moveTo>
                    <a:lnTo>
                      <a:pt x="176212" y="0"/>
                    </a:lnTo>
                    <a:lnTo>
                      <a:pt x="247650" y="138113"/>
                    </a:lnTo>
                  </a:path>
                </a:pathLst>
              </a:cu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Freeform 76">
                <a:extLst>
                  <a:ext uri="{FF2B5EF4-FFF2-40B4-BE49-F238E27FC236}">
                    <a16:creationId xmlns:a16="http://schemas.microsoft.com/office/drawing/2014/main" id="{7063AF4A-3A72-F20E-985A-BAA2EFFBE60E}"/>
                  </a:ext>
                </a:extLst>
              </p:cNvPr>
              <p:cNvSpPr/>
              <p:nvPr/>
            </p:nvSpPr>
            <p:spPr>
              <a:xfrm>
                <a:off x="5433605" y="2850489"/>
                <a:ext cx="285750" cy="233363"/>
              </a:xfrm>
              <a:custGeom>
                <a:avLst/>
                <a:gdLst>
                  <a:gd name="connsiteX0" fmla="*/ 0 w 285750"/>
                  <a:gd name="connsiteY0" fmla="*/ 171450 h 233363"/>
                  <a:gd name="connsiteX1" fmla="*/ 0 w 285750"/>
                  <a:gd name="connsiteY1" fmla="*/ 171450 h 233363"/>
                  <a:gd name="connsiteX2" fmla="*/ 133350 w 285750"/>
                  <a:gd name="connsiteY2" fmla="*/ 0 h 233363"/>
                  <a:gd name="connsiteX3" fmla="*/ 285750 w 285750"/>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285750" h="233363">
                    <a:moveTo>
                      <a:pt x="0" y="171450"/>
                    </a:moveTo>
                    <a:lnTo>
                      <a:pt x="0" y="171450"/>
                    </a:lnTo>
                    <a:lnTo>
                      <a:pt x="133350" y="0"/>
                    </a:lnTo>
                    <a:lnTo>
                      <a:pt x="285750" y="233363"/>
                    </a:lnTo>
                  </a:path>
                </a:pathLst>
              </a:cu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5" name="Freeform: Shape 64">
              <a:extLst>
                <a:ext uri="{FF2B5EF4-FFF2-40B4-BE49-F238E27FC236}">
                  <a16:creationId xmlns:a16="http://schemas.microsoft.com/office/drawing/2014/main" id="{05033EBF-273B-ABE9-A6D7-BB89E945F06F}"/>
                </a:ext>
              </a:extLst>
            </p:cNvPr>
            <p:cNvSpPr/>
            <p:nvPr/>
          </p:nvSpPr>
          <p:spPr>
            <a:xfrm>
              <a:off x="2435254" y="1551978"/>
              <a:ext cx="866873" cy="124354"/>
            </a:xfrm>
            <a:custGeom>
              <a:avLst/>
              <a:gdLst>
                <a:gd name="connsiteX0" fmla="*/ 396503 w 678443"/>
                <a:gd name="connsiteY0" fmla="*/ 0 h 167644"/>
                <a:gd name="connsiteX1" fmla="*/ 396503 w 678443"/>
                <a:gd name="connsiteY1" fmla="*/ 0 h 167644"/>
                <a:gd name="connsiteX2" fmla="*/ 145043 w 678443"/>
                <a:gd name="connsiteY2" fmla="*/ 15240 h 167644"/>
                <a:gd name="connsiteX3" fmla="*/ 114563 w 678443"/>
                <a:gd name="connsiteY3" fmla="*/ 45720 h 167644"/>
                <a:gd name="connsiteX4" fmla="*/ 129803 w 678443"/>
                <a:gd name="connsiteY4" fmla="*/ 91440 h 167644"/>
                <a:gd name="connsiteX5" fmla="*/ 114563 w 678443"/>
                <a:gd name="connsiteY5" fmla="*/ 114300 h 167644"/>
                <a:gd name="connsiteX6" fmla="*/ 84083 w 678443"/>
                <a:gd name="connsiteY6" fmla="*/ 121920 h 167644"/>
                <a:gd name="connsiteX7" fmla="*/ 15503 w 678443"/>
                <a:gd name="connsiteY7" fmla="*/ 137160 h 167644"/>
                <a:gd name="connsiteX8" fmla="*/ 263 w 678443"/>
                <a:gd name="connsiteY8" fmla="*/ 160020 h 167644"/>
                <a:gd name="connsiteX9" fmla="*/ 23123 w 678443"/>
                <a:gd name="connsiteY9" fmla="*/ 167640 h 167644"/>
                <a:gd name="connsiteX10" fmla="*/ 137423 w 678443"/>
                <a:gd name="connsiteY10" fmla="*/ 160020 h 167644"/>
                <a:gd name="connsiteX11" fmla="*/ 297443 w 678443"/>
                <a:gd name="connsiteY11" fmla="*/ 160020 h 167644"/>
                <a:gd name="connsiteX12" fmla="*/ 320303 w 678443"/>
                <a:gd name="connsiteY12" fmla="*/ 129540 h 167644"/>
                <a:gd name="connsiteX13" fmla="*/ 388883 w 678443"/>
                <a:gd name="connsiteY13" fmla="*/ 99060 h 167644"/>
                <a:gd name="connsiteX14" fmla="*/ 411743 w 678443"/>
                <a:gd name="connsiteY14" fmla="*/ 91440 h 167644"/>
                <a:gd name="connsiteX15" fmla="*/ 670823 w 678443"/>
                <a:gd name="connsiteY15" fmla="*/ 91440 h 167644"/>
                <a:gd name="connsiteX16" fmla="*/ 678443 w 678443"/>
                <a:gd name="connsiteY16" fmla="*/ 68580 h 167644"/>
                <a:gd name="connsiteX17" fmla="*/ 556523 w 678443"/>
                <a:gd name="connsiteY17" fmla="*/ 45720 h 167644"/>
                <a:gd name="connsiteX18" fmla="*/ 518423 w 678443"/>
                <a:gd name="connsiteY18" fmla="*/ 38100 h 167644"/>
                <a:gd name="connsiteX19" fmla="*/ 457463 w 678443"/>
                <a:gd name="connsiteY19" fmla="*/ 30480 h 167644"/>
                <a:gd name="connsiteX20" fmla="*/ 411743 w 678443"/>
                <a:gd name="connsiteY20" fmla="*/ 15240 h 167644"/>
                <a:gd name="connsiteX21" fmla="*/ 396503 w 678443"/>
                <a:gd name="connsiteY21" fmla="*/ 0 h 167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78443" h="167644">
                  <a:moveTo>
                    <a:pt x="396503" y="0"/>
                  </a:moveTo>
                  <a:lnTo>
                    <a:pt x="396503" y="0"/>
                  </a:lnTo>
                  <a:cubicBezTo>
                    <a:pt x="312683" y="5080"/>
                    <a:pt x="228727" y="8266"/>
                    <a:pt x="145043" y="15240"/>
                  </a:cubicBezTo>
                  <a:cubicBezTo>
                    <a:pt x="117176" y="17562"/>
                    <a:pt x="122110" y="23078"/>
                    <a:pt x="114563" y="45720"/>
                  </a:cubicBezTo>
                  <a:cubicBezTo>
                    <a:pt x="119643" y="60960"/>
                    <a:pt x="138714" y="78074"/>
                    <a:pt x="129803" y="91440"/>
                  </a:cubicBezTo>
                  <a:cubicBezTo>
                    <a:pt x="124723" y="99060"/>
                    <a:pt x="122183" y="109220"/>
                    <a:pt x="114563" y="114300"/>
                  </a:cubicBezTo>
                  <a:cubicBezTo>
                    <a:pt x="105849" y="120109"/>
                    <a:pt x="94287" y="119565"/>
                    <a:pt x="84083" y="121920"/>
                  </a:cubicBezTo>
                  <a:lnTo>
                    <a:pt x="15503" y="137160"/>
                  </a:lnTo>
                  <a:cubicBezTo>
                    <a:pt x="10423" y="144780"/>
                    <a:pt x="-1958" y="151135"/>
                    <a:pt x="263" y="160020"/>
                  </a:cubicBezTo>
                  <a:cubicBezTo>
                    <a:pt x="2211" y="167812"/>
                    <a:pt x="15091" y="167640"/>
                    <a:pt x="23123" y="167640"/>
                  </a:cubicBezTo>
                  <a:cubicBezTo>
                    <a:pt x="61308" y="167640"/>
                    <a:pt x="99323" y="162560"/>
                    <a:pt x="137423" y="160020"/>
                  </a:cubicBezTo>
                  <a:cubicBezTo>
                    <a:pt x="152062" y="161066"/>
                    <a:pt x="264206" y="176639"/>
                    <a:pt x="297443" y="160020"/>
                  </a:cubicBezTo>
                  <a:cubicBezTo>
                    <a:pt x="308802" y="154340"/>
                    <a:pt x="311323" y="138520"/>
                    <a:pt x="320303" y="129540"/>
                  </a:cubicBezTo>
                  <a:cubicBezTo>
                    <a:pt x="338416" y="111427"/>
                    <a:pt x="366247" y="106605"/>
                    <a:pt x="388883" y="99060"/>
                  </a:cubicBezTo>
                  <a:lnTo>
                    <a:pt x="411743" y="91440"/>
                  </a:lnTo>
                  <a:cubicBezTo>
                    <a:pt x="470050" y="94509"/>
                    <a:pt x="606757" y="107456"/>
                    <a:pt x="670823" y="91440"/>
                  </a:cubicBezTo>
                  <a:cubicBezTo>
                    <a:pt x="678615" y="89492"/>
                    <a:pt x="675903" y="76200"/>
                    <a:pt x="678443" y="68580"/>
                  </a:cubicBezTo>
                  <a:cubicBezTo>
                    <a:pt x="626186" y="33742"/>
                    <a:pt x="671372" y="58481"/>
                    <a:pt x="556523" y="45720"/>
                  </a:cubicBezTo>
                  <a:cubicBezTo>
                    <a:pt x="543651" y="44290"/>
                    <a:pt x="531224" y="40069"/>
                    <a:pt x="518423" y="38100"/>
                  </a:cubicBezTo>
                  <a:cubicBezTo>
                    <a:pt x="498183" y="34986"/>
                    <a:pt x="477783" y="33020"/>
                    <a:pt x="457463" y="30480"/>
                  </a:cubicBezTo>
                  <a:cubicBezTo>
                    <a:pt x="442223" y="25400"/>
                    <a:pt x="420654" y="28606"/>
                    <a:pt x="411743" y="15240"/>
                  </a:cubicBezTo>
                  <a:lnTo>
                    <a:pt x="396503" y="0"/>
                  </a:lnTo>
                  <a:close/>
                </a:path>
              </a:pathLst>
            </a:custGeom>
            <a:solidFill>
              <a:srgbClr val="00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2" name="Group 71">
            <a:extLst>
              <a:ext uri="{FF2B5EF4-FFF2-40B4-BE49-F238E27FC236}">
                <a16:creationId xmlns:a16="http://schemas.microsoft.com/office/drawing/2014/main" id="{729C893B-2660-DDF3-C6F2-415D57B2CC47}"/>
              </a:ext>
            </a:extLst>
          </p:cNvPr>
          <p:cNvGrpSpPr/>
          <p:nvPr/>
        </p:nvGrpSpPr>
        <p:grpSpPr>
          <a:xfrm>
            <a:off x="1677370" y="1075115"/>
            <a:ext cx="723481" cy="1083151"/>
            <a:chOff x="1354015" y="778747"/>
            <a:chExt cx="723481" cy="1083151"/>
          </a:xfrm>
        </p:grpSpPr>
        <p:sp>
          <p:nvSpPr>
            <p:cNvPr id="6" name="Cylinder 5">
              <a:extLst>
                <a:ext uri="{FF2B5EF4-FFF2-40B4-BE49-F238E27FC236}">
                  <a16:creationId xmlns:a16="http://schemas.microsoft.com/office/drawing/2014/main" id="{6266AE6A-D82F-9F89-D6E3-02533C50823E}"/>
                </a:ext>
              </a:extLst>
            </p:cNvPr>
            <p:cNvSpPr/>
            <p:nvPr/>
          </p:nvSpPr>
          <p:spPr>
            <a:xfrm>
              <a:off x="1354016" y="783771"/>
              <a:ext cx="723480" cy="1078127"/>
            </a:xfrm>
            <a:prstGeom prst="can">
              <a:avLst/>
            </a:prstGeom>
            <a:solidFill>
              <a:schemeClr val="bg2">
                <a:lumMod val="5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val 1">
              <a:extLst>
                <a:ext uri="{FF2B5EF4-FFF2-40B4-BE49-F238E27FC236}">
                  <a16:creationId xmlns:a16="http://schemas.microsoft.com/office/drawing/2014/main" id="{4144C1F1-8D3C-3C17-DDCC-EFE651A6B223}"/>
                </a:ext>
              </a:extLst>
            </p:cNvPr>
            <p:cNvSpPr/>
            <p:nvPr/>
          </p:nvSpPr>
          <p:spPr>
            <a:xfrm>
              <a:off x="1354015" y="778747"/>
              <a:ext cx="723479" cy="190918"/>
            </a:xfrm>
            <a:prstGeom prst="ellipse">
              <a:avLst/>
            </a:prstGeom>
            <a:solidFill>
              <a:schemeClr val="bg2">
                <a:lumMod val="7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DDF4FCEF-BBB1-D051-DD4F-9463C0FCBA43}"/>
                </a:ext>
              </a:extLst>
            </p:cNvPr>
            <p:cNvSpPr/>
            <p:nvPr/>
          </p:nvSpPr>
          <p:spPr>
            <a:xfrm>
              <a:off x="1354015" y="1670980"/>
              <a:ext cx="723479" cy="190918"/>
            </a:xfrm>
            <a:prstGeom prst="ellipse">
              <a:avLst/>
            </a:prstGeom>
            <a:solidFill>
              <a:schemeClr val="bg2">
                <a:lumMod val="7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56223EF9-948D-6481-BAB8-1559B1313ABA}"/>
                </a:ext>
              </a:extLst>
            </p:cNvPr>
            <p:cNvCxnSpPr/>
            <p:nvPr/>
          </p:nvCxnSpPr>
          <p:spPr>
            <a:xfrm flipV="1">
              <a:off x="1524873" y="1727479"/>
              <a:ext cx="292894"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057E66F-DDDF-753A-300C-5008D3E6DC59}"/>
                </a:ext>
              </a:extLst>
            </p:cNvPr>
            <p:cNvCxnSpPr/>
            <p:nvPr/>
          </p:nvCxnSpPr>
          <p:spPr>
            <a:xfrm flipV="1">
              <a:off x="1643936" y="1727479"/>
              <a:ext cx="292894"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CBA775-FE5F-6C87-5D26-0E04AFEFB748}"/>
                </a:ext>
              </a:extLst>
            </p:cNvPr>
            <p:cNvCxnSpPr/>
            <p:nvPr/>
          </p:nvCxnSpPr>
          <p:spPr>
            <a:xfrm>
              <a:off x="1605836" y="1744148"/>
              <a:ext cx="233362" cy="523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ight Brace 7">
            <a:extLst>
              <a:ext uri="{FF2B5EF4-FFF2-40B4-BE49-F238E27FC236}">
                <a16:creationId xmlns:a16="http://schemas.microsoft.com/office/drawing/2014/main" id="{F84BD070-C6EB-A484-5EA4-EF1CBDB2933B}"/>
              </a:ext>
            </a:extLst>
          </p:cNvPr>
          <p:cNvSpPr/>
          <p:nvPr/>
        </p:nvSpPr>
        <p:spPr>
          <a:xfrm rot="10800000" flipH="1">
            <a:off x="2431772" y="1154599"/>
            <a:ext cx="131937" cy="91482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260D63D5-FE6A-32E4-D466-7641F32C9923}"/>
              </a:ext>
            </a:extLst>
          </p:cNvPr>
          <p:cNvGrpSpPr/>
          <p:nvPr/>
        </p:nvGrpSpPr>
        <p:grpSpPr>
          <a:xfrm>
            <a:off x="3418319" y="1866316"/>
            <a:ext cx="156933" cy="337166"/>
            <a:chOff x="948980" y="1084243"/>
            <a:chExt cx="1004887" cy="2158973"/>
          </a:xfrm>
        </p:grpSpPr>
        <p:grpSp>
          <p:nvGrpSpPr>
            <p:cNvPr id="19" name="Group 18">
              <a:extLst>
                <a:ext uri="{FF2B5EF4-FFF2-40B4-BE49-F238E27FC236}">
                  <a16:creationId xmlns:a16="http://schemas.microsoft.com/office/drawing/2014/main" id="{74B4B681-26B5-D6B1-8F10-3AE56A11F38D}"/>
                </a:ext>
              </a:extLst>
            </p:cNvPr>
            <p:cNvGrpSpPr/>
            <p:nvPr/>
          </p:nvGrpSpPr>
          <p:grpSpPr>
            <a:xfrm>
              <a:off x="1053755" y="1084243"/>
              <a:ext cx="762000" cy="670128"/>
              <a:chOff x="4629150" y="2524581"/>
              <a:chExt cx="895350" cy="787400"/>
            </a:xfrm>
          </p:grpSpPr>
          <p:sp>
            <p:nvSpPr>
              <p:cNvPr id="25" name="Rectangle 24">
                <a:extLst>
                  <a:ext uri="{FF2B5EF4-FFF2-40B4-BE49-F238E27FC236}">
                    <a16:creationId xmlns:a16="http://schemas.microsoft.com/office/drawing/2014/main" id="{88053329-0CAA-7596-42FE-CE54FEE03993}"/>
                  </a:ext>
                </a:extLst>
              </p:cNvPr>
              <p:cNvSpPr/>
              <p:nvPr/>
            </p:nvSpPr>
            <p:spPr>
              <a:xfrm>
                <a:off x="4629150" y="2918281"/>
                <a:ext cx="895350" cy="393700"/>
              </a:xfrm>
              <a:prstGeom prst="rect">
                <a:avLst/>
              </a:prstGeom>
              <a:solidFill>
                <a:schemeClr val="tx2">
                  <a:lumMod val="40000"/>
                  <a:lumOff val="60000"/>
                </a:schemeClr>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A7B4A33-3A03-579B-70D4-0EF4EF9EB152}"/>
                  </a:ext>
                </a:extLst>
              </p:cNvPr>
              <p:cNvSpPr/>
              <p:nvPr/>
            </p:nvSpPr>
            <p:spPr>
              <a:xfrm>
                <a:off x="4629150" y="2524581"/>
                <a:ext cx="895350" cy="7874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Rectangle 19">
              <a:extLst>
                <a:ext uri="{FF2B5EF4-FFF2-40B4-BE49-F238E27FC236}">
                  <a16:creationId xmlns:a16="http://schemas.microsoft.com/office/drawing/2014/main" id="{F9AB386B-1AF5-079C-652F-55706C29B186}"/>
                </a:ext>
              </a:extLst>
            </p:cNvPr>
            <p:cNvSpPr/>
            <p:nvPr/>
          </p:nvSpPr>
          <p:spPr>
            <a:xfrm>
              <a:off x="1053755" y="1754371"/>
              <a:ext cx="762000" cy="81494"/>
            </a:xfrm>
            <a:prstGeom prst="rect">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0C953D36-3FEB-066E-49BD-2A10489E881A}"/>
                </a:ext>
              </a:extLst>
            </p:cNvPr>
            <p:cNvCxnSpPr/>
            <p:nvPr/>
          </p:nvCxnSpPr>
          <p:spPr>
            <a:xfrm flipH="1">
              <a:off x="948980" y="1795118"/>
              <a:ext cx="276225" cy="144809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C893536-37B6-3E74-D21A-79A38ED24248}"/>
                </a:ext>
              </a:extLst>
            </p:cNvPr>
            <p:cNvCxnSpPr/>
            <p:nvPr/>
          </p:nvCxnSpPr>
          <p:spPr>
            <a:xfrm>
              <a:off x="1677642" y="1795118"/>
              <a:ext cx="276225" cy="144809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reeform 22">
              <a:extLst>
                <a:ext uri="{FF2B5EF4-FFF2-40B4-BE49-F238E27FC236}">
                  <a16:creationId xmlns:a16="http://schemas.microsoft.com/office/drawing/2014/main" id="{AC965E8C-D208-507B-02C9-C1721672E073}"/>
                </a:ext>
              </a:extLst>
            </p:cNvPr>
            <p:cNvSpPr/>
            <p:nvPr/>
          </p:nvSpPr>
          <p:spPr>
            <a:xfrm>
              <a:off x="1072805" y="1862091"/>
              <a:ext cx="876300" cy="1352550"/>
            </a:xfrm>
            <a:custGeom>
              <a:avLst/>
              <a:gdLst>
                <a:gd name="connsiteX0" fmla="*/ 142875 w 876300"/>
                <a:gd name="connsiteY0" fmla="*/ 0 h 1352550"/>
                <a:gd name="connsiteX1" fmla="*/ 676275 w 876300"/>
                <a:gd name="connsiteY1" fmla="*/ 295275 h 1352550"/>
                <a:gd name="connsiteX2" fmla="*/ 0 w 876300"/>
                <a:gd name="connsiteY2" fmla="*/ 733425 h 1352550"/>
                <a:gd name="connsiteX3" fmla="*/ 876300 w 876300"/>
                <a:gd name="connsiteY3" fmla="*/ 1352550 h 1352550"/>
              </a:gdLst>
              <a:ahLst/>
              <a:cxnLst>
                <a:cxn ang="0">
                  <a:pos x="connsiteX0" y="connsiteY0"/>
                </a:cxn>
                <a:cxn ang="0">
                  <a:pos x="connsiteX1" y="connsiteY1"/>
                </a:cxn>
                <a:cxn ang="0">
                  <a:pos x="connsiteX2" y="connsiteY2"/>
                </a:cxn>
                <a:cxn ang="0">
                  <a:pos x="connsiteX3" y="connsiteY3"/>
                </a:cxn>
              </a:cxnLst>
              <a:rect l="l" t="t" r="r" b="b"/>
              <a:pathLst>
                <a:path w="876300" h="1352550">
                  <a:moveTo>
                    <a:pt x="142875" y="0"/>
                  </a:moveTo>
                  <a:lnTo>
                    <a:pt x="676275" y="295275"/>
                  </a:lnTo>
                  <a:lnTo>
                    <a:pt x="0" y="733425"/>
                  </a:lnTo>
                  <a:lnTo>
                    <a:pt x="876300" y="1352550"/>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35">
              <a:extLst>
                <a:ext uri="{FF2B5EF4-FFF2-40B4-BE49-F238E27FC236}">
                  <a16:creationId xmlns:a16="http://schemas.microsoft.com/office/drawing/2014/main" id="{B9CA762D-3A3D-F66A-2697-77E78524C449}"/>
                </a:ext>
              </a:extLst>
            </p:cNvPr>
            <p:cNvSpPr/>
            <p:nvPr/>
          </p:nvSpPr>
          <p:spPr>
            <a:xfrm flipH="1">
              <a:off x="968030" y="1862091"/>
              <a:ext cx="863600" cy="1352550"/>
            </a:xfrm>
            <a:custGeom>
              <a:avLst/>
              <a:gdLst>
                <a:gd name="connsiteX0" fmla="*/ 142875 w 876300"/>
                <a:gd name="connsiteY0" fmla="*/ 0 h 1352550"/>
                <a:gd name="connsiteX1" fmla="*/ 676275 w 876300"/>
                <a:gd name="connsiteY1" fmla="*/ 295275 h 1352550"/>
                <a:gd name="connsiteX2" fmla="*/ 0 w 876300"/>
                <a:gd name="connsiteY2" fmla="*/ 733425 h 1352550"/>
                <a:gd name="connsiteX3" fmla="*/ 876300 w 876300"/>
                <a:gd name="connsiteY3" fmla="*/ 1352550 h 1352550"/>
                <a:gd name="connsiteX0" fmla="*/ 130175 w 863600"/>
                <a:gd name="connsiteY0" fmla="*/ 0 h 1352550"/>
                <a:gd name="connsiteX1" fmla="*/ 663575 w 863600"/>
                <a:gd name="connsiteY1" fmla="*/ 295275 h 1352550"/>
                <a:gd name="connsiteX2" fmla="*/ 0 w 863600"/>
                <a:gd name="connsiteY2" fmla="*/ 736600 h 1352550"/>
                <a:gd name="connsiteX3" fmla="*/ 863600 w 863600"/>
                <a:gd name="connsiteY3" fmla="*/ 1352550 h 1352550"/>
              </a:gdLst>
              <a:ahLst/>
              <a:cxnLst>
                <a:cxn ang="0">
                  <a:pos x="connsiteX0" y="connsiteY0"/>
                </a:cxn>
                <a:cxn ang="0">
                  <a:pos x="connsiteX1" y="connsiteY1"/>
                </a:cxn>
                <a:cxn ang="0">
                  <a:pos x="connsiteX2" y="connsiteY2"/>
                </a:cxn>
                <a:cxn ang="0">
                  <a:pos x="connsiteX3" y="connsiteY3"/>
                </a:cxn>
              </a:cxnLst>
              <a:rect l="l" t="t" r="r" b="b"/>
              <a:pathLst>
                <a:path w="863600" h="1352550">
                  <a:moveTo>
                    <a:pt x="130175" y="0"/>
                  </a:moveTo>
                  <a:lnTo>
                    <a:pt x="663575" y="295275"/>
                  </a:lnTo>
                  <a:lnTo>
                    <a:pt x="0" y="736600"/>
                  </a:lnTo>
                  <a:lnTo>
                    <a:pt x="863600" y="1352550"/>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Right Brace 6">
            <a:extLst>
              <a:ext uri="{FF2B5EF4-FFF2-40B4-BE49-F238E27FC236}">
                <a16:creationId xmlns:a16="http://schemas.microsoft.com/office/drawing/2014/main" id="{ED49E84A-BAD6-60F6-3693-A2A15FAB2C0A}"/>
              </a:ext>
            </a:extLst>
          </p:cNvPr>
          <p:cNvSpPr/>
          <p:nvPr/>
        </p:nvSpPr>
        <p:spPr>
          <a:xfrm rot="16200000">
            <a:off x="2148586" y="783627"/>
            <a:ext cx="131937" cy="35497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TextBox 10">
            <a:extLst>
              <a:ext uri="{FF2B5EF4-FFF2-40B4-BE49-F238E27FC236}">
                <a16:creationId xmlns:a16="http://schemas.microsoft.com/office/drawing/2014/main" id="{1376401B-CC0B-6FF8-0E54-F7BCB6C9607D}"/>
              </a:ext>
            </a:extLst>
          </p:cNvPr>
          <p:cNvSpPr txBox="1"/>
          <p:nvPr/>
        </p:nvSpPr>
        <p:spPr>
          <a:xfrm>
            <a:off x="1566821" y="665918"/>
            <a:ext cx="1329865" cy="233269"/>
          </a:xfrm>
          <a:prstGeom prst="rect">
            <a:avLst/>
          </a:prstGeom>
          <a:noFill/>
        </p:spPr>
        <p:txBody>
          <a:bodyPr wrap="square">
            <a:spAutoFit/>
          </a:bodyPr>
          <a:lstStyle/>
          <a:p>
            <a:pPr algn="ctr">
              <a:lnSpc>
                <a:spcPct val="107000"/>
              </a:lnSpc>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4-5-mile radius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7" name="Picture 16">
            <a:extLst>
              <a:ext uri="{FF2B5EF4-FFF2-40B4-BE49-F238E27FC236}">
                <a16:creationId xmlns:a16="http://schemas.microsoft.com/office/drawing/2014/main" id="{98A9B727-407F-A2C3-289C-11A47211AC61}"/>
              </a:ext>
            </a:extLst>
          </p:cNvPr>
          <p:cNvPicPr>
            <a:picLocks noChangeAspect="1"/>
          </p:cNvPicPr>
          <p:nvPr/>
        </p:nvPicPr>
        <p:blipFill>
          <a:blip r:embed="rId2"/>
          <a:stretch>
            <a:fillRect/>
          </a:stretch>
        </p:blipFill>
        <p:spPr>
          <a:xfrm>
            <a:off x="3262698" y="90933"/>
            <a:ext cx="1225048" cy="1219214"/>
          </a:xfrm>
          <a:prstGeom prst="rect">
            <a:avLst/>
          </a:prstGeom>
        </p:spPr>
      </p:pic>
      <p:sp>
        <p:nvSpPr>
          <p:cNvPr id="13" name="TextBox 12">
            <a:extLst>
              <a:ext uri="{FF2B5EF4-FFF2-40B4-BE49-F238E27FC236}">
                <a16:creationId xmlns:a16="http://schemas.microsoft.com/office/drawing/2014/main" id="{55123534-25C9-BA6D-6CEA-E5BB5AB64A78}"/>
              </a:ext>
            </a:extLst>
          </p:cNvPr>
          <p:cNvSpPr txBox="1"/>
          <p:nvPr/>
        </p:nvSpPr>
        <p:spPr>
          <a:xfrm>
            <a:off x="159226" y="404067"/>
            <a:ext cx="1257404" cy="1418722"/>
          </a:xfrm>
          <a:prstGeom prst="rect">
            <a:avLst/>
          </a:prstGeom>
          <a:noFill/>
        </p:spPr>
        <p:txBody>
          <a:bodyPr wrap="square">
            <a:spAutoFit/>
          </a:bodyPr>
          <a:lstStyle/>
          <a:p>
            <a:pPr algn="just">
              <a:lnSpc>
                <a:spcPct val="107000"/>
              </a:lnSpc>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The actual radius may vary airport to airport based on geography, adjacent airspace, and operational needs. FAA Order JO 7400.11J lists the Class D airspace dimensions for each airport.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0CABE80A-ED36-71CE-E37E-4B3A6758B724}"/>
              </a:ext>
            </a:extLst>
          </p:cNvPr>
          <p:cNvSpPr txBox="1"/>
          <p:nvPr/>
        </p:nvSpPr>
        <p:spPr>
          <a:xfrm>
            <a:off x="2513081" y="1489017"/>
            <a:ext cx="957305" cy="233269"/>
          </a:xfrm>
          <a:prstGeom prst="rect">
            <a:avLst/>
          </a:prstGeom>
          <a:noFill/>
        </p:spPr>
        <p:txBody>
          <a:bodyPr wrap="square">
            <a:spAutoFit/>
          </a:bodyPr>
          <a:lstStyle/>
          <a:p>
            <a:pPr>
              <a:lnSpc>
                <a:spcPct val="107000"/>
              </a:lnSpc>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2,500 AGL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9304ED4E-1D2E-7D35-29E1-3A065CC4CAA5}"/>
              </a:ext>
            </a:extLst>
          </p:cNvPr>
          <p:cNvSpPr txBox="1"/>
          <p:nvPr/>
        </p:nvSpPr>
        <p:spPr>
          <a:xfrm>
            <a:off x="3281677" y="2108357"/>
            <a:ext cx="1219901" cy="233269"/>
          </a:xfrm>
          <a:prstGeom prst="rect">
            <a:avLst/>
          </a:prstGeom>
          <a:noFill/>
        </p:spPr>
        <p:txBody>
          <a:bodyPr wrap="square">
            <a:spAutoFit/>
          </a:bodyPr>
          <a:lstStyle/>
          <a:p>
            <a:pPr algn="r">
              <a:lnSpc>
                <a:spcPct val="107000"/>
              </a:lnSpc>
            </a:pPr>
            <a:r>
              <a:rPr lang="en-US" sz="900" dirty="0">
                <a:latin typeface="Times New Roman" panose="02020603050405020304" pitchFamily="18" charset="0"/>
                <a:ea typeface="Times New Roman" panose="02020603050405020304" pitchFamily="18" charset="0"/>
                <a:cs typeface="Times New Roman" panose="02020603050405020304" pitchFamily="18" charset="0"/>
              </a:rPr>
              <a:t> ACS - PA.I.E.K1–K2</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9330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5CFD11-6EFA-8089-DE33-A02DFEB2975A}"/>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101E0134-BAED-FEAA-C1CC-A0237846F47A}"/>
              </a:ext>
            </a:extLst>
          </p:cNvPr>
          <p:cNvSpPr txBox="1"/>
          <p:nvPr/>
        </p:nvSpPr>
        <p:spPr>
          <a:xfrm>
            <a:off x="425469" y="330116"/>
            <a:ext cx="3721062" cy="430887"/>
          </a:xfrm>
          <a:prstGeom prst="rect">
            <a:avLst/>
          </a:prstGeom>
          <a:noFill/>
        </p:spPr>
        <p:txBody>
          <a:bodyPr wrap="square">
            <a:spAutoFit/>
          </a:bodyPr>
          <a:lstStyle/>
          <a:p>
            <a:pPr algn="just"/>
            <a:r>
              <a:rPr lang="en-US" sz="1100" dirty="0">
                <a:latin typeface="Times New Roman" panose="02020603050405020304" pitchFamily="18" charset="0"/>
              </a:rPr>
              <a:t>You are planning a VFR cross country to KBTR, what equipment do you need to enter their airspace?</a:t>
            </a:r>
            <a:endParaRPr lang="en-US" sz="1100" dirty="0"/>
          </a:p>
        </p:txBody>
      </p:sp>
      <p:sp>
        <p:nvSpPr>
          <p:cNvPr id="3" name="Rectangle 2">
            <a:extLst>
              <a:ext uri="{FF2B5EF4-FFF2-40B4-BE49-F238E27FC236}">
                <a16:creationId xmlns:a16="http://schemas.microsoft.com/office/drawing/2014/main" id="{B0354122-55E9-A3BC-F3D3-9BE5668A788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DC9A48E-F7B3-B302-592F-3D17F773391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pic>
        <p:nvPicPr>
          <p:cNvPr id="7" name="Picture 6">
            <a:extLst>
              <a:ext uri="{FF2B5EF4-FFF2-40B4-BE49-F238E27FC236}">
                <a16:creationId xmlns:a16="http://schemas.microsoft.com/office/drawing/2014/main" id="{94B30C4B-6CE4-3943-E0DC-6F4C65CE19F0}"/>
              </a:ext>
            </a:extLst>
          </p:cNvPr>
          <p:cNvPicPr>
            <a:picLocks noChangeAspect="1"/>
          </p:cNvPicPr>
          <p:nvPr/>
        </p:nvPicPr>
        <p:blipFill>
          <a:blip r:embed="rId2"/>
          <a:stretch>
            <a:fillRect/>
          </a:stretch>
        </p:blipFill>
        <p:spPr>
          <a:xfrm>
            <a:off x="1300932" y="780053"/>
            <a:ext cx="1970136" cy="1590793"/>
          </a:xfrm>
          <a:prstGeom prst="rect">
            <a:avLst/>
          </a:prstGeom>
        </p:spPr>
      </p:pic>
    </p:spTree>
    <p:extLst>
      <p:ext uri="{BB962C8B-B14F-4D97-AF65-F5344CB8AC3E}">
        <p14:creationId xmlns:p14="http://schemas.microsoft.com/office/powerpoint/2010/main" val="2754719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5CFD11-6EFA-8089-DE33-A02DFEB2975A}"/>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8BEF8956-3DE1-9F5F-22BC-780D15689AC0}"/>
              </a:ext>
            </a:extLst>
          </p:cNvPr>
          <p:cNvSpPr txBox="1"/>
          <p:nvPr/>
        </p:nvSpPr>
        <p:spPr>
          <a:xfrm>
            <a:off x="331596" y="374052"/>
            <a:ext cx="3943978" cy="738664"/>
          </a:xfrm>
          <a:prstGeom prst="rect">
            <a:avLst/>
          </a:prstGeom>
          <a:noFill/>
        </p:spPr>
        <p:txBody>
          <a:bodyPr wrap="square">
            <a:spAutoFit/>
          </a:bodyPr>
          <a:lstStyle/>
          <a:p>
            <a:pPr algn="just"/>
            <a:r>
              <a:rPr lang="en-US" sz="1400" dirty="0">
                <a:latin typeface="Times New Roman" panose="02020603050405020304" pitchFamily="18" charset="0"/>
              </a:rPr>
              <a:t>After you review your sectional, you’ll find KBTR is Class C airspace so you need a transponder, ADS-B out, and a radio.</a:t>
            </a:r>
            <a:endParaRPr lang="en-US" sz="1400" dirty="0"/>
          </a:p>
        </p:txBody>
      </p:sp>
      <p:pic>
        <p:nvPicPr>
          <p:cNvPr id="6" name="Picture 5">
            <a:extLst>
              <a:ext uri="{FF2B5EF4-FFF2-40B4-BE49-F238E27FC236}">
                <a16:creationId xmlns:a16="http://schemas.microsoft.com/office/drawing/2014/main" id="{8479ABDE-D0F8-4B2A-C64C-01F55F9F56C4}"/>
              </a:ext>
            </a:extLst>
          </p:cNvPr>
          <p:cNvPicPr>
            <a:picLocks noChangeAspect="1"/>
          </p:cNvPicPr>
          <p:nvPr/>
        </p:nvPicPr>
        <p:blipFill>
          <a:blip r:embed="rId2"/>
          <a:stretch>
            <a:fillRect/>
          </a:stretch>
        </p:blipFill>
        <p:spPr>
          <a:xfrm>
            <a:off x="1664491" y="1175658"/>
            <a:ext cx="1243017" cy="1260859"/>
          </a:xfrm>
          <a:prstGeom prst="rect">
            <a:avLst/>
          </a:prstGeom>
        </p:spPr>
      </p:pic>
    </p:spTree>
    <p:extLst>
      <p:ext uri="{BB962C8B-B14F-4D97-AF65-F5344CB8AC3E}">
        <p14:creationId xmlns:p14="http://schemas.microsoft.com/office/powerpoint/2010/main" val="2064676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FCBAD2-305E-1A5A-6312-3BF40D2C7819}"/>
              </a:ext>
            </a:extLst>
          </p:cNvPr>
          <p:cNvSpPr txBox="1"/>
          <p:nvPr/>
        </p:nvSpPr>
        <p:spPr>
          <a:xfrm>
            <a:off x="282427" y="911833"/>
            <a:ext cx="4007145" cy="738664"/>
          </a:xfrm>
          <a:prstGeom prst="rect">
            <a:avLst/>
          </a:prstGeom>
          <a:noFill/>
        </p:spPr>
        <p:txBody>
          <a:bodyPr wrap="square">
            <a:spAutoFit/>
          </a:bodyPr>
          <a:lstStyle/>
          <a:p>
            <a:pPr algn="ctr"/>
            <a:r>
              <a:rPr lang="en-US" sz="1400" dirty="0">
                <a:latin typeface="Times New Roman" panose="02020603050405020304" pitchFamily="18" charset="0"/>
              </a:rPr>
              <a:t>Class A airspace exists to what altitude?</a:t>
            </a:r>
          </a:p>
          <a:p>
            <a:pPr algn="ctr"/>
            <a:endParaRPr lang="en-US" sz="1400" dirty="0">
              <a:latin typeface="Times New Roman" panose="02020603050405020304" pitchFamily="18" charset="0"/>
            </a:endParaRPr>
          </a:p>
          <a:p>
            <a:pPr algn="ctr"/>
            <a:r>
              <a:rPr lang="en-US" sz="1400" dirty="0">
                <a:latin typeface="Times New Roman" panose="02020603050405020304" pitchFamily="18" charset="0"/>
              </a:rPr>
              <a:t>What class airspace is above Class A airspace?</a:t>
            </a:r>
          </a:p>
        </p:txBody>
      </p:sp>
      <p:sp>
        <p:nvSpPr>
          <p:cNvPr id="3" name="TextBox 2">
            <a:extLst>
              <a:ext uri="{FF2B5EF4-FFF2-40B4-BE49-F238E27FC236}">
                <a16:creationId xmlns:a16="http://schemas.microsoft.com/office/drawing/2014/main" id="{D6D764B4-FAA4-2587-28BC-FF622874DBC5}"/>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4" name="Rectangle 3">
            <a:extLst>
              <a:ext uri="{FF2B5EF4-FFF2-40B4-BE49-F238E27FC236}">
                <a16:creationId xmlns:a16="http://schemas.microsoft.com/office/drawing/2014/main" id="{338CA3D4-B049-EEC5-2455-85F893C7F4C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9531A9F-6915-7FE9-4A2D-72C2D274640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77774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6C6229-34EA-FBA6-F3A1-EB8910AF3BCE}"/>
              </a:ext>
            </a:extLst>
          </p:cNvPr>
          <p:cNvSpPr txBox="1"/>
          <p:nvPr/>
        </p:nvSpPr>
        <p:spPr>
          <a:xfrm>
            <a:off x="189731" y="819834"/>
            <a:ext cx="4192538" cy="738664"/>
          </a:xfrm>
          <a:prstGeom prst="rect">
            <a:avLst/>
          </a:prstGeom>
          <a:noFill/>
        </p:spPr>
        <p:txBody>
          <a:bodyPr wrap="square">
            <a:spAutoFit/>
          </a:bodyPr>
          <a:lstStyle/>
          <a:p>
            <a:pPr algn="ctr"/>
            <a:r>
              <a:rPr lang="en-US" sz="1400" dirty="0">
                <a:latin typeface="Times New Roman" panose="02020603050405020304" pitchFamily="18" charset="0"/>
              </a:rPr>
              <a:t>Class A airspace extends from 18,000 MSL to FL600.</a:t>
            </a:r>
          </a:p>
          <a:p>
            <a:pPr algn="ctr"/>
            <a:endParaRPr lang="en-US" sz="1400" dirty="0">
              <a:latin typeface="Times New Roman" panose="02020603050405020304" pitchFamily="18" charset="0"/>
            </a:endParaRPr>
          </a:p>
          <a:p>
            <a:pPr algn="ctr"/>
            <a:r>
              <a:rPr lang="en-US" sz="1400" dirty="0">
                <a:latin typeface="Times New Roman" panose="02020603050405020304" pitchFamily="18" charset="0"/>
              </a:rPr>
              <a:t>Above FL600, the airspace becomes Class E.</a:t>
            </a:r>
          </a:p>
        </p:txBody>
      </p:sp>
      <p:sp>
        <p:nvSpPr>
          <p:cNvPr id="3" name="TextBox 2">
            <a:extLst>
              <a:ext uri="{FF2B5EF4-FFF2-40B4-BE49-F238E27FC236}">
                <a16:creationId xmlns:a16="http://schemas.microsoft.com/office/drawing/2014/main" id="{58C8864F-634F-1600-974B-8AD57A54969B}"/>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Tree>
    <p:extLst>
      <p:ext uri="{BB962C8B-B14F-4D97-AF65-F5344CB8AC3E}">
        <p14:creationId xmlns:p14="http://schemas.microsoft.com/office/powerpoint/2010/main" val="3654268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A4AC6E-2D29-554E-61A7-715742123386}"/>
              </a:ext>
            </a:extLst>
          </p:cNvPr>
          <p:cNvSpPr txBox="1"/>
          <p:nvPr/>
        </p:nvSpPr>
        <p:spPr>
          <a:xfrm>
            <a:off x="141213" y="1217711"/>
            <a:ext cx="4289573" cy="307777"/>
          </a:xfrm>
          <a:prstGeom prst="rect">
            <a:avLst/>
          </a:prstGeom>
          <a:noFill/>
        </p:spPr>
        <p:txBody>
          <a:bodyPr wrap="square">
            <a:spAutoFit/>
          </a:bodyPr>
          <a:lstStyle/>
          <a:p>
            <a:pPr algn="ctr"/>
            <a:r>
              <a:rPr lang="en-US" sz="1400" dirty="0">
                <a:latin typeface="Times New Roman" panose="02020603050405020304" pitchFamily="18" charset="0"/>
              </a:rPr>
              <a:t>What equipment do you need to fly in Class B airspace?</a:t>
            </a:r>
            <a:endParaRPr lang="en-US" sz="1400" dirty="0"/>
          </a:p>
        </p:txBody>
      </p:sp>
      <p:sp>
        <p:nvSpPr>
          <p:cNvPr id="4" name="TextBox 3">
            <a:extLst>
              <a:ext uri="{FF2B5EF4-FFF2-40B4-BE49-F238E27FC236}">
                <a16:creationId xmlns:a16="http://schemas.microsoft.com/office/drawing/2014/main" id="{5443E174-CB55-5556-9173-AB1E66C4A677}"/>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Rectangle 1">
            <a:extLst>
              <a:ext uri="{FF2B5EF4-FFF2-40B4-BE49-F238E27FC236}">
                <a16:creationId xmlns:a16="http://schemas.microsoft.com/office/drawing/2014/main" id="{DE67126F-BE5A-68CF-BFC1-198DE13AEFB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252DA04-80D2-3812-AEE2-030A3E1369C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986819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63FE59-155D-091B-1774-93AE24530EBF}"/>
              </a:ext>
            </a:extLst>
          </p:cNvPr>
          <p:cNvSpPr txBox="1"/>
          <p:nvPr/>
        </p:nvSpPr>
        <p:spPr>
          <a:xfrm>
            <a:off x="282427" y="1666014"/>
            <a:ext cx="4007145" cy="523220"/>
          </a:xfrm>
          <a:prstGeom prst="rect">
            <a:avLst/>
          </a:prstGeom>
          <a:noFill/>
        </p:spPr>
        <p:txBody>
          <a:bodyPr wrap="square">
            <a:spAutoFit/>
          </a:bodyPr>
          <a:lstStyle/>
          <a:p>
            <a:pPr algn="ctr"/>
            <a:r>
              <a:rPr lang="en-US" sz="1400" dirty="0">
                <a:latin typeface="Times New Roman" panose="02020603050405020304" pitchFamily="18" charset="0"/>
              </a:rPr>
              <a:t>And when you start your instrument training:</a:t>
            </a:r>
          </a:p>
          <a:p>
            <a:pPr algn="ctr"/>
            <a:r>
              <a:rPr lang="en-US" sz="1400" dirty="0">
                <a:latin typeface="Times New Roman" panose="02020603050405020304" pitchFamily="18" charset="0"/>
              </a:rPr>
              <a:t>VOR or FAA Approved GPS System if flying IFR.</a:t>
            </a:r>
            <a:endParaRPr lang="en-US" sz="1400" dirty="0"/>
          </a:p>
        </p:txBody>
      </p:sp>
      <p:sp>
        <p:nvSpPr>
          <p:cNvPr id="4" name="TextBox 3">
            <a:extLst>
              <a:ext uri="{FF2B5EF4-FFF2-40B4-BE49-F238E27FC236}">
                <a16:creationId xmlns:a16="http://schemas.microsoft.com/office/drawing/2014/main" id="{E748F756-6955-C3F1-B683-BC8E20F2B6D8}"/>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7" name="TextBox 6">
            <a:extLst>
              <a:ext uri="{FF2B5EF4-FFF2-40B4-BE49-F238E27FC236}">
                <a16:creationId xmlns:a16="http://schemas.microsoft.com/office/drawing/2014/main" id="{7D57457E-B030-581C-4826-3C42ABEC1B30}"/>
              </a:ext>
            </a:extLst>
          </p:cNvPr>
          <p:cNvSpPr txBox="1"/>
          <p:nvPr/>
        </p:nvSpPr>
        <p:spPr>
          <a:xfrm>
            <a:off x="282427" y="619208"/>
            <a:ext cx="2286000" cy="738664"/>
          </a:xfrm>
          <a:prstGeom prst="rect">
            <a:avLst/>
          </a:prstGeom>
          <a:noFill/>
        </p:spPr>
        <p:txBody>
          <a:bodyPr wrap="square">
            <a:spAutoFit/>
          </a:bodyPr>
          <a:lstStyle/>
          <a:p>
            <a:pPr algn="ctr"/>
            <a:r>
              <a:rPr lang="en-US" sz="1400" dirty="0">
                <a:latin typeface="Times New Roman" panose="02020603050405020304" pitchFamily="18" charset="0"/>
              </a:rPr>
              <a:t>Radio</a:t>
            </a:r>
          </a:p>
          <a:p>
            <a:pPr algn="ctr"/>
            <a:r>
              <a:rPr lang="en-US" sz="1400" dirty="0">
                <a:latin typeface="Times New Roman" panose="02020603050405020304" pitchFamily="18" charset="0"/>
              </a:rPr>
              <a:t>ADS-B Out</a:t>
            </a:r>
          </a:p>
          <a:p>
            <a:pPr algn="ctr"/>
            <a:r>
              <a:rPr lang="en-US" sz="1400" dirty="0">
                <a:latin typeface="Times New Roman" panose="02020603050405020304" pitchFamily="18" charset="0"/>
              </a:rPr>
              <a:t>Transponder</a:t>
            </a:r>
          </a:p>
        </p:txBody>
      </p:sp>
      <p:pic>
        <p:nvPicPr>
          <p:cNvPr id="6" name="Picture 5">
            <a:extLst>
              <a:ext uri="{FF2B5EF4-FFF2-40B4-BE49-F238E27FC236}">
                <a16:creationId xmlns:a16="http://schemas.microsoft.com/office/drawing/2014/main" id="{F0804F73-2F21-B462-7C10-EC63F1ECB68D}"/>
              </a:ext>
            </a:extLst>
          </p:cNvPr>
          <p:cNvPicPr>
            <a:picLocks noChangeAspect="1"/>
          </p:cNvPicPr>
          <p:nvPr/>
        </p:nvPicPr>
        <p:blipFill>
          <a:blip r:embed="rId2"/>
          <a:stretch>
            <a:fillRect/>
          </a:stretch>
        </p:blipFill>
        <p:spPr>
          <a:xfrm>
            <a:off x="2848132" y="259622"/>
            <a:ext cx="1337007" cy="1343404"/>
          </a:xfrm>
          <a:prstGeom prst="rect">
            <a:avLst/>
          </a:prstGeom>
        </p:spPr>
      </p:pic>
    </p:spTree>
    <p:extLst>
      <p:ext uri="{BB962C8B-B14F-4D97-AF65-F5344CB8AC3E}">
        <p14:creationId xmlns:p14="http://schemas.microsoft.com/office/powerpoint/2010/main" val="4127792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FCBAD2-305E-1A5A-6312-3BF40D2C7819}"/>
              </a:ext>
            </a:extLst>
          </p:cNvPr>
          <p:cNvSpPr txBox="1"/>
          <p:nvPr/>
        </p:nvSpPr>
        <p:spPr>
          <a:xfrm>
            <a:off x="282427" y="710866"/>
            <a:ext cx="4007145" cy="1169551"/>
          </a:xfrm>
          <a:prstGeom prst="rect">
            <a:avLst/>
          </a:prstGeom>
          <a:noFill/>
        </p:spPr>
        <p:txBody>
          <a:bodyPr wrap="square">
            <a:spAutoFit/>
          </a:bodyPr>
          <a:lstStyle/>
          <a:p>
            <a:pPr algn="just"/>
            <a:r>
              <a:rPr lang="en-US" sz="1400" dirty="0">
                <a:latin typeface="Times New Roman" panose="02020603050405020304" pitchFamily="18" charset="0"/>
              </a:rPr>
              <a:t>You are in Class E airspace. To avoid clouds, you climb to 13,000 MSL. What equipment is required?</a:t>
            </a:r>
          </a:p>
          <a:p>
            <a:pPr algn="just"/>
            <a:endParaRPr lang="en-US" sz="1400" dirty="0">
              <a:latin typeface="Times New Roman" panose="02020603050405020304" pitchFamily="18" charset="0"/>
            </a:endParaRPr>
          </a:p>
          <a:p>
            <a:pPr algn="ctr"/>
            <a:r>
              <a:rPr lang="en-US" sz="1400" dirty="0">
                <a:latin typeface="Times New Roman" panose="02020603050405020304" pitchFamily="18" charset="0"/>
              </a:rPr>
              <a:t>AIM 3-2-6 (b)(2) </a:t>
            </a:r>
          </a:p>
          <a:p>
            <a:pPr algn="ctr"/>
            <a:r>
              <a:rPr lang="en-US" sz="1400" dirty="0">
                <a:latin typeface="Times New Roman" panose="02020603050405020304" pitchFamily="18" charset="0"/>
              </a:rPr>
              <a:t>91.215</a:t>
            </a:r>
          </a:p>
        </p:txBody>
      </p:sp>
      <p:sp>
        <p:nvSpPr>
          <p:cNvPr id="3" name="TextBox 2">
            <a:extLst>
              <a:ext uri="{FF2B5EF4-FFF2-40B4-BE49-F238E27FC236}">
                <a16:creationId xmlns:a16="http://schemas.microsoft.com/office/drawing/2014/main" id="{D6D764B4-FAA4-2587-28BC-FF622874DBC5}"/>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4" name="Rectangle 3">
            <a:extLst>
              <a:ext uri="{FF2B5EF4-FFF2-40B4-BE49-F238E27FC236}">
                <a16:creationId xmlns:a16="http://schemas.microsoft.com/office/drawing/2014/main" id="{DC9906C2-4561-6BEA-5F89-CCA48AD1DC5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4B8CF03-E3D7-1710-15CE-8C36FC98B73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618846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6C6229-34EA-FBA6-F3A1-EB8910AF3BCE}"/>
              </a:ext>
            </a:extLst>
          </p:cNvPr>
          <p:cNvSpPr txBox="1"/>
          <p:nvPr/>
        </p:nvSpPr>
        <p:spPr>
          <a:xfrm>
            <a:off x="297328" y="401933"/>
            <a:ext cx="3977341" cy="677108"/>
          </a:xfrm>
          <a:prstGeom prst="rect">
            <a:avLst/>
          </a:prstGeom>
          <a:noFill/>
        </p:spPr>
        <p:txBody>
          <a:bodyPr wrap="square">
            <a:spAutoFit/>
          </a:bodyPr>
          <a:lstStyle/>
          <a:p>
            <a:pPr algn="just">
              <a:spcAft>
                <a:spcPts val="600"/>
              </a:spcAft>
            </a:pPr>
            <a:r>
              <a:rPr lang="en-US" sz="1100" dirty="0">
                <a:latin typeface="Times New Roman" panose="02020603050405020304" pitchFamily="18" charset="0"/>
              </a:rPr>
              <a:t>ADS-B out and transponder are required above 10,000 MSL.</a:t>
            </a:r>
          </a:p>
          <a:p>
            <a:pPr algn="just">
              <a:spcAft>
                <a:spcPts val="600"/>
              </a:spcAft>
            </a:pPr>
            <a:r>
              <a:rPr lang="en-US" sz="1100" dirty="0">
                <a:latin typeface="Times New Roman" panose="02020603050405020304" pitchFamily="18" charset="0"/>
              </a:rPr>
              <a:t>If you are below 2,500 AGL, transponder and ADS-B out is not required.</a:t>
            </a:r>
          </a:p>
        </p:txBody>
      </p:sp>
      <p:sp>
        <p:nvSpPr>
          <p:cNvPr id="3" name="TextBox 2">
            <a:extLst>
              <a:ext uri="{FF2B5EF4-FFF2-40B4-BE49-F238E27FC236}">
                <a16:creationId xmlns:a16="http://schemas.microsoft.com/office/drawing/2014/main" id="{58C8864F-634F-1600-974B-8AD57A54969B}"/>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4" name="TextBox 3">
            <a:extLst>
              <a:ext uri="{FF2B5EF4-FFF2-40B4-BE49-F238E27FC236}">
                <a16:creationId xmlns:a16="http://schemas.microsoft.com/office/drawing/2014/main" id="{D25E08B8-8892-D176-34F7-CFE8F5584FEC}"/>
              </a:ext>
            </a:extLst>
          </p:cNvPr>
          <p:cNvSpPr txBox="1"/>
          <p:nvPr/>
        </p:nvSpPr>
        <p:spPr>
          <a:xfrm>
            <a:off x="1753162" y="1315901"/>
            <a:ext cx="2443208" cy="769441"/>
          </a:xfrm>
          <a:prstGeom prst="rect">
            <a:avLst/>
          </a:prstGeom>
          <a:noFill/>
        </p:spPr>
        <p:txBody>
          <a:bodyPr wrap="square">
            <a:spAutoFit/>
          </a:bodyPr>
          <a:lstStyle/>
          <a:p>
            <a:pPr algn="just"/>
            <a:r>
              <a:rPr lang="en-US" sz="1100" dirty="0">
                <a:latin typeface="Times New Roman" panose="02020603050405020304" pitchFamily="18" charset="0"/>
              </a:rPr>
              <a:t>But…(there is always a “but”), if you have a transponder installed and operational, it must ALWAYS be turned on no matter where you are.</a:t>
            </a:r>
          </a:p>
        </p:txBody>
      </p:sp>
      <p:pic>
        <p:nvPicPr>
          <p:cNvPr id="7" name="Picture 6">
            <a:extLst>
              <a:ext uri="{FF2B5EF4-FFF2-40B4-BE49-F238E27FC236}">
                <a16:creationId xmlns:a16="http://schemas.microsoft.com/office/drawing/2014/main" id="{CE776E34-E689-05D6-2741-EEE0570AB9B3}"/>
              </a:ext>
            </a:extLst>
          </p:cNvPr>
          <p:cNvPicPr>
            <a:picLocks noChangeAspect="1"/>
          </p:cNvPicPr>
          <p:nvPr/>
        </p:nvPicPr>
        <p:blipFill>
          <a:blip r:embed="rId2"/>
          <a:stretch>
            <a:fillRect/>
          </a:stretch>
        </p:blipFill>
        <p:spPr>
          <a:xfrm>
            <a:off x="375630" y="1177233"/>
            <a:ext cx="1152788" cy="1164034"/>
          </a:xfrm>
          <a:prstGeom prst="rect">
            <a:avLst/>
          </a:prstGeom>
        </p:spPr>
      </p:pic>
    </p:spTree>
    <p:extLst>
      <p:ext uri="{BB962C8B-B14F-4D97-AF65-F5344CB8AC3E}">
        <p14:creationId xmlns:p14="http://schemas.microsoft.com/office/powerpoint/2010/main" val="3489387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AC99B-E407-0F48-5245-BA562F6C0974}"/>
              </a:ext>
            </a:extLst>
          </p:cNvPr>
          <p:cNvSpPr txBox="1"/>
          <p:nvPr/>
        </p:nvSpPr>
        <p:spPr>
          <a:xfrm>
            <a:off x="397669" y="1060104"/>
            <a:ext cx="3776662" cy="773673"/>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Can you fly through restricted airspace?</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AIM 3-4-3</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DACD69AA-47B4-4B01-CD2E-3480C82DE434}"/>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Rectangle 1">
            <a:extLst>
              <a:ext uri="{FF2B5EF4-FFF2-40B4-BE49-F238E27FC236}">
                <a16:creationId xmlns:a16="http://schemas.microsoft.com/office/drawing/2014/main" id="{B8FFB06E-95CD-76FE-C771-966580F52FC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769AD1C8-20CC-7BBE-90BC-676AFBD2CDD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202375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3B7F04-9E99-CCA9-17BB-6FB248505731}"/>
              </a:ext>
            </a:extLst>
          </p:cNvPr>
          <p:cNvSpPr txBox="1"/>
          <p:nvPr/>
        </p:nvSpPr>
        <p:spPr>
          <a:xfrm>
            <a:off x="586740" y="364794"/>
            <a:ext cx="3398520" cy="830997"/>
          </a:xfrm>
          <a:prstGeom prst="rect">
            <a:avLst/>
          </a:prstGeom>
          <a:noFill/>
        </p:spPr>
        <p:txBody>
          <a:bodyPr wrap="square">
            <a:spAutoFit/>
          </a:bodyPr>
          <a:lstStyle/>
          <a:p>
            <a:pPr algn="ctr"/>
            <a:r>
              <a:rPr lang="en-US" sz="1200" dirty="0">
                <a:effectLst/>
                <a:latin typeface="Times New Roman" panose="02020603050405020304" pitchFamily="18" charset="0"/>
                <a:ea typeface="Calibri" panose="020F0502020204030204" pitchFamily="34" charset="0"/>
              </a:rPr>
              <a:t>Yes.</a:t>
            </a:r>
            <a:endParaRPr lang="en-US" sz="1200" dirty="0">
              <a:latin typeface="Times New Roman" panose="02020603050405020304" pitchFamily="18" charset="0"/>
              <a:ea typeface="Calibri" panose="020F0502020204030204" pitchFamily="34" charset="0"/>
            </a:endParaRPr>
          </a:p>
          <a:p>
            <a:pPr algn="just"/>
            <a:r>
              <a:rPr lang="en-US" sz="1200" dirty="0">
                <a:effectLst/>
                <a:latin typeface="Times New Roman" panose="02020603050405020304" pitchFamily="18" charset="0"/>
                <a:ea typeface="Calibri" panose="020F0502020204030204" pitchFamily="34" charset="0"/>
              </a:rPr>
              <a:t>You mus</a:t>
            </a:r>
            <a:r>
              <a:rPr lang="en-US" sz="1200" dirty="0">
                <a:latin typeface="Times New Roman" panose="02020603050405020304" pitchFamily="18" charset="0"/>
                <a:ea typeface="Calibri" panose="020F0502020204030204" pitchFamily="34" charset="0"/>
              </a:rPr>
              <a:t>t receive clearance from the controlling agency (usually ATC). The odds of that happening are pretty low.</a:t>
            </a:r>
            <a:endParaRPr lang="en-US" sz="1200" dirty="0"/>
          </a:p>
        </p:txBody>
      </p:sp>
      <p:sp>
        <p:nvSpPr>
          <p:cNvPr id="4" name="TextBox 3">
            <a:extLst>
              <a:ext uri="{FF2B5EF4-FFF2-40B4-BE49-F238E27FC236}">
                <a16:creationId xmlns:a16="http://schemas.microsoft.com/office/drawing/2014/main" id="{0BCEFA3E-1778-B6AA-D9D7-03F71E9DD700}"/>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pic>
        <p:nvPicPr>
          <p:cNvPr id="8" name="Picture 7">
            <a:extLst>
              <a:ext uri="{FF2B5EF4-FFF2-40B4-BE49-F238E27FC236}">
                <a16:creationId xmlns:a16="http://schemas.microsoft.com/office/drawing/2014/main" id="{B2155A84-E465-5E7C-BC5E-93ED43554C2C}"/>
              </a:ext>
            </a:extLst>
          </p:cNvPr>
          <p:cNvPicPr>
            <a:picLocks noChangeAspect="1"/>
          </p:cNvPicPr>
          <p:nvPr/>
        </p:nvPicPr>
        <p:blipFill>
          <a:blip r:embed="rId2"/>
          <a:stretch>
            <a:fillRect/>
          </a:stretch>
        </p:blipFill>
        <p:spPr>
          <a:xfrm>
            <a:off x="1685323" y="1162652"/>
            <a:ext cx="1201353" cy="1218597"/>
          </a:xfrm>
          <a:prstGeom prst="rect">
            <a:avLst/>
          </a:prstGeom>
        </p:spPr>
      </p:pic>
    </p:spTree>
    <p:extLst>
      <p:ext uri="{BB962C8B-B14F-4D97-AF65-F5344CB8AC3E}">
        <p14:creationId xmlns:p14="http://schemas.microsoft.com/office/powerpoint/2010/main" val="2926339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0E5662-F9C5-D0DE-5B95-571F1E0EBE48}"/>
              </a:ext>
            </a:extLst>
          </p:cNvPr>
          <p:cNvSpPr txBox="1"/>
          <p:nvPr/>
        </p:nvSpPr>
        <p:spPr>
          <a:xfrm>
            <a:off x="694194" y="938671"/>
            <a:ext cx="3183612" cy="77251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the radius of Class C airspace?</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high do</a:t>
            </a:r>
            <a:r>
              <a:rPr lang="en-US" sz="1400" dirty="0">
                <a:latin typeface="Times New Roman" panose="02020603050405020304" pitchFamily="18" charset="0"/>
                <a:ea typeface="Calibri" panose="020F0502020204030204" pitchFamily="34" charset="0"/>
                <a:cs typeface="Times New Roman" panose="02020603050405020304" pitchFamily="18" charset="0"/>
              </a:rPr>
              <a:t>es it extend up to?</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AIM 3-2-4 (a)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992191E-B783-473F-43FF-9694AC13EB56}"/>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Rectangle 1">
            <a:extLst>
              <a:ext uri="{FF2B5EF4-FFF2-40B4-BE49-F238E27FC236}">
                <a16:creationId xmlns:a16="http://schemas.microsoft.com/office/drawing/2014/main" id="{12D9A5DB-41D0-550D-A191-D5856AEAE7E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FC3BE38-E9B3-58B1-A713-6B4F171E812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643652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094D0D77-D2A8-B6AA-3577-F99776D5DD13}"/>
              </a:ext>
            </a:extLst>
          </p:cNvPr>
          <p:cNvCxnSpPr/>
          <p:nvPr/>
        </p:nvCxnSpPr>
        <p:spPr>
          <a:xfrm flipH="1">
            <a:off x="678394" y="2237760"/>
            <a:ext cx="216762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BF07908-1A53-6741-A57B-86DEADF21A04}"/>
              </a:ext>
            </a:extLst>
          </p:cNvPr>
          <p:cNvSpPr txBox="1"/>
          <p:nvPr/>
        </p:nvSpPr>
        <p:spPr>
          <a:xfrm>
            <a:off x="475465" y="236105"/>
            <a:ext cx="3853639" cy="626838"/>
          </a:xfrm>
          <a:prstGeom prst="rect">
            <a:avLst/>
          </a:prstGeom>
          <a:noFill/>
        </p:spPr>
        <p:txBody>
          <a:bodyPr wrap="square">
            <a:spAutoFit/>
          </a:bodyPr>
          <a:lstStyle/>
          <a:p>
            <a:pPr marL="0" marR="0" algn="just">
              <a:lnSpc>
                <a:spcPct val="107000"/>
              </a:lnSpc>
              <a:spcBef>
                <a:spcPts val="0"/>
              </a:spcBef>
              <a:spcAft>
                <a:spcPts val="0"/>
              </a:spcAft>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Class C typically takes the shape of a two-tiered, upside down wedding cake. </a:t>
            </a: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The inner portion </a:t>
            </a:r>
            <a:r>
              <a:rPr lang="en-US" sz="1100" dirty="0">
                <a:latin typeface="Times New Roman" panose="02020603050405020304" pitchFamily="18" charset="0"/>
                <a:ea typeface="Calibri" panose="020F0502020204030204" pitchFamily="34" charset="0"/>
                <a:cs typeface="Times New Roman" panose="02020603050405020304" pitchFamily="18" charset="0"/>
              </a:rPr>
              <a:t>has a 5nm radius and the outer portion has a 10nm radius. It usually extends to 4,000 AGL.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C396077-9922-8E26-11BC-219CC9EDA930}"/>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grpSp>
        <p:nvGrpSpPr>
          <p:cNvPr id="10" name="Group 9">
            <a:extLst>
              <a:ext uri="{FF2B5EF4-FFF2-40B4-BE49-F238E27FC236}">
                <a16:creationId xmlns:a16="http://schemas.microsoft.com/office/drawing/2014/main" id="{FFE45BE8-E4FF-3339-1530-CB1972340D90}"/>
              </a:ext>
            </a:extLst>
          </p:cNvPr>
          <p:cNvGrpSpPr/>
          <p:nvPr/>
        </p:nvGrpSpPr>
        <p:grpSpPr>
          <a:xfrm>
            <a:off x="538328" y="1197279"/>
            <a:ext cx="2362814" cy="1106655"/>
            <a:chOff x="2687936" y="1325062"/>
            <a:chExt cx="1230921" cy="699680"/>
          </a:xfrm>
        </p:grpSpPr>
        <p:sp>
          <p:nvSpPr>
            <p:cNvPr id="5" name="Flowchart: Direct Access Storage 4">
              <a:extLst>
                <a:ext uri="{FF2B5EF4-FFF2-40B4-BE49-F238E27FC236}">
                  <a16:creationId xmlns:a16="http://schemas.microsoft.com/office/drawing/2014/main" id="{13DD599D-7B79-CC2F-3E9A-F6E7E384F4FB}"/>
                </a:ext>
              </a:extLst>
            </p:cNvPr>
            <p:cNvSpPr/>
            <p:nvPr/>
          </p:nvSpPr>
          <p:spPr>
            <a:xfrm rot="16200000">
              <a:off x="3109305" y="1511616"/>
              <a:ext cx="388182" cy="638070"/>
            </a:xfrm>
            <a:prstGeom prst="flowChartMagneticDrum">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lowchart: Direct Access Storage 1">
              <a:extLst>
                <a:ext uri="{FF2B5EF4-FFF2-40B4-BE49-F238E27FC236}">
                  <a16:creationId xmlns:a16="http://schemas.microsoft.com/office/drawing/2014/main" id="{61B4168D-9DBF-9208-39E3-79CA0C0359AC}"/>
                </a:ext>
              </a:extLst>
            </p:cNvPr>
            <p:cNvSpPr/>
            <p:nvPr/>
          </p:nvSpPr>
          <p:spPr>
            <a:xfrm rot="16200000">
              <a:off x="3076648" y="936350"/>
              <a:ext cx="453497" cy="1230921"/>
            </a:xfrm>
            <a:prstGeom prst="flowChartMagneticDrum">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839ED18C-C501-A3B2-A8E9-8EED85E327E2}"/>
              </a:ext>
            </a:extLst>
          </p:cNvPr>
          <p:cNvGrpSpPr/>
          <p:nvPr/>
        </p:nvGrpSpPr>
        <p:grpSpPr>
          <a:xfrm>
            <a:off x="1739286" y="912997"/>
            <a:ext cx="1161855" cy="233269"/>
            <a:chOff x="2360372" y="953189"/>
            <a:chExt cx="1161855" cy="233269"/>
          </a:xfrm>
        </p:grpSpPr>
        <p:grpSp>
          <p:nvGrpSpPr>
            <p:cNvPr id="17" name="Group 16">
              <a:extLst>
                <a:ext uri="{FF2B5EF4-FFF2-40B4-BE49-F238E27FC236}">
                  <a16:creationId xmlns:a16="http://schemas.microsoft.com/office/drawing/2014/main" id="{5B7513FF-1304-5A27-7C7A-B9A0C3799CC5}"/>
                </a:ext>
              </a:extLst>
            </p:cNvPr>
            <p:cNvGrpSpPr/>
            <p:nvPr/>
          </p:nvGrpSpPr>
          <p:grpSpPr>
            <a:xfrm>
              <a:off x="2360372" y="979059"/>
              <a:ext cx="1161855" cy="191579"/>
              <a:chOff x="763675" y="1828140"/>
              <a:chExt cx="954593" cy="191579"/>
            </a:xfrm>
          </p:grpSpPr>
          <p:cxnSp>
            <p:nvCxnSpPr>
              <p:cNvPr id="12" name="Straight Connector 11">
                <a:extLst>
                  <a:ext uri="{FF2B5EF4-FFF2-40B4-BE49-F238E27FC236}">
                    <a16:creationId xmlns:a16="http://schemas.microsoft.com/office/drawing/2014/main" id="{528891FC-172C-5868-7B32-BA34F659ECAD}"/>
                  </a:ext>
                </a:extLst>
              </p:cNvPr>
              <p:cNvCxnSpPr>
                <a:cxnSpLocks/>
              </p:cNvCxnSpPr>
              <p:nvPr/>
            </p:nvCxnSpPr>
            <p:spPr>
              <a:xfrm>
                <a:off x="763675" y="1828140"/>
                <a:ext cx="0" cy="19157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5D0455D-29E4-4D8E-AFD7-1DF3F46C3137}"/>
                  </a:ext>
                </a:extLst>
              </p:cNvPr>
              <p:cNvCxnSpPr>
                <a:cxnSpLocks/>
              </p:cNvCxnSpPr>
              <p:nvPr/>
            </p:nvCxnSpPr>
            <p:spPr>
              <a:xfrm>
                <a:off x="1718268" y="1828140"/>
                <a:ext cx="0" cy="19157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31FC334-0321-2FFD-02C8-C1C5B18595E3}"/>
                  </a:ext>
                </a:extLst>
              </p:cNvPr>
              <p:cNvCxnSpPr/>
              <p:nvPr/>
            </p:nvCxnSpPr>
            <p:spPr>
              <a:xfrm>
                <a:off x="763675" y="1923929"/>
                <a:ext cx="95459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5AA21024-C963-C6CD-B7A5-AEBDF8090D22}"/>
                </a:ext>
              </a:extLst>
            </p:cNvPr>
            <p:cNvSpPr txBox="1"/>
            <p:nvPr/>
          </p:nvSpPr>
          <p:spPr>
            <a:xfrm>
              <a:off x="2690983" y="953189"/>
              <a:ext cx="500632" cy="233269"/>
            </a:xfrm>
            <a:prstGeom prst="rect">
              <a:avLst/>
            </a:prstGeom>
            <a:solidFill>
              <a:schemeClr val="bg1"/>
            </a:solidFill>
          </p:spPr>
          <p:txBody>
            <a:bodyPr wrap="square">
              <a:spAutoFit/>
            </a:bodyPr>
            <a:lstStyle/>
            <a:p>
              <a:pPr marL="0" marR="0" algn="ctr">
                <a:lnSpc>
                  <a:spcPct val="107000"/>
                </a:lnSpc>
                <a:spcBef>
                  <a:spcPts val="0"/>
                </a:spcBef>
                <a:spcAft>
                  <a:spcPts val="0"/>
                </a:spcAft>
              </a:pPr>
              <a:r>
                <a:rPr lang="en-US" sz="9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10nm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9987FD69-1865-A61A-0D7A-375046B7317F}"/>
              </a:ext>
            </a:extLst>
          </p:cNvPr>
          <p:cNvGrpSpPr/>
          <p:nvPr/>
        </p:nvGrpSpPr>
        <p:grpSpPr>
          <a:xfrm>
            <a:off x="1739286" y="2315895"/>
            <a:ext cx="592851" cy="233269"/>
            <a:chOff x="2360372" y="2391255"/>
            <a:chExt cx="592851" cy="233269"/>
          </a:xfrm>
        </p:grpSpPr>
        <p:grpSp>
          <p:nvGrpSpPr>
            <p:cNvPr id="18" name="Group 17">
              <a:extLst>
                <a:ext uri="{FF2B5EF4-FFF2-40B4-BE49-F238E27FC236}">
                  <a16:creationId xmlns:a16="http://schemas.microsoft.com/office/drawing/2014/main" id="{CCF5EB8F-6B07-AE82-8414-D3C1FB7700A9}"/>
                </a:ext>
              </a:extLst>
            </p:cNvPr>
            <p:cNvGrpSpPr/>
            <p:nvPr/>
          </p:nvGrpSpPr>
          <p:grpSpPr>
            <a:xfrm>
              <a:off x="2360372" y="2412101"/>
              <a:ext cx="592851" cy="191579"/>
              <a:chOff x="763675" y="1828140"/>
              <a:chExt cx="954593" cy="191579"/>
            </a:xfrm>
          </p:grpSpPr>
          <p:cxnSp>
            <p:nvCxnSpPr>
              <p:cNvPr id="19" name="Straight Connector 18">
                <a:extLst>
                  <a:ext uri="{FF2B5EF4-FFF2-40B4-BE49-F238E27FC236}">
                    <a16:creationId xmlns:a16="http://schemas.microsoft.com/office/drawing/2014/main" id="{1FD0327C-DC1F-6BB4-A70A-A2DFD1804A7C}"/>
                  </a:ext>
                </a:extLst>
              </p:cNvPr>
              <p:cNvCxnSpPr>
                <a:cxnSpLocks/>
              </p:cNvCxnSpPr>
              <p:nvPr/>
            </p:nvCxnSpPr>
            <p:spPr>
              <a:xfrm>
                <a:off x="763675" y="1828140"/>
                <a:ext cx="0" cy="19157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BA8348-DD85-7C53-356E-AAE2DE62245C}"/>
                  </a:ext>
                </a:extLst>
              </p:cNvPr>
              <p:cNvCxnSpPr>
                <a:cxnSpLocks/>
              </p:cNvCxnSpPr>
              <p:nvPr/>
            </p:nvCxnSpPr>
            <p:spPr>
              <a:xfrm>
                <a:off x="1718268" y="1828140"/>
                <a:ext cx="0" cy="19157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BB1A791-71F0-29EF-B734-C433C6D2390C}"/>
                  </a:ext>
                </a:extLst>
              </p:cNvPr>
              <p:cNvCxnSpPr/>
              <p:nvPr/>
            </p:nvCxnSpPr>
            <p:spPr>
              <a:xfrm>
                <a:off x="763675" y="1923929"/>
                <a:ext cx="95459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91291165-79ED-EEB5-0735-3669BDB49003}"/>
                </a:ext>
              </a:extLst>
            </p:cNvPr>
            <p:cNvSpPr txBox="1"/>
            <p:nvPr/>
          </p:nvSpPr>
          <p:spPr>
            <a:xfrm>
              <a:off x="2460763" y="2391255"/>
              <a:ext cx="388367" cy="233269"/>
            </a:xfrm>
            <a:prstGeom prst="rect">
              <a:avLst/>
            </a:prstGeom>
            <a:solidFill>
              <a:schemeClr val="bg1"/>
            </a:solidFill>
          </p:spPr>
          <p:txBody>
            <a:bodyPr wrap="square">
              <a:spAutoFit/>
            </a:bodyPr>
            <a:lstStyle/>
            <a:p>
              <a:pPr marL="0" marR="0" algn="ctr">
                <a:lnSpc>
                  <a:spcPct val="107000"/>
                </a:lnSpc>
                <a:spcBef>
                  <a:spcPts val="0"/>
                </a:spcBef>
                <a:spcAft>
                  <a:spcPts val="0"/>
                </a:spcAft>
              </a:pPr>
              <a:r>
                <a:rPr lang="en-US" sz="9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5nm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13" name="TextBox 12">
            <a:extLst>
              <a:ext uri="{FF2B5EF4-FFF2-40B4-BE49-F238E27FC236}">
                <a16:creationId xmlns:a16="http://schemas.microsoft.com/office/drawing/2014/main" id="{FB683174-AB04-D789-1B04-9CFB4F04817D}"/>
              </a:ext>
            </a:extLst>
          </p:cNvPr>
          <p:cNvSpPr txBox="1"/>
          <p:nvPr/>
        </p:nvSpPr>
        <p:spPr>
          <a:xfrm>
            <a:off x="1323970" y="1875069"/>
            <a:ext cx="807721" cy="233269"/>
          </a:xfrm>
          <a:prstGeom prst="rect">
            <a:avLst/>
          </a:prstGeom>
          <a:noFill/>
        </p:spPr>
        <p:txBody>
          <a:bodyPr wrap="square">
            <a:spAutoFit/>
          </a:bodyPr>
          <a:lstStyle/>
          <a:p>
            <a:pPr marL="0" marR="0" algn="ctr">
              <a:lnSpc>
                <a:spcPct val="107000"/>
              </a:lnSpc>
              <a:spcBef>
                <a:spcPts val="0"/>
              </a:spcBef>
              <a:spcAft>
                <a:spcPts val="0"/>
              </a:spcAft>
            </a:pPr>
            <a:r>
              <a:rPr lang="en-US" sz="9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1,200 AGL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27929163-3A55-B807-2D7E-4010BFB63517}"/>
              </a:ext>
            </a:extLst>
          </p:cNvPr>
          <p:cNvSpPr txBox="1"/>
          <p:nvPr/>
        </p:nvSpPr>
        <p:spPr>
          <a:xfrm>
            <a:off x="1323970" y="1402135"/>
            <a:ext cx="807721" cy="233269"/>
          </a:xfrm>
          <a:prstGeom prst="rect">
            <a:avLst/>
          </a:prstGeom>
          <a:noFill/>
        </p:spPr>
        <p:txBody>
          <a:bodyPr wrap="square">
            <a:spAutoFit/>
          </a:bodyPr>
          <a:lstStyle/>
          <a:p>
            <a:pPr marL="0" marR="0" algn="ctr">
              <a:lnSpc>
                <a:spcPct val="107000"/>
              </a:lnSpc>
              <a:spcBef>
                <a:spcPts val="0"/>
              </a:spcBef>
              <a:spcAft>
                <a:spcPts val="0"/>
              </a:spcAft>
            </a:pPr>
            <a:r>
              <a:rPr lang="en-US" sz="9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4,000 AGL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FD9F1EC2-0E40-D41A-2E8D-03416A22FCDB}"/>
              </a:ext>
            </a:extLst>
          </p:cNvPr>
          <p:cNvSpPr txBox="1"/>
          <p:nvPr/>
        </p:nvSpPr>
        <p:spPr>
          <a:xfrm>
            <a:off x="0" y="2116101"/>
            <a:ext cx="807721" cy="233269"/>
          </a:xfrm>
          <a:prstGeom prst="rect">
            <a:avLst/>
          </a:prstGeom>
          <a:noFill/>
        </p:spPr>
        <p:txBody>
          <a:bodyPr wrap="square">
            <a:spAutoFit/>
          </a:bodyPr>
          <a:lstStyle/>
          <a:p>
            <a:pPr marL="0" marR="0" algn="ctr">
              <a:lnSpc>
                <a:spcPct val="107000"/>
              </a:lnSpc>
              <a:spcBef>
                <a:spcPts val="0"/>
              </a:spcBef>
              <a:spcAft>
                <a:spcPts val="0"/>
              </a:spcAft>
            </a:pPr>
            <a:r>
              <a:rPr lang="en-US" sz="9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Surface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5" name="Picture 24">
            <a:extLst>
              <a:ext uri="{FF2B5EF4-FFF2-40B4-BE49-F238E27FC236}">
                <a16:creationId xmlns:a16="http://schemas.microsoft.com/office/drawing/2014/main" id="{E4BE934D-A23D-6684-036F-8BB2CA32F34B}"/>
              </a:ext>
            </a:extLst>
          </p:cNvPr>
          <p:cNvPicPr>
            <a:picLocks noChangeAspect="1"/>
          </p:cNvPicPr>
          <p:nvPr/>
        </p:nvPicPr>
        <p:blipFill>
          <a:blip r:embed="rId2"/>
          <a:stretch>
            <a:fillRect/>
          </a:stretch>
        </p:blipFill>
        <p:spPr>
          <a:xfrm>
            <a:off x="3176632" y="961465"/>
            <a:ext cx="1273041" cy="1273041"/>
          </a:xfrm>
          <a:prstGeom prst="rect">
            <a:avLst/>
          </a:prstGeom>
        </p:spPr>
      </p:pic>
    </p:spTree>
    <p:extLst>
      <p:ext uri="{BB962C8B-B14F-4D97-AF65-F5344CB8AC3E}">
        <p14:creationId xmlns:p14="http://schemas.microsoft.com/office/powerpoint/2010/main" val="1424400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B5C67D52-9A7F-4133-81FE-2A09D85B59E0}"/>
              </a:ext>
            </a:extLst>
          </p:cNvPr>
          <p:cNvSpPr txBox="1"/>
          <p:nvPr/>
        </p:nvSpPr>
        <p:spPr>
          <a:xfrm>
            <a:off x="476425" y="464403"/>
            <a:ext cx="3619149" cy="1563185"/>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are approaching Class C airspace. It is apparent they are very busy. You make your initial call to ATC and they simply respond with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“Cherokee N823B Standby</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Can you enter their Class C airspace?</a:t>
            </a:r>
          </a:p>
          <a:p>
            <a:pPr marL="0" marR="0" algn="ctr">
              <a:lnSpc>
                <a:spcPct val="115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AIM 3-2-4 (c)(3) Note 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5951C608-A089-1884-86CC-9FB9390E8FA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5D8E671-9FD3-67B9-160F-CE4FD17DA7F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253858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600648B1-AC70-CAEE-A461-3FB0DE893CAD}"/>
              </a:ext>
            </a:extLst>
          </p:cNvPr>
          <p:cNvSpPr txBox="1"/>
          <p:nvPr/>
        </p:nvSpPr>
        <p:spPr>
          <a:xfrm>
            <a:off x="398366" y="398941"/>
            <a:ext cx="3775267" cy="1810945"/>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Yes. You must establish two-way radio contact. When ATC responds with your callsign, two-way communications are considered established.</a:t>
            </a:r>
          </a:p>
          <a:p>
            <a:pPr marL="0" marR="0" algn="just">
              <a:lnSpc>
                <a:spcPct val="115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If ATC doesn’t include your callsign in their call, you cannot enter the Class C. An example would be “Last calling approach, standby.”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81814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4E92E7FC-02F0-FF68-6D20-FEB23FC4680A}"/>
              </a:ext>
            </a:extLst>
          </p:cNvPr>
          <p:cNvSpPr txBox="1"/>
          <p:nvPr/>
        </p:nvSpPr>
        <p:spPr>
          <a:xfrm>
            <a:off x="380597" y="713887"/>
            <a:ext cx="3810805" cy="1315425"/>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are flying into a small airport to visit a friend. The VFR sectional has no indications that it is Class D airspace and yet, there is a control tower with people in it talking on the radio.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Is the VFR sectional wrong?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F649F83E-56E9-9A4C-9E05-0ECE4CD0D31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4772B0C-D013-6032-F3ED-837E067BFAD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670722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4495236F-8FD4-7777-E76A-485ACA198DCC}"/>
              </a:ext>
            </a:extLst>
          </p:cNvPr>
          <p:cNvSpPr txBox="1"/>
          <p:nvPr/>
        </p:nvSpPr>
        <p:spPr>
          <a:xfrm>
            <a:off x="285432" y="299105"/>
            <a:ext cx="4001136" cy="1990225"/>
          </a:xfrm>
          <a:prstGeom prst="rect">
            <a:avLst/>
          </a:prstGeom>
          <a:noFill/>
        </p:spPr>
        <p:txBody>
          <a:bodyPr wrap="square">
            <a:spAutoFit/>
          </a:bodyPr>
          <a:lstStyle/>
          <a:p>
            <a:pPr marL="0" marR="0" algn="ctr">
              <a:lnSpc>
                <a:spcPct val="115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No. It is not Class D airspace.</a:t>
            </a:r>
          </a:p>
          <a:p>
            <a:pPr marL="0" marR="0" algn="ctr">
              <a:lnSpc>
                <a:spcPct val="115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There are some airports with towers and yet are not designated as Class D airspace. This occurs if the tower doesn’t have any weather reporting capability.</a:t>
            </a:r>
          </a:p>
          <a:p>
            <a:pPr marL="0" marR="0">
              <a:lnSpc>
                <a:spcPct val="115000"/>
              </a:lnSpc>
              <a:spcBef>
                <a:spcPts val="0"/>
              </a:spcBef>
              <a:spcAft>
                <a:spcPts val="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Ground based airspace control is not authorized if the agency doesn’t have weather reporting capability. Therefore, in this case, there is no controlled airspace around the airfield.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7685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9046A11F-B80C-4994-1129-3DCE8D96545F}"/>
              </a:ext>
            </a:extLst>
          </p:cNvPr>
          <p:cNvSpPr txBox="1"/>
          <p:nvPr/>
        </p:nvSpPr>
        <p:spPr>
          <a:xfrm>
            <a:off x="302798" y="894546"/>
            <a:ext cx="3966403" cy="1169551"/>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You're flying into KBFF and the ceilings are coming down quickly. The weather is 7 miles visibility and 900 foot ceiling. You are a non-instrument rated private pilot. Can you land there?</a:t>
            </a:r>
          </a:p>
          <a:p>
            <a:pPr algn="ctr"/>
            <a:r>
              <a:rPr lang="en-US" sz="1400" dirty="0">
                <a:latin typeface="Times New Roman" panose="02020603050405020304" pitchFamily="18" charset="0"/>
                <a:cs typeface="Times New Roman" panose="02020603050405020304" pitchFamily="18" charset="0"/>
              </a:rPr>
              <a:t>91.155(c)</a:t>
            </a:r>
          </a:p>
        </p:txBody>
      </p:sp>
      <p:sp>
        <p:nvSpPr>
          <p:cNvPr id="3" name="Rectangle 2">
            <a:extLst>
              <a:ext uri="{FF2B5EF4-FFF2-40B4-BE49-F238E27FC236}">
                <a16:creationId xmlns:a16="http://schemas.microsoft.com/office/drawing/2014/main" id="{FE739A0A-95F7-B010-674A-BDD1C7F7051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0818686-9C35-2C66-9A37-1B3066DB50E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297223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0D890C0A-B3FC-0FB5-1E11-3A6D455E2E6F}"/>
              </a:ext>
            </a:extLst>
          </p:cNvPr>
          <p:cNvSpPr txBox="1"/>
          <p:nvPr/>
        </p:nvSpPr>
        <p:spPr>
          <a:xfrm>
            <a:off x="255751" y="152423"/>
            <a:ext cx="2655207" cy="2239074"/>
          </a:xfrm>
          <a:prstGeom prst="rect">
            <a:avLst/>
          </a:prstGeom>
          <a:noFill/>
        </p:spPr>
        <p:txBody>
          <a:bodyPr wrap="square">
            <a:spAutoFit/>
          </a:bodyPr>
          <a:lstStyle/>
          <a:p>
            <a:pPr algn="ctr"/>
            <a:r>
              <a:rPr lang="en-US" sz="1200" dirty="0">
                <a:latin typeface="Times New Roman" panose="02020603050405020304" pitchFamily="18" charset="0"/>
                <a:cs typeface="Times New Roman" panose="02020603050405020304" pitchFamily="18" charset="0"/>
              </a:rPr>
              <a:t>No.</a:t>
            </a:r>
          </a:p>
          <a:p>
            <a:pPr algn="ctr"/>
            <a:endParaRPr lang="en-US" sz="1200" dirty="0">
              <a:latin typeface="Times New Roman" panose="02020603050405020304" pitchFamily="18" charset="0"/>
              <a:cs typeface="Times New Roman" panose="02020603050405020304" pitchFamily="18" charset="0"/>
            </a:endParaRPr>
          </a:p>
          <a:p>
            <a:pPr algn="just"/>
            <a:r>
              <a:rPr lang="en-US" sz="1050" dirty="0">
                <a:latin typeface="Times New Roman" panose="02020603050405020304" pitchFamily="18" charset="0"/>
                <a:cs typeface="Times New Roman" panose="02020603050405020304" pitchFamily="18" charset="0"/>
              </a:rPr>
              <a:t>A chart review shows Class E extending to the surface around KBFF. According to 91.155(c), you cannot fly within the lateral limits of controlled airspace that extends to the surface when the ceiling is less than 1,000 feet. You can, however, pick up a Special VFR clearance and proceed as planned. Note: since there is no tower to issue a SVFR clearance, you would need to contact Flight Service or ATC to coordinate the SVFR clearance.</a:t>
            </a:r>
            <a:endParaRPr lang="en-US" sz="1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7404841-1A9E-4A29-F005-74DAD81316C2}"/>
              </a:ext>
            </a:extLst>
          </p:cNvPr>
          <p:cNvPicPr>
            <a:picLocks noChangeAspect="1"/>
          </p:cNvPicPr>
          <p:nvPr/>
        </p:nvPicPr>
        <p:blipFill>
          <a:blip r:embed="rId2"/>
          <a:stretch>
            <a:fillRect/>
          </a:stretch>
        </p:blipFill>
        <p:spPr>
          <a:xfrm>
            <a:off x="3011441" y="739555"/>
            <a:ext cx="1369640" cy="1382809"/>
          </a:xfrm>
          <a:prstGeom prst="rect">
            <a:avLst/>
          </a:prstGeom>
        </p:spPr>
      </p:pic>
    </p:spTree>
    <p:extLst>
      <p:ext uri="{BB962C8B-B14F-4D97-AF65-F5344CB8AC3E}">
        <p14:creationId xmlns:p14="http://schemas.microsoft.com/office/powerpoint/2010/main" val="3492943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332385E2-73E4-CA1B-58B8-8A6C3454BE6A}"/>
              </a:ext>
            </a:extLst>
          </p:cNvPr>
          <p:cNvSpPr txBox="1"/>
          <p:nvPr/>
        </p:nvSpPr>
        <p:spPr>
          <a:xfrm>
            <a:off x="596900" y="897368"/>
            <a:ext cx="3378200" cy="99892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are flying a cross country in Class E airspace at 6,000 MSL. </a:t>
            </a:r>
            <a:r>
              <a:rPr lang="en-US" sz="1400" dirty="0">
                <a:latin typeface="Times New Roman" panose="02020603050405020304" pitchFamily="18" charset="0"/>
                <a:ea typeface="Calibri" panose="020F0502020204030204" pitchFamily="34" charset="0"/>
                <a:cs typeface="Times New Roman" panose="02020603050405020304" pitchFamily="18" charset="0"/>
              </a:rPr>
              <a:t>Your transponder is broken. Is this ok?</a:t>
            </a:r>
          </a:p>
          <a:p>
            <a:pPr marL="0" marR="0" algn="ctr">
              <a:lnSpc>
                <a:spcPct val="107000"/>
              </a:lnSpc>
              <a:spcBef>
                <a:spcPts val="0"/>
              </a:spcBef>
              <a:spcAft>
                <a:spcPts val="0"/>
              </a:spcAft>
            </a:pPr>
            <a:r>
              <a:rPr lang="en-US" sz="1400" dirty="0">
                <a:solidFill>
                  <a:srgbClr val="000000"/>
                </a:solidFill>
                <a:latin typeface="Times New Roman" panose="02020603050405020304" pitchFamily="18" charset="0"/>
              </a:rPr>
              <a:t>AIM 3-2-6 (b)(2)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13BC52D4-50DB-7C40-D07D-C3AB172CA65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26C913E-F0F6-B2A4-68CB-66FB7E24E14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851377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TextBox 1">
            <a:extLst>
              <a:ext uri="{FF2B5EF4-FFF2-40B4-BE49-F238E27FC236}">
                <a16:creationId xmlns:a16="http://schemas.microsoft.com/office/drawing/2014/main" id="{B8AB1019-86B5-37F4-4CEE-A39373A6B075}"/>
              </a:ext>
            </a:extLst>
          </p:cNvPr>
          <p:cNvSpPr txBox="1"/>
          <p:nvPr/>
        </p:nvSpPr>
        <p:spPr>
          <a:xfrm>
            <a:off x="519843" y="599916"/>
            <a:ext cx="3532313" cy="122943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are fine. Class E airspace below 10,000 MSL requires no special type of equipment.</a:t>
            </a:r>
          </a:p>
          <a:p>
            <a:pPr marL="0" marR="0" algn="just">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With that being said, if your transponder is installed and functioning, it must be turned on.</a:t>
            </a:r>
          </a:p>
        </p:txBody>
      </p:sp>
    </p:spTree>
    <p:extLst>
      <p:ext uri="{BB962C8B-B14F-4D97-AF65-F5344CB8AC3E}">
        <p14:creationId xmlns:p14="http://schemas.microsoft.com/office/powerpoint/2010/main" val="4288779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B1D487-578C-4E84-EBF9-866089217F9E}"/>
              </a:ext>
            </a:extLst>
          </p:cNvPr>
          <p:cNvSpPr txBox="1"/>
          <p:nvPr/>
        </p:nvSpPr>
        <p:spPr>
          <a:xfrm>
            <a:off x="650609" y="1100596"/>
            <a:ext cx="3270781"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How far out past the coastline does U.S. airspace extend?</a:t>
            </a:r>
          </a:p>
          <a:p>
            <a:pPr marL="0" marR="0" algn="ctr">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AIM 3-2-6 (d)(1)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DAB9BF0-CA0D-6D2F-4173-E58B43A78BF9}"/>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2" name="Rectangle 1">
            <a:extLst>
              <a:ext uri="{FF2B5EF4-FFF2-40B4-BE49-F238E27FC236}">
                <a16:creationId xmlns:a16="http://schemas.microsoft.com/office/drawing/2014/main" id="{7574F418-F10F-DE37-66FB-B73CEBBD6DB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376BE5C-191B-34E0-9414-9A88EC979D0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72063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CB85B8-1CFE-20A6-1BC0-90DA91DCB7C2}"/>
              </a:ext>
            </a:extLst>
          </p:cNvPr>
          <p:cNvSpPr txBox="1"/>
          <p:nvPr/>
        </p:nvSpPr>
        <p:spPr>
          <a:xfrm>
            <a:off x="906266" y="583706"/>
            <a:ext cx="2759468" cy="1003031"/>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12nm.</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Incidentally, 12nm also defines the beginning of international waters.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CF8F8DF-2D85-08D5-70FE-6B8A2C800B2D}"/>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Tree>
    <p:extLst>
      <p:ext uri="{BB962C8B-B14F-4D97-AF65-F5344CB8AC3E}">
        <p14:creationId xmlns:p14="http://schemas.microsoft.com/office/powerpoint/2010/main" val="4279456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FA5831-9AFF-6045-2FDD-384156A215FB}"/>
              </a:ext>
            </a:extLst>
          </p:cNvPr>
          <p:cNvSpPr txBox="1"/>
          <p:nvPr/>
        </p:nvSpPr>
        <p:spPr>
          <a:xfrm>
            <a:off x="404282" y="1002039"/>
            <a:ext cx="1778460" cy="523220"/>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What class airspace is around KGCK?</a:t>
            </a:r>
            <a:endParaRPr lang="en-US" sz="1400" dirty="0"/>
          </a:p>
        </p:txBody>
      </p:sp>
      <p:sp>
        <p:nvSpPr>
          <p:cNvPr id="2" name="TextBox 1">
            <a:extLst>
              <a:ext uri="{FF2B5EF4-FFF2-40B4-BE49-F238E27FC236}">
                <a16:creationId xmlns:a16="http://schemas.microsoft.com/office/drawing/2014/main" id="{4599B06A-0692-9745-FEEF-9DCE7D0B7549}"/>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3" name="Rectangle 2">
            <a:extLst>
              <a:ext uri="{FF2B5EF4-FFF2-40B4-BE49-F238E27FC236}">
                <a16:creationId xmlns:a16="http://schemas.microsoft.com/office/drawing/2014/main" id="{57120404-01EC-7578-B919-3ED5E7E0E98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567F72F-0803-4117-390A-972352BE890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pic>
        <p:nvPicPr>
          <p:cNvPr id="8" name="Picture 7">
            <a:extLst>
              <a:ext uri="{FF2B5EF4-FFF2-40B4-BE49-F238E27FC236}">
                <a16:creationId xmlns:a16="http://schemas.microsoft.com/office/drawing/2014/main" id="{950B894A-E20B-D48D-5621-312549C068C5}"/>
              </a:ext>
            </a:extLst>
          </p:cNvPr>
          <p:cNvPicPr>
            <a:picLocks noChangeAspect="1"/>
          </p:cNvPicPr>
          <p:nvPr/>
        </p:nvPicPr>
        <p:blipFill>
          <a:blip r:embed="rId2"/>
          <a:stretch>
            <a:fillRect/>
          </a:stretch>
        </p:blipFill>
        <p:spPr>
          <a:xfrm>
            <a:off x="2317613" y="413440"/>
            <a:ext cx="1921012" cy="1700417"/>
          </a:xfrm>
          <a:prstGeom prst="rect">
            <a:avLst/>
          </a:prstGeom>
        </p:spPr>
      </p:pic>
    </p:spTree>
    <p:extLst>
      <p:ext uri="{BB962C8B-B14F-4D97-AF65-F5344CB8AC3E}">
        <p14:creationId xmlns:p14="http://schemas.microsoft.com/office/powerpoint/2010/main" val="3740200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0F7721-E8C2-2DB9-6657-C1DCFF6F37B9}"/>
              </a:ext>
            </a:extLst>
          </p:cNvPr>
          <p:cNvSpPr txBox="1"/>
          <p:nvPr/>
        </p:nvSpPr>
        <p:spPr>
          <a:xfrm>
            <a:off x="166688" y="457132"/>
            <a:ext cx="2233613" cy="1938992"/>
          </a:xfrm>
          <a:prstGeom prst="rect">
            <a:avLst/>
          </a:prstGeom>
          <a:noFill/>
        </p:spPr>
        <p:txBody>
          <a:bodyPr wrap="square">
            <a:spAutoFit/>
          </a:bodyPr>
          <a:lstStyle/>
          <a:p>
            <a:pPr algn="just"/>
            <a:r>
              <a:rPr lang="en-US" sz="1000" dirty="0">
                <a:latin typeface="Times New Roman" panose="02020603050405020304" pitchFamily="18" charset="0"/>
              </a:rPr>
              <a:t>The blue dashed circle tells us KGCK is Class D. The gradient magenta line says the Class E around KGCK drops to 700 AGL. The dashed magenta line means the Class E goes to the surface within those areas.</a:t>
            </a:r>
          </a:p>
          <a:p>
            <a:endParaRPr lang="en-US" sz="1000" dirty="0">
              <a:latin typeface="Times New Roman" panose="02020603050405020304" pitchFamily="18" charset="0"/>
            </a:endParaRPr>
          </a:p>
          <a:p>
            <a:pPr algn="just"/>
            <a:r>
              <a:rPr lang="en-US" sz="1000" dirty="0">
                <a:latin typeface="Times New Roman" panose="02020603050405020304" pitchFamily="18" charset="0"/>
              </a:rPr>
              <a:t>Notice the asterisks in the airport info block? This means the tower is part time. The KGCK Class D reverts to Class E to the surface when the tower is closed.</a:t>
            </a:r>
            <a:endParaRPr lang="en-US" sz="1000" dirty="0"/>
          </a:p>
        </p:txBody>
      </p:sp>
      <p:sp>
        <p:nvSpPr>
          <p:cNvPr id="3" name="TextBox 2">
            <a:extLst>
              <a:ext uri="{FF2B5EF4-FFF2-40B4-BE49-F238E27FC236}">
                <a16:creationId xmlns:a16="http://schemas.microsoft.com/office/drawing/2014/main" id="{E499C6EA-8AD0-2421-48A8-AC8DCDB95FEB}"/>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pic>
        <p:nvPicPr>
          <p:cNvPr id="7" name="Picture 6">
            <a:extLst>
              <a:ext uri="{FF2B5EF4-FFF2-40B4-BE49-F238E27FC236}">
                <a16:creationId xmlns:a16="http://schemas.microsoft.com/office/drawing/2014/main" id="{7F9E3727-2FEB-584A-1A01-57A1076A3E2F}"/>
              </a:ext>
            </a:extLst>
          </p:cNvPr>
          <p:cNvPicPr>
            <a:picLocks noChangeAspect="1"/>
          </p:cNvPicPr>
          <p:nvPr/>
        </p:nvPicPr>
        <p:blipFill>
          <a:blip r:embed="rId2"/>
          <a:stretch>
            <a:fillRect/>
          </a:stretch>
        </p:blipFill>
        <p:spPr>
          <a:xfrm>
            <a:off x="2517638" y="457132"/>
            <a:ext cx="1921012" cy="1700417"/>
          </a:xfrm>
          <a:prstGeom prst="rect">
            <a:avLst/>
          </a:prstGeom>
        </p:spPr>
      </p:pic>
    </p:spTree>
    <p:extLst>
      <p:ext uri="{BB962C8B-B14F-4D97-AF65-F5344CB8AC3E}">
        <p14:creationId xmlns:p14="http://schemas.microsoft.com/office/powerpoint/2010/main" val="3962519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4EB340-5881-C101-C38F-10BB855AD72A}"/>
              </a:ext>
            </a:extLst>
          </p:cNvPr>
          <p:cNvSpPr txBox="1"/>
          <p:nvPr/>
        </p:nvSpPr>
        <p:spPr>
          <a:xfrm>
            <a:off x="249933" y="832634"/>
            <a:ext cx="1685107" cy="1169551"/>
          </a:xfrm>
          <a:prstGeom prst="rect">
            <a:avLst/>
          </a:prstGeom>
          <a:noFill/>
        </p:spPr>
        <p:txBody>
          <a:bodyPr wrap="square">
            <a:spAutoFit/>
          </a:bodyPr>
          <a:lstStyle/>
          <a:p>
            <a:r>
              <a:rPr lang="en-US" sz="1400" dirty="0">
                <a:solidFill>
                  <a:srgbClr val="000000"/>
                </a:solidFill>
                <a:latin typeface="Times New Roman" panose="02020603050405020304" pitchFamily="18" charset="0"/>
              </a:rPr>
              <a:t>You’re flying into KLCQ on a cool and refreshing Sunday. What equipment do you need?</a:t>
            </a:r>
            <a:endParaRPr lang="en-US" sz="1400" dirty="0"/>
          </a:p>
        </p:txBody>
      </p:sp>
      <p:sp>
        <p:nvSpPr>
          <p:cNvPr id="2" name="TextBox 1">
            <a:extLst>
              <a:ext uri="{FF2B5EF4-FFF2-40B4-BE49-F238E27FC236}">
                <a16:creationId xmlns:a16="http://schemas.microsoft.com/office/drawing/2014/main" id="{F9C77DB6-11B7-01E2-912A-770C362E8ABB}"/>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sp>
        <p:nvSpPr>
          <p:cNvPr id="3" name="Rectangle 2">
            <a:extLst>
              <a:ext uri="{FF2B5EF4-FFF2-40B4-BE49-F238E27FC236}">
                <a16:creationId xmlns:a16="http://schemas.microsoft.com/office/drawing/2014/main" id="{2708A6A3-001E-817C-CD02-4584284E1D8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8056280-D56D-68E4-253C-F8D49355A1B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pic>
        <p:nvPicPr>
          <p:cNvPr id="8" name="Picture 7">
            <a:extLst>
              <a:ext uri="{FF2B5EF4-FFF2-40B4-BE49-F238E27FC236}">
                <a16:creationId xmlns:a16="http://schemas.microsoft.com/office/drawing/2014/main" id="{5542443F-4565-BE68-1A85-D56DCFB5811B}"/>
              </a:ext>
            </a:extLst>
          </p:cNvPr>
          <p:cNvPicPr>
            <a:picLocks noChangeAspect="1"/>
          </p:cNvPicPr>
          <p:nvPr/>
        </p:nvPicPr>
        <p:blipFill>
          <a:blip r:embed="rId2"/>
          <a:stretch>
            <a:fillRect/>
          </a:stretch>
        </p:blipFill>
        <p:spPr>
          <a:xfrm>
            <a:off x="2014537" y="311066"/>
            <a:ext cx="2159015" cy="1899563"/>
          </a:xfrm>
          <a:prstGeom prst="rect">
            <a:avLst/>
          </a:prstGeom>
        </p:spPr>
      </p:pic>
    </p:spTree>
    <p:extLst>
      <p:ext uri="{BB962C8B-B14F-4D97-AF65-F5344CB8AC3E}">
        <p14:creationId xmlns:p14="http://schemas.microsoft.com/office/powerpoint/2010/main" val="3980857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051E21-563E-69B2-DF6F-387F9D45853D}"/>
              </a:ext>
            </a:extLst>
          </p:cNvPr>
          <p:cNvSpPr txBox="1"/>
          <p:nvPr/>
        </p:nvSpPr>
        <p:spPr>
          <a:xfrm>
            <a:off x="286708" y="404612"/>
            <a:ext cx="3978110" cy="646331"/>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If you review the Chart Supplement (AF/D) you’ll see the tower is closed on Sundays so there is no Class D. Therefore, no equipment is required.</a:t>
            </a:r>
            <a:endParaRPr lang="en-US" sz="1200" dirty="0"/>
          </a:p>
        </p:txBody>
      </p:sp>
      <p:sp>
        <p:nvSpPr>
          <p:cNvPr id="5" name="TextBox 4">
            <a:extLst>
              <a:ext uri="{FF2B5EF4-FFF2-40B4-BE49-F238E27FC236}">
                <a16:creationId xmlns:a16="http://schemas.microsoft.com/office/drawing/2014/main" id="{7EDC7E59-FFC6-1089-0629-93AD2C253C20}"/>
              </a:ext>
            </a:extLst>
          </p:cNvPr>
          <p:cNvSpPr txBox="1"/>
          <p:nvPr/>
        </p:nvSpPr>
        <p:spPr>
          <a:xfrm>
            <a:off x="265329" y="1876923"/>
            <a:ext cx="4041341" cy="461665"/>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Note: With that being said, if you have an installed and operable transponder, it must be on.</a:t>
            </a:r>
            <a:endParaRPr lang="en-US" sz="1200" dirty="0"/>
          </a:p>
        </p:txBody>
      </p:sp>
      <p:sp>
        <p:nvSpPr>
          <p:cNvPr id="3" name="TextBox 2">
            <a:extLst>
              <a:ext uri="{FF2B5EF4-FFF2-40B4-BE49-F238E27FC236}">
                <a16:creationId xmlns:a16="http://schemas.microsoft.com/office/drawing/2014/main" id="{91C3DE34-997C-6498-17A3-00AC04B32CE0}"/>
              </a:ext>
            </a:extLst>
          </p:cNvPr>
          <p:cNvSpPr txBox="1"/>
          <p:nvPr/>
        </p:nvSpPr>
        <p:spPr>
          <a:xfrm>
            <a:off x="44450" y="57150"/>
            <a:ext cx="662361"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Airspace</a:t>
            </a:r>
          </a:p>
        </p:txBody>
      </p:sp>
      <p:pic>
        <p:nvPicPr>
          <p:cNvPr id="7" name="Picture 6">
            <a:extLst>
              <a:ext uri="{FF2B5EF4-FFF2-40B4-BE49-F238E27FC236}">
                <a16:creationId xmlns:a16="http://schemas.microsoft.com/office/drawing/2014/main" id="{96479500-9289-B596-2BC0-D8703D24413E}"/>
              </a:ext>
            </a:extLst>
          </p:cNvPr>
          <p:cNvPicPr>
            <a:picLocks noChangeAspect="1"/>
          </p:cNvPicPr>
          <p:nvPr/>
        </p:nvPicPr>
        <p:blipFill>
          <a:blip r:embed="rId2"/>
          <a:stretch>
            <a:fillRect/>
          </a:stretch>
        </p:blipFill>
        <p:spPr>
          <a:xfrm>
            <a:off x="307180" y="1223310"/>
            <a:ext cx="3957638" cy="468948"/>
          </a:xfrm>
          <a:prstGeom prst="rect">
            <a:avLst/>
          </a:prstGeom>
        </p:spPr>
      </p:pic>
    </p:spTree>
    <p:extLst>
      <p:ext uri="{BB962C8B-B14F-4D97-AF65-F5344CB8AC3E}">
        <p14:creationId xmlns:p14="http://schemas.microsoft.com/office/powerpoint/2010/main" val="20697774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1183</Words>
  <Application>Microsoft Office PowerPoint</Application>
  <PresentationFormat>Custom</PresentationFormat>
  <Paragraphs>149</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2025-11-08T21:57:41Z</dcterms:modified>
</cp:coreProperties>
</file>