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798" r:id="rId2"/>
    <p:sldId id="799" r:id="rId3"/>
    <p:sldId id="606" r:id="rId4"/>
    <p:sldId id="607" r:id="rId5"/>
    <p:sldId id="516" r:id="rId6"/>
    <p:sldId id="517" r:id="rId7"/>
    <p:sldId id="532" r:id="rId8"/>
    <p:sldId id="533" r:id="rId9"/>
    <p:sldId id="491" r:id="rId10"/>
    <p:sldId id="492" r:id="rId11"/>
    <p:sldId id="493" r:id="rId12"/>
    <p:sldId id="494" r:id="rId13"/>
    <p:sldId id="522" r:id="rId14"/>
    <p:sldId id="523" r:id="rId15"/>
    <p:sldId id="524" r:id="rId16"/>
    <p:sldId id="525" r:id="rId17"/>
    <p:sldId id="704" r:id="rId18"/>
    <p:sldId id="705" r:id="rId19"/>
    <p:sldId id="640" r:id="rId20"/>
    <p:sldId id="641" r:id="rId21"/>
    <p:sldId id="526" r:id="rId22"/>
    <p:sldId id="527" r:id="rId23"/>
    <p:sldId id="528" r:id="rId24"/>
    <p:sldId id="529" r:id="rId25"/>
    <p:sldId id="540" r:id="rId26"/>
    <p:sldId id="541" r:id="rId27"/>
    <p:sldId id="552" r:id="rId28"/>
    <p:sldId id="553" r:id="rId29"/>
    <p:sldId id="574" r:id="rId30"/>
    <p:sldId id="575" r:id="rId31"/>
    <p:sldId id="554" r:id="rId32"/>
    <p:sldId id="555" r:id="rId33"/>
    <p:sldId id="485" r:id="rId34"/>
    <p:sldId id="486" r:id="rId35"/>
    <p:sldId id="487" r:id="rId36"/>
    <p:sldId id="488" r:id="rId37"/>
    <p:sldId id="702" r:id="rId38"/>
    <p:sldId id="703" r:id="rId39"/>
    <p:sldId id="433" r:id="rId40"/>
    <p:sldId id="434" r:id="rId41"/>
    <p:sldId id="381" r:id="rId42"/>
    <p:sldId id="382" r:id="rId43"/>
    <p:sldId id="544" r:id="rId44"/>
    <p:sldId id="545" r:id="rId45"/>
    <p:sldId id="644" r:id="rId46"/>
    <p:sldId id="645" r:id="rId47"/>
    <p:sldId id="642" r:id="rId48"/>
    <p:sldId id="643" r:id="rId49"/>
    <p:sldId id="333" r:id="rId50"/>
    <p:sldId id="334" r:id="rId51"/>
    <p:sldId id="753" r:id="rId52"/>
    <p:sldId id="754" r:id="rId53"/>
    <p:sldId id="369" r:id="rId54"/>
    <p:sldId id="370" r:id="rId55"/>
    <p:sldId id="477" r:id="rId56"/>
    <p:sldId id="478" r:id="rId57"/>
    <p:sldId id="672" r:id="rId58"/>
    <p:sldId id="673" r:id="rId59"/>
    <p:sldId id="337" r:id="rId60"/>
    <p:sldId id="338" r:id="rId61"/>
    <p:sldId id="347" r:id="rId62"/>
    <p:sldId id="348" r:id="rId63"/>
    <p:sldId id="349" r:id="rId64"/>
    <p:sldId id="350" r:id="rId65"/>
    <p:sldId id="361" r:id="rId66"/>
    <p:sldId id="362" r:id="rId67"/>
    <p:sldId id="363" r:id="rId68"/>
    <p:sldId id="364" r:id="rId69"/>
    <p:sldId id="365" r:id="rId70"/>
    <p:sldId id="366" r:id="rId71"/>
    <p:sldId id="373" r:id="rId72"/>
    <p:sldId id="374" r:id="rId73"/>
    <p:sldId id="895" r:id="rId74"/>
    <p:sldId id="896" r:id="rId75"/>
    <p:sldId id="582" r:id="rId76"/>
    <p:sldId id="583" r:id="rId77"/>
    <p:sldId id="584" r:id="rId78"/>
    <p:sldId id="585" r:id="rId79"/>
    <p:sldId id="748" r:id="rId80"/>
    <p:sldId id="749" r:id="rId81"/>
    <p:sldId id="556" r:id="rId82"/>
    <p:sldId id="557" r:id="rId83"/>
  </p:sldIdLst>
  <p:sldSz cx="4572000" cy="27432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201" d="100"/>
          <a:sy n="201" d="100"/>
        </p:scale>
        <p:origin x="1050" y="156"/>
      </p:cViewPr>
      <p:guideLst/>
    </p:cSldViewPr>
  </p:slideViewPr>
  <p:notesTextViewPr>
    <p:cViewPr>
      <p:scale>
        <a:sx n="1" d="1"/>
        <a:sy n="1" d="1"/>
      </p:scale>
      <p:origin x="0" y="0"/>
    </p:cViewPr>
  </p:notesTextViewPr>
  <p:sorterViewPr>
    <p:cViewPr>
      <p:scale>
        <a:sx n="200" d="100"/>
        <a:sy n="200" d="100"/>
      </p:scale>
      <p:origin x="0" y="-2632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71500" y="448945"/>
            <a:ext cx="3429000" cy="955040"/>
          </a:xfrm>
          <a:prstGeom prst="rect">
            <a:avLst/>
          </a:prstGeom>
        </p:spPr>
        <p:txBody>
          <a:bodyPr anchor="b"/>
          <a:lstStyle>
            <a:lvl1pPr algn="ctr">
              <a:defRPr sz="2250"/>
            </a:lvl1pPr>
          </a:lstStyle>
          <a:p>
            <a:r>
              <a:rPr lang="en-US"/>
              <a:t>Click to edit Master title style</a:t>
            </a:r>
            <a:endParaRPr lang="en-US" dirty="0"/>
          </a:p>
        </p:txBody>
      </p:sp>
      <p:sp>
        <p:nvSpPr>
          <p:cNvPr id="3" name="Subtitle 2"/>
          <p:cNvSpPr>
            <a:spLocks noGrp="1"/>
          </p:cNvSpPr>
          <p:nvPr>
            <p:ph type="subTitle" idx="1"/>
          </p:nvPr>
        </p:nvSpPr>
        <p:spPr>
          <a:xfrm>
            <a:off x="571500" y="1440815"/>
            <a:ext cx="3429000" cy="662305"/>
          </a:xfrm>
          <a:prstGeom prst="rect">
            <a:avLst/>
          </a:prstGeom>
        </p:spPr>
        <p:txBody>
          <a:bodyPr/>
          <a:lstStyle>
            <a:lvl1pPr marL="0" indent="0" algn="ctr">
              <a:buNone/>
              <a:defRPr sz="900"/>
            </a:lvl1pPr>
            <a:lvl2pPr marL="171450" indent="0" algn="ctr">
              <a:buNone/>
              <a:defRPr sz="750"/>
            </a:lvl2pPr>
            <a:lvl3pPr marL="342900" indent="0" algn="ctr">
              <a:buNone/>
              <a:defRPr sz="675"/>
            </a:lvl3pPr>
            <a:lvl4pPr marL="514350" indent="0" algn="ctr">
              <a:buNone/>
              <a:defRPr sz="600"/>
            </a:lvl4pPr>
            <a:lvl5pPr marL="685800" indent="0" algn="ctr">
              <a:buNone/>
              <a:defRPr sz="600"/>
            </a:lvl5pPr>
            <a:lvl6pPr marL="857250" indent="0" algn="ctr">
              <a:buNone/>
              <a:defRPr sz="600"/>
            </a:lvl6pPr>
            <a:lvl7pPr marL="1028700" indent="0" algn="ctr">
              <a:buNone/>
              <a:defRPr sz="600"/>
            </a:lvl7pPr>
            <a:lvl8pPr marL="1200150" indent="0" algn="ctr">
              <a:buNone/>
              <a:defRPr sz="600"/>
            </a:lvl8pPr>
            <a:lvl9pPr marL="1371600" indent="0" algn="ctr">
              <a:buNone/>
              <a:defRPr sz="600"/>
            </a:lvl9pPr>
          </a:lstStyle>
          <a:p>
            <a:r>
              <a:rPr lang="en-US"/>
              <a:t>Click to edit Master subtitle style</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3642634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314325" y="730250"/>
            <a:ext cx="3943350" cy="17405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961517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11944" y="683895"/>
            <a:ext cx="3943350" cy="1141095"/>
          </a:xfrm>
          <a:prstGeom prst="rect">
            <a:avLst/>
          </a:prstGeom>
        </p:spPr>
        <p:txBody>
          <a:bodyPr anchor="b"/>
          <a:lstStyle>
            <a:lvl1pPr>
              <a:defRPr sz="2250"/>
            </a:lvl1pPr>
          </a:lstStyle>
          <a:p>
            <a:r>
              <a:rPr lang="en-US"/>
              <a:t>Click to edit Master title style</a:t>
            </a:r>
            <a:endParaRPr lang="en-US" dirty="0"/>
          </a:p>
        </p:txBody>
      </p:sp>
      <p:sp>
        <p:nvSpPr>
          <p:cNvPr id="3" name="Text Placeholder 2"/>
          <p:cNvSpPr>
            <a:spLocks noGrp="1"/>
          </p:cNvSpPr>
          <p:nvPr>
            <p:ph type="body" idx="1"/>
          </p:nvPr>
        </p:nvSpPr>
        <p:spPr>
          <a:xfrm>
            <a:off x="311944" y="1835785"/>
            <a:ext cx="3943350" cy="600075"/>
          </a:xfrm>
          <a:prstGeom prst="rect">
            <a:avLst/>
          </a:prstGeom>
        </p:spPr>
        <p:txBody>
          <a:bodyPr/>
          <a:lstStyle>
            <a:lvl1pPr marL="0" indent="0">
              <a:buNone/>
              <a:defRPr sz="900">
                <a:solidFill>
                  <a:schemeClr val="tx1">
                    <a:tint val="75000"/>
                  </a:schemeClr>
                </a:solidFill>
              </a:defRPr>
            </a:lvl1pPr>
            <a:lvl2pPr marL="171450" indent="0">
              <a:buNone/>
              <a:defRPr sz="750">
                <a:solidFill>
                  <a:schemeClr val="tx1">
                    <a:tint val="75000"/>
                  </a:schemeClr>
                </a:solidFill>
              </a:defRPr>
            </a:lvl2pPr>
            <a:lvl3pPr marL="342900" indent="0">
              <a:buNone/>
              <a:defRPr sz="675">
                <a:solidFill>
                  <a:schemeClr val="tx1">
                    <a:tint val="75000"/>
                  </a:schemeClr>
                </a:solidFill>
              </a:defRPr>
            </a:lvl3pPr>
            <a:lvl4pPr marL="514350" indent="0">
              <a:buNone/>
              <a:defRPr sz="600">
                <a:solidFill>
                  <a:schemeClr val="tx1">
                    <a:tint val="75000"/>
                  </a:schemeClr>
                </a:solidFill>
              </a:defRPr>
            </a:lvl4pPr>
            <a:lvl5pPr marL="685800" indent="0">
              <a:buNone/>
              <a:defRPr sz="600">
                <a:solidFill>
                  <a:schemeClr val="tx1">
                    <a:tint val="75000"/>
                  </a:schemeClr>
                </a:solidFill>
              </a:defRPr>
            </a:lvl5pPr>
            <a:lvl6pPr marL="857250" indent="0">
              <a:buNone/>
              <a:defRPr sz="600">
                <a:solidFill>
                  <a:schemeClr val="tx1">
                    <a:tint val="75000"/>
                  </a:schemeClr>
                </a:solidFill>
              </a:defRPr>
            </a:lvl6pPr>
            <a:lvl7pPr marL="1028700" indent="0">
              <a:buNone/>
              <a:defRPr sz="600">
                <a:solidFill>
                  <a:schemeClr val="tx1">
                    <a:tint val="75000"/>
                  </a:schemeClr>
                </a:solidFill>
              </a:defRPr>
            </a:lvl7pPr>
            <a:lvl8pPr marL="1200150" indent="0">
              <a:buNone/>
              <a:defRPr sz="600">
                <a:solidFill>
                  <a:schemeClr val="tx1">
                    <a:tint val="75000"/>
                  </a:schemeClr>
                </a:solidFill>
              </a:defRPr>
            </a:lvl8pPr>
            <a:lvl9pPr marL="1371600" indent="0">
              <a:buNone/>
              <a:defRPr sz="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490374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314325" y="730250"/>
            <a:ext cx="1943100" cy="17405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314575" y="730250"/>
            <a:ext cx="1943100" cy="17405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6" name="Footer Placeholder 5"/>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7" name="Slide Number Placeholder 6"/>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262417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14921" y="146050"/>
            <a:ext cx="3943350" cy="530225"/>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314921" y="672465"/>
            <a:ext cx="1934170" cy="329565"/>
          </a:xfrm>
          <a:prstGeom prst="rect">
            <a:avLst/>
          </a:prstGeom>
        </p:spPr>
        <p:txBody>
          <a:bodyPr anchor="b"/>
          <a:lstStyle>
            <a:lvl1pPr marL="0" indent="0">
              <a:buNone/>
              <a:defRPr sz="900" b="1"/>
            </a:lvl1pPr>
            <a:lvl2pPr marL="171450" indent="0">
              <a:buNone/>
              <a:defRPr sz="750" b="1"/>
            </a:lvl2pPr>
            <a:lvl3pPr marL="342900" indent="0">
              <a:buNone/>
              <a:defRPr sz="675" b="1"/>
            </a:lvl3pPr>
            <a:lvl4pPr marL="514350" indent="0">
              <a:buNone/>
              <a:defRPr sz="600" b="1"/>
            </a:lvl4pPr>
            <a:lvl5pPr marL="685800" indent="0">
              <a:buNone/>
              <a:defRPr sz="600" b="1"/>
            </a:lvl5pPr>
            <a:lvl6pPr marL="857250" indent="0">
              <a:buNone/>
              <a:defRPr sz="600" b="1"/>
            </a:lvl6pPr>
            <a:lvl7pPr marL="1028700" indent="0">
              <a:buNone/>
              <a:defRPr sz="600" b="1"/>
            </a:lvl7pPr>
            <a:lvl8pPr marL="1200150" indent="0">
              <a:buNone/>
              <a:defRPr sz="600" b="1"/>
            </a:lvl8pPr>
            <a:lvl9pPr marL="1371600" indent="0">
              <a:buNone/>
              <a:defRPr sz="600" b="1"/>
            </a:lvl9pPr>
          </a:lstStyle>
          <a:p>
            <a:pPr lvl="0"/>
            <a:r>
              <a:rPr lang="en-US"/>
              <a:t>Click to edit Master text styles</a:t>
            </a:r>
          </a:p>
        </p:txBody>
      </p:sp>
      <p:sp>
        <p:nvSpPr>
          <p:cNvPr id="4" name="Content Placeholder 3"/>
          <p:cNvSpPr>
            <a:spLocks noGrp="1"/>
          </p:cNvSpPr>
          <p:nvPr>
            <p:ph sz="half" idx="2"/>
          </p:nvPr>
        </p:nvSpPr>
        <p:spPr>
          <a:xfrm>
            <a:off x="314921" y="1002030"/>
            <a:ext cx="1934170" cy="14738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314575" y="672465"/>
            <a:ext cx="1943696" cy="329565"/>
          </a:xfrm>
          <a:prstGeom prst="rect">
            <a:avLst/>
          </a:prstGeom>
        </p:spPr>
        <p:txBody>
          <a:bodyPr anchor="b"/>
          <a:lstStyle>
            <a:lvl1pPr marL="0" indent="0">
              <a:buNone/>
              <a:defRPr sz="900" b="1"/>
            </a:lvl1pPr>
            <a:lvl2pPr marL="171450" indent="0">
              <a:buNone/>
              <a:defRPr sz="750" b="1"/>
            </a:lvl2pPr>
            <a:lvl3pPr marL="342900" indent="0">
              <a:buNone/>
              <a:defRPr sz="675" b="1"/>
            </a:lvl3pPr>
            <a:lvl4pPr marL="514350" indent="0">
              <a:buNone/>
              <a:defRPr sz="600" b="1"/>
            </a:lvl4pPr>
            <a:lvl5pPr marL="685800" indent="0">
              <a:buNone/>
              <a:defRPr sz="600" b="1"/>
            </a:lvl5pPr>
            <a:lvl6pPr marL="857250" indent="0">
              <a:buNone/>
              <a:defRPr sz="600" b="1"/>
            </a:lvl6pPr>
            <a:lvl7pPr marL="1028700" indent="0">
              <a:buNone/>
              <a:defRPr sz="600" b="1"/>
            </a:lvl7pPr>
            <a:lvl8pPr marL="1200150" indent="0">
              <a:buNone/>
              <a:defRPr sz="600" b="1"/>
            </a:lvl8pPr>
            <a:lvl9pPr marL="1371600" indent="0">
              <a:buNone/>
              <a:defRPr sz="600" b="1"/>
            </a:lvl9pPr>
          </a:lstStyle>
          <a:p>
            <a:pPr lvl="0"/>
            <a:r>
              <a:rPr lang="en-US"/>
              <a:t>Click to edit Master text styles</a:t>
            </a:r>
          </a:p>
        </p:txBody>
      </p:sp>
      <p:sp>
        <p:nvSpPr>
          <p:cNvPr id="6" name="Content Placeholder 5"/>
          <p:cNvSpPr>
            <a:spLocks noGrp="1"/>
          </p:cNvSpPr>
          <p:nvPr>
            <p:ph sz="quarter" idx="4"/>
          </p:nvPr>
        </p:nvSpPr>
        <p:spPr>
          <a:xfrm>
            <a:off x="2314575" y="1002030"/>
            <a:ext cx="1943696" cy="14738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8" name="Footer Placeholder 7"/>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9" name="Slide Number Placeholder 8"/>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2740136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4" name="Footer Placeholder 3"/>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5" name="Slide Number Placeholder 4"/>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2115089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3" name="Footer Placeholder 2"/>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4" name="Slide Number Placeholder 3"/>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769017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14921" y="182880"/>
            <a:ext cx="1474589" cy="640080"/>
          </a:xfrm>
          <a:prstGeom prst="rect">
            <a:avLst/>
          </a:prstGeom>
        </p:spPr>
        <p:txBody>
          <a:bodyPr anchor="b"/>
          <a:lstStyle>
            <a:lvl1pPr>
              <a:defRPr sz="1200"/>
            </a:lvl1pPr>
          </a:lstStyle>
          <a:p>
            <a:r>
              <a:rPr lang="en-US"/>
              <a:t>Click to edit Master title style</a:t>
            </a:r>
            <a:endParaRPr lang="en-US" dirty="0"/>
          </a:p>
        </p:txBody>
      </p:sp>
      <p:sp>
        <p:nvSpPr>
          <p:cNvPr id="3" name="Content Placeholder 2"/>
          <p:cNvSpPr>
            <a:spLocks noGrp="1"/>
          </p:cNvSpPr>
          <p:nvPr>
            <p:ph idx="1"/>
          </p:nvPr>
        </p:nvSpPr>
        <p:spPr>
          <a:xfrm>
            <a:off x="1943695" y="394970"/>
            <a:ext cx="2314575" cy="1949450"/>
          </a:xfrm>
          <a:prstGeom prst="rect">
            <a:avLst/>
          </a:prstGeom>
        </p:spPr>
        <p:txBody>
          <a:bodyPr/>
          <a:lstStyle>
            <a:lvl1pPr>
              <a:defRPr sz="1200"/>
            </a:lvl1pPr>
            <a:lvl2pPr>
              <a:defRPr sz="1050"/>
            </a:lvl2pPr>
            <a:lvl3pPr>
              <a:defRPr sz="900"/>
            </a:lvl3pPr>
            <a:lvl4pPr>
              <a:defRPr sz="750"/>
            </a:lvl4pPr>
            <a:lvl5pPr>
              <a:defRPr sz="750"/>
            </a:lvl5pPr>
            <a:lvl6pPr>
              <a:defRPr sz="750"/>
            </a:lvl6pPr>
            <a:lvl7pPr>
              <a:defRPr sz="750"/>
            </a:lvl7pPr>
            <a:lvl8pPr>
              <a:defRPr sz="750"/>
            </a:lvl8pPr>
            <a:lvl9pPr>
              <a:defRPr sz="7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14921" y="822960"/>
            <a:ext cx="1474589" cy="1524635"/>
          </a:xfrm>
          <a:prstGeom prst="rect">
            <a:avLst/>
          </a:prstGeom>
        </p:spPr>
        <p:txBody>
          <a:bodyPr/>
          <a:lstStyle>
            <a:lvl1pPr marL="0" indent="0">
              <a:buNone/>
              <a:defRPr sz="600"/>
            </a:lvl1pPr>
            <a:lvl2pPr marL="171450" indent="0">
              <a:buNone/>
              <a:defRPr sz="525"/>
            </a:lvl2pPr>
            <a:lvl3pPr marL="342900" indent="0">
              <a:buNone/>
              <a:defRPr sz="450"/>
            </a:lvl3pPr>
            <a:lvl4pPr marL="514350" indent="0">
              <a:buNone/>
              <a:defRPr sz="375"/>
            </a:lvl4pPr>
            <a:lvl5pPr marL="685800" indent="0">
              <a:buNone/>
              <a:defRPr sz="375"/>
            </a:lvl5pPr>
            <a:lvl6pPr marL="857250" indent="0">
              <a:buNone/>
              <a:defRPr sz="375"/>
            </a:lvl6pPr>
            <a:lvl7pPr marL="1028700" indent="0">
              <a:buNone/>
              <a:defRPr sz="375"/>
            </a:lvl7pPr>
            <a:lvl8pPr marL="1200150" indent="0">
              <a:buNone/>
              <a:defRPr sz="375"/>
            </a:lvl8pPr>
            <a:lvl9pPr marL="1371600" indent="0">
              <a:buNone/>
              <a:defRPr sz="375"/>
            </a:lvl9pPr>
          </a:lstStyle>
          <a:p>
            <a:pPr lvl="0"/>
            <a:r>
              <a:rPr lang="en-US"/>
              <a:t>Click to edit Master text styles</a:t>
            </a:r>
          </a:p>
        </p:txBody>
      </p:sp>
      <p:sp>
        <p:nvSpPr>
          <p:cNvPr id="5" name="Date Placeholder 4"/>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6" name="Footer Placeholder 5"/>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7" name="Slide Number Placeholder 6"/>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195399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14921" y="182880"/>
            <a:ext cx="1474589" cy="640080"/>
          </a:xfrm>
          <a:prstGeom prst="rect">
            <a:avLst/>
          </a:prstGeom>
        </p:spPr>
        <p:txBody>
          <a:bodyPr anchor="b"/>
          <a:lstStyle>
            <a:lvl1pPr>
              <a:defRPr sz="1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3695" y="394970"/>
            <a:ext cx="2314575" cy="1949450"/>
          </a:xfrm>
          <a:prstGeom prst="rect">
            <a:avLst/>
          </a:prstGeom>
        </p:spPr>
        <p:txBody>
          <a:bodyPr anchor="t"/>
          <a:lstStyle>
            <a:lvl1pPr marL="0" indent="0">
              <a:buNone/>
              <a:defRPr sz="1200"/>
            </a:lvl1pPr>
            <a:lvl2pPr marL="171450" indent="0">
              <a:buNone/>
              <a:defRPr sz="1050"/>
            </a:lvl2pPr>
            <a:lvl3pPr marL="342900" indent="0">
              <a:buNone/>
              <a:defRPr sz="900"/>
            </a:lvl3pPr>
            <a:lvl4pPr marL="514350" indent="0">
              <a:buNone/>
              <a:defRPr sz="750"/>
            </a:lvl4pPr>
            <a:lvl5pPr marL="685800" indent="0">
              <a:buNone/>
              <a:defRPr sz="750"/>
            </a:lvl5pPr>
            <a:lvl6pPr marL="857250" indent="0">
              <a:buNone/>
              <a:defRPr sz="750"/>
            </a:lvl6pPr>
            <a:lvl7pPr marL="1028700" indent="0">
              <a:buNone/>
              <a:defRPr sz="750"/>
            </a:lvl7pPr>
            <a:lvl8pPr marL="1200150" indent="0">
              <a:buNone/>
              <a:defRPr sz="750"/>
            </a:lvl8pPr>
            <a:lvl9pPr marL="1371600" indent="0">
              <a:buNone/>
              <a:defRPr sz="750"/>
            </a:lvl9pPr>
          </a:lstStyle>
          <a:p>
            <a:r>
              <a:rPr lang="en-US" dirty="0"/>
              <a:t>Click icon to add picture</a:t>
            </a:r>
          </a:p>
        </p:txBody>
      </p:sp>
      <p:sp>
        <p:nvSpPr>
          <p:cNvPr id="4" name="Text Placeholder 3"/>
          <p:cNvSpPr>
            <a:spLocks noGrp="1"/>
          </p:cNvSpPr>
          <p:nvPr>
            <p:ph type="body" sz="half" idx="2"/>
          </p:nvPr>
        </p:nvSpPr>
        <p:spPr>
          <a:xfrm>
            <a:off x="314921" y="822960"/>
            <a:ext cx="1474589" cy="1524635"/>
          </a:xfrm>
          <a:prstGeom prst="rect">
            <a:avLst/>
          </a:prstGeom>
        </p:spPr>
        <p:txBody>
          <a:bodyPr/>
          <a:lstStyle>
            <a:lvl1pPr marL="0" indent="0">
              <a:buNone/>
              <a:defRPr sz="600"/>
            </a:lvl1pPr>
            <a:lvl2pPr marL="171450" indent="0">
              <a:buNone/>
              <a:defRPr sz="525"/>
            </a:lvl2pPr>
            <a:lvl3pPr marL="342900" indent="0">
              <a:buNone/>
              <a:defRPr sz="450"/>
            </a:lvl3pPr>
            <a:lvl4pPr marL="514350" indent="0">
              <a:buNone/>
              <a:defRPr sz="375"/>
            </a:lvl4pPr>
            <a:lvl5pPr marL="685800" indent="0">
              <a:buNone/>
              <a:defRPr sz="375"/>
            </a:lvl5pPr>
            <a:lvl6pPr marL="857250" indent="0">
              <a:buNone/>
              <a:defRPr sz="375"/>
            </a:lvl6pPr>
            <a:lvl7pPr marL="1028700" indent="0">
              <a:buNone/>
              <a:defRPr sz="375"/>
            </a:lvl7pPr>
            <a:lvl8pPr marL="1200150" indent="0">
              <a:buNone/>
              <a:defRPr sz="375"/>
            </a:lvl8pPr>
            <a:lvl9pPr marL="1371600" indent="0">
              <a:buNone/>
              <a:defRPr sz="375"/>
            </a:lvl9pPr>
          </a:lstStyle>
          <a:p>
            <a:pPr lvl="0"/>
            <a:r>
              <a:rPr lang="en-US"/>
              <a:t>Click to edit Master text styles</a:t>
            </a:r>
          </a:p>
        </p:txBody>
      </p:sp>
      <p:sp>
        <p:nvSpPr>
          <p:cNvPr id="5" name="Date Placeholder 4"/>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6" name="Footer Placeholder 5"/>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7" name="Slide Number Placeholder 6"/>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11024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314325" y="730250"/>
            <a:ext cx="3943350" cy="174053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755794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71837" y="146050"/>
            <a:ext cx="985838" cy="2324735"/>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14325" y="146050"/>
            <a:ext cx="2900363" cy="232473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7758245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8788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7A9946-5692-E818-A72E-A36AB2A2FEEA}"/>
              </a:ext>
            </a:extLst>
          </p:cNvPr>
          <p:cNvPicPr>
            <a:picLocks noChangeAspect="1"/>
          </p:cNvPicPr>
          <p:nvPr userDrawn="1"/>
        </p:nvPicPr>
        <p:blipFill>
          <a:blip r:embed="rId14">
            <a:clrChange>
              <a:clrFrom>
                <a:srgbClr val="FFFFFF"/>
              </a:clrFrom>
              <a:clrTo>
                <a:srgbClr val="FFFFFF">
                  <a:alpha val="0"/>
                </a:srgbClr>
              </a:clrTo>
            </a:clrChange>
          </a:blip>
          <a:stretch>
            <a:fillRect/>
          </a:stretch>
        </p:blipFill>
        <p:spPr>
          <a:xfrm>
            <a:off x="3700587" y="2403835"/>
            <a:ext cx="706443" cy="223451"/>
          </a:xfrm>
          <a:prstGeom prst="rect">
            <a:avLst/>
          </a:prstGeom>
        </p:spPr>
      </p:pic>
      <p:sp>
        <p:nvSpPr>
          <p:cNvPr id="4" name="TextBox 3">
            <a:extLst>
              <a:ext uri="{FF2B5EF4-FFF2-40B4-BE49-F238E27FC236}">
                <a16:creationId xmlns:a16="http://schemas.microsoft.com/office/drawing/2014/main" id="{DA4919B7-D03A-9B97-6C73-CC837D59682E}"/>
              </a:ext>
            </a:extLst>
          </p:cNvPr>
          <p:cNvSpPr txBox="1"/>
          <p:nvPr userDrawn="1"/>
        </p:nvSpPr>
        <p:spPr>
          <a:xfrm>
            <a:off x="4180007" y="2314225"/>
            <a:ext cx="325444" cy="261610"/>
          </a:xfrm>
          <a:prstGeom prst="rect">
            <a:avLst/>
          </a:prstGeom>
          <a:noFill/>
        </p:spPr>
        <p:txBody>
          <a:bodyPr wrap="square" rtlCol="0">
            <a:spAutoFit/>
          </a:bodyPr>
          <a:lstStyle/>
          <a:p>
            <a:pPr algn="r"/>
            <a:r>
              <a:rPr lang="en-US" sz="1100" dirty="0"/>
              <a:t>©</a:t>
            </a:r>
          </a:p>
        </p:txBody>
      </p:sp>
      <p:sp>
        <p:nvSpPr>
          <p:cNvPr id="2" name="TextBox 1">
            <a:extLst>
              <a:ext uri="{FF2B5EF4-FFF2-40B4-BE49-F238E27FC236}">
                <a16:creationId xmlns:a16="http://schemas.microsoft.com/office/drawing/2014/main" id="{0412EA83-402B-25E4-AC13-94DA49D0258B}"/>
              </a:ext>
            </a:extLst>
          </p:cNvPr>
          <p:cNvSpPr txBox="1"/>
          <p:nvPr userDrawn="1"/>
        </p:nvSpPr>
        <p:spPr>
          <a:xfrm>
            <a:off x="103694" y="2413266"/>
            <a:ext cx="1192955" cy="215444"/>
          </a:xfrm>
          <a:prstGeom prst="rect">
            <a:avLst/>
          </a:prstGeom>
          <a:noFill/>
        </p:spPr>
        <p:txBody>
          <a:bodyPr wrap="none" rtlCol="0">
            <a:spAutoFit/>
          </a:bodyPr>
          <a:lstStyle/>
          <a:p>
            <a:r>
              <a:rPr lang="en-US" sz="800" dirty="0"/>
              <a:t>triplesevenaviation.com</a:t>
            </a:r>
          </a:p>
        </p:txBody>
      </p:sp>
    </p:spTree>
    <p:extLst>
      <p:ext uri="{BB962C8B-B14F-4D97-AF65-F5344CB8AC3E}">
        <p14:creationId xmlns:p14="http://schemas.microsoft.com/office/powerpoint/2010/main" val="11431500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342900" rtl="0" eaLnBrk="1" latinLnBrk="0" hangingPunct="1">
        <a:lnSpc>
          <a:spcPct val="90000"/>
        </a:lnSpc>
        <a:spcBef>
          <a:spcPct val="0"/>
        </a:spcBef>
        <a:buNone/>
        <a:defRPr sz="1650" kern="1200">
          <a:solidFill>
            <a:schemeClr val="tx1"/>
          </a:solidFill>
          <a:latin typeface="+mj-lt"/>
          <a:ea typeface="+mj-ea"/>
          <a:cs typeface="+mj-cs"/>
        </a:defRPr>
      </a:lvl1pPr>
    </p:titleStyle>
    <p:bodyStyle>
      <a:lvl1pPr marL="85725" indent="-85725" algn="l" defTabSz="3429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1pPr>
      <a:lvl2pPr marL="257175" indent="-85725" algn="l" defTabSz="342900" rtl="0" eaLnBrk="1" latinLnBrk="0" hangingPunct="1">
        <a:lnSpc>
          <a:spcPct val="90000"/>
        </a:lnSpc>
        <a:spcBef>
          <a:spcPts val="188"/>
        </a:spcBef>
        <a:buFont typeface="Arial" panose="020B0604020202020204" pitchFamily="34" charset="0"/>
        <a:buChar char="•"/>
        <a:defRPr sz="900" kern="1200">
          <a:solidFill>
            <a:schemeClr val="tx1"/>
          </a:solidFill>
          <a:latin typeface="+mn-lt"/>
          <a:ea typeface="+mn-ea"/>
          <a:cs typeface="+mn-cs"/>
        </a:defRPr>
      </a:lvl2pPr>
      <a:lvl3pPr marL="428625" indent="-85725" algn="l" defTabSz="342900" rtl="0" eaLnBrk="1" latinLnBrk="0" hangingPunct="1">
        <a:lnSpc>
          <a:spcPct val="90000"/>
        </a:lnSpc>
        <a:spcBef>
          <a:spcPts val="188"/>
        </a:spcBef>
        <a:buFont typeface="Arial" panose="020B0604020202020204" pitchFamily="34" charset="0"/>
        <a:buChar char="•"/>
        <a:defRPr sz="750" kern="1200">
          <a:solidFill>
            <a:schemeClr val="tx1"/>
          </a:solidFill>
          <a:latin typeface="+mn-lt"/>
          <a:ea typeface="+mn-ea"/>
          <a:cs typeface="+mn-cs"/>
        </a:defRPr>
      </a:lvl3pPr>
      <a:lvl4pPr marL="60007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4pPr>
      <a:lvl5pPr marL="77152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5pPr>
      <a:lvl6pPr marL="94297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6pPr>
      <a:lvl7pPr marL="111442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7pPr>
      <a:lvl8pPr marL="128587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8pPr>
      <a:lvl9pPr marL="145732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9pPr>
    </p:bodyStyle>
    <p:otherStyle>
      <a:defPPr>
        <a:defRPr lang="en-US"/>
      </a:defPPr>
      <a:lvl1pPr marL="0" algn="l" defTabSz="342900" rtl="0" eaLnBrk="1" latinLnBrk="0" hangingPunct="1">
        <a:defRPr sz="675" kern="1200">
          <a:solidFill>
            <a:schemeClr val="tx1"/>
          </a:solidFill>
          <a:latin typeface="+mn-lt"/>
          <a:ea typeface="+mn-ea"/>
          <a:cs typeface="+mn-cs"/>
        </a:defRPr>
      </a:lvl1pPr>
      <a:lvl2pPr marL="171450" algn="l" defTabSz="342900" rtl="0" eaLnBrk="1" latinLnBrk="0" hangingPunct="1">
        <a:defRPr sz="675" kern="1200">
          <a:solidFill>
            <a:schemeClr val="tx1"/>
          </a:solidFill>
          <a:latin typeface="+mn-lt"/>
          <a:ea typeface="+mn-ea"/>
          <a:cs typeface="+mn-cs"/>
        </a:defRPr>
      </a:lvl2pPr>
      <a:lvl3pPr marL="342900" algn="l" defTabSz="342900" rtl="0" eaLnBrk="1" latinLnBrk="0" hangingPunct="1">
        <a:defRPr sz="675" kern="1200">
          <a:solidFill>
            <a:schemeClr val="tx1"/>
          </a:solidFill>
          <a:latin typeface="+mn-lt"/>
          <a:ea typeface="+mn-ea"/>
          <a:cs typeface="+mn-cs"/>
        </a:defRPr>
      </a:lvl3pPr>
      <a:lvl4pPr marL="514350" algn="l" defTabSz="342900" rtl="0" eaLnBrk="1" latinLnBrk="0" hangingPunct="1">
        <a:defRPr sz="675" kern="1200">
          <a:solidFill>
            <a:schemeClr val="tx1"/>
          </a:solidFill>
          <a:latin typeface="+mn-lt"/>
          <a:ea typeface="+mn-ea"/>
          <a:cs typeface="+mn-cs"/>
        </a:defRPr>
      </a:lvl4pPr>
      <a:lvl5pPr marL="685800" algn="l" defTabSz="342900" rtl="0" eaLnBrk="1" latinLnBrk="0" hangingPunct="1">
        <a:defRPr sz="675" kern="1200">
          <a:solidFill>
            <a:schemeClr val="tx1"/>
          </a:solidFill>
          <a:latin typeface="+mn-lt"/>
          <a:ea typeface="+mn-ea"/>
          <a:cs typeface="+mn-cs"/>
        </a:defRPr>
      </a:lvl5pPr>
      <a:lvl6pPr marL="857250" algn="l" defTabSz="342900" rtl="0" eaLnBrk="1" latinLnBrk="0" hangingPunct="1">
        <a:defRPr sz="675" kern="1200">
          <a:solidFill>
            <a:schemeClr val="tx1"/>
          </a:solidFill>
          <a:latin typeface="+mn-lt"/>
          <a:ea typeface="+mn-ea"/>
          <a:cs typeface="+mn-cs"/>
        </a:defRPr>
      </a:lvl6pPr>
      <a:lvl7pPr marL="1028700" algn="l" defTabSz="342900" rtl="0" eaLnBrk="1" latinLnBrk="0" hangingPunct="1">
        <a:defRPr sz="675" kern="1200">
          <a:solidFill>
            <a:schemeClr val="tx1"/>
          </a:solidFill>
          <a:latin typeface="+mn-lt"/>
          <a:ea typeface="+mn-ea"/>
          <a:cs typeface="+mn-cs"/>
        </a:defRPr>
      </a:lvl7pPr>
      <a:lvl8pPr marL="1200150" algn="l" defTabSz="342900" rtl="0" eaLnBrk="1" latinLnBrk="0" hangingPunct="1">
        <a:defRPr sz="675" kern="1200">
          <a:solidFill>
            <a:schemeClr val="tx1"/>
          </a:solidFill>
          <a:latin typeface="+mn-lt"/>
          <a:ea typeface="+mn-ea"/>
          <a:cs typeface="+mn-cs"/>
        </a:defRPr>
      </a:lvl8pPr>
      <a:lvl9pPr marL="1371600" algn="l" defTabSz="342900" rtl="0" eaLnBrk="1" latinLnBrk="0" hangingPunct="1">
        <a:defRPr sz="67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07171-2D3D-5EE9-268B-FDE581DE1C6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7AE6C0C-D750-DF53-0B01-14B0C938F581}"/>
              </a:ext>
            </a:extLst>
          </p:cNvPr>
          <p:cNvSpPr txBox="1"/>
          <p:nvPr/>
        </p:nvSpPr>
        <p:spPr>
          <a:xfrm>
            <a:off x="46257" y="63056"/>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3" name="TextBox 2">
            <a:extLst>
              <a:ext uri="{FF2B5EF4-FFF2-40B4-BE49-F238E27FC236}">
                <a16:creationId xmlns:a16="http://schemas.microsoft.com/office/drawing/2014/main" id="{3C49C3F7-9270-3F55-CC43-CB5D576F4019}"/>
              </a:ext>
            </a:extLst>
          </p:cNvPr>
          <p:cNvSpPr txBox="1"/>
          <p:nvPr/>
        </p:nvSpPr>
        <p:spPr>
          <a:xfrm>
            <a:off x="409761" y="1217711"/>
            <a:ext cx="3752477"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Describe four classifications of NOTAMs.</a:t>
            </a:r>
          </a:p>
        </p:txBody>
      </p:sp>
      <p:sp>
        <p:nvSpPr>
          <p:cNvPr id="6" name="Rectangle 5">
            <a:extLst>
              <a:ext uri="{FF2B5EF4-FFF2-40B4-BE49-F238E27FC236}">
                <a16:creationId xmlns:a16="http://schemas.microsoft.com/office/drawing/2014/main" id="{8DFC1CA6-3C9F-46AF-4776-79BCA11E5697}"/>
              </a:ext>
            </a:extLst>
          </p:cNvPr>
          <p:cNvSpPr/>
          <p:nvPr/>
        </p:nvSpPr>
        <p:spPr>
          <a:xfrm>
            <a:off x="4294078" y="101908"/>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D15992C5-2E92-4C34-4DC1-E4A69AB9517F}"/>
              </a:ext>
            </a:extLst>
          </p:cNvPr>
          <p:cNvSpPr txBox="1"/>
          <p:nvPr/>
        </p:nvSpPr>
        <p:spPr>
          <a:xfrm>
            <a:off x="4238625" y="63056"/>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842728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3CBFC-E497-28A1-8DA7-6D636A7D051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A267C69-7604-7560-B994-E52A6C45A7AF}"/>
              </a:ext>
            </a:extLst>
          </p:cNvPr>
          <p:cNvSpPr txBox="1"/>
          <p:nvPr/>
        </p:nvSpPr>
        <p:spPr>
          <a:xfrm>
            <a:off x="46257" y="63056"/>
            <a:ext cx="1263487" cy="415498"/>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a:p>
            <a:endParaRPr lang="en-US" sz="105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B7B854A-0A20-91E0-8FB3-E3370C71CCED}"/>
              </a:ext>
            </a:extLst>
          </p:cNvPr>
          <p:cNvSpPr txBox="1"/>
          <p:nvPr/>
        </p:nvSpPr>
        <p:spPr>
          <a:xfrm>
            <a:off x="376238" y="494437"/>
            <a:ext cx="3924300" cy="1754326"/>
          </a:xfrm>
          <a:prstGeom prst="rect">
            <a:avLst/>
          </a:prstGeom>
          <a:noFill/>
        </p:spPr>
        <p:txBody>
          <a:bodyPr wrap="square" rtlCol="0">
            <a:spAutoFit/>
          </a:bodyPr>
          <a:lstStyle/>
          <a:p>
            <a:pPr>
              <a:spcAft>
                <a:spcPts val="600"/>
              </a:spcAft>
            </a:pPr>
            <a:r>
              <a:rPr lang="en-US" sz="800" b="1" dirty="0">
                <a:latin typeface="Times New Roman" panose="02020603050405020304" pitchFamily="18" charset="0"/>
                <a:cs typeface="Times New Roman" panose="02020603050405020304" pitchFamily="18" charset="0"/>
              </a:rPr>
              <a:t>NOTAM (D) </a:t>
            </a:r>
            <a:r>
              <a:rPr lang="en-US" sz="800" dirty="0">
                <a:latin typeface="Times New Roman" panose="02020603050405020304" pitchFamily="18" charset="0"/>
                <a:cs typeface="Times New Roman" panose="02020603050405020304" pitchFamily="18" charset="0"/>
              </a:rPr>
              <a:t>– “Distance Dissemination” NOTAMs. NOTAMs that affect public use airfields and navigational facilities in the NAS.</a:t>
            </a:r>
          </a:p>
          <a:p>
            <a:pPr>
              <a:spcAft>
                <a:spcPts val="600"/>
              </a:spcAft>
            </a:pPr>
            <a:r>
              <a:rPr lang="en-US" sz="800" b="1" dirty="0">
                <a:latin typeface="Times New Roman" panose="02020603050405020304" pitchFamily="18" charset="0"/>
                <a:cs typeface="Times New Roman" panose="02020603050405020304" pitchFamily="18" charset="0"/>
              </a:rPr>
              <a:t>FDC NOTAMs </a:t>
            </a:r>
            <a:r>
              <a:rPr lang="en-US" sz="800" dirty="0">
                <a:latin typeface="Times New Roman" panose="02020603050405020304" pitchFamily="18" charset="0"/>
                <a:cs typeface="Times New Roman" panose="02020603050405020304" pitchFamily="18" charset="0"/>
              </a:rPr>
              <a:t>– Flight Data Center NOTAMs. NOTAMs that are regulatory in nature including changes/updates to approaches, WAAS, or GPS service issues and TFRs. FDC NOTAMs are released by the servicing ARTCC.</a:t>
            </a:r>
          </a:p>
          <a:p>
            <a:pPr>
              <a:spcAft>
                <a:spcPts val="600"/>
              </a:spcAft>
            </a:pPr>
            <a:r>
              <a:rPr lang="en-US" sz="800" b="1" dirty="0">
                <a:latin typeface="Times New Roman" panose="02020603050405020304" pitchFamily="18" charset="0"/>
                <a:cs typeface="Times New Roman" panose="02020603050405020304" pitchFamily="18" charset="0"/>
              </a:rPr>
              <a:t>Military NOTAMs </a:t>
            </a:r>
            <a:r>
              <a:rPr lang="en-US" sz="800" dirty="0">
                <a:latin typeface="Times New Roman" panose="02020603050405020304" pitchFamily="18" charset="0"/>
                <a:cs typeface="Times New Roman" panose="02020603050405020304" pitchFamily="18" charset="0"/>
              </a:rPr>
              <a:t>– Issued by the military and usually limited to military use only airfields or NAVAIDs.</a:t>
            </a:r>
          </a:p>
          <a:p>
            <a:pPr>
              <a:spcAft>
                <a:spcPts val="600"/>
              </a:spcAft>
            </a:pPr>
            <a:r>
              <a:rPr lang="en-US" sz="800" b="1" dirty="0">
                <a:latin typeface="Times New Roman" panose="02020603050405020304" pitchFamily="18" charset="0"/>
                <a:cs typeface="Times New Roman" panose="02020603050405020304" pitchFamily="18" charset="0"/>
              </a:rPr>
              <a:t>International NOTAMs </a:t>
            </a:r>
            <a:r>
              <a:rPr lang="en-US" sz="800" dirty="0">
                <a:latin typeface="Times New Roman" panose="02020603050405020304" pitchFamily="18" charset="0"/>
                <a:cs typeface="Times New Roman" panose="02020603050405020304" pitchFamily="18" charset="0"/>
              </a:rPr>
              <a:t>– NOTAMs covering more than one country and issued in an ICAO format.</a:t>
            </a:r>
          </a:p>
          <a:p>
            <a:pPr>
              <a:spcAft>
                <a:spcPts val="600"/>
              </a:spcAft>
            </a:pPr>
            <a:r>
              <a:rPr lang="en-US" sz="800" dirty="0">
                <a:latin typeface="Times New Roman" panose="02020603050405020304" pitchFamily="18" charset="0"/>
                <a:cs typeface="Times New Roman" panose="02020603050405020304" pitchFamily="18" charset="0"/>
              </a:rPr>
              <a:t>Note: The AIM sometimes labels the category as ‘Domestic (NOTAM D),’ but the ‘D’ means Distant, per FAA glossary/NOTAM page/PHAK.</a:t>
            </a:r>
          </a:p>
        </p:txBody>
      </p:sp>
    </p:spTree>
    <p:extLst>
      <p:ext uri="{BB962C8B-B14F-4D97-AF65-F5344CB8AC3E}">
        <p14:creationId xmlns:p14="http://schemas.microsoft.com/office/powerpoint/2010/main" val="694889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5CB18F-FF66-A272-FCD0-774D5343331A}"/>
              </a:ext>
            </a:extLst>
          </p:cNvPr>
          <p:cNvSpPr txBox="1"/>
          <p:nvPr/>
        </p:nvSpPr>
        <p:spPr>
          <a:xfrm>
            <a:off x="499004" y="916543"/>
            <a:ext cx="3573991" cy="738664"/>
          </a:xfrm>
          <a:prstGeom prst="rect">
            <a:avLst/>
          </a:prstGeom>
          <a:noFill/>
        </p:spPr>
        <p:txBody>
          <a:bodyPr wrap="square">
            <a:spAutoFit/>
          </a:bodyPr>
          <a:lstStyle/>
          <a:p>
            <a:pPr algn="just"/>
            <a:r>
              <a:rPr lang="en-US" sz="1400" dirty="0">
                <a:latin typeface="Times New Roman" panose="02020603050405020304" pitchFamily="18" charset="0"/>
                <a:ea typeface="Times New Roman" panose="02020603050405020304" pitchFamily="18" charset="0"/>
              </a:rPr>
              <a:t>Unless otherwise published, h</a:t>
            </a:r>
            <a:r>
              <a:rPr lang="en-US" sz="1400" dirty="0">
                <a:effectLst/>
                <a:latin typeface="Times New Roman" panose="02020603050405020304" pitchFamily="18" charset="0"/>
                <a:ea typeface="Times New Roman" panose="02020603050405020304" pitchFamily="18" charset="0"/>
              </a:rPr>
              <a:t>ow many Gs (positive and negative) can an aircraft in the “Utility” category normall</a:t>
            </a:r>
            <a:r>
              <a:rPr lang="en-US" sz="1400" dirty="0">
                <a:latin typeface="Times New Roman" panose="02020603050405020304" pitchFamily="18" charset="0"/>
                <a:ea typeface="Times New Roman" panose="02020603050405020304" pitchFamily="18" charset="0"/>
              </a:rPr>
              <a:t>y pull?</a:t>
            </a:r>
            <a:endParaRPr lang="en-US" sz="1400" dirty="0"/>
          </a:p>
        </p:txBody>
      </p:sp>
      <p:sp>
        <p:nvSpPr>
          <p:cNvPr id="3" name="Rectangle 2">
            <a:extLst>
              <a:ext uri="{FF2B5EF4-FFF2-40B4-BE49-F238E27FC236}">
                <a16:creationId xmlns:a16="http://schemas.microsoft.com/office/drawing/2014/main" id="{376284B1-B8E3-87D0-566C-101A0C30B105}"/>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0A718B44-4F69-8815-A28A-EC77D094A324}"/>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
        <p:nvSpPr>
          <p:cNvPr id="6" name="TextBox 5">
            <a:extLst>
              <a:ext uri="{FF2B5EF4-FFF2-40B4-BE49-F238E27FC236}">
                <a16:creationId xmlns:a16="http://schemas.microsoft.com/office/drawing/2014/main" id="{BC8832CF-8CF8-8E37-60BB-342E59025B30}"/>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Tree>
    <p:extLst>
      <p:ext uri="{BB962C8B-B14F-4D97-AF65-F5344CB8AC3E}">
        <p14:creationId xmlns:p14="http://schemas.microsoft.com/office/powerpoint/2010/main" val="4267072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469056-FAD0-61AB-67CF-D12294F1211C}"/>
              </a:ext>
            </a:extLst>
          </p:cNvPr>
          <p:cNvSpPr txBox="1"/>
          <p:nvPr/>
        </p:nvSpPr>
        <p:spPr>
          <a:xfrm>
            <a:off x="633587" y="934134"/>
            <a:ext cx="3304825" cy="738664"/>
          </a:xfrm>
          <a:prstGeom prst="rect">
            <a:avLst/>
          </a:prstGeom>
          <a:noFill/>
        </p:spPr>
        <p:txBody>
          <a:bodyPr wrap="square">
            <a:spAutoFit/>
          </a:bodyPr>
          <a:lstStyle/>
          <a:p>
            <a:pPr algn="ctr"/>
            <a:r>
              <a:rPr lang="en-US" sz="1400" dirty="0">
                <a:effectLst/>
                <a:latin typeface="Times New Roman" panose="02020603050405020304" pitchFamily="18" charset="0"/>
                <a:ea typeface="Times New Roman" panose="02020603050405020304" pitchFamily="18" charset="0"/>
              </a:rPr>
              <a:t>Maximum of…</a:t>
            </a:r>
          </a:p>
          <a:p>
            <a:pPr algn="ctr"/>
            <a:endParaRPr lang="en-US" sz="1400" dirty="0">
              <a:effectLst/>
              <a:latin typeface="Times New Roman" panose="02020603050405020304" pitchFamily="18" charset="0"/>
              <a:ea typeface="Times New Roman" panose="02020603050405020304" pitchFamily="18" charset="0"/>
            </a:endParaRPr>
          </a:p>
          <a:p>
            <a:pPr algn="ctr"/>
            <a:r>
              <a:rPr lang="en-US" sz="1400" dirty="0">
                <a:effectLst/>
                <a:latin typeface="Times New Roman" panose="02020603050405020304" pitchFamily="18" charset="0"/>
                <a:ea typeface="Times New Roman" panose="02020603050405020304" pitchFamily="18" charset="0"/>
              </a:rPr>
              <a:t>+ 4.4 and -1.76</a:t>
            </a:r>
            <a:endParaRPr lang="en-US" sz="1400" dirty="0"/>
          </a:p>
        </p:txBody>
      </p:sp>
      <p:sp>
        <p:nvSpPr>
          <p:cNvPr id="2" name="TextBox 1">
            <a:extLst>
              <a:ext uri="{FF2B5EF4-FFF2-40B4-BE49-F238E27FC236}">
                <a16:creationId xmlns:a16="http://schemas.microsoft.com/office/drawing/2014/main" id="{8AE992A2-F606-DD27-503F-9B3F8883F4E6}"/>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Tree>
    <p:extLst>
      <p:ext uri="{BB962C8B-B14F-4D97-AF65-F5344CB8AC3E}">
        <p14:creationId xmlns:p14="http://schemas.microsoft.com/office/powerpoint/2010/main" val="53177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TextBox 1">
            <a:extLst>
              <a:ext uri="{FF2B5EF4-FFF2-40B4-BE49-F238E27FC236}">
                <a16:creationId xmlns:a16="http://schemas.microsoft.com/office/drawing/2014/main" id="{580AA344-92E0-009A-D9C8-7FE16953AA59}"/>
              </a:ext>
            </a:extLst>
          </p:cNvPr>
          <p:cNvSpPr txBox="1"/>
          <p:nvPr/>
        </p:nvSpPr>
        <p:spPr>
          <a:xfrm>
            <a:off x="604134" y="940723"/>
            <a:ext cx="3363731" cy="537904"/>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How many types of airworthiness directives are there and what are they?</a:t>
            </a:r>
          </a:p>
        </p:txBody>
      </p:sp>
      <p:sp>
        <p:nvSpPr>
          <p:cNvPr id="3" name="Rectangle 2">
            <a:extLst>
              <a:ext uri="{FF2B5EF4-FFF2-40B4-BE49-F238E27FC236}">
                <a16:creationId xmlns:a16="http://schemas.microsoft.com/office/drawing/2014/main" id="{762F9C63-767A-4E0D-BF7A-B4F5B61099E8}"/>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1F07CB8D-149A-0C35-27D7-B3CB42063B2B}"/>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70047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TextBox 1">
            <a:extLst>
              <a:ext uri="{FF2B5EF4-FFF2-40B4-BE49-F238E27FC236}">
                <a16:creationId xmlns:a16="http://schemas.microsoft.com/office/drawing/2014/main" id="{A9BE55A6-C7F2-2A08-F0A3-FA856D998448}"/>
              </a:ext>
            </a:extLst>
          </p:cNvPr>
          <p:cNvSpPr txBox="1"/>
          <p:nvPr/>
        </p:nvSpPr>
        <p:spPr>
          <a:xfrm>
            <a:off x="479754" y="491590"/>
            <a:ext cx="3612491" cy="1754326"/>
          </a:xfrm>
          <a:prstGeom prst="rect">
            <a:avLst/>
          </a:prstGeom>
          <a:noFill/>
        </p:spPr>
        <p:txBody>
          <a:bodyPr wrap="square">
            <a:spAutoFit/>
          </a:bodyPr>
          <a:lstStyle/>
          <a:p>
            <a:pPr marR="0" algn="ctr">
              <a:spcBef>
                <a:spcPts val="0"/>
              </a:spcBef>
              <a:spcAft>
                <a:spcPts val="0"/>
              </a:spcAft>
            </a:pPr>
            <a:r>
              <a:rPr lang="en-US" sz="1200" dirty="0">
                <a:solidFill>
                  <a:srgbClr val="000000"/>
                </a:solidFill>
                <a:effectLst/>
                <a:latin typeface="Times New Roman" panose="02020603050405020304" pitchFamily="18" charset="0"/>
                <a:ea typeface="Calibri" panose="020F0502020204030204" pitchFamily="34" charset="0"/>
              </a:rPr>
              <a:t>There are three types of ADs.</a:t>
            </a:r>
          </a:p>
          <a:p>
            <a:pPr marR="0" algn="ctr">
              <a:spcBef>
                <a:spcPts val="0"/>
              </a:spcBef>
              <a:spcAft>
                <a:spcPts val="0"/>
              </a:spcAft>
            </a:pPr>
            <a:endParaRPr lang="en-US" sz="1200" dirty="0">
              <a:solidFill>
                <a:srgbClr val="000000"/>
              </a:solidFill>
              <a:effectLst/>
              <a:latin typeface="Times New Roman" panose="02020603050405020304" pitchFamily="18" charset="0"/>
              <a:ea typeface="Calibri" panose="020F0502020204030204" pitchFamily="34" charset="0"/>
            </a:endParaRPr>
          </a:p>
          <a:p>
            <a:pPr marL="285750" marR="0" indent="-285750">
              <a:spcBef>
                <a:spcPts val="0"/>
              </a:spcBef>
              <a:spcAft>
                <a:spcPts val="0"/>
              </a:spcAft>
              <a:buFont typeface="Arial" panose="020B0604020202020204" pitchFamily="34" charset="0"/>
              <a:buChar char="•"/>
            </a:pPr>
            <a:r>
              <a:rPr lang="en-US" sz="1200" dirty="0">
                <a:solidFill>
                  <a:srgbClr val="000000"/>
                </a:solidFill>
                <a:effectLst/>
                <a:latin typeface="Times New Roman" panose="02020603050405020304" pitchFamily="18" charset="0"/>
                <a:ea typeface="Calibri" panose="020F0502020204030204" pitchFamily="34" charset="0"/>
              </a:rPr>
              <a:t>Emergency – These require immediate compliance before flight. </a:t>
            </a:r>
          </a:p>
          <a:p>
            <a:pPr marL="285750" marR="0" indent="-285750">
              <a:spcBef>
                <a:spcPts val="0"/>
              </a:spcBef>
              <a:spcAft>
                <a:spcPts val="0"/>
              </a:spcAft>
              <a:buFont typeface="Arial" panose="020B0604020202020204" pitchFamily="34" charset="0"/>
              <a:buChar char="•"/>
            </a:pPr>
            <a:r>
              <a:rPr lang="en-US" sz="1200" dirty="0">
                <a:solidFill>
                  <a:srgbClr val="000000"/>
                </a:solidFill>
                <a:effectLst/>
                <a:latin typeface="Times New Roman" panose="02020603050405020304" pitchFamily="18" charset="0"/>
                <a:ea typeface="Calibri" panose="020F0502020204030204" pitchFamily="34" charset="0"/>
              </a:rPr>
              <a:t>One Time – After the AD is complied with once, there is no further need to address the specified issue. </a:t>
            </a:r>
          </a:p>
          <a:p>
            <a:pPr marL="285750" marR="0" indent="-285750">
              <a:spcBef>
                <a:spcPts val="0"/>
              </a:spcBef>
              <a:spcAft>
                <a:spcPts val="0"/>
              </a:spcAft>
              <a:buFont typeface="Arial" panose="020B0604020202020204" pitchFamily="34" charset="0"/>
              <a:buChar char="•"/>
            </a:pPr>
            <a:r>
              <a:rPr lang="en-US" sz="1200" dirty="0">
                <a:solidFill>
                  <a:srgbClr val="000000"/>
                </a:solidFill>
                <a:effectLst/>
                <a:latin typeface="Times New Roman" panose="02020603050405020304" pitchFamily="18" charset="0"/>
                <a:ea typeface="Calibri" panose="020F0502020204030204" pitchFamily="34" charset="0"/>
              </a:rPr>
              <a:t>Recurring – This AD must be complied with at the specified interval. </a:t>
            </a:r>
          </a:p>
        </p:txBody>
      </p:sp>
    </p:spTree>
    <p:extLst>
      <p:ext uri="{BB962C8B-B14F-4D97-AF65-F5344CB8AC3E}">
        <p14:creationId xmlns:p14="http://schemas.microsoft.com/office/powerpoint/2010/main" val="2056904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TextBox 1">
            <a:extLst>
              <a:ext uri="{FF2B5EF4-FFF2-40B4-BE49-F238E27FC236}">
                <a16:creationId xmlns:a16="http://schemas.microsoft.com/office/drawing/2014/main" id="{76FCD841-8C15-C1BC-8F24-59605C9174A2}"/>
              </a:ext>
            </a:extLst>
          </p:cNvPr>
          <p:cNvSpPr txBox="1"/>
          <p:nvPr/>
        </p:nvSpPr>
        <p:spPr>
          <a:xfrm>
            <a:off x="500359" y="1109990"/>
            <a:ext cx="3571282" cy="523220"/>
          </a:xfrm>
          <a:prstGeom prst="rect">
            <a:avLst/>
          </a:prstGeom>
          <a:noFill/>
        </p:spPr>
        <p:txBody>
          <a:bodyPr wrap="square">
            <a:spAutoFit/>
          </a:bodyPr>
          <a:lstStyle/>
          <a:p>
            <a:pPr marL="0" marR="0" algn="just">
              <a:spcBef>
                <a:spcPts val="0"/>
              </a:spcBef>
              <a:spcAft>
                <a:spcPts val="0"/>
              </a:spcAft>
            </a:pPr>
            <a:r>
              <a:rPr lang="en-US" sz="1400" dirty="0">
                <a:effectLst/>
                <a:latin typeface="Times New Roman" panose="02020603050405020304" pitchFamily="18" charset="0"/>
                <a:ea typeface="Calibri" panose="020F0502020204030204" pitchFamily="34" charset="0"/>
              </a:rPr>
              <a:t>You use Basic Med. How often do you need to complete the online medical education course?</a:t>
            </a:r>
          </a:p>
        </p:txBody>
      </p:sp>
      <p:sp>
        <p:nvSpPr>
          <p:cNvPr id="3" name="Rectangle 2">
            <a:extLst>
              <a:ext uri="{FF2B5EF4-FFF2-40B4-BE49-F238E27FC236}">
                <a16:creationId xmlns:a16="http://schemas.microsoft.com/office/drawing/2014/main" id="{FF4A6E0C-CC80-3624-689B-AA6FB991B1B3}"/>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F717D1AF-9A14-FFCC-C234-377BC4A4C0A4}"/>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389134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TextBox 1">
            <a:extLst>
              <a:ext uri="{FF2B5EF4-FFF2-40B4-BE49-F238E27FC236}">
                <a16:creationId xmlns:a16="http://schemas.microsoft.com/office/drawing/2014/main" id="{274275C7-A28B-D16A-62F9-6A4A762D0569}"/>
              </a:ext>
            </a:extLst>
          </p:cNvPr>
          <p:cNvSpPr txBox="1"/>
          <p:nvPr/>
        </p:nvSpPr>
        <p:spPr>
          <a:xfrm>
            <a:off x="862886" y="1217711"/>
            <a:ext cx="2842012" cy="307777"/>
          </a:xfrm>
          <a:prstGeom prst="rect">
            <a:avLst/>
          </a:prstGeom>
          <a:noFill/>
        </p:spPr>
        <p:txBody>
          <a:bodyPr wrap="square">
            <a:spAutoFit/>
          </a:bodyPr>
          <a:lstStyle/>
          <a:p>
            <a:pPr marL="0" marR="0" algn="ctr">
              <a:spcBef>
                <a:spcPts val="0"/>
              </a:spcBef>
              <a:spcAft>
                <a:spcPts val="0"/>
              </a:spcAft>
            </a:pPr>
            <a:r>
              <a:rPr lang="en-US" sz="1400" dirty="0">
                <a:solidFill>
                  <a:srgbClr val="000000"/>
                </a:solidFill>
                <a:effectLst/>
                <a:latin typeface="Times New Roman" panose="02020603050405020304" pitchFamily="18" charset="0"/>
                <a:ea typeface="Calibri" panose="020F0502020204030204" pitchFamily="34" charset="0"/>
              </a:rPr>
              <a:t>Every two years.</a:t>
            </a:r>
          </a:p>
        </p:txBody>
      </p:sp>
    </p:spTree>
    <p:extLst>
      <p:ext uri="{BB962C8B-B14F-4D97-AF65-F5344CB8AC3E}">
        <p14:creationId xmlns:p14="http://schemas.microsoft.com/office/powerpoint/2010/main" val="3950675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28AA0F-1C9E-2D45-A1A7-133F738946BE}"/>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3" name="TextBox 2">
            <a:extLst>
              <a:ext uri="{FF2B5EF4-FFF2-40B4-BE49-F238E27FC236}">
                <a16:creationId xmlns:a16="http://schemas.microsoft.com/office/drawing/2014/main" id="{C6613492-4366-CC7F-3C21-2A1682C8A779}"/>
              </a:ext>
            </a:extLst>
          </p:cNvPr>
          <p:cNvSpPr txBox="1"/>
          <p:nvPr/>
        </p:nvSpPr>
        <p:spPr>
          <a:xfrm>
            <a:off x="526935" y="846715"/>
            <a:ext cx="3518130" cy="768415"/>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You become lost while flying a cross </a:t>
            </a:r>
            <a:r>
              <a:rPr lang="en-US" sz="1400" dirty="0">
                <a:latin typeface="Times New Roman" panose="02020603050405020304" pitchFamily="18" charset="0"/>
                <a:ea typeface="Calibri" panose="020F0502020204030204" pitchFamily="34" charset="0"/>
                <a:cs typeface="Times New Roman" panose="02020603050405020304" pitchFamily="18" charset="0"/>
              </a:rPr>
              <a:t>c</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ountry. What procedures will you follow (hint: The Five Cs)?</a:t>
            </a:r>
          </a:p>
        </p:txBody>
      </p:sp>
      <p:sp>
        <p:nvSpPr>
          <p:cNvPr id="4" name="Rectangle 3">
            <a:extLst>
              <a:ext uri="{FF2B5EF4-FFF2-40B4-BE49-F238E27FC236}">
                <a16:creationId xmlns:a16="http://schemas.microsoft.com/office/drawing/2014/main" id="{08C4AFCB-77E6-02C8-F0E4-AAD113372304}"/>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58C4268D-9FF9-D082-E116-2D9DC9DC4AA5}"/>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689898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20C1B1-C9A3-E9CD-AF91-3553CE37EC01}"/>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3" name="TextBox 2">
            <a:extLst>
              <a:ext uri="{FF2B5EF4-FFF2-40B4-BE49-F238E27FC236}">
                <a16:creationId xmlns:a16="http://schemas.microsoft.com/office/drawing/2014/main" id="{F5B0701F-D99B-8DF8-E8AA-F1008DB71502}"/>
              </a:ext>
            </a:extLst>
          </p:cNvPr>
          <p:cNvSpPr txBox="1"/>
          <p:nvPr/>
        </p:nvSpPr>
        <p:spPr>
          <a:xfrm>
            <a:off x="120650" y="368659"/>
            <a:ext cx="4337050" cy="1887183"/>
          </a:xfrm>
          <a:prstGeom prst="rect">
            <a:avLst/>
          </a:prstGeom>
          <a:noFill/>
        </p:spPr>
        <p:txBody>
          <a:bodyPr wrap="square">
            <a:spAutoFit/>
          </a:bodyPr>
          <a:lstStyle/>
          <a:p>
            <a:pPr marL="0" marR="0" algn="ctr">
              <a:lnSpc>
                <a:spcPct val="107000"/>
              </a:lnSpc>
              <a:spcBef>
                <a:spcPts val="0"/>
              </a:spcBef>
              <a:spcAft>
                <a:spcPts val="0"/>
              </a:spcAft>
            </a:pPr>
            <a:r>
              <a:rPr lang="en-US" sz="1050" dirty="0">
                <a:effectLst/>
                <a:latin typeface="Times New Roman" panose="02020603050405020304" pitchFamily="18" charset="0"/>
                <a:ea typeface="Calibri" panose="020F0502020204030204" pitchFamily="34" charset="0"/>
                <a:cs typeface="Times New Roman" panose="02020603050405020304" pitchFamily="18" charset="0"/>
              </a:rPr>
              <a:t>The Five Cs.</a:t>
            </a:r>
          </a:p>
          <a:p>
            <a:pPr marL="0" marR="0">
              <a:lnSpc>
                <a:spcPct val="107000"/>
              </a:lnSpc>
              <a:spcBef>
                <a:spcPts val="0"/>
              </a:spcBef>
              <a:spcAft>
                <a:spcPts val="0"/>
              </a:spcAft>
            </a:pP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indent="-285750">
              <a:lnSpc>
                <a:spcPct val="107000"/>
              </a:lnSpc>
              <a:spcBef>
                <a:spcPts val="0"/>
              </a:spcBef>
              <a:spcAft>
                <a:spcPts val="0"/>
              </a:spcAft>
              <a:buFont typeface="Arial" panose="020B0604020202020204" pitchFamily="34" charset="0"/>
              <a:buChar char="•"/>
            </a:pPr>
            <a:r>
              <a:rPr lang="en-US" sz="1000" dirty="0">
                <a:effectLst/>
                <a:latin typeface="Times New Roman" panose="02020603050405020304" pitchFamily="18" charset="0"/>
                <a:ea typeface="Calibri" panose="020F0502020204030204" pitchFamily="34" charset="0"/>
                <a:cs typeface="Times New Roman" panose="02020603050405020304" pitchFamily="18" charset="0"/>
              </a:rPr>
              <a:t>Confess – Yep, I’m lost. (usually the hardest step)</a:t>
            </a:r>
          </a:p>
          <a:p>
            <a:pPr marL="285750" marR="0" indent="-285750">
              <a:lnSpc>
                <a:spcPct val="107000"/>
              </a:lnSpc>
              <a:spcBef>
                <a:spcPts val="0"/>
              </a:spcBef>
              <a:spcAft>
                <a:spcPts val="0"/>
              </a:spcAft>
              <a:buFont typeface="Arial" panose="020B0604020202020204" pitchFamily="34" charset="0"/>
              <a:buChar char="•"/>
            </a:pPr>
            <a:r>
              <a:rPr lang="en-US" sz="1000" dirty="0">
                <a:effectLst/>
                <a:latin typeface="Times New Roman" panose="02020603050405020304" pitchFamily="18" charset="0"/>
                <a:ea typeface="Calibri" panose="020F0502020204030204" pitchFamily="34" charset="0"/>
                <a:cs typeface="Times New Roman" panose="02020603050405020304" pitchFamily="18" charset="0"/>
              </a:rPr>
              <a:t>Climb – See landmarks better. ATC can see you better. Better NAVAID reception.</a:t>
            </a:r>
          </a:p>
          <a:p>
            <a:pPr marL="285750" marR="0" indent="-285750">
              <a:lnSpc>
                <a:spcPct val="107000"/>
              </a:lnSpc>
              <a:spcBef>
                <a:spcPts val="0"/>
              </a:spcBef>
              <a:spcAft>
                <a:spcPts val="0"/>
              </a:spcAft>
              <a:buFont typeface="Arial" panose="020B0604020202020204" pitchFamily="34" charset="0"/>
              <a:buChar char="•"/>
            </a:pPr>
            <a:r>
              <a:rPr lang="en-US" sz="1000" dirty="0">
                <a:effectLst/>
                <a:latin typeface="Times New Roman" panose="02020603050405020304" pitchFamily="18" charset="0"/>
                <a:ea typeface="Calibri" panose="020F0502020204030204" pitchFamily="34" charset="0"/>
                <a:cs typeface="Times New Roman" panose="02020603050405020304" pitchFamily="18" charset="0"/>
              </a:rPr>
              <a:t>Conserve – Slow down to save fuel (Vg is a good airspeed).</a:t>
            </a:r>
          </a:p>
          <a:p>
            <a:pPr marL="285750" marR="0" indent="-285750">
              <a:lnSpc>
                <a:spcPct val="107000"/>
              </a:lnSpc>
              <a:spcBef>
                <a:spcPts val="0"/>
              </a:spcBef>
              <a:spcAft>
                <a:spcPts val="0"/>
              </a:spcAft>
              <a:buFont typeface="Arial" panose="020B0604020202020204" pitchFamily="34" charset="0"/>
              <a:buChar char="•"/>
            </a:pPr>
            <a:r>
              <a:rPr lang="en-US" sz="1000" dirty="0">
                <a:effectLst/>
                <a:latin typeface="Times New Roman" panose="02020603050405020304" pitchFamily="18" charset="0"/>
                <a:ea typeface="Calibri" panose="020F0502020204030204" pitchFamily="34" charset="0"/>
                <a:cs typeface="Times New Roman" panose="02020603050405020304" pitchFamily="18" charset="0"/>
              </a:rPr>
              <a:t>Communicate – Let someone know you are lost (ATC).</a:t>
            </a:r>
          </a:p>
          <a:p>
            <a:pPr marL="285750" marR="0" indent="-285750">
              <a:lnSpc>
                <a:spcPct val="107000"/>
              </a:lnSpc>
              <a:spcBef>
                <a:spcPts val="0"/>
              </a:spcBef>
              <a:spcAft>
                <a:spcPts val="0"/>
              </a:spcAft>
              <a:buFont typeface="Arial" panose="020B0604020202020204" pitchFamily="34" charset="0"/>
              <a:buChar char="•"/>
            </a:pPr>
            <a:r>
              <a:rPr lang="en-US" sz="1000" dirty="0">
                <a:effectLst/>
                <a:latin typeface="Times New Roman" panose="02020603050405020304" pitchFamily="18" charset="0"/>
                <a:ea typeface="Calibri" panose="020F0502020204030204" pitchFamily="34" charset="0"/>
                <a:cs typeface="Times New Roman" panose="02020603050405020304" pitchFamily="18" charset="0"/>
              </a:rPr>
              <a:t>Comply – Comply with their instructions.</a:t>
            </a:r>
          </a:p>
          <a:p>
            <a:pPr marL="285750" marR="0" indent="-285750">
              <a:lnSpc>
                <a:spcPct val="107000"/>
              </a:lnSpc>
              <a:spcBef>
                <a:spcPts val="0"/>
              </a:spcBef>
              <a:spcAft>
                <a:spcPts val="0"/>
              </a:spcAft>
              <a:buFont typeface="Arial" panose="020B0604020202020204" pitchFamily="34" charset="0"/>
              <a:buChar char="•"/>
            </a:pPr>
            <a:endParaRPr lang="en-US" sz="1000" dirty="0">
              <a:latin typeface="Times New Roman" panose="02020603050405020304" pitchFamily="18" charset="0"/>
              <a:ea typeface="Calibri" panose="020F0502020204030204" pitchFamily="34" charset="0"/>
              <a:cs typeface="Times New Roman" panose="02020603050405020304" pitchFamily="18" charset="0"/>
            </a:endParaRPr>
          </a:p>
          <a:p>
            <a:pPr marL="285750" marR="0" indent="-285750">
              <a:lnSpc>
                <a:spcPct val="107000"/>
              </a:lnSpc>
              <a:spcBef>
                <a:spcPts val="0"/>
              </a:spcBef>
              <a:spcAft>
                <a:spcPts val="0"/>
              </a:spcAft>
              <a:buFont typeface="Arial" panose="020B0604020202020204" pitchFamily="34" charset="0"/>
              <a:buChar char="•"/>
            </a:pPr>
            <a:r>
              <a:rPr lang="en-US" sz="1000" dirty="0">
                <a:effectLst/>
                <a:latin typeface="Times New Roman" panose="02020603050405020304" pitchFamily="18" charset="0"/>
                <a:ea typeface="Calibri" panose="020F0502020204030204" pitchFamily="34" charset="0"/>
                <a:cs typeface="Times New Roman" panose="02020603050405020304" pitchFamily="18" charset="0"/>
              </a:rPr>
              <a:t>If you are flying at night in high terrain, you may consider adding a sixt</a:t>
            </a:r>
            <a:r>
              <a:rPr lang="en-US" sz="1000" dirty="0">
                <a:latin typeface="Times New Roman" panose="02020603050405020304" pitchFamily="18" charset="0"/>
                <a:ea typeface="Calibri" panose="020F0502020204030204" pitchFamily="34" charset="0"/>
                <a:cs typeface="Times New Roman" panose="02020603050405020304" pitchFamily="18" charset="0"/>
              </a:rPr>
              <a:t>h C; “Circle”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20904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D62F91-9514-22D3-E4F1-9D919A4E89A2}"/>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3" name="TextBox 2">
            <a:extLst>
              <a:ext uri="{FF2B5EF4-FFF2-40B4-BE49-F238E27FC236}">
                <a16:creationId xmlns:a16="http://schemas.microsoft.com/office/drawing/2014/main" id="{E2BE9FB6-C64C-E1AD-17CF-78B6115C25E8}"/>
              </a:ext>
            </a:extLst>
          </p:cNvPr>
          <p:cNvSpPr txBox="1"/>
          <p:nvPr/>
        </p:nvSpPr>
        <p:spPr>
          <a:xfrm>
            <a:off x="913943" y="879767"/>
            <a:ext cx="2744114" cy="768415"/>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What is True Airspeed?</a:t>
            </a:r>
          </a:p>
          <a:p>
            <a:pPr marL="0" marR="0" algn="ctr">
              <a:lnSpc>
                <a:spcPct val="107000"/>
              </a:lnSpc>
              <a:spcBef>
                <a:spcPts val="0"/>
              </a:spcBef>
              <a:spcAft>
                <a:spcPts val="0"/>
              </a:spcAft>
            </a:pP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14 CFR 1.1</a:t>
            </a:r>
          </a:p>
        </p:txBody>
      </p:sp>
      <p:sp>
        <p:nvSpPr>
          <p:cNvPr id="4" name="Rectangle 3">
            <a:extLst>
              <a:ext uri="{FF2B5EF4-FFF2-40B4-BE49-F238E27FC236}">
                <a16:creationId xmlns:a16="http://schemas.microsoft.com/office/drawing/2014/main" id="{385A1B8A-7D2C-2C38-7B6C-BC7B58B5D257}"/>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E2E184A2-C119-DCC0-BB03-AB35F59D6D60}"/>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763966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D62F91-9514-22D3-E4F1-9D919A4E89A2}"/>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4" name="TextBox 3">
            <a:extLst>
              <a:ext uri="{FF2B5EF4-FFF2-40B4-BE49-F238E27FC236}">
                <a16:creationId xmlns:a16="http://schemas.microsoft.com/office/drawing/2014/main" id="{E0917C87-E066-C351-2294-19872953F2C9}"/>
              </a:ext>
            </a:extLst>
          </p:cNvPr>
          <p:cNvSpPr txBox="1"/>
          <p:nvPr/>
        </p:nvSpPr>
        <p:spPr>
          <a:xfrm>
            <a:off x="279400" y="525639"/>
            <a:ext cx="4013200" cy="474232"/>
          </a:xfrm>
          <a:prstGeom prst="rect">
            <a:avLst/>
          </a:prstGeom>
          <a:noFill/>
        </p:spPr>
        <p:txBody>
          <a:bodyPr wrap="square">
            <a:spAutoFit/>
          </a:bodyPr>
          <a:lstStyle/>
          <a:p>
            <a:pPr marL="0" marR="0" algn="just">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It is Equivalent Airspeed adjusted for temperature and pressure altitude.</a:t>
            </a:r>
          </a:p>
        </p:txBody>
      </p:sp>
      <p:sp>
        <p:nvSpPr>
          <p:cNvPr id="5" name="TextBox 4">
            <a:extLst>
              <a:ext uri="{FF2B5EF4-FFF2-40B4-BE49-F238E27FC236}">
                <a16:creationId xmlns:a16="http://schemas.microsoft.com/office/drawing/2014/main" id="{05AA7AB7-D4DA-D993-14A6-80FBC62565D5}"/>
              </a:ext>
            </a:extLst>
          </p:cNvPr>
          <p:cNvSpPr txBox="1"/>
          <p:nvPr/>
        </p:nvSpPr>
        <p:spPr>
          <a:xfrm>
            <a:off x="279400" y="1182283"/>
            <a:ext cx="4013200" cy="869469"/>
          </a:xfrm>
          <a:prstGeom prst="rect">
            <a:avLst/>
          </a:prstGeom>
          <a:noFill/>
        </p:spPr>
        <p:txBody>
          <a:bodyPr wrap="square">
            <a:spAutoFit/>
          </a:bodyPr>
          <a:lstStyle/>
          <a:p>
            <a:pPr marL="0" marR="0" algn="just">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Varsity Level: </a:t>
            </a:r>
            <a:r>
              <a:rPr lang="en-US" sz="1200" dirty="0">
                <a:latin typeface="Times New Roman" panose="02020603050405020304" pitchFamily="18" charset="0"/>
                <a:ea typeface="Calibri" panose="020F0502020204030204" pitchFamily="34" charset="0"/>
                <a:cs typeface="Times New Roman" panose="02020603050405020304" pitchFamily="18" charset="0"/>
              </a:rPr>
              <a:t>S</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ince most GA aircraft are relatively slow, the compressibility of air is a non-factor. Therefore, some accept “True airspeed is calibrated airspeed adjusted for temperature and pressure altitude.”</a:t>
            </a:r>
          </a:p>
        </p:txBody>
      </p:sp>
    </p:spTree>
    <p:extLst>
      <p:ext uri="{BB962C8B-B14F-4D97-AF65-F5344CB8AC3E}">
        <p14:creationId xmlns:p14="http://schemas.microsoft.com/office/powerpoint/2010/main" val="12735106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TextBox 1">
            <a:extLst>
              <a:ext uri="{FF2B5EF4-FFF2-40B4-BE49-F238E27FC236}">
                <a16:creationId xmlns:a16="http://schemas.microsoft.com/office/drawing/2014/main" id="{896FC5FD-0C03-3091-B412-649725CCDD62}"/>
              </a:ext>
            </a:extLst>
          </p:cNvPr>
          <p:cNvSpPr txBox="1"/>
          <p:nvPr/>
        </p:nvSpPr>
        <p:spPr>
          <a:xfrm>
            <a:off x="476250" y="1217904"/>
            <a:ext cx="3619500" cy="307392"/>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What are the primary flight controls?</a:t>
            </a:r>
          </a:p>
        </p:txBody>
      </p:sp>
      <p:sp>
        <p:nvSpPr>
          <p:cNvPr id="3" name="Rectangle 2">
            <a:extLst>
              <a:ext uri="{FF2B5EF4-FFF2-40B4-BE49-F238E27FC236}">
                <a16:creationId xmlns:a16="http://schemas.microsoft.com/office/drawing/2014/main" id="{7ED23402-FDE5-D646-DC70-D26F98D4EAA6}"/>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A8B7ED59-F139-587B-D38D-F073214A66D0}"/>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40433998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TextBox 1">
            <a:extLst>
              <a:ext uri="{FF2B5EF4-FFF2-40B4-BE49-F238E27FC236}">
                <a16:creationId xmlns:a16="http://schemas.microsoft.com/office/drawing/2014/main" id="{75963444-F2F8-1DA3-015F-153E451D30BC}"/>
              </a:ext>
            </a:extLst>
          </p:cNvPr>
          <p:cNvSpPr txBox="1"/>
          <p:nvPr/>
        </p:nvSpPr>
        <p:spPr>
          <a:xfrm>
            <a:off x="548962" y="1217904"/>
            <a:ext cx="3474076" cy="307392"/>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Ailerons, rudder, elevator (or stabilator).</a:t>
            </a:r>
          </a:p>
        </p:txBody>
      </p:sp>
    </p:spTree>
    <p:extLst>
      <p:ext uri="{BB962C8B-B14F-4D97-AF65-F5344CB8AC3E}">
        <p14:creationId xmlns:p14="http://schemas.microsoft.com/office/powerpoint/2010/main" val="7890665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TextBox 1">
            <a:extLst>
              <a:ext uri="{FF2B5EF4-FFF2-40B4-BE49-F238E27FC236}">
                <a16:creationId xmlns:a16="http://schemas.microsoft.com/office/drawing/2014/main" id="{D5FBB64E-9613-BD6E-95ED-CF9E8BBEE59A}"/>
              </a:ext>
            </a:extLst>
          </p:cNvPr>
          <p:cNvSpPr txBox="1"/>
          <p:nvPr/>
        </p:nvSpPr>
        <p:spPr>
          <a:xfrm>
            <a:off x="411162" y="438031"/>
            <a:ext cx="3749675" cy="1754326"/>
          </a:xfrm>
          <a:prstGeom prst="rect">
            <a:avLst/>
          </a:prstGeom>
          <a:noFill/>
        </p:spPr>
        <p:txBody>
          <a:bodyPr wrap="square">
            <a:spAutoFit/>
          </a:bodyPr>
          <a:lstStyle/>
          <a:p>
            <a:pPr marL="0" marR="0" algn="just">
              <a:spcBef>
                <a:spcPts val="0"/>
              </a:spcBef>
              <a:spcAft>
                <a:spcPts val="0"/>
              </a:spcAft>
            </a:pPr>
            <a:r>
              <a:rPr lang="en-US" sz="1200" dirty="0">
                <a:effectLst/>
                <a:latin typeface="Times New Roman" panose="02020603050405020304" pitchFamily="18" charset="0"/>
                <a:ea typeface="Calibri" panose="020F0502020204030204" pitchFamily="34" charset="0"/>
              </a:rPr>
              <a:t>You want to turn on the runway lights at an uncontrolled airfield. To turn them on at medium intensity, you must click your mic button ______ times within ______ seconds.</a:t>
            </a:r>
          </a:p>
          <a:p>
            <a:pPr marL="0" marR="0" algn="ctr">
              <a:spcBef>
                <a:spcPts val="0"/>
              </a:spcBef>
              <a:spcAft>
                <a:spcPts val="0"/>
              </a:spcAft>
            </a:pPr>
            <a:r>
              <a:rPr lang="en-US" sz="1200" dirty="0">
                <a:latin typeface="Times New Roman" panose="02020603050405020304" pitchFamily="18" charset="0"/>
                <a:ea typeface="Calibri" panose="020F0502020204030204" pitchFamily="34" charset="0"/>
              </a:rPr>
              <a:t>AIM Table 2-1-3</a:t>
            </a:r>
          </a:p>
          <a:p>
            <a:pPr marL="0" marR="0" algn="just">
              <a:spcBef>
                <a:spcPts val="0"/>
              </a:spcBef>
              <a:spcAft>
                <a:spcPts val="0"/>
              </a:spcAft>
            </a:pPr>
            <a:endParaRPr lang="en-US" sz="1200" dirty="0">
              <a:effectLst/>
              <a:latin typeface="Times New Roman" panose="02020603050405020304" pitchFamily="18" charset="0"/>
              <a:ea typeface="Calibri" panose="020F0502020204030204" pitchFamily="34" charset="0"/>
            </a:endParaRPr>
          </a:p>
          <a:p>
            <a:pPr marL="0" marR="0" algn="just">
              <a:spcBef>
                <a:spcPts val="0"/>
              </a:spcBef>
              <a:spcAft>
                <a:spcPts val="0"/>
              </a:spcAft>
            </a:pPr>
            <a:endParaRPr lang="en-US" sz="1200" dirty="0">
              <a:effectLst/>
              <a:latin typeface="Times New Roman" panose="02020603050405020304" pitchFamily="18" charset="0"/>
              <a:ea typeface="Calibri" panose="020F0502020204030204" pitchFamily="34" charset="0"/>
            </a:endParaRPr>
          </a:p>
          <a:p>
            <a:pPr marL="0" marR="0" algn="ctr">
              <a:spcBef>
                <a:spcPts val="0"/>
              </a:spcBef>
              <a:spcAft>
                <a:spcPts val="0"/>
              </a:spcAft>
            </a:pPr>
            <a:r>
              <a:rPr lang="en-US" sz="1200" dirty="0">
                <a:latin typeface="Times New Roman" panose="02020603050405020304" pitchFamily="18" charset="0"/>
                <a:ea typeface="Calibri" panose="020F0502020204030204" pitchFamily="34" charset="0"/>
              </a:rPr>
              <a:t>How long will the lights stay on?</a:t>
            </a:r>
          </a:p>
          <a:p>
            <a:pPr marL="0" marR="0" algn="ctr">
              <a:spcBef>
                <a:spcPts val="0"/>
              </a:spcBef>
              <a:spcAft>
                <a:spcPts val="0"/>
              </a:spcAft>
            </a:pPr>
            <a:r>
              <a:rPr lang="en-US" sz="1200" dirty="0">
                <a:effectLst/>
                <a:latin typeface="Times New Roman" panose="02020603050405020304" pitchFamily="18" charset="0"/>
                <a:ea typeface="Calibri" panose="020F0502020204030204" pitchFamily="34" charset="0"/>
              </a:rPr>
              <a:t>AIM 2-1-8</a:t>
            </a:r>
          </a:p>
        </p:txBody>
      </p:sp>
      <p:sp>
        <p:nvSpPr>
          <p:cNvPr id="3" name="Rectangle 2">
            <a:extLst>
              <a:ext uri="{FF2B5EF4-FFF2-40B4-BE49-F238E27FC236}">
                <a16:creationId xmlns:a16="http://schemas.microsoft.com/office/drawing/2014/main" id="{9495F497-CF1E-6735-933A-772540FEA110}"/>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30CE50D-80C6-3141-FCB6-536CF9CF5110}"/>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6152534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TextBox 1">
            <a:extLst>
              <a:ext uri="{FF2B5EF4-FFF2-40B4-BE49-F238E27FC236}">
                <a16:creationId xmlns:a16="http://schemas.microsoft.com/office/drawing/2014/main" id="{4F844123-00CE-9969-1ABB-34D29E3001D0}"/>
              </a:ext>
            </a:extLst>
          </p:cNvPr>
          <p:cNvSpPr txBox="1"/>
          <p:nvPr/>
        </p:nvSpPr>
        <p:spPr>
          <a:xfrm>
            <a:off x="572232" y="703590"/>
            <a:ext cx="3427535" cy="954107"/>
          </a:xfrm>
          <a:prstGeom prst="rect">
            <a:avLst/>
          </a:prstGeom>
          <a:noFill/>
        </p:spPr>
        <p:txBody>
          <a:bodyPr wrap="square">
            <a:spAutoFit/>
          </a:bodyPr>
          <a:lstStyle/>
          <a:p>
            <a:pPr marL="0" marR="0" algn="just">
              <a:spcBef>
                <a:spcPts val="0"/>
              </a:spcBef>
              <a:spcAft>
                <a:spcPts val="0"/>
              </a:spcAft>
            </a:pPr>
            <a:r>
              <a:rPr lang="en-US" sz="1400" dirty="0">
                <a:solidFill>
                  <a:srgbClr val="000000"/>
                </a:solidFill>
                <a:latin typeface="Times New Roman" panose="02020603050405020304" pitchFamily="18" charset="0"/>
                <a:ea typeface="Calibri" panose="020F0502020204030204" pitchFamily="34" charset="0"/>
              </a:rPr>
              <a:t>For medium intensity, you must click the mic button 5 times within a 5 second period.</a:t>
            </a:r>
          </a:p>
          <a:p>
            <a:pPr marL="0" marR="0" algn="just">
              <a:spcBef>
                <a:spcPts val="0"/>
              </a:spcBef>
              <a:spcAft>
                <a:spcPts val="0"/>
              </a:spcAft>
            </a:pPr>
            <a:endParaRPr lang="en-US" sz="1400" dirty="0">
              <a:solidFill>
                <a:srgbClr val="000000"/>
              </a:solidFill>
              <a:effectLst/>
              <a:latin typeface="Times New Roman" panose="02020603050405020304" pitchFamily="18" charset="0"/>
              <a:ea typeface="Calibri" panose="020F0502020204030204" pitchFamily="34" charset="0"/>
            </a:endParaRPr>
          </a:p>
          <a:p>
            <a:pPr marL="0" marR="0" algn="ctr">
              <a:spcBef>
                <a:spcPts val="0"/>
              </a:spcBef>
              <a:spcAft>
                <a:spcPts val="0"/>
              </a:spcAft>
            </a:pPr>
            <a:r>
              <a:rPr lang="en-US" sz="1400" dirty="0">
                <a:solidFill>
                  <a:srgbClr val="000000"/>
                </a:solidFill>
                <a:latin typeface="Times New Roman" panose="02020603050405020304" pitchFamily="18" charset="0"/>
                <a:ea typeface="Calibri" panose="020F0502020204030204" pitchFamily="34" charset="0"/>
              </a:rPr>
              <a:t>15 minutes.</a:t>
            </a:r>
            <a:endParaRPr lang="en-US" sz="1400" dirty="0">
              <a:solidFill>
                <a:srgbClr val="000000"/>
              </a:solidFill>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10293809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D010EC-5778-ECA9-6AD7-C5B74306192B}"/>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3" name="TextBox 2">
            <a:extLst>
              <a:ext uri="{FF2B5EF4-FFF2-40B4-BE49-F238E27FC236}">
                <a16:creationId xmlns:a16="http://schemas.microsoft.com/office/drawing/2014/main" id="{963C7CD8-888C-114B-A1ED-99E796803D5B}"/>
              </a:ext>
            </a:extLst>
          </p:cNvPr>
          <p:cNvSpPr txBox="1"/>
          <p:nvPr/>
        </p:nvSpPr>
        <p:spPr>
          <a:xfrm>
            <a:off x="637259" y="1217904"/>
            <a:ext cx="3297481" cy="307392"/>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What is Vfe?</a:t>
            </a:r>
          </a:p>
        </p:txBody>
      </p:sp>
      <p:sp>
        <p:nvSpPr>
          <p:cNvPr id="4" name="Rectangle 3">
            <a:extLst>
              <a:ext uri="{FF2B5EF4-FFF2-40B4-BE49-F238E27FC236}">
                <a16:creationId xmlns:a16="http://schemas.microsoft.com/office/drawing/2014/main" id="{BFA08C63-248C-70BA-376E-03A7DD4C728E}"/>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4CD8B9C9-92C6-28F5-3384-6356F42EDA8A}"/>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8299703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737A45-7079-1FB4-52B8-5A1F9333781D}"/>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3" name="TextBox 2">
            <a:extLst>
              <a:ext uri="{FF2B5EF4-FFF2-40B4-BE49-F238E27FC236}">
                <a16:creationId xmlns:a16="http://schemas.microsoft.com/office/drawing/2014/main" id="{8770AECB-D74E-315C-6ACD-CB879085CB06}"/>
              </a:ext>
            </a:extLst>
          </p:cNvPr>
          <p:cNvSpPr txBox="1"/>
          <p:nvPr/>
        </p:nvSpPr>
        <p:spPr>
          <a:xfrm>
            <a:off x="692638" y="1217904"/>
            <a:ext cx="3186723" cy="307392"/>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Maximum flap extension airspeed.</a:t>
            </a:r>
          </a:p>
        </p:txBody>
      </p:sp>
    </p:spTree>
    <p:extLst>
      <p:ext uri="{BB962C8B-B14F-4D97-AF65-F5344CB8AC3E}">
        <p14:creationId xmlns:p14="http://schemas.microsoft.com/office/powerpoint/2010/main" val="31375514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D010EC-5778-ECA9-6AD7-C5B74306192B}"/>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3" name="TextBox 2">
            <a:extLst>
              <a:ext uri="{FF2B5EF4-FFF2-40B4-BE49-F238E27FC236}">
                <a16:creationId xmlns:a16="http://schemas.microsoft.com/office/drawing/2014/main" id="{963C7CD8-888C-114B-A1ED-99E796803D5B}"/>
              </a:ext>
            </a:extLst>
          </p:cNvPr>
          <p:cNvSpPr txBox="1"/>
          <p:nvPr/>
        </p:nvSpPr>
        <p:spPr>
          <a:xfrm>
            <a:off x="637259" y="997873"/>
            <a:ext cx="3297481" cy="537904"/>
          </a:xfrm>
          <a:prstGeom prst="rect">
            <a:avLst/>
          </a:prstGeom>
          <a:noFill/>
        </p:spPr>
        <p:txBody>
          <a:bodyPr wrap="square">
            <a:spAutoFit/>
          </a:bodyPr>
          <a:lstStyle/>
          <a:p>
            <a:pPr marL="0" marR="0">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The Private Pilot ACS parameters for slow flight are________.</a:t>
            </a:r>
          </a:p>
        </p:txBody>
      </p:sp>
      <p:sp>
        <p:nvSpPr>
          <p:cNvPr id="4" name="Rectangle 3">
            <a:extLst>
              <a:ext uri="{FF2B5EF4-FFF2-40B4-BE49-F238E27FC236}">
                <a16:creationId xmlns:a16="http://schemas.microsoft.com/office/drawing/2014/main" id="{229E4424-EB23-0AF1-EF39-F1BCF44A7B88}"/>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D88A86D9-F5FA-A3B4-B353-E9720579224F}"/>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6292564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737A45-7079-1FB4-52B8-5A1F9333781D}"/>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3" name="TextBox 2">
            <a:extLst>
              <a:ext uri="{FF2B5EF4-FFF2-40B4-BE49-F238E27FC236}">
                <a16:creationId xmlns:a16="http://schemas.microsoft.com/office/drawing/2014/main" id="{8770AECB-D74E-315C-6ACD-CB879085CB06}"/>
              </a:ext>
            </a:extLst>
          </p:cNvPr>
          <p:cNvSpPr txBox="1"/>
          <p:nvPr/>
        </p:nvSpPr>
        <p:spPr>
          <a:xfrm>
            <a:off x="692638" y="734007"/>
            <a:ext cx="3186723" cy="1229439"/>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Establish an altitude above 1,500 AGL</a:t>
            </a:r>
          </a:p>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Heading +/- 10 degrees</a:t>
            </a:r>
          </a:p>
          <a:p>
            <a:pPr marL="0" marR="0" algn="ctr">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Altitude +/- 100 feet</a:t>
            </a:r>
          </a:p>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Airspeed +/- 10 kts</a:t>
            </a:r>
          </a:p>
          <a:p>
            <a:pPr marL="0" marR="0" algn="ctr">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Bank +/- 10 degrees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353353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TextBox 1">
            <a:extLst>
              <a:ext uri="{FF2B5EF4-FFF2-40B4-BE49-F238E27FC236}">
                <a16:creationId xmlns:a16="http://schemas.microsoft.com/office/drawing/2014/main" id="{76FCD841-8C15-C1BC-8F24-59605C9174A2}"/>
              </a:ext>
            </a:extLst>
          </p:cNvPr>
          <p:cNvSpPr txBox="1"/>
          <p:nvPr/>
        </p:nvSpPr>
        <p:spPr>
          <a:xfrm>
            <a:off x="500359" y="1109990"/>
            <a:ext cx="3571282" cy="523220"/>
          </a:xfrm>
          <a:prstGeom prst="rect">
            <a:avLst/>
          </a:prstGeom>
          <a:noFill/>
        </p:spPr>
        <p:txBody>
          <a:bodyPr wrap="square">
            <a:spAutoFit/>
          </a:bodyPr>
          <a:lstStyle/>
          <a:p>
            <a:pPr marL="0" marR="0">
              <a:spcBef>
                <a:spcPts val="0"/>
              </a:spcBef>
              <a:spcAft>
                <a:spcPts val="0"/>
              </a:spcAft>
            </a:pPr>
            <a:r>
              <a:rPr lang="en-US" sz="1400" dirty="0">
                <a:effectLst/>
                <a:latin typeface="Times New Roman" panose="02020603050405020304" pitchFamily="18" charset="0"/>
                <a:ea typeface="Calibri" panose="020F0502020204030204" pitchFamily="34" charset="0"/>
              </a:rPr>
              <a:t>You fly under Basic Med. How often do you need to have a comprehensive medical exam?</a:t>
            </a:r>
          </a:p>
        </p:txBody>
      </p:sp>
      <p:sp>
        <p:nvSpPr>
          <p:cNvPr id="3" name="Rectangle 2">
            <a:extLst>
              <a:ext uri="{FF2B5EF4-FFF2-40B4-BE49-F238E27FC236}">
                <a16:creationId xmlns:a16="http://schemas.microsoft.com/office/drawing/2014/main" id="{5BC1D90F-0F07-4287-5F6C-6DD7506B6154}"/>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AB3B33D2-0570-4201-DB00-0083626200F5}"/>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2183753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TextBox 1">
            <a:extLst>
              <a:ext uri="{FF2B5EF4-FFF2-40B4-BE49-F238E27FC236}">
                <a16:creationId xmlns:a16="http://schemas.microsoft.com/office/drawing/2014/main" id="{274275C7-A28B-D16A-62F9-6A4A762D0569}"/>
              </a:ext>
            </a:extLst>
          </p:cNvPr>
          <p:cNvSpPr txBox="1"/>
          <p:nvPr/>
        </p:nvSpPr>
        <p:spPr>
          <a:xfrm>
            <a:off x="862886" y="1217711"/>
            <a:ext cx="2842012" cy="307777"/>
          </a:xfrm>
          <a:prstGeom prst="rect">
            <a:avLst/>
          </a:prstGeom>
          <a:noFill/>
        </p:spPr>
        <p:txBody>
          <a:bodyPr wrap="square">
            <a:spAutoFit/>
          </a:bodyPr>
          <a:lstStyle/>
          <a:p>
            <a:pPr marL="0" marR="0" algn="ctr">
              <a:spcBef>
                <a:spcPts val="0"/>
              </a:spcBef>
              <a:spcAft>
                <a:spcPts val="0"/>
              </a:spcAft>
            </a:pPr>
            <a:r>
              <a:rPr lang="en-US" sz="1400" dirty="0">
                <a:solidFill>
                  <a:srgbClr val="000000"/>
                </a:solidFill>
                <a:effectLst/>
                <a:latin typeface="Times New Roman" panose="02020603050405020304" pitchFamily="18" charset="0"/>
                <a:ea typeface="Calibri" panose="020F0502020204030204" pitchFamily="34" charset="0"/>
              </a:rPr>
              <a:t>Every </a:t>
            </a:r>
            <a:r>
              <a:rPr lang="en-US" sz="1400" dirty="0">
                <a:solidFill>
                  <a:srgbClr val="000000"/>
                </a:solidFill>
                <a:latin typeface="Times New Roman" panose="02020603050405020304" pitchFamily="18" charset="0"/>
                <a:ea typeface="Calibri" panose="020F0502020204030204" pitchFamily="34" charset="0"/>
              </a:rPr>
              <a:t>four</a:t>
            </a:r>
            <a:r>
              <a:rPr lang="en-US" sz="1400" dirty="0">
                <a:solidFill>
                  <a:srgbClr val="000000"/>
                </a:solidFill>
                <a:effectLst/>
                <a:latin typeface="Times New Roman" panose="02020603050405020304" pitchFamily="18" charset="0"/>
                <a:ea typeface="Calibri" panose="020F0502020204030204" pitchFamily="34" charset="0"/>
              </a:rPr>
              <a:t> years.</a:t>
            </a:r>
          </a:p>
        </p:txBody>
      </p:sp>
    </p:spTree>
    <p:extLst>
      <p:ext uri="{BB962C8B-B14F-4D97-AF65-F5344CB8AC3E}">
        <p14:creationId xmlns:p14="http://schemas.microsoft.com/office/powerpoint/2010/main" val="9137230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TextBox 1">
            <a:extLst>
              <a:ext uri="{FF2B5EF4-FFF2-40B4-BE49-F238E27FC236}">
                <a16:creationId xmlns:a16="http://schemas.microsoft.com/office/drawing/2014/main" id="{43446EE3-CAAD-E542-6D9E-8CDB7A9714DC}"/>
              </a:ext>
            </a:extLst>
          </p:cNvPr>
          <p:cNvSpPr txBox="1"/>
          <p:nvPr/>
        </p:nvSpPr>
        <p:spPr>
          <a:xfrm>
            <a:off x="308987" y="1002268"/>
            <a:ext cx="3954026" cy="738664"/>
          </a:xfrm>
          <a:prstGeom prst="rect">
            <a:avLst/>
          </a:prstGeom>
          <a:noFill/>
        </p:spPr>
        <p:txBody>
          <a:bodyPr wrap="square">
            <a:spAutoFit/>
          </a:bodyPr>
          <a:lstStyle/>
          <a:p>
            <a:pPr marL="0" marR="0" algn="just">
              <a:spcBef>
                <a:spcPts val="0"/>
              </a:spcBef>
              <a:spcAft>
                <a:spcPts val="0"/>
              </a:spcAft>
            </a:pPr>
            <a:r>
              <a:rPr lang="en-US" sz="1400" dirty="0">
                <a:effectLst/>
                <a:latin typeface="Times New Roman" panose="02020603050405020304" pitchFamily="18" charset="0"/>
                <a:ea typeface="Calibri" panose="020F0502020204030204" pitchFamily="34" charset="0"/>
              </a:rPr>
              <a:t>You are on a Basic Med medical certificate and just bought an aircraft with a top speed of 325 knots. Can you fly this aircraft under Basic Med?</a:t>
            </a:r>
          </a:p>
        </p:txBody>
      </p:sp>
      <p:sp>
        <p:nvSpPr>
          <p:cNvPr id="3" name="Rectangle 2">
            <a:extLst>
              <a:ext uri="{FF2B5EF4-FFF2-40B4-BE49-F238E27FC236}">
                <a16:creationId xmlns:a16="http://schemas.microsoft.com/office/drawing/2014/main" id="{EC2572DB-8F93-79B6-79D7-A237122A7805}"/>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414241B-40AF-4589-3152-9F85AD48F4EC}"/>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41747091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E8903-34D5-E24E-6BB0-A86B59A761EF}"/>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TextBox 1">
            <a:extLst>
              <a:ext uri="{FF2B5EF4-FFF2-40B4-BE49-F238E27FC236}">
                <a16:creationId xmlns:a16="http://schemas.microsoft.com/office/drawing/2014/main" id="{0345F0FA-58DC-7EF1-316F-FADAA35B99B1}"/>
              </a:ext>
            </a:extLst>
          </p:cNvPr>
          <p:cNvSpPr txBox="1"/>
          <p:nvPr/>
        </p:nvSpPr>
        <p:spPr>
          <a:xfrm>
            <a:off x="467431" y="637577"/>
            <a:ext cx="3637137" cy="1169551"/>
          </a:xfrm>
          <a:prstGeom prst="rect">
            <a:avLst/>
          </a:prstGeom>
          <a:noFill/>
        </p:spPr>
        <p:txBody>
          <a:bodyPr wrap="square">
            <a:spAutoFit/>
          </a:bodyPr>
          <a:lstStyle/>
          <a:p>
            <a:pPr marL="0" marR="0" algn="ctr">
              <a:spcBef>
                <a:spcPts val="0"/>
              </a:spcBef>
              <a:spcAft>
                <a:spcPts val="0"/>
              </a:spcAft>
            </a:pPr>
            <a:r>
              <a:rPr lang="en-US" sz="1400" dirty="0">
                <a:effectLst/>
                <a:latin typeface="Times New Roman" panose="02020603050405020304" pitchFamily="18" charset="0"/>
                <a:ea typeface="Calibri" panose="020F0502020204030204" pitchFamily="34" charset="0"/>
              </a:rPr>
              <a:t>Yes.</a:t>
            </a:r>
          </a:p>
          <a:p>
            <a:pPr marL="0" marR="0">
              <a:spcBef>
                <a:spcPts val="0"/>
              </a:spcBef>
              <a:spcAft>
                <a:spcPts val="0"/>
              </a:spcAft>
            </a:pPr>
            <a:endParaRPr lang="en-US" sz="1400" dirty="0">
              <a:latin typeface="Times New Roman" panose="02020603050405020304" pitchFamily="18" charset="0"/>
              <a:ea typeface="Calibri" panose="020F0502020204030204" pitchFamily="34" charset="0"/>
            </a:endParaRPr>
          </a:p>
          <a:p>
            <a:pPr marL="0" marR="0" algn="just">
              <a:spcBef>
                <a:spcPts val="0"/>
              </a:spcBef>
              <a:spcAft>
                <a:spcPts val="0"/>
              </a:spcAft>
            </a:pPr>
            <a:r>
              <a:rPr lang="en-US" sz="1400" dirty="0">
                <a:effectLst/>
                <a:latin typeface="Times New Roman" panose="02020603050405020304" pitchFamily="18" charset="0"/>
                <a:ea typeface="Calibri" panose="020F0502020204030204" pitchFamily="34" charset="0"/>
              </a:rPr>
              <a:t>The 250 kt limit is a pilot limit, not an aircraft limit. So, </a:t>
            </a:r>
            <a:r>
              <a:rPr lang="en-US" sz="1400" dirty="0">
                <a:latin typeface="Times New Roman" panose="02020603050405020304" pitchFamily="18" charset="0"/>
                <a:ea typeface="Calibri" panose="020F0502020204030204" pitchFamily="34" charset="0"/>
              </a:rPr>
              <a:t>you can continue escaping the bonds Earth but you have to do so below 250 kts.</a:t>
            </a:r>
            <a:endParaRPr lang="en-US" sz="1400" dirty="0">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40059665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5" name="TextBox 4">
            <a:extLst>
              <a:ext uri="{FF2B5EF4-FFF2-40B4-BE49-F238E27FC236}">
                <a16:creationId xmlns:a16="http://schemas.microsoft.com/office/drawing/2014/main" id="{617C9391-AF01-1613-C21B-5BA58AE5CF21}"/>
              </a:ext>
            </a:extLst>
          </p:cNvPr>
          <p:cNvSpPr txBox="1"/>
          <p:nvPr/>
        </p:nvSpPr>
        <p:spPr>
          <a:xfrm>
            <a:off x="657373" y="679102"/>
            <a:ext cx="3257254" cy="1384995"/>
          </a:xfrm>
          <a:prstGeom prst="rect">
            <a:avLst/>
          </a:prstGeom>
          <a:noFill/>
        </p:spPr>
        <p:txBody>
          <a:bodyPr wrap="square">
            <a:spAutoFit/>
          </a:bodyPr>
          <a:lstStyle/>
          <a:p>
            <a:pPr marL="0" marR="0" algn="just">
              <a:spcBef>
                <a:spcPts val="0"/>
              </a:spcBef>
              <a:spcAft>
                <a:spcPts val="0"/>
              </a:spcAft>
            </a:pPr>
            <a:r>
              <a:rPr lang="en-US" sz="1400" dirty="0">
                <a:solidFill>
                  <a:srgbClr val="000000"/>
                </a:solidFill>
                <a:latin typeface="Times New Roman" panose="02020603050405020304" pitchFamily="18" charset="0"/>
                <a:ea typeface="Calibri" panose="020F0502020204030204" pitchFamily="34" charset="0"/>
              </a:rPr>
              <a:t>You encounter turbulence during your cross country. Which is your priority?</a:t>
            </a:r>
          </a:p>
          <a:p>
            <a:pPr marL="0" marR="0">
              <a:spcBef>
                <a:spcPts val="0"/>
              </a:spcBef>
              <a:spcAft>
                <a:spcPts val="0"/>
              </a:spcAft>
            </a:pPr>
            <a:endParaRPr lang="en-US" sz="1400" dirty="0">
              <a:solidFill>
                <a:srgbClr val="000000"/>
              </a:solidFill>
              <a:latin typeface="Times New Roman" panose="02020603050405020304" pitchFamily="18" charset="0"/>
              <a:ea typeface="Calibri" panose="020F0502020204030204" pitchFamily="34" charset="0"/>
            </a:endParaRPr>
          </a:p>
          <a:p>
            <a:pPr marL="0" marR="0" algn="ctr">
              <a:spcBef>
                <a:spcPts val="0"/>
              </a:spcBef>
              <a:spcAft>
                <a:spcPts val="0"/>
              </a:spcAft>
            </a:pPr>
            <a:r>
              <a:rPr lang="en-US" sz="1400" dirty="0">
                <a:solidFill>
                  <a:srgbClr val="000000"/>
                </a:solidFill>
                <a:latin typeface="Times New Roman" panose="02020603050405020304" pitchFamily="18" charset="0"/>
                <a:ea typeface="Calibri" panose="020F0502020204030204" pitchFamily="34" charset="0"/>
              </a:rPr>
              <a:t>Flying a constant airspeed and altitude</a:t>
            </a:r>
          </a:p>
          <a:p>
            <a:pPr marL="0" marR="0" algn="ctr">
              <a:spcBef>
                <a:spcPts val="0"/>
              </a:spcBef>
              <a:spcAft>
                <a:spcPts val="0"/>
              </a:spcAft>
            </a:pPr>
            <a:r>
              <a:rPr lang="en-US" sz="1400" dirty="0">
                <a:solidFill>
                  <a:srgbClr val="000000"/>
                </a:solidFill>
                <a:latin typeface="Times New Roman" panose="02020603050405020304" pitchFamily="18" charset="0"/>
                <a:ea typeface="Calibri" panose="020F0502020204030204" pitchFamily="34" charset="0"/>
              </a:rPr>
              <a:t>or</a:t>
            </a:r>
          </a:p>
          <a:p>
            <a:pPr marL="0" marR="0" algn="ctr">
              <a:spcBef>
                <a:spcPts val="0"/>
              </a:spcBef>
              <a:spcAft>
                <a:spcPts val="0"/>
              </a:spcAft>
            </a:pPr>
            <a:r>
              <a:rPr lang="en-US" sz="1400" dirty="0">
                <a:solidFill>
                  <a:srgbClr val="000000"/>
                </a:solidFill>
                <a:latin typeface="Times New Roman" panose="02020603050405020304" pitchFamily="18" charset="0"/>
                <a:ea typeface="Calibri" panose="020F0502020204030204" pitchFamily="34" charset="0"/>
              </a:rPr>
              <a:t>flying a straight and level attitude?</a:t>
            </a:r>
          </a:p>
        </p:txBody>
      </p:sp>
      <p:sp>
        <p:nvSpPr>
          <p:cNvPr id="2" name="Rectangle 1">
            <a:extLst>
              <a:ext uri="{FF2B5EF4-FFF2-40B4-BE49-F238E27FC236}">
                <a16:creationId xmlns:a16="http://schemas.microsoft.com/office/drawing/2014/main" id="{2CC5BDD5-7E81-68BC-6039-5A019AD7BEB1}"/>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B0F24D93-FCDC-1D02-4877-2C9D0BFC3416}"/>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7975346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TextBox 1">
            <a:extLst>
              <a:ext uri="{FF2B5EF4-FFF2-40B4-BE49-F238E27FC236}">
                <a16:creationId xmlns:a16="http://schemas.microsoft.com/office/drawing/2014/main" id="{CE396486-3667-5DA5-3A2D-63AAC953DECB}"/>
              </a:ext>
            </a:extLst>
          </p:cNvPr>
          <p:cNvSpPr txBox="1"/>
          <p:nvPr/>
        </p:nvSpPr>
        <p:spPr>
          <a:xfrm>
            <a:off x="282575" y="400203"/>
            <a:ext cx="4006850" cy="2092881"/>
          </a:xfrm>
          <a:prstGeom prst="rect">
            <a:avLst/>
          </a:prstGeom>
          <a:noFill/>
        </p:spPr>
        <p:txBody>
          <a:bodyPr wrap="square">
            <a:spAutoFit/>
          </a:bodyPr>
          <a:lstStyle/>
          <a:p>
            <a:pPr marL="171450" indent="-171450" algn="just">
              <a:buFont typeface="Arial" panose="020B0604020202020204" pitchFamily="34" charset="0"/>
              <a:buChar char="•"/>
            </a:pPr>
            <a:r>
              <a:rPr lang="en-US" sz="1300" dirty="0">
                <a:solidFill>
                  <a:srgbClr val="000000"/>
                </a:solidFill>
                <a:latin typeface="Times New Roman" panose="02020603050405020304" pitchFamily="18" charset="0"/>
                <a:ea typeface="Calibri" panose="020F0502020204030204" pitchFamily="34" charset="0"/>
              </a:rPr>
              <a:t>Just do your best to fly a straight and level attitude. If ATC assigned you a specific altitude, tell them “unable” or request a block altitude such as “Request block 4 to 5.” (4,000 – 5,000 MSL)</a:t>
            </a:r>
          </a:p>
          <a:p>
            <a:pPr marL="171450" marR="0" indent="-171450">
              <a:spcBef>
                <a:spcPts val="0"/>
              </a:spcBef>
              <a:spcAft>
                <a:spcPts val="0"/>
              </a:spcAft>
              <a:buFont typeface="Arial" panose="020B0604020202020204" pitchFamily="34" charset="0"/>
              <a:buChar char="•"/>
            </a:pPr>
            <a:endParaRPr lang="en-US" sz="1300" dirty="0">
              <a:solidFill>
                <a:srgbClr val="000000"/>
              </a:solidFill>
              <a:latin typeface="Times New Roman" panose="02020603050405020304" pitchFamily="18" charset="0"/>
              <a:ea typeface="Calibri" panose="020F0502020204030204" pitchFamily="34" charset="0"/>
            </a:endParaRPr>
          </a:p>
          <a:p>
            <a:pPr marL="171450" marR="0" indent="-171450" algn="just">
              <a:spcBef>
                <a:spcPts val="0"/>
              </a:spcBef>
              <a:spcAft>
                <a:spcPts val="0"/>
              </a:spcAft>
              <a:buFont typeface="Arial" panose="020B0604020202020204" pitchFamily="34" charset="0"/>
              <a:buChar char="•"/>
            </a:pPr>
            <a:r>
              <a:rPr lang="en-US" sz="1300" dirty="0">
                <a:solidFill>
                  <a:srgbClr val="000000"/>
                </a:solidFill>
                <a:latin typeface="Times New Roman" panose="02020603050405020304" pitchFamily="18" charset="0"/>
                <a:ea typeface="Calibri" panose="020F0502020204030204" pitchFamily="34" charset="0"/>
              </a:rPr>
              <a:t>Don’t “chase airspeed and altitude” when flying through turbulence.</a:t>
            </a:r>
          </a:p>
          <a:p>
            <a:pPr marL="171450" marR="0" indent="-171450">
              <a:spcBef>
                <a:spcPts val="0"/>
              </a:spcBef>
              <a:spcAft>
                <a:spcPts val="0"/>
              </a:spcAft>
              <a:buFont typeface="Arial" panose="020B0604020202020204" pitchFamily="34" charset="0"/>
              <a:buChar char="•"/>
            </a:pPr>
            <a:endParaRPr lang="en-US" sz="1300" dirty="0">
              <a:solidFill>
                <a:srgbClr val="000000"/>
              </a:solidFill>
              <a:latin typeface="Times New Roman" panose="02020603050405020304" pitchFamily="18" charset="0"/>
              <a:ea typeface="Calibri" panose="020F0502020204030204" pitchFamily="34" charset="0"/>
            </a:endParaRPr>
          </a:p>
          <a:p>
            <a:pPr marL="171450" marR="0" indent="-171450">
              <a:spcBef>
                <a:spcPts val="0"/>
              </a:spcBef>
              <a:spcAft>
                <a:spcPts val="0"/>
              </a:spcAft>
              <a:buFont typeface="Arial" panose="020B0604020202020204" pitchFamily="34" charset="0"/>
              <a:buChar char="•"/>
            </a:pPr>
            <a:r>
              <a:rPr lang="en-US" sz="1300" dirty="0">
                <a:solidFill>
                  <a:srgbClr val="000000"/>
                </a:solidFill>
                <a:latin typeface="Times New Roman" panose="02020603050405020304" pitchFamily="18" charset="0"/>
                <a:ea typeface="Calibri" panose="020F0502020204030204" pitchFamily="34" charset="0"/>
              </a:rPr>
              <a:t>Slow down below Va.</a:t>
            </a:r>
          </a:p>
          <a:p>
            <a:pPr marL="171450" marR="0" indent="-171450">
              <a:spcBef>
                <a:spcPts val="0"/>
              </a:spcBef>
              <a:spcAft>
                <a:spcPts val="0"/>
              </a:spcAft>
              <a:buFont typeface="Arial" panose="020B0604020202020204" pitchFamily="34" charset="0"/>
              <a:buChar char="•"/>
            </a:pPr>
            <a:endParaRPr lang="en-US" sz="1300" dirty="0">
              <a:solidFill>
                <a:srgbClr val="000000"/>
              </a:solidFill>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26930092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TextBox 1">
            <a:extLst>
              <a:ext uri="{FF2B5EF4-FFF2-40B4-BE49-F238E27FC236}">
                <a16:creationId xmlns:a16="http://schemas.microsoft.com/office/drawing/2014/main" id="{243657B4-8552-3837-1861-A6BF19183F9A}"/>
              </a:ext>
            </a:extLst>
          </p:cNvPr>
          <p:cNvSpPr txBox="1"/>
          <p:nvPr/>
        </p:nvSpPr>
        <p:spPr>
          <a:xfrm>
            <a:off x="684185" y="1002268"/>
            <a:ext cx="3203630" cy="738664"/>
          </a:xfrm>
          <a:prstGeom prst="rect">
            <a:avLst/>
          </a:prstGeom>
          <a:noFill/>
        </p:spPr>
        <p:txBody>
          <a:bodyPr wrap="square">
            <a:spAutoFit/>
          </a:bodyPr>
          <a:lstStyle/>
          <a:p>
            <a:pPr marL="0" marR="0" algn="just">
              <a:spcBef>
                <a:spcPts val="0"/>
              </a:spcBef>
              <a:spcAft>
                <a:spcPts val="0"/>
              </a:spcAft>
            </a:pPr>
            <a:r>
              <a:rPr lang="en-US" sz="1400" dirty="0">
                <a:solidFill>
                  <a:srgbClr val="000000"/>
                </a:solidFill>
                <a:latin typeface="Times New Roman" panose="02020603050405020304" pitchFamily="18" charset="0"/>
                <a:ea typeface="Calibri" panose="020F0502020204030204" pitchFamily="34" charset="0"/>
              </a:rPr>
              <a:t>True or False. For weight and balance purposes, an aircraft’s BEW (basic empty weight) assumes all fuel tanks are full.</a:t>
            </a:r>
          </a:p>
        </p:txBody>
      </p:sp>
      <p:sp>
        <p:nvSpPr>
          <p:cNvPr id="3" name="Rectangle 2">
            <a:extLst>
              <a:ext uri="{FF2B5EF4-FFF2-40B4-BE49-F238E27FC236}">
                <a16:creationId xmlns:a16="http://schemas.microsoft.com/office/drawing/2014/main" id="{0216D811-74DD-7E8F-39EC-E8CAE80CB36F}"/>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FC15BC74-A53B-81FD-DF44-D7688550A6F5}"/>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7431714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TextBox 1">
            <a:extLst>
              <a:ext uri="{FF2B5EF4-FFF2-40B4-BE49-F238E27FC236}">
                <a16:creationId xmlns:a16="http://schemas.microsoft.com/office/drawing/2014/main" id="{CFF1ED0A-4D7A-92C6-6F32-4D2AF086072F}"/>
              </a:ext>
            </a:extLst>
          </p:cNvPr>
          <p:cNvSpPr txBox="1"/>
          <p:nvPr/>
        </p:nvSpPr>
        <p:spPr>
          <a:xfrm>
            <a:off x="500062" y="679102"/>
            <a:ext cx="3571875" cy="1384995"/>
          </a:xfrm>
          <a:prstGeom prst="rect">
            <a:avLst/>
          </a:prstGeom>
          <a:noFill/>
        </p:spPr>
        <p:txBody>
          <a:bodyPr wrap="square">
            <a:spAutoFit/>
          </a:bodyPr>
          <a:lstStyle/>
          <a:p>
            <a:pPr marL="0" marR="0" algn="ctr">
              <a:spcBef>
                <a:spcPts val="0"/>
              </a:spcBef>
              <a:spcAft>
                <a:spcPts val="0"/>
              </a:spcAft>
            </a:pPr>
            <a:r>
              <a:rPr lang="en-US" sz="1400" dirty="0">
                <a:solidFill>
                  <a:srgbClr val="000000"/>
                </a:solidFill>
                <a:latin typeface="Times New Roman" panose="02020603050405020304" pitchFamily="18" charset="0"/>
                <a:ea typeface="Calibri" panose="020F0502020204030204" pitchFamily="34" charset="0"/>
              </a:rPr>
              <a:t>False.</a:t>
            </a:r>
          </a:p>
          <a:p>
            <a:pPr marL="0" marR="0" algn="just">
              <a:spcBef>
                <a:spcPts val="0"/>
              </a:spcBef>
              <a:spcAft>
                <a:spcPts val="0"/>
              </a:spcAft>
            </a:pPr>
            <a:endParaRPr lang="en-US" sz="1400" dirty="0">
              <a:solidFill>
                <a:srgbClr val="000000"/>
              </a:solidFill>
              <a:latin typeface="Times New Roman" panose="02020603050405020304" pitchFamily="18" charset="0"/>
              <a:ea typeface="Calibri" panose="020F0502020204030204" pitchFamily="34" charset="0"/>
            </a:endParaRPr>
          </a:p>
          <a:p>
            <a:pPr marL="0" marR="0" algn="just">
              <a:spcBef>
                <a:spcPts val="0"/>
              </a:spcBef>
              <a:spcAft>
                <a:spcPts val="0"/>
              </a:spcAft>
            </a:pPr>
            <a:r>
              <a:rPr lang="en-US" sz="1400" dirty="0">
                <a:solidFill>
                  <a:srgbClr val="000000"/>
                </a:solidFill>
                <a:latin typeface="Times New Roman" panose="02020603050405020304" pitchFamily="18" charset="0"/>
                <a:ea typeface="Calibri" panose="020F0502020204030204" pitchFamily="34" charset="0"/>
              </a:rPr>
              <a:t>BEW assumes fuel tanks are empty and only the unusable fuel remains in the aircraft. Note: be sure to refer to your W&amp;B section of the POH for any specifics regarding BEW.</a:t>
            </a:r>
          </a:p>
        </p:txBody>
      </p:sp>
    </p:spTree>
    <p:extLst>
      <p:ext uri="{BB962C8B-B14F-4D97-AF65-F5344CB8AC3E}">
        <p14:creationId xmlns:p14="http://schemas.microsoft.com/office/powerpoint/2010/main" val="34119759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TextBox 1">
            <a:extLst>
              <a:ext uri="{FF2B5EF4-FFF2-40B4-BE49-F238E27FC236}">
                <a16:creationId xmlns:a16="http://schemas.microsoft.com/office/drawing/2014/main" id="{4775E311-0166-A935-C931-469BF8C6A8B8}"/>
              </a:ext>
            </a:extLst>
          </p:cNvPr>
          <p:cNvSpPr txBox="1"/>
          <p:nvPr/>
        </p:nvSpPr>
        <p:spPr>
          <a:xfrm>
            <a:off x="509338" y="708808"/>
            <a:ext cx="3553324" cy="1169551"/>
          </a:xfrm>
          <a:prstGeom prst="rect">
            <a:avLst/>
          </a:prstGeom>
          <a:noFill/>
        </p:spPr>
        <p:txBody>
          <a:bodyPr wrap="square">
            <a:spAutoFit/>
          </a:bodyPr>
          <a:lstStyle/>
          <a:p>
            <a:pPr algn="just"/>
            <a:r>
              <a:rPr lang="en-US" sz="1400" dirty="0">
                <a:solidFill>
                  <a:srgbClr val="222222"/>
                </a:solidFill>
                <a:effectLst/>
                <a:latin typeface="Times New Roman" panose="02020603050405020304" pitchFamily="18" charset="0"/>
                <a:ea typeface="Times New Roman" panose="02020603050405020304" pitchFamily="18" charset="0"/>
              </a:rPr>
              <a:t>What is the lowest altitude an aircraft may be operated over an area designated as a U.S. wildlife refuge, park, or Forest Service Area?</a:t>
            </a:r>
          </a:p>
          <a:p>
            <a:pPr algn="just"/>
            <a:endParaRPr lang="en-US" sz="1400" dirty="0">
              <a:solidFill>
                <a:srgbClr val="222222"/>
              </a:solidFill>
              <a:effectLst/>
              <a:latin typeface="Times New Roman" panose="02020603050405020304" pitchFamily="18" charset="0"/>
              <a:ea typeface="Times New Roman" panose="02020603050405020304" pitchFamily="18" charset="0"/>
            </a:endParaRPr>
          </a:p>
          <a:p>
            <a:pPr algn="ctr"/>
            <a:r>
              <a:rPr lang="en-US" sz="1400" dirty="0">
                <a:solidFill>
                  <a:srgbClr val="222222"/>
                </a:solidFill>
                <a:effectLst/>
                <a:latin typeface="Times New Roman" panose="02020603050405020304" pitchFamily="18" charset="0"/>
                <a:ea typeface="Times New Roman" panose="02020603050405020304" pitchFamily="18" charset="0"/>
              </a:rPr>
              <a:t>AIM 7-4-6</a:t>
            </a:r>
            <a:endParaRPr lang="en-US" sz="1400" dirty="0"/>
          </a:p>
        </p:txBody>
      </p:sp>
      <p:sp>
        <p:nvSpPr>
          <p:cNvPr id="3" name="Rectangle 2">
            <a:extLst>
              <a:ext uri="{FF2B5EF4-FFF2-40B4-BE49-F238E27FC236}">
                <a16:creationId xmlns:a16="http://schemas.microsoft.com/office/drawing/2014/main" id="{91C185B3-72AE-5EC1-7C5F-BC1B2589AA4C}"/>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7D981EC4-3432-BA35-3ECA-C79EFFBC64BC}"/>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5480943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TextBox 1">
            <a:extLst>
              <a:ext uri="{FF2B5EF4-FFF2-40B4-BE49-F238E27FC236}">
                <a16:creationId xmlns:a16="http://schemas.microsoft.com/office/drawing/2014/main" id="{CB71FA7A-BF10-1583-CE87-C39BDA69C48F}"/>
              </a:ext>
            </a:extLst>
          </p:cNvPr>
          <p:cNvSpPr txBox="1"/>
          <p:nvPr/>
        </p:nvSpPr>
        <p:spPr>
          <a:xfrm>
            <a:off x="255217" y="638939"/>
            <a:ext cx="1673595" cy="1458284"/>
          </a:xfrm>
          <a:prstGeom prst="rect">
            <a:avLst/>
          </a:prstGeom>
          <a:noFill/>
        </p:spPr>
        <p:txBody>
          <a:bodyPr wrap="square">
            <a:spAutoFit/>
          </a:bodyPr>
          <a:lstStyle/>
          <a:p>
            <a:pPr marL="0" marR="0">
              <a:lnSpc>
                <a:spcPct val="115000"/>
              </a:lnSpc>
              <a:spcBef>
                <a:spcPts val="0"/>
              </a:spcBef>
              <a:spcAft>
                <a:spcPts val="600"/>
              </a:spcAft>
            </a:pPr>
            <a:r>
              <a:rPr lang="en-US" sz="105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All aircraft are </a:t>
            </a:r>
            <a:r>
              <a:rPr lang="en-US" sz="1050" i="1"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requested</a:t>
            </a:r>
            <a:r>
              <a:rPr lang="en-US" sz="105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to maintain a minimum altitude of 2,000 ft above the surface.</a:t>
            </a:r>
            <a:endParaRPr lang="en-US" sz="1050" dirty="0">
              <a:solidFill>
                <a:srgbClr val="222222"/>
              </a:solidFill>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Bef>
                <a:spcPts val="0"/>
              </a:spcBef>
              <a:spcAft>
                <a:spcPts val="600"/>
              </a:spcAft>
            </a:pPr>
            <a:r>
              <a:rPr lang="en-US" sz="105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Notice it says “requested?” So, do your best </a:t>
            </a:r>
            <a:r>
              <a:rPr lang="en-US" sz="1050" dirty="0">
                <a:solidFill>
                  <a:srgbClr val="222222"/>
                </a:solidFill>
                <a:latin typeface="Times New Roman" panose="02020603050405020304" pitchFamily="18" charset="0"/>
                <a:ea typeface="Calibri" panose="020F0502020204030204" pitchFamily="34" charset="0"/>
                <a:cs typeface="Times New Roman" panose="02020603050405020304" pitchFamily="18" charset="0"/>
              </a:rPr>
              <a:t>to</a:t>
            </a:r>
            <a:r>
              <a:rPr lang="en-US" sz="105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stay above 2,000 AGL.</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407265F0-7C6D-BE66-2EFC-EE473D992537}"/>
              </a:ext>
            </a:extLst>
          </p:cNvPr>
          <p:cNvSpPr txBox="1"/>
          <p:nvPr/>
        </p:nvSpPr>
        <p:spPr>
          <a:xfrm>
            <a:off x="2118038" y="131156"/>
            <a:ext cx="2286000" cy="2169825"/>
          </a:xfrm>
          <a:prstGeom prst="rect">
            <a:avLst/>
          </a:prstGeom>
          <a:noFill/>
        </p:spPr>
        <p:txBody>
          <a:bodyPr wrap="square">
            <a:spAutoFit/>
          </a:bodyPr>
          <a:lstStyle/>
          <a:p>
            <a:pPr algn="ctr"/>
            <a:r>
              <a:rPr lang="en-US" sz="900" b="1" dirty="0">
                <a:latin typeface="Times New Roman" panose="02020603050405020304" pitchFamily="18" charset="0"/>
                <a:cs typeface="Times New Roman" panose="02020603050405020304" pitchFamily="18" charset="0"/>
              </a:rPr>
              <a:t>Areas we are requested to fly over at a minimum of 2,000 ft AGL over the following areas:</a:t>
            </a:r>
          </a:p>
          <a:p>
            <a:pPr algn="ctr"/>
            <a:endParaRPr lang="en-US" sz="900" b="1"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900" dirty="0">
                <a:latin typeface="Times New Roman" panose="02020603050405020304" pitchFamily="18" charset="0"/>
                <a:cs typeface="Times New Roman" panose="02020603050405020304" pitchFamily="18" charset="0"/>
              </a:rPr>
              <a:t>National Parks</a:t>
            </a:r>
          </a:p>
          <a:p>
            <a:pPr marL="171450" indent="-171450">
              <a:buFont typeface="Arial" panose="020B0604020202020204" pitchFamily="34" charset="0"/>
              <a:buChar char="•"/>
            </a:pPr>
            <a:r>
              <a:rPr lang="en-US" sz="900" dirty="0">
                <a:latin typeface="Times New Roman" panose="02020603050405020304" pitchFamily="18" charset="0"/>
                <a:cs typeface="Times New Roman" panose="02020603050405020304" pitchFamily="18" charset="0"/>
              </a:rPr>
              <a:t>Monuments</a:t>
            </a:r>
          </a:p>
          <a:p>
            <a:pPr marL="171450" indent="-171450">
              <a:buFont typeface="Arial" panose="020B0604020202020204" pitchFamily="34" charset="0"/>
              <a:buChar char="•"/>
            </a:pPr>
            <a:r>
              <a:rPr lang="en-US" sz="900" dirty="0">
                <a:latin typeface="Times New Roman" panose="02020603050405020304" pitchFamily="18" charset="0"/>
                <a:cs typeface="Times New Roman" panose="02020603050405020304" pitchFamily="18" charset="0"/>
              </a:rPr>
              <a:t>Seashores</a:t>
            </a:r>
          </a:p>
          <a:p>
            <a:pPr marL="171450" indent="-171450">
              <a:buFont typeface="Arial" panose="020B0604020202020204" pitchFamily="34" charset="0"/>
              <a:buChar char="•"/>
            </a:pPr>
            <a:r>
              <a:rPr lang="en-US" sz="900" dirty="0">
                <a:latin typeface="Times New Roman" panose="02020603050405020304" pitchFamily="18" charset="0"/>
                <a:cs typeface="Times New Roman" panose="02020603050405020304" pitchFamily="18" charset="0"/>
              </a:rPr>
              <a:t>Lakeshores</a:t>
            </a:r>
          </a:p>
          <a:p>
            <a:pPr marL="171450" indent="-171450">
              <a:buFont typeface="Arial" panose="020B0604020202020204" pitchFamily="34" charset="0"/>
              <a:buChar char="•"/>
            </a:pPr>
            <a:r>
              <a:rPr lang="en-US" sz="900" dirty="0">
                <a:latin typeface="Times New Roman" panose="02020603050405020304" pitchFamily="18" charset="0"/>
                <a:cs typeface="Times New Roman" panose="02020603050405020304" pitchFamily="18" charset="0"/>
              </a:rPr>
              <a:t>Recreation Areas</a:t>
            </a:r>
          </a:p>
          <a:p>
            <a:pPr marL="171450" indent="-171450">
              <a:buFont typeface="Arial" panose="020B0604020202020204" pitchFamily="34" charset="0"/>
              <a:buChar char="•"/>
            </a:pPr>
            <a:r>
              <a:rPr lang="en-US" sz="900" dirty="0">
                <a:latin typeface="Times New Roman" panose="02020603050405020304" pitchFamily="18" charset="0"/>
                <a:cs typeface="Times New Roman" panose="02020603050405020304" pitchFamily="18" charset="0"/>
              </a:rPr>
              <a:t>Scenic Riverways</a:t>
            </a:r>
          </a:p>
          <a:p>
            <a:pPr marL="171450" indent="-171450">
              <a:buFont typeface="Arial" panose="020B0604020202020204" pitchFamily="34" charset="0"/>
              <a:buChar char="•"/>
            </a:pPr>
            <a:r>
              <a:rPr lang="en-US" sz="900" dirty="0">
                <a:latin typeface="Times New Roman" panose="02020603050405020304" pitchFamily="18" charset="0"/>
                <a:cs typeface="Times New Roman" panose="02020603050405020304" pitchFamily="18" charset="0"/>
              </a:rPr>
              <a:t>National Wildlife Refuges</a:t>
            </a:r>
          </a:p>
          <a:p>
            <a:pPr marL="171450" indent="-171450">
              <a:buFont typeface="Arial" panose="020B0604020202020204" pitchFamily="34" charset="0"/>
              <a:buChar char="•"/>
            </a:pPr>
            <a:r>
              <a:rPr lang="en-US" sz="900" dirty="0">
                <a:latin typeface="Times New Roman" panose="02020603050405020304" pitchFamily="18" charset="0"/>
                <a:cs typeface="Times New Roman" panose="02020603050405020304" pitchFamily="18" charset="0"/>
              </a:rPr>
              <a:t>Wilderness and Primitive Areas administered by the U.S. Forest Service, U.S. Fish and Wildlife Service, and National Park Service</a:t>
            </a:r>
          </a:p>
        </p:txBody>
      </p:sp>
    </p:spTree>
    <p:extLst>
      <p:ext uri="{BB962C8B-B14F-4D97-AF65-F5344CB8AC3E}">
        <p14:creationId xmlns:p14="http://schemas.microsoft.com/office/powerpoint/2010/main" val="28271274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TextBox 1">
            <a:extLst>
              <a:ext uri="{FF2B5EF4-FFF2-40B4-BE49-F238E27FC236}">
                <a16:creationId xmlns:a16="http://schemas.microsoft.com/office/drawing/2014/main" id="{EA346E4F-C443-C434-8EAD-9C3F925B5B66}"/>
              </a:ext>
            </a:extLst>
          </p:cNvPr>
          <p:cNvSpPr txBox="1"/>
          <p:nvPr/>
        </p:nvSpPr>
        <p:spPr>
          <a:xfrm>
            <a:off x="338830" y="1211460"/>
            <a:ext cx="3898319" cy="320280"/>
          </a:xfrm>
          <a:prstGeom prst="rect">
            <a:avLst/>
          </a:prstGeom>
          <a:noFill/>
        </p:spPr>
        <p:txBody>
          <a:bodyPr wrap="square">
            <a:spAutoFit/>
          </a:bodyPr>
          <a:lstStyle/>
          <a:p>
            <a:pPr marL="0" marR="0" algn="ctr">
              <a:lnSpc>
                <a:spcPct val="115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What color is 100 LL aviation grade gasoline?</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028BD03F-4804-4143-E409-73440423E998}"/>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459733A-27EA-F038-DEEC-627C6381BD2B}"/>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0769422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TextBox 1">
            <a:extLst>
              <a:ext uri="{FF2B5EF4-FFF2-40B4-BE49-F238E27FC236}">
                <a16:creationId xmlns:a16="http://schemas.microsoft.com/office/drawing/2014/main" id="{ABD939C6-BD28-17A7-AA7C-6AE3CA331A18}"/>
              </a:ext>
            </a:extLst>
          </p:cNvPr>
          <p:cNvSpPr txBox="1"/>
          <p:nvPr/>
        </p:nvSpPr>
        <p:spPr>
          <a:xfrm>
            <a:off x="1060732" y="1211460"/>
            <a:ext cx="2450535" cy="320280"/>
          </a:xfrm>
          <a:prstGeom prst="rect">
            <a:avLst/>
          </a:prstGeom>
          <a:noFill/>
        </p:spPr>
        <p:txBody>
          <a:bodyPr wrap="square">
            <a:spAutoFit/>
          </a:bodyPr>
          <a:lstStyle/>
          <a:p>
            <a:pPr marL="0" marR="0" algn="ctr">
              <a:lnSpc>
                <a:spcPct val="115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Blue.</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709147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28AA0F-1C9E-2D45-A1A7-133F738946BE}"/>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3" name="TextBox 2">
            <a:extLst>
              <a:ext uri="{FF2B5EF4-FFF2-40B4-BE49-F238E27FC236}">
                <a16:creationId xmlns:a16="http://schemas.microsoft.com/office/drawing/2014/main" id="{011A6E12-2AC7-DFCF-3E7D-EC0C7031090F}"/>
              </a:ext>
            </a:extLst>
          </p:cNvPr>
          <p:cNvSpPr txBox="1"/>
          <p:nvPr/>
        </p:nvSpPr>
        <p:spPr>
          <a:xfrm>
            <a:off x="422139" y="987392"/>
            <a:ext cx="3727721" cy="768415"/>
          </a:xfrm>
          <a:prstGeom prst="rect">
            <a:avLst/>
          </a:prstGeom>
          <a:noFill/>
        </p:spPr>
        <p:txBody>
          <a:bodyPr wrap="square">
            <a:spAutoFit/>
          </a:bodyPr>
          <a:lstStyle/>
          <a:p>
            <a:pPr marL="0" marR="0" algn="just">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During stall practice, you must recover at or above what altitude ________ if single engine or ________ if multi engine.</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7B78F098-A4FC-6750-3419-9D7086C1E3A8}"/>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279517AD-4CA6-4DAA-3611-30903F69E4E6}"/>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0406453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20C1B1-C9A3-E9CD-AF91-3553CE37EC01}"/>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3" name="TextBox 2">
            <a:extLst>
              <a:ext uri="{FF2B5EF4-FFF2-40B4-BE49-F238E27FC236}">
                <a16:creationId xmlns:a16="http://schemas.microsoft.com/office/drawing/2014/main" id="{77E99DBB-C025-BA01-2D0D-1A59E9758ED4}"/>
              </a:ext>
            </a:extLst>
          </p:cNvPr>
          <p:cNvSpPr txBox="1"/>
          <p:nvPr/>
        </p:nvSpPr>
        <p:spPr>
          <a:xfrm>
            <a:off x="712446" y="987392"/>
            <a:ext cx="3147107" cy="768415"/>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1,500 </a:t>
            </a:r>
            <a:r>
              <a:rPr lang="en-US" sz="1400" dirty="0">
                <a:latin typeface="Times New Roman" panose="02020603050405020304" pitchFamily="18" charset="0"/>
                <a:ea typeface="Calibri" panose="020F0502020204030204" pitchFamily="34" charset="0"/>
                <a:cs typeface="Times New Roman" panose="02020603050405020304" pitchFamily="18" charset="0"/>
              </a:rPr>
              <a:t>AGL single engine.</a:t>
            </a:r>
          </a:p>
          <a:p>
            <a:pPr marL="0" marR="0" algn="ctr">
              <a:lnSpc>
                <a:spcPct val="107000"/>
              </a:lnSpc>
              <a:spcBef>
                <a:spcPts val="0"/>
              </a:spcBef>
              <a:spcAft>
                <a:spcPts val="0"/>
              </a:spcAft>
            </a:pP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3,000 </a:t>
            </a:r>
            <a:r>
              <a:rPr lang="en-US" sz="1400" dirty="0">
                <a:latin typeface="Times New Roman" panose="02020603050405020304" pitchFamily="18" charset="0"/>
                <a:ea typeface="Calibri" panose="020F0502020204030204" pitchFamily="34" charset="0"/>
                <a:cs typeface="Times New Roman" panose="02020603050405020304" pitchFamily="18" charset="0"/>
              </a:rPr>
              <a:t>AGL multi-engine.</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612781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D62F91-9514-22D3-E4F1-9D919A4E89A2}"/>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3" name="TextBox 2">
            <a:extLst>
              <a:ext uri="{FF2B5EF4-FFF2-40B4-BE49-F238E27FC236}">
                <a16:creationId xmlns:a16="http://schemas.microsoft.com/office/drawing/2014/main" id="{ECB7F20E-5CCB-DEBC-DE21-0CDFE4AEFEF4}"/>
              </a:ext>
            </a:extLst>
          </p:cNvPr>
          <p:cNvSpPr txBox="1"/>
          <p:nvPr/>
        </p:nvSpPr>
        <p:spPr>
          <a:xfrm>
            <a:off x="956025" y="1217904"/>
            <a:ext cx="2659949" cy="307392"/>
          </a:xfrm>
          <a:prstGeom prst="rect">
            <a:avLst/>
          </a:prstGeom>
          <a:noFill/>
        </p:spPr>
        <p:txBody>
          <a:bodyPr wrap="square">
            <a:spAutoFit/>
          </a:bodyPr>
          <a:lstStyle/>
          <a:p>
            <a:pPr marL="0" marR="0" algn="ctr">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What is Basic Med?</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7339E0A4-A7C2-D752-E702-6762077A4EFB}"/>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B55AD5A3-3C3B-A653-3769-1603F355FDC2}"/>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42716663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28AA0F-1C9E-2D45-A1A7-133F738946BE}"/>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3" name="TextBox 2">
            <a:extLst>
              <a:ext uri="{FF2B5EF4-FFF2-40B4-BE49-F238E27FC236}">
                <a16:creationId xmlns:a16="http://schemas.microsoft.com/office/drawing/2014/main" id="{AC142485-157A-3A16-DE95-9D9F83EABC15}"/>
              </a:ext>
            </a:extLst>
          </p:cNvPr>
          <p:cNvSpPr txBox="1"/>
          <p:nvPr/>
        </p:nvSpPr>
        <p:spPr>
          <a:xfrm>
            <a:off x="474514" y="473841"/>
            <a:ext cx="3622971" cy="1694566"/>
          </a:xfrm>
          <a:prstGeom prst="rect">
            <a:avLst/>
          </a:prstGeom>
          <a:noFill/>
        </p:spPr>
        <p:txBody>
          <a:bodyPr wrap="square">
            <a:spAutoFit/>
          </a:bodyPr>
          <a:lstStyle/>
          <a:p>
            <a:pPr marL="0" marR="0" algn="just">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Basic Med is a </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way to fly without an FAA Medical Certificate. A Basic Med holder must have held an FAA medical certificate sometime in the past, take an online course every two years, fill out the FAA survey, and receive a medical exam from a state licensed doctor every 4 years.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230445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AE2578-6CF5-8CA2-DA54-956087CA4718}"/>
              </a:ext>
            </a:extLst>
          </p:cNvPr>
          <p:cNvSpPr txBox="1"/>
          <p:nvPr/>
        </p:nvSpPr>
        <p:spPr>
          <a:xfrm>
            <a:off x="728695" y="1109990"/>
            <a:ext cx="3114609" cy="523220"/>
          </a:xfrm>
          <a:prstGeom prst="rect">
            <a:avLst/>
          </a:prstGeom>
          <a:noFill/>
        </p:spPr>
        <p:txBody>
          <a:bodyPr wrap="square">
            <a:spAutoFit/>
          </a:bodyPr>
          <a:lstStyle/>
          <a:p>
            <a:pPr algn="just"/>
            <a:r>
              <a:rPr lang="en-US" sz="1400" dirty="0">
                <a:solidFill>
                  <a:srgbClr val="000000"/>
                </a:solidFill>
                <a:latin typeface="Times New Roman" panose="02020603050405020304" pitchFamily="18" charset="0"/>
              </a:rPr>
              <a:t>The red line on the airspeed indicator indicates what?</a:t>
            </a:r>
            <a:endParaRPr lang="en-US" sz="1400" dirty="0"/>
          </a:p>
        </p:txBody>
      </p:sp>
      <p:sp>
        <p:nvSpPr>
          <p:cNvPr id="3" name="TextBox 2">
            <a:extLst>
              <a:ext uri="{FF2B5EF4-FFF2-40B4-BE49-F238E27FC236}">
                <a16:creationId xmlns:a16="http://schemas.microsoft.com/office/drawing/2014/main" id="{58F4F377-AA41-BC1E-DE42-8C1A28B5AF9E}"/>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4" name="Rectangle 3">
            <a:extLst>
              <a:ext uri="{FF2B5EF4-FFF2-40B4-BE49-F238E27FC236}">
                <a16:creationId xmlns:a16="http://schemas.microsoft.com/office/drawing/2014/main" id="{C06055BF-ECD6-5A1E-CF6F-C03552C76DF7}"/>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5863B604-5DA4-98EA-9337-A2BD6AFA0D2A}"/>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9793768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5277C4-F025-E73E-6D33-A885A77238E0}"/>
              </a:ext>
            </a:extLst>
          </p:cNvPr>
          <p:cNvSpPr txBox="1"/>
          <p:nvPr/>
        </p:nvSpPr>
        <p:spPr>
          <a:xfrm>
            <a:off x="959617" y="755487"/>
            <a:ext cx="2652766" cy="1169551"/>
          </a:xfrm>
          <a:prstGeom prst="rect">
            <a:avLst/>
          </a:prstGeom>
          <a:noFill/>
        </p:spPr>
        <p:txBody>
          <a:bodyPr wrap="square">
            <a:spAutoFit/>
          </a:bodyPr>
          <a:lstStyle/>
          <a:p>
            <a:pPr algn="ctr"/>
            <a:r>
              <a:rPr lang="en-US" sz="1400" dirty="0">
                <a:solidFill>
                  <a:srgbClr val="000000"/>
                </a:solidFill>
                <a:latin typeface="Times New Roman" panose="02020603050405020304" pitchFamily="18" charset="0"/>
              </a:rPr>
              <a:t>Vne – Never exceed speed.</a:t>
            </a:r>
          </a:p>
          <a:p>
            <a:pPr algn="just"/>
            <a:endParaRPr lang="en-US" sz="1400" dirty="0">
              <a:solidFill>
                <a:srgbClr val="000000"/>
              </a:solidFill>
              <a:latin typeface="Times New Roman" panose="02020603050405020304" pitchFamily="18" charset="0"/>
            </a:endParaRPr>
          </a:p>
          <a:p>
            <a:pPr algn="just"/>
            <a:r>
              <a:rPr lang="en-US" sz="1400" dirty="0">
                <a:solidFill>
                  <a:srgbClr val="000000"/>
                </a:solidFill>
                <a:latin typeface="Times New Roman" panose="02020603050405020304" pitchFamily="18" charset="0"/>
              </a:rPr>
              <a:t>For multi-engine aircraft, another red line represents Vmc – minimal controllable airspeed.</a:t>
            </a:r>
          </a:p>
        </p:txBody>
      </p:sp>
      <p:sp>
        <p:nvSpPr>
          <p:cNvPr id="3" name="TextBox 2">
            <a:extLst>
              <a:ext uri="{FF2B5EF4-FFF2-40B4-BE49-F238E27FC236}">
                <a16:creationId xmlns:a16="http://schemas.microsoft.com/office/drawing/2014/main" id="{AC43F791-E099-55EF-282C-2CEB83A11864}"/>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Tree>
    <p:extLst>
      <p:ext uri="{BB962C8B-B14F-4D97-AF65-F5344CB8AC3E}">
        <p14:creationId xmlns:p14="http://schemas.microsoft.com/office/powerpoint/2010/main" val="15196577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1D97C83-3411-9714-18F6-5409820C77B8}"/>
              </a:ext>
            </a:extLst>
          </p:cNvPr>
          <p:cNvSpPr txBox="1"/>
          <p:nvPr/>
        </p:nvSpPr>
        <p:spPr>
          <a:xfrm>
            <a:off x="643124" y="1109990"/>
            <a:ext cx="3285752" cy="523220"/>
          </a:xfrm>
          <a:prstGeom prst="rect">
            <a:avLst/>
          </a:prstGeom>
          <a:noFill/>
        </p:spPr>
        <p:txBody>
          <a:bodyPr wrap="square" rtlCol="0">
            <a:spAutoFit/>
          </a:bodyPr>
          <a:lstStyle/>
          <a:p>
            <a:pPr algn="just"/>
            <a:r>
              <a:rPr lang="en-US" sz="1400" dirty="0">
                <a:latin typeface="Times New Roman" panose="02020603050405020304" pitchFamily="18" charset="0"/>
                <a:cs typeface="Times New Roman" panose="02020603050405020304" pitchFamily="18" charset="0"/>
              </a:rPr>
              <a:t>A standard rate turn is a turn in which a 180-degree turn requires ______ minutes.</a:t>
            </a:r>
          </a:p>
        </p:txBody>
      </p:sp>
      <p:sp>
        <p:nvSpPr>
          <p:cNvPr id="4" name="TextBox 3">
            <a:extLst>
              <a:ext uri="{FF2B5EF4-FFF2-40B4-BE49-F238E27FC236}">
                <a16:creationId xmlns:a16="http://schemas.microsoft.com/office/drawing/2014/main" id="{B2EB1C5A-31DD-8D6B-3786-E44E5DC83940}"/>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3" name="Rectangle 2">
            <a:extLst>
              <a:ext uri="{FF2B5EF4-FFF2-40B4-BE49-F238E27FC236}">
                <a16:creationId xmlns:a16="http://schemas.microsoft.com/office/drawing/2014/main" id="{3D887A6B-FB36-D5EA-A7AA-AA5C71A9868B}"/>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4645CB4A-5FD1-1AD6-E805-1B5350C74095}"/>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5680421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322E03-DCC9-57BC-6547-B8D39CFC32A4}"/>
              </a:ext>
            </a:extLst>
          </p:cNvPr>
          <p:cNvSpPr txBox="1"/>
          <p:nvPr/>
        </p:nvSpPr>
        <p:spPr>
          <a:xfrm>
            <a:off x="986882" y="1217711"/>
            <a:ext cx="2598235"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One minute.</a:t>
            </a:r>
          </a:p>
        </p:txBody>
      </p:sp>
      <p:sp>
        <p:nvSpPr>
          <p:cNvPr id="4" name="TextBox 3">
            <a:extLst>
              <a:ext uri="{FF2B5EF4-FFF2-40B4-BE49-F238E27FC236}">
                <a16:creationId xmlns:a16="http://schemas.microsoft.com/office/drawing/2014/main" id="{FAECF9FA-AADC-8ED7-61A8-C38C578C1684}"/>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Tree>
    <p:extLst>
      <p:ext uri="{BB962C8B-B14F-4D97-AF65-F5344CB8AC3E}">
        <p14:creationId xmlns:p14="http://schemas.microsoft.com/office/powerpoint/2010/main" val="13976007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2ED6FF-8544-6180-8C77-A8C295CC0FE4}"/>
              </a:ext>
            </a:extLst>
          </p:cNvPr>
          <p:cNvSpPr txBox="1"/>
          <p:nvPr/>
        </p:nvSpPr>
        <p:spPr>
          <a:xfrm>
            <a:off x="466476" y="949152"/>
            <a:ext cx="3639047" cy="737638"/>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When is wake turbulence the strongest?</a:t>
            </a:r>
          </a:p>
          <a:p>
            <a:pPr marL="0" marR="0" algn="ctr">
              <a:lnSpc>
                <a:spcPct val="107000"/>
              </a:lnSpc>
              <a:spcBef>
                <a:spcPts val="0"/>
              </a:spcBef>
              <a:spcAft>
                <a:spcPts val="0"/>
              </a:spcAft>
            </a:pP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7000"/>
              </a:lnSpc>
            </a:pPr>
            <a:r>
              <a:rPr lang="en-US" sz="1200" dirty="0">
                <a:latin typeface="Times New Roman" panose="02020603050405020304" pitchFamily="18" charset="0"/>
                <a:cs typeface="Times New Roman" panose="02020603050405020304" pitchFamily="18" charset="0"/>
              </a:rPr>
              <a:t>AIM 7-3-6</a:t>
            </a:r>
            <a:endParaRPr lang="en-US" sz="12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76E1F398-CCAC-3CD6-CFF2-523F5971EE54}"/>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Rectangle 1">
            <a:extLst>
              <a:ext uri="{FF2B5EF4-FFF2-40B4-BE49-F238E27FC236}">
                <a16:creationId xmlns:a16="http://schemas.microsoft.com/office/drawing/2014/main" id="{3A1E5EDE-AC1B-2501-2062-E01EE1D9E42C}"/>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DF7ACBF3-B2BC-77D3-9230-E3DC6BCD17A4}"/>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8375275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AE6A1C-9E24-EEF5-BE61-FB246A65E50A}"/>
              </a:ext>
            </a:extLst>
          </p:cNvPr>
          <p:cNvSpPr txBox="1"/>
          <p:nvPr/>
        </p:nvSpPr>
        <p:spPr>
          <a:xfrm>
            <a:off x="165100" y="309790"/>
            <a:ext cx="4127499" cy="264560"/>
          </a:xfrm>
          <a:prstGeom prst="rect">
            <a:avLst/>
          </a:prstGeom>
          <a:noFill/>
        </p:spPr>
        <p:txBody>
          <a:bodyPr wrap="square">
            <a:spAutoFit/>
          </a:bodyPr>
          <a:lstStyle/>
          <a:p>
            <a:pPr marL="0" marR="0" algn="ctr">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When the aircraft generating the turbulence is heavy, clean, and slow.</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E5BD614D-FAE5-3677-8D8B-F20B9FCE14F5}"/>
              </a:ext>
            </a:extLst>
          </p:cNvPr>
          <p:cNvSpPr txBox="1"/>
          <p:nvPr/>
        </p:nvSpPr>
        <p:spPr>
          <a:xfrm>
            <a:off x="165100" y="574350"/>
            <a:ext cx="2678584" cy="1894814"/>
          </a:xfrm>
          <a:prstGeom prst="rect">
            <a:avLst/>
          </a:prstGeom>
          <a:noFill/>
        </p:spPr>
        <p:txBody>
          <a:bodyPr wrap="square">
            <a:spAutoFit/>
          </a:bodyPr>
          <a:lstStyle/>
          <a:p>
            <a:pPr marL="0" marR="0">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When AOA is higher, the wake turbulence is greatest.</a:t>
            </a:r>
          </a:p>
          <a:p>
            <a:pPr marL="0" marR="0">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Heavier – A higher AOA is needed to generate the same amount of lift for a given airspeed.</a:t>
            </a:r>
          </a:p>
          <a:p>
            <a:pPr marL="0" marR="0">
              <a:lnSpc>
                <a:spcPct val="107000"/>
              </a:lnSpc>
              <a:spcBef>
                <a:spcPts val="0"/>
              </a:spcBef>
              <a:spcAft>
                <a:spcPts val="0"/>
              </a:spcAft>
            </a:pPr>
            <a:r>
              <a:rPr lang="en-US" sz="1100" dirty="0">
                <a:latin typeface="Times New Roman" panose="02020603050405020304" pitchFamily="18" charset="0"/>
                <a:ea typeface="Calibri" panose="020F0502020204030204" pitchFamily="34" charset="0"/>
                <a:cs typeface="Times New Roman" panose="02020603050405020304" pitchFamily="18" charset="0"/>
              </a:rPr>
              <a:t>Clean – If flaps are not used, a higher AOA is needed for a given airspeed.</a:t>
            </a:r>
          </a:p>
          <a:p>
            <a:pPr marL="0" marR="0">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Slow – The slower an airplane fl</a:t>
            </a:r>
            <a:r>
              <a:rPr lang="en-US" sz="1100" dirty="0">
                <a:latin typeface="Times New Roman" panose="02020603050405020304" pitchFamily="18" charset="0"/>
                <a:ea typeface="Calibri" panose="020F0502020204030204" pitchFamily="34" charset="0"/>
                <a:cs typeface="Times New Roman" panose="02020603050405020304" pitchFamily="18" charset="0"/>
              </a:rPr>
              <a:t>ies, the higher the AOA must be to generate the same amount of needed lift.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F6C3CDC6-8869-8238-9D3B-9013B4F3E9A5}"/>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pic>
        <p:nvPicPr>
          <p:cNvPr id="7" name="Picture 6">
            <a:extLst>
              <a:ext uri="{FF2B5EF4-FFF2-40B4-BE49-F238E27FC236}">
                <a16:creationId xmlns:a16="http://schemas.microsoft.com/office/drawing/2014/main" id="{30AAFDE1-5B19-7F82-F43A-0F61E69733A9}"/>
              </a:ext>
            </a:extLst>
          </p:cNvPr>
          <p:cNvPicPr>
            <a:picLocks noChangeAspect="1"/>
          </p:cNvPicPr>
          <p:nvPr/>
        </p:nvPicPr>
        <p:blipFill>
          <a:blip r:embed="rId2"/>
          <a:stretch>
            <a:fillRect/>
          </a:stretch>
        </p:blipFill>
        <p:spPr>
          <a:xfrm>
            <a:off x="2980591" y="826990"/>
            <a:ext cx="1312008" cy="1318346"/>
          </a:xfrm>
          <a:prstGeom prst="rect">
            <a:avLst/>
          </a:prstGeom>
        </p:spPr>
      </p:pic>
    </p:spTree>
    <p:extLst>
      <p:ext uri="{BB962C8B-B14F-4D97-AF65-F5344CB8AC3E}">
        <p14:creationId xmlns:p14="http://schemas.microsoft.com/office/powerpoint/2010/main" val="22334102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88B2AB-DDD2-112A-2338-6F7241D6AA6B}"/>
              </a:ext>
            </a:extLst>
          </p:cNvPr>
          <p:cNvSpPr txBox="1"/>
          <p:nvPr/>
        </p:nvSpPr>
        <p:spPr>
          <a:xfrm>
            <a:off x="734323" y="1071518"/>
            <a:ext cx="3202372" cy="600164"/>
          </a:xfrm>
          <a:prstGeom prst="rect">
            <a:avLst/>
          </a:prstGeom>
          <a:noFill/>
        </p:spPr>
        <p:txBody>
          <a:bodyPr wrap="square">
            <a:spAutoFit/>
          </a:bodyPr>
          <a:lstStyle/>
          <a:p>
            <a:pPr marL="0" marR="0" algn="ctr">
              <a:spcBef>
                <a:spcPts val="0"/>
              </a:spcBef>
              <a:spcAft>
                <a:spcPts val="600"/>
              </a:spcAft>
            </a:pPr>
            <a:r>
              <a:rPr lang="en-US" sz="1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When is P-Factor the strongest?</a:t>
            </a:r>
          </a:p>
          <a:p>
            <a:pPr algn="ctr">
              <a:spcAft>
                <a:spcPts val="600"/>
              </a:spcAft>
            </a:pPr>
            <a:r>
              <a:rPr lang="en-US" sz="1400" dirty="0">
                <a:latin typeface="Times New Roman" panose="02020603050405020304" pitchFamily="18" charset="0"/>
                <a:cs typeface="Times New Roman" panose="02020603050405020304" pitchFamily="18" charset="0"/>
              </a:rPr>
              <a:t>FAA-H-8083-25B, Pg 5-32</a:t>
            </a:r>
            <a:endParaRPr lang="en-US" sz="1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311AA21B-5CDC-964D-7CC5-8A9A6DFA9C05}"/>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4" name="Rectangle 3">
            <a:extLst>
              <a:ext uri="{FF2B5EF4-FFF2-40B4-BE49-F238E27FC236}">
                <a16:creationId xmlns:a16="http://schemas.microsoft.com/office/drawing/2014/main" id="{186D2D55-3BAA-62F0-2092-C8EDBD0B982C}"/>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FF374315-DDF4-831E-09C9-690C12B02F04}"/>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9146008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DF5ECB-B0AD-9646-E6B9-4DE48CF4CBB0}"/>
              </a:ext>
            </a:extLst>
          </p:cNvPr>
          <p:cNvSpPr txBox="1"/>
          <p:nvPr/>
        </p:nvSpPr>
        <p:spPr>
          <a:xfrm>
            <a:off x="456722" y="1217711"/>
            <a:ext cx="3658556" cy="307777"/>
          </a:xfrm>
          <a:prstGeom prst="rect">
            <a:avLst/>
          </a:prstGeom>
          <a:noFill/>
        </p:spPr>
        <p:txBody>
          <a:bodyPr wrap="square">
            <a:spAutoFit/>
          </a:bodyPr>
          <a:lstStyle/>
          <a:p>
            <a:pPr marL="0" marR="0" algn="ctr">
              <a:spcBef>
                <a:spcPts val="0"/>
              </a:spcBef>
              <a:spcAft>
                <a:spcPts val="0"/>
              </a:spcAft>
            </a:pPr>
            <a:r>
              <a:rPr lang="en-US" sz="1400" dirty="0">
                <a:solidFill>
                  <a:srgbClr val="000000"/>
                </a:solidFill>
                <a:latin typeface="Times New Roman" panose="02020603050405020304" pitchFamily="18" charset="0"/>
                <a:ea typeface="Calibri" panose="020F0502020204030204" pitchFamily="34" charset="0"/>
              </a:rPr>
              <a:t>High power settings coupled with high AOA.</a:t>
            </a:r>
          </a:p>
        </p:txBody>
      </p:sp>
      <p:sp>
        <p:nvSpPr>
          <p:cNvPr id="2" name="TextBox 1">
            <a:extLst>
              <a:ext uri="{FF2B5EF4-FFF2-40B4-BE49-F238E27FC236}">
                <a16:creationId xmlns:a16="http://schemas.microsoft.com/office/drawing/2014/main" id="{C4C1BD11-7089-8F8E-639A-5E548A569920}"/>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Tree>
    <p:extLst>
      <p:ext uri="{BB962C8B-B14F-4D97-AF65-F5344CB8AC3E}">
        <p14:creationId xmlns:p14="http://schemas.microsoft.com/office/powerpoint/2010/main" val="34311007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0E5662-F9C5-D0DE-5B95-571F1E0EBE48}"/>
              </a:ext>
            </a:extLst>
          </p:cNvPr>
          <p:cNvSpPr txBox="1"/>
          <p:nvPr/>
        </p:nvSpPr>
        <p:spPr>
          <a:xfrm>
            <a:off x="457200" y="985340"/>
            <a:ext cx="3657599" cy="772519"/>
          </a:xfrm>
          <a:prstGeom prst="rect">
            <a:avLst/>
          </a:prstGeom>
          <a:noFill/>
        </p:spPr>
        <p:txBody>
          <a:bodyPr wrap="square">
            <a:spAutoFit/>
          </a:bodyPr>
          <a:lstStyle/>
          <a:p>
            <a:pPr marL="0" marR="0" algn="just">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You are performing ground visual reference maneuvers. What are the checkride standards for the maneuvers?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1992191E-B783-473F-43FF-9694AC13EB56}"/>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Rectangle 1">
            <a:extLst>
              <a:ext uri="{FF2B5EF4-FFF2-40B4-BE49-F238E27FC236}">
                <a16:creationId xmlns:a16="http://schemas.microsoft.com/office/drawing/2014/main" id="{FE69FBCC-A948-4D57-D880-D558C65411AE}"/>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6F5C1A15-C9FB-0657-0C0C-F6CFE7853D95}"/>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4459918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F07908-1A53-6741-A57B-86DEADF21A04}"/>
              </a:ext>
            </a:extLst>
          </p:cNvPr>
          <p:cNvSpPr txBox="1"/>
          <p:nvPr/>
        </p:nvSpPr>
        <p:spPr>
          <a:xfrm>
            <a:off x="440329" y="985340"/>
            <a:ext cx="3691341" cy="768415"/>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Altitude +/- 100 feet</a:t>
            </a:r>
          </a:p>
          <a:p>
            <a:pPr marL="0" marR="0" algn="ctr">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Airspeed +/- 10 kts</a:t>
            </a:r>
          </a:p>
          <a:p>
            <a:pPr marL="0" marR="0" algn="ctr">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Perform the maneuver at 600 – 1,000 feet AGL</a:t>
            </a:r>
          </a:p>
        </p:txBody>
      </p:sp>
      <p:sp>
        <p:nvSpPr>
          <p:cNvPr id="4" name="TextBox 3">
            <a:extLst>
              <a:ext uri="{FF2B5EF4-FFF2-40B4-BE49-F238E27FC236}">
                <a16:creationId xmlns:a16="http://schemas.microsoft.com/office/drawing/2014/main" id="{0C396077-9922-8E26-11BC-219CC9EDA930}"/>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Tree>
    <p:extLst>
      <p:ext uri="{BB962C8B-B14F-4D97-AF65-F5344CB8AC3E}">
        <p14:creationId xmlns:p14="http://schemas.microsoft.com/office/powerpoint/2010/main" val="31372317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C3F562-47AF-7233-AE64-9125EC852A2C}"/>
              </a:ext>
            </a:extLst>
          </p:cNvPr>
          <p:cNvSpPr txBox="1"/>
          <p:nvPr/>
        </p:nvSpPr>
        <p:spPr>
          <a:xfrm>
            <a:off x="336840" y="963699"/>
            <a:ext cx="3898319" cy="815801"/>
          </a:xfrm>
          <a:prstGeom prst="rect">
            <a:avLst/>
          </a:prstGeom>
          <a:noFill/>
        </p:spPr>
        <p:txBody>
          <a:bodyPr wrap="square">
            <a:spAutoFit/>
          </a:bodyPr>
          <a:lstStyle/>
          <a:p>
            <a:pPr marL="0" marR="0" algn="just">
              <a:lnSpc>
                <a:spcPct val="115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The private pilot checkride standards for a short field landing state you must land within how many feet of your intended touchdown point?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F9ADBB93-9126-A5FE-AB75-19F199ABF113}"/>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24B83AC4-2105-B373-4E64-70B4F737D3AB}"/>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
        <p:nvSpPr>
          <p:cNvPr id="6" name="TextBox 5">
            <a:extLst>
              <a:ext uri="{FF2B5EF4-FFF2-40B4-BE49-F238E27FC236}">
                <a16:creationId xmlns:a16="http://schemas.microsoft.com/office/drawing/2014/main" id="{0AD7CEA8-C5EF-8ABF-1678-0380257E9B87}"/>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Tree>
    <p:extLst>
      <p:ext uri="{BB962C8B-B14F-4D97-AF65-F5344CB8AC3E}">
        <p14:creationId xmlns:p14="http://schemas.microsoft.com/office/powerpoint/2010/main" val="33472938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978A66-D3E4-C86B-CA12-8D5F72512A01}"/>
              </a:ext>
            </a:extLst>
          </p:cNvPr>
          <p:cNvSpPr txBox="1"/>
          <p:nvPr/>
        </p:nvSpPr>
        <p:spPr>
          <a:xfrm>
            <a:off x="498620" y="1051320"/>
            <a:ext cx="3574760" cy="568041"/>
          </a:xfrm>
          <a:prstGeom prst="rect">
            <a:avLst/>
          </a:prstGeom>
          <a:noFill/>
        </p:spPr>
        <p:txBody>
          <a:bodyPr wrap="square">
            <a:spAutoFit/>
          </a:bodyPr>
          <a:lstStyle/>
          <a:p>
            <a:pPr marL="0" marR="0" algn="ctr">
              <a:lnSpc>
                <a:spcPct val="115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Zero feet short.</a:t>
            </a:r>
          </a:p>
          <a:p>
            <a:pPr marL="0" marR="0" algn="ctr">
              <a:lnSpc>
                <a:spcPct val="115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200 feet long.</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247B198E-4D2A-22C2-618F-482382ABC5BC}"/>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Tree>
    <p:extLst>
      <p:ext uri="{BB962C8B-B14F-4D97-AF65-F5344CB8AC3E}">
        <p14:creationId xmlns:p14="http://schemas.microsoft.com/office/powerpoint/2010/main" val="28781229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E7F0796-AF1D-C545-2198-B33922798CC3}"/>
              </a:ext>
            </a:extLst>
          </p:cNvPr>
          <p:cNvSpPr txBox="1"/>
          <p:nvPr/>
        </p:nvSpPr>
        <p:spPr>
          <a:xfrm>
            <a:off x="797912" y="934865"/>
            <a:ext cx="2976176" cy="768415"/>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What is magnetic variation?</a:t>
            </a:r>
          </a:p>
          <a:p>
            <a:pPr marL="0" marR="0" algn="ctr">
              <a:lnSpc>
                <a:spcPct val="107000"/>
              </a:lnSpc>
              <a:spcBef>
                <a:spcPts val="0"/>
              </a:spcBef>
              <a:spcAft>
                <a:spcPts val="0"/>
              </a:spcAft>
            </a:pP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7000"/>
              </a:lnSpc>
            </a:pPr>
            <a:r>
              <a:rPr lang="en-US" sz="1400" dirty="0">
                <a:latin typeface="Times New Roman" panose="02020603050405020304" pitchFamily="18" charset="0"/>
                <a:cs typeface="Times New Roman" panose="02020603050405020304" pitchFamily="18" charset="0"/>
              </a:rPr>
              <a:t>FAA-H-8083-25B, Ch 8</a:t>
            </a: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7BDCF98D-1EC9-FF11-8302-6401045CF323}"/>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Rectangle 1">
            <a:extLst>
              <a:ext uri="{FF2B5EF4-FFF2-40B4-BE49-F238E27FC236}">
                <a16:creationId xmlns:a16="http://schemas.microsoft.com/office/drawing/2014/main" id="{68DA1303-80D5-2629-651B-1D97591DC88B}"/>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2EF79962-23E0-F1B9-A94E-399278A195B7}"/>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42922809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13F031F-6EFA-9CF6-FC51-2CBF56F121B4}"/>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TextBox 1">
            <a:extLst>
              <a:ext uri="{FF2B5EF4-FFF2-40B4-BE49-F238E27FC236}">
                <a16:creationId xmlns:a16="http://schemas.microsoft.com/office/drawing/2014/main" id="{F49709B5-0661-45D2-93A8-1525984C5063}"/>
              </a:ext>
            </a:extLst>
          </p:cNvPr>
          <p:cNvSpPr txBox="1"/>
          <p:nvPr/>
        </p:nvSpPr>
        <p:spPr>
          <a:xfrm>
            <a:off x="683468" y="700775"/>
            <a:ext cx="3205064" cy="1341649"/>
          </a:xfrm>
          <a:prstGeom prst="rect">
            <a:avLst/>
          </a:prstGeom>
          <a:noFill/>
        </p:spPr>
        <p:txBody>
          <a:bodyPr wrap="square">
            <a:spAutoFit/>
          </a:bodyPr>
          <a:lstStyle/>
          <a:p>
            <a:pPr algn="just">
              <a:lnSpc>
                <a:spcPct val="107000"/>
              </a:lnSpc>
              <a:spcAft>
                <a:spcPts val="600"/>
              </a:spcAft>
            </a:pPr>
            <a:r>
              <a:rPr lang="en-US" sz="1200" dirty="0">
                <a:latin typeface="Times New Roman" panose="02020603050405020304" pitchFamily="18" charset="0"/>
                <a:cs typeface="Times New Roman" panose="02020603050405020304" pitchFamily="18" charset="0"/>
              </a:rPr>
              <a:t>Magnetic variation (also called magnetic declination) is the angle between true north and magnetic north.</a:t>
            </a:r>
          </a:p>
          <a:p>
            <a:pPr algn="just">
              <a:lnSpc>
                <a:spcPct val="107000"/>
              </a:lnSpc>
              <a:spcAft>
                <a:spcPts val="600"/>
              </a:spcAft>
            </a:pPr>
            <a:r>
              <a:rPr lang="en-US" sz="1200" dirty="0">
                <a:latin typeface="Times New Roman" panose="02020603050405020304" pitchFamily="18" charset="0"/>
                <a:cs typeface="Times New Roman" panose="02020603050405020304" pitchFamily="18" charset="0"/>
              </a:rPr>
              <a:t>It represents the difference between the direction of the geographic North Pole and the magnetic North Pole at a given location on Earth.</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029550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5CB18F-FF66-A272-FCD0-774D5343331A}"/>
              </a:ext>
            </a:extLst>
          </p:cNvPr>
          <p:cNvSpPr txBox="1"/>
          <p:nvPr/>
        </p:nvSpPr>
        <p:spPr>
          <a:xfrm>
            <a:off x="499004" y="1002268"/>
            <a:ext cx="3573991" cy="738664"/>
          </a:xfrm>
          <a:prstGeom prst="rect">
            <a:avLst/>
          </a:prstGeom>
          <a:noFill/>
        </p:spPr>
        <p:txBody>
          <a:bodyPr wrap="square">
            <a:spAutoFit/>
          </a:bodyPr>
          <a:lstStyle/>
          <a:p>
            <a:pPr algn="just"/>
            <a:r>
              <a:rPr lang="en-US" sz="1400" dirty="0">
                <a:solidFill>
                  <a:srgbClr val="222222"/>
                </a:solidFill>
                <a:latin typeface="Times New Roman" panose="02020603050405020304" pitchFamily="18" charset="0"/>
                <a:ea typeface="Times New Roman" panose="02020603050405020304" pitchFamily="18" charset="0"/>
              </a:rPr>
              <a:t>Unless otherwise published h</a:t>
            </a:r>
            <a:r>
              <a:rPr lang="en-US" sz="1400" dirty="0">
                <a:solidFill>
                  <a:srgbClr val="222222"/>
                </a:solidFill>
                <a:effectLst/>
                <a:latin typeface="Times New Roman" panose="02020603050405020304" pitchFamily="18" charset="0"/>
                <a:ea typeface="Times New Roman" panose="02020603050405020304" pitchFamily="18" charset="0"/>
              </a:rPr>
              <a:t>ow many Gs (positive or negative) can an aircraft in the “Normal” category normall</a:t>
            </a:r>
            <a:r>
              <a:rPr lang="en-US" sz="1400" dirty="0">
                <a:solidFill>
                  <a:srgbClr val="222222"/>
                </a:solidFill>
                <a:latin typeface="Times New Roman" panose="02020603050405020304" pitchFamily="18" charset="0"/>
                <a:ea typeface="Times New Roman" panose="02020603050405020304" pitchFamily="18" charset="0"/>
              </a:rPr>
              <a:t>y pull?</a:t>
            </a:r>
            <a:endParaRPr lang="en-US" sz="1400" dirty="0"/>
          </a:p>
        </p:txBody>
      </p:sp>
      <p:sp>
        <p:nvSpPr>
          <p:cNvPr id="3" name="Rectangle 2">
            <a:extLst>
              <a:ext uri="{FF2B5EF4-FFF2-40B4-BE49-F238E27FC236}">
                <a16:creationId xmlns:a16="http://schemas.microsoft.com/office/drawing/2014/main" id="{0667DDFD-10CD-DBD7-3239-811B1BCCD3F7}"/>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D6776C3-0224-7093-A868-74CF40EE0E28}"/>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
        <p:nvSpPr>
          <p:cNvPr id="6" name="TextBox 5">
            <a:extLst>
              <a:ext uri="{FF2B5EF4-FFF2-40B4-BE49-F238E27FC236}">
                <a16:creationId xmlns:a16="http://schemas.microsoft.com/office/drawing/2014/main" id="{F458196D-4F63-9A2B-C825-32BAC3D20FC0}"/>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Tree>
    <p:extLst>
      <p:ext uri="{BB962C8B-B14F-4D97-AF65-F5344CB8AC3E}">
        <p14:creationId xmlns:p14="http://schemas.microsoft.com/office/powerpoint/2010/main" val="6114127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3" name="TextBox 2">
            <a:extLst>
              <a:ext uri="{FF2B5EF4-FFF2-40B4-BE49-F238E27FC236}">
                <a16:creationId xmlns:a16="http://schemas.microsoft.com/office/drawing/2014/main" id="{4C469056-FAD0-61AB-67CF-D12294F1211C}"/>
              </a:ext>
            </a:extLst>
          </p:cNvPr>
          <p:cNvSpPr txBox="1"/>
          <p:nvPr/>
        </p:nvSpPr>
        <p:spPr>
          <a:xfrm>
            <a:off x="633587" y="934134"/>
            <a:ext cx="3304825" cy="738664"/>
          </a:xfrm>
          <a:prstGeom prst="rect">
            <a:avLst/>
          </a:prstGeom>
          <a:noFill/>
        </p:spPr>
        <p:txBody>
          <a:bodyPr wrap="square">
            <a:spAutoFit/>
          </a:bodyPr>
          <a:lstStyle/>
          <a:p>
            <a:pPr algn="ctr"/>
            <a:r>
              <a:rPr lang="en-US" sz="1400" dirty="0">
                <a:solidFill>
                  <a:srgbClr val="222222"/>
                </a:solidFill>
                <a:effectLst/>
                <a:latin typeface="Times New Roman" panose="02020603050405020304" pitchFamily="18" charset="0"/>
                <a:ea typeface="Times New Roman" panose="02020603050405020304" pitchFamily="18" charset="0"/>
              </a:rPr>
              <a:t>Maximum of…</a:t>
            </a:r>
          </a:p>
          <a:p>
            <a:pPr algn="ctr"/>
            <a:endParaRPr lang="en-US" sz="1400" dirty="0">
              <a:solidFill>
                <a:srgbClr val="222222"/>
              </a:solidFill>
              <a:effectLst/>
              <a:latin typeface="Times New Roman" panose="02020603050405020304" pitchFamily="18" charset="0"/>
              <a:ea typeface="Times New Roman" panose="02020603050405020304" pitchFamily="18" charset="0"/>
            </a:endParaRPr>
          </a:p>
          <a:p>
            <a:pPr algn="ctr"/>
            <a:r>
              <a:rPr lang="en-US" sz="1400" dirty="0">
                <a:solidFill>
                  <a:srgbClr val="222222"/>
                </a:solidFill>
                <a:effectLst/>
                <a:latin typeface="Times New Roman" panose="02020603050405020304" pitchFamily="18" charset="0"/>
                <a:ea typeface="Times New Roman" panose="02020603050405020304" pitchFamily="18" charset="0"/>
              </a:rPr>
              <a:t>+ </a:t>
            </a:r>
            <a:r>
              <a:rPr lang="en-US" sz="1400" dirty="0">
                <a:solidFill>
                  <a:srgbClr val="222222"/>
                </a:solidFill>
                <a:latin typeface="Times New Roman" panose="02020603050405020304" pitchFamily="18" charset="0"/>
                <a:ea typeface="Times New Roman" panose="02020603050405020304" pitchFamily="18" charset="0"/>
              </a:rPr>
              <a:t>3.8</a:t>
            </a:r>
            <a:r>
              <a:rPr lang="en-US" sz="1400" dirty="0">
                <a:solidFill>
                  <a:srgbClr val="222222"/>
                </a:solidFill>
                <a:effectLst/>
                <a:latin typeface="Times New Roman" panose="02020603050405020304" pitchFamily="18" charset="0"/>
                <a:ea typeface="Times New Roman" panose="02020603050405020304" pitchFamily="18" charset="0"/>
              </a:rPr>
              <a:t> and -</a:t>
            </a:r>
            <a:r>
              <a:rPr lang="en-US" sz="1400" dirty="0">
                <a:solidFill>
                  <a:srgbClr val="222222"/>
                </a:solidFill>
                <a:latin typeface="Times New Roman" panose="02020603050405020304" pitchFamily="18" charset="0"/>
                <a:ea typeface="Times New Roman" panose="02020603050405020304" pitchFamily="18" charset="0"/>
              </a:rPr>
              <a:t>1.52</a:t>
            </a:r>
            <a:endParaRPr lang="en-US" sz="1400" dirty="0"/>
          </a:p>
        </p:txBody>
      </p:sp>
    </p:spTree>
    <p:extLst>
      <p:ext uri="{BB962C8B-B14F-4D97-AF65-F5344CB8AC3E}">
        <p14:creationId xmlns:p14="http://schemas.microsoft.com/office/powerpoint/2010/main" val="2831754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AE7D7F-7BC0-0D1B-A13E-9E1512F35614}"/>
              </a:ext>
            </a:extLst>
          </p:cNvPr>
          <p:cNvSpPr txBox="1"/>
          <p:nvPr/>
        </p:nvSpPr>
        <p:spPr>
          <a:xfrm>
            <a:off x="4112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3" name="TextBox 2">
            <a:extLst>
              <a:ext uri="{FF2B5EF4-FFF2-40B4-BE49-F238E27FC236}">
                <a16:creationId xmlns:a16="http://schemas.microsoft.com/office/drawing/2014/main" id="{4E1E48D4-DF11-AB4F-B167-81F903DC413F}"/>
              </a:ext>
            </a:extLst>
          </p:cNvPr>
          <p:cNvSpPr txBox="1"/>
          <p:nvPr/>
        </p:nvSpPr>
        <p:spPr>
          <a:xfrm>
            <a:off x="520179" y="592019"/>
            <a:ext cx="3531642" cy="1383327"/>
          </a:xfrm>
          <a:prstGeom prst="rect">
            <a:avLst/>
          </a:prstGeom>
          <a:noFill/>
        </p:spPr>
        <p:txBody>
          <a:bodyPr wrap="square">
            <a:spAutoFit/>
          </a:bodyPr>
          <a:lstStyle/>
          <a:p>
            <a:pPr marL="0" marR="0" algn="ctr">
              <a:lnSpc>
                <a:spcPct val="107000"/>
              </a:lnSpc>
              <a:spcAft>
                <a:spcPts val="60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What is calibrated airspeed?</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Aft>
                <a:spcPts val="60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Unless specifically published in your aircraft’s performance data, how can you calculate calibrated airspeed?</a:t>
            </a:r>
          </a:p>
          <a:p>
            <a:pPr algn="ctr">
              <a:lnSpc>
                <a:spcPct val="107000"/>
              </a:lnSpc>
              <a:spcAft>
                <a:spcPts val="60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14 CFR 1.2</a:t>
            </a:r>
          </a:p>
        </p:txBody>
      </p:sp>
      <p:sp>
        <p:nvSpPr>
          <p:cNvPr id="4" name="Rectangle 3">
            <a:extLst>
              <a:ext uri="{FF2B5EF4-FFF2-40B4-BE49-F238E27FC236}">
                <a16:creationId xmlns:a16="http://schemas.microsoft.com/office/drawing/2014/main" id="{1C536325-0131-606D-0329-357ED90A2FD7}"/>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DD6A6F5D-1FF9-2892-4699-19955572C915}"/>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7977569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7D5051-48AD-5EF2-D222-35B155CAAE25}"/>
              </a:ext>
            </a:extLst>
          </p:cNvPr>
          <p:cNvSpPr txBox="1"/>
          <p:nvPr/>
        </p:nvSpPr>
        <p:spPr>
          <a:xfrm>
            <a:off x="170556" y="399966"/>
            <a:ext cx="4230888" cy="2060116"/>
          </a:xfrm>
          <a:prstGeom prst="rect">
            <a:avLst/>
          </a:prstGeom>
          <a:noFill/>
        </p:spPr>
        <p:txBody>
          <a:bodyPr wrap="square">
            <a:spAutoFit/>
          </a:bodyPr>
          <a:lstStyle/>
          <a:p>
            <a:pPr marL="0" marR="0" algn="ctr">
              <a:lnSpc>
                <a:spcPct val="107000"/>
              </a:lnSpc>
              <a:spcBef>
                <a:spcPts val="0"/>
              </a:spcBef>
              <a:spcAft>
                <a:spcPts val="0"/>
              </a:spcAft>
            </a:pPr>
            <a:r>
              <a:rPr lang="en-US" sz="1000" dirty="0">
                <a:effectLst/>
                <a:latin typeface="Times New Roman" panose="02020603050405020304" pitchFamily="18" charset="0"/>
                <a:ea typeface="Times New Roman" panose="02020603050405020304" pitchFamily="18" charset="0"/>
                <a:cs typeface="Times New Roman" panose="02020603050405020304" pitchFamily="18" charset="0"/>
              </a:rPr>
              <a:t>Indicated airspeed corrected for installation error.</a:t>
            </a:r>
          </a:p>
          <a:p>
            <a:pPr marL="0" marR="0" algn="ctr">
              <a:lnSpc>
                <a:spcPct val="107000"/>
              </a:lnSpc>
              <a:spcBef>
                <a:spcPts val="0"/>
              </a:spcBef>
              <a:spcAft>
                <a:spcPts val="0"/>
              </a:spcAft>
            </a:pPr>
            <a:endParaRPr lang="en-US" sz="10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000" dirty="0">
                <a:latin typeface="Times New Roman" panose="02020603050405020304" pitchFamily="18" charset="0"/>
                <a:ea typeface="Calibri" panose="020F0502020204030204" pitchFamily="34" charset="0"/>
                <a:cs typeface="Times New Roman" panose="02020603050405020304" pitchFamily="18" charset="0"/>
              </a:rPr>
              <a:t>The dynamic pressure sensed at the pitot tube/blade is transferred through a tube that goes to your airspeed indicator. As the tube snakes around through the wing, fuselage, and eventually reaches the airspeed indicator, some of that pressure is lost. This results in an indicated airspeed that is actually less than then actual airspeed sensed by the pitot tube/blade.</a:t>
            </a:r>
          </a:p>
          <a:p>
            <a:pPr marL="0" marR="0" algn="ctr">
              <a:lnSpc>
                <a:spcPct val="107000"/>
              </a:lnSpc>
              <a:spcBef>
                <a:spcPts val="0"/>
              </a:spcBef>
              <a:spcAft>
                <a:spcPts val="0"/>
              </a:spcAft>
            </a:pPr>
            <a:endParaRPr lang="en-US" sz="1000" dirty="0">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0"/>
              </a:spcAft>
            </a:pPr>
            <a:r>
              <a:rPr lang="en-US" sz="1000" dirty="0">
                <a:effectLst/>
                <a:latin typeface="Times New Roman" panose="02020603050405020304" pitchFamily="18" charset="0"/>
                <a:ea typeface="Calibri" panose="020F0502020204030204" pitchFamily="34" charset="0"/>
                <a:cs typeface="Times New Roman" panose="02020603050405020304" pitchFamily="18" charset="0"/>
              </a:rPr>
              <a:t>If not publishe</a:t>
            </a:r>
            <a:r>
              <a:rPr lang="en-US" sz="1000" dirty="0">
                <a:latin typeface="Times New Roman" panose="02020603050405020304" pitchFamily="18" charset="0"/>
                <a:ea typeface="Calibri" panose="020F0502020204030204" pitchFamily="34" charset="0"/>
                <a:cs typeface="Times New Roman" panose="02020603050405020304" pitchFamily="18" charset="0"/>
              </a:rPr>
              <a:t>d, you can add 3kts.</a:t>
            </a:r>
          </a:p>
          <a:p>
            <a:pPr marL="0" marR="0" algn="ctr">
              <a:lnSpc>
                <a:spcPct val="107000"/>
              </a:lnSpc>
              <a:spcBef>
                <a:spcPts val="0"/>
              </a:spcBef>
              <a:spcAft>
                <a:spcPts val="0"/>
              </a:spcAft>
            </a:pPr>
            <a:r>
              <a:rPr lang="en-US" sz="1000" dirty="0">
                <a:latin typeface="Times New Roman" panose="02020603050405020304" pitchFamily="18" charset="0"/>
                <a:ea typeface="Calibri" panose="020F0502020204030204" pitchFamily="34" charset="0"/>
                <a:cs typeface="Times New Roman" panose="02020603050405020304" pitchFamily="18" charset="0"/>
              </a:rPr>
              <a:t>In other words, to convert 100 KIAS to KCAS, add 3kts.</a:t>
            </a:r>
          </a:p>
          <a:p>
            <a:pPr marL="0" marR="0" algn="ctr">
              <a:lnSpc>
                <a:spcPct val="107000"/>
              </a:lnSpc>
              <a:spcBef>
                <a:spcPts val="0"/>
              </a:spcBef>
              <a:spcAft>
                <a:spcPts val="0"/>
              </a:spcAft>
            </a:pPr>
            <a:endParaRPr lang="en-US" sz="1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0"/>
              </a:spcAft>
            </a:pPr>
            <a:r>
              <a:rPr lang="en-US" sz="1000" dirty="0">
                <a:latin typeface="Times New Roman" panose="02020603050405020304" pitchFamily="18" charset="0"/>
                <a:ea typeface="Calibri" panose="020F0502020204030204" pitchFamily="34" charset="0"/>
                <a:cs typeface="Times New Roman" panose="02020603050405020304" pitchFamily="18" charset="0"/>
              </a:rPr>
              <a:t>100 KIAS + 3kts = 103 KCAS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2C3ED980-AE92-C7EB-B2E6-E12C44685A3C}"/>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Tree>
    <p:extLst>
      <p:ext uri="{BB962C8B-B14F-4D97-AF65-F5344CB8AC3E}">
        <p14:creationId xmlns:p14="http://schemas.microsoft.com/office/powerpoint/2010/main" val="42829907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D010EC-5778-ECA9-6AD7-C5B74306192B}"/>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3" name="TextBox 2">
            <a:extLst>
              <a:ext uri="{FF2B5EF4-FFF2-40B4-BE49-F238E27FC236}">
                <a16:creationId xmlns:a16="http://schemas.microsoft.com/office/drawing/2014/main" id="{963C7CD8-888C-114B-A1ED-99E796803D5B}"/>
              </a:ext>
            </a:extLst>
          </p:cNvPr>
          <p:cNvSpPr txBox="1"/>
          <p:nvPr/>
        </p:nvSpPr>
        <p:spPr>
          <a:xfrm>
            <a:off x="742492" y="1102648"/>
            <a:ext cx="3087016" cy="537904"/>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The Private Pilot ACS parameters for steep turns are________.</a:t>
            </a:r>
          </a:p>
        </p:txBody>
      </p:sp>
      <p:sp>
        <p:nvSpPr>
          <p:cNvPr id="4" name="Rectangle 3">
            <a:extLst>
              <a:ext uri="{FF2B5EF4-FFF2-40B4-BE49-F238E27FC236}">
                <a16:creationId xmlns:a16="http://schemas.microsoft.com/office/drawing/2014/main" id="{1EDD85B0-911F-558D-53BD-D6DC37324B33}"/>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07C6B014-5F87-F863-DBFF-EE96B0AE673B}"/>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3341961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737A45-7079-1FB4-52B8-5A1F9333781D}"/>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3" name="TextBox 2">
            <a:extLst>
              <a:ext uri="{FF2B5EF4-FFF2-40B4-BE49-F238E27FC236}">
                <a16:creationId xmlns:a16="http://schemas.microsoft.com/office/drawing/2014/main" id="{8770AECB-D74E-315C-6ACD-CB879085CB06}"/>
              </a:ext>
            </a:extLst>
          </p:cNvPr>
          <p:cNvSpPr txBox="1"/>
          <p:nvPr/>
        </p:nvSpPr>
        <p:spPr>
          <a:xfrm>
            <a:off x="698989" y="756880"/>
            <a:ext cx="3174022" cy="1229439"/>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Bank approximately 45 degrees</a:t>
            </a:r>
          </a:p>
          <a:p>
            <a:pPr marL="0" marR="0" algn="ctr">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Altitude +/- 100 feet</a:t>
            </a:r>
          </a:p>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Airspeed +/- 10 kts</a:t>
            </a:r>
          </a:p>
          <a:p>
            <a:pPr marL="0" marR="0" algn="ctr">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Bank +/- 5 degrees</a:t>
            </a:r>
          </a:p>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Rollout heading +/- 10 degrees</a:t>
            </a:r>
          </a:p>
        </p:txBody>
      </p:sp>
    </p:spTree>
    <p:extLst>
      <p:ext uri="{BB962C8B-B14F-4D97-AF65-F5344CB8AC3E}">
        <p14:creationId xmlns:p14="http://schemas.microsoft.com/office/powerpoint/2010/main" val="31447062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E7F0796-AF1D-C545-2198-B33922798CC3}"/>
              </a:ext>
            </a:extLst>
          </p:cNvPr>
          <p:cNvSpPr txBox="1"/>
          <p:nvPr/>
        </p:nvSpPr>
        <p:spPr>
          <a:xfrm>
            <a:off x="797912" y="987392"/>
            <a:ext cx="2976176" cy="768415"/>
          </a:xfrm>
          <a:prstGeom prst="rect">
            <a:avLst/>
          </a:prstGeom>
          <a:noFill/>
        </p:spPr>
        <p:txBody>
          <a:bodyPr wrap="square">
            <a:spAutoFit/>
          </a:bodyPr>
          <a:lstStyle/>
          <a:p>
            <a:pPr marL="0" marR="0" algn="ctr">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What is hypoxic</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hypoxia?</a:t>
            </a:r>
          </a:p>
          <a:p>
            <a:pPr marL="0" marR="0" algn="ctr">
              <a:lnSpc>
                <a:spcPct val="107000"/>
              </a:lnSpc>
              <a:spcBef>
                <a:spcPts val="0"/>
              </a:spcBef>
              <a:spcAft>
                <a:spcPts val="0"/>
              </a:spcAft>
            </a:pP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AIM 8-1-2</a:t>
            </a:r>
          </a:p>
        </p:txBody>
      </p:sp>
      <p:sp>
        <p:nvSpPr>
          <p:cNvPr id="4" name="TextBox 3">
            <a:extLst>
              <a:ext uri="{FF2B5EF4-FFF2-40B4-BE49-F238E27FC236}">
                <a16:creationId xmlns:a16="http://schemas.microsoft.com/office/drawing/2014/main" id="{7BDCF98D-1EC9-FF11-8302-6401045CF323}"/>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Rectangle 1">
            <a:extLst>
              <a:ext uri="{FF2B5EF4-FFF2-40B4-BE49-F238E27FC236}">
                <a16:creationId xmlns:a16="http://schemas.microsoft.com/office/drawing/2014/main" id="{1AB95D4C-3A29-A4CB-D8F7-F56031D64E7D}"/>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734BC31-1540-543A-E365-9CD92F67EF97}"/>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1651585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568100-2356-F98A-7A60-97A25012532E}"/>
              </a:ext>
            </a:extLst>
          </p:cNvPr>
          <p:cNvSpPr txBox="1"/>
          <p:nvPr/>
        </p:nvSpPr>
        <p:spPr>
          <a:xfrm>
            <a:off x="355798" y="457866"/>
            <a:ext cx="3860403" cy="675506"/>
          </a:xfrm>
          <a:prstGeom prst="rect">
            <a:avLst/>
          </a:prstGeom>
          <a:noFill/>
        </p:spPr>
        <p:txBody>
          <a:bodyPr wrap="square">
            <a:spAutoFit/>
          </a:bodyPr>
          <a:lstStyle/>
          <a:p>
            <a:pPr marL="0" marR="0" algn="just">
              <a:lnSpc>
                <a:spcPct val="107000"/>
              </a:lnSpc>
              <a:spcBef>
                <a:spcPts val="0"/>
              </a:spcBef>
              <a:spcAft>
                <a:spcPts val="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It is a type of hypoxia caused by a low amount of oxygen in the blood. High altitude typically causes hypoxic hypoxia. This is the most common form of hypoxia.</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A13F031F-6EFA-9CF6-FC51-2CBF56F121B4}"/>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pic>
        <p:nvPicPr>
          <p:cNvPr id="5" name="Picture 4">
            <a:extLst>
              <a:ext uri="{FF2B5EF4-FFF2-40B4-BE49-F238E27FC236}">
                <a16:creationId xmlns:a16="http://schemas.microsoft.com/office/drawing/2014/main" id="{650C1FCD-CE5B-2DD1-4FC4-9E42B82FC204}"/>
              </a:ext>
            </a:extLst>
          </p:cNvPr>
          <p:cNvPicPr>
            <a:picLocks noChangeAspect="1"/>
          </p:cNvPicPr>
          <p:nvPr/>
        </p:nvPicPr>
        <p:blipFill>
          <a:blip r:embed="rId2"/>
          <a:stretch>
            <a:fillRect/>
          </a:stretch>
        </p:blipFill>
        <p:spPr>
          <a:xfrm>
            <a:off x="1772789" y="1334916"/>
            <a:ext cx="1026422" cy="1051096"/>
          </a:xfrm>
          <a:prstGeom prst="rect">
            <a:avLst/>
          </a:prstGeom>
        </p:spPr>
      </p:pic>
    </p:spTree>
    <p:extLst>
      <p:ext uri="{BB962C8B-B14F-4D97-AF65-F5344CB8AC3E}">
        <p14:creationId xmlns:p14="http://schemas.microsoft.com/office/powerpoint/2010/main" val="300010241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39784D-C344-1361-2189-FF87360FECC6}"/>
              </a:ext>
            </a:extLst>
          </p:cNvPr>
          <p:cNvSpPr txBox="1"/>
          <p:nvPr/>
        </p:nvSpPr>
        <p:spPr>
          <a:xfrm>
            <a:off x="511968" y="1100596"/>
            <a:ext cx="3548063" cy="542008"/>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How do you convert a true course to a magnetic heading?</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B2D5BA74-96C3-C856-95FB-69187E90BDF3}"/>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Rectangle 1">
            <a:extLst>
              <a:ext uri="{FF2B5EF4-FFF2-40B4-BE49-F238E27FC236}">
                <a16:creationId xmlns:a16="http://schemas.microsoft.com/office/drawing/2014/main" id="{DE134743-FB94-180B-8E32-2447970F6020}"/>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532E6AFD-3333-33EA-A5D3-A8CAACF0F3F1}"/>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22598752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6D74FC-AE96-0E6C-C56E-62A51453A585}"/>
              </a:ext>
            </a:extLst>
          </p:cNvPr>
          <p:cNvSpPr txBox="1"/>
          <p:nvPr/>
        </p:nvSpPr>
        <p:spPr>
          <a:xfrm>
            <a:off x="352425" y="603233"/>
            <a:ext cx="3867149" cy="675506"/>
          </a:xfrm>
          <a:prstGeom prst="rect">
            <a:avLst/>
          </a:prstGeom>
          <a:noFill/>
        </p:spPr>
        <p:txBody>
          <a:bodyPr wrap="square">
            <a:spAutoFit/>
          </a:bodyPr>
          <a:lstStyle/>
          <a:p>
            <a:pPr marL="0" marR="0" algn="just">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Either add a westerly variation to your true course or subtract an easterly variation from your true course. Remember “East is Least. West is Best.”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8CD54BF7-5C01-DB6A-E7BA-440D5D7249B3}"/>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pic>
        <p:nvPicPr>
          <p:cNvPr id="5" name="Picture 4">
            <a:extLst>
              <a:ext uri="{FF2B5EF4-FFF2-40B4-BE49-F238E27FC236}">
                <a16:creationId xmlns:a16="http://schemas.microsoft.com/office/drawing/2014/main" id="{F92C9798-5E83-1DAB-8836-99D68CDD42EA}"/>
              </a:ext>
            </a:extLst>
          </p:cNvPr>
          <p:cNvPicPr>
            <a:picLocks noChangeAspect="1"/>
          </p:cNvPicPr>
          <p:nvPr/>
        </p:nvPicPr>
        <p:blipFill>
          <a:blip r:embed="rId2">
            <a:duotone>
              <a:prstClr val="black"/>
              <a:srgbClr val="D9C3A5">
                <a:tint val="50000"/>
                <a:satMod val="180000"/>
              </a:srgbClr>
            </a:duotone>
          </a:blip>
          <a:stretch>
            <a:fillRect/>
          </a:stretch>
        </p:blipFill>
        <p:spPr>
          <a:xfrm rot="16200000">
            <a:off x="1844050" y="1141241"/>
            <a:ext cx="883909" cy="1530350"/>
          </a:xfrm>
          <a:prstGeom prst="rect">
            <a:avLst/>
          </a:prstGeom>
        </p:spPr>
      </p:pic>
    </p:spTree>
    <p:extLst>
      <p:ext uri="{BB962C8B-B14F-4D97-AF65-F5344CB8AC3E}">
        <p14:creationId xmlns:p14="http://schemas.microsoft.com/office/powerpoint/2010/main" val="10027335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ACB2FC0-03CC-3945-BEE4-A80584162A0C}"/>
              </a:ext>
            </a:extLst>
          </p:cNvPr>
          <p:cNvSpPr txBox="1"/>
          <p:nvPr/>
        </p:nvSpPr>
        <p:spPr>
          <a:xfrm>
            <a:off x="514932" y="1215852"/>
            <a:ext cx="3542136" cy="311496"/>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What are the typical spin recovery procedures?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D49747B1-0B37-25F2-F4CA-4E6CEF145715}"/>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Rectangle 1">
            <a:extLst>
              <a:ext uri="{FF2B5EF4-FFF2-40B4-BE49-F238E27FC236}">
                <a16:creationId xmlns:a16="http://schemas.microsoft.com/office/drawing/2014/main" id="{BC5B490E-39DE-2FAC-965C-E7D16F524A36}"/>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479C265A-11B2-9D1F-D9B9-90E2CBC8B2D8}"/>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426588332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DBED3CA-3A91-E11B-89C5-EFA7F98F98BC}"/>
              </a:ext>
            </a:extLst>
          </p:cNvPr>
          <p:cNvSpPr txBox="1"/>
          <p:nvPr/>
        </p:nvSpPr>
        <p:spPr>
          <a:xfrm>
            <a:off x="311150" y="414248"/>
            <a:ext cx="4102099" cy="1813317"/>
          </a:xfrm>
          <a:prstGeom prst="rect">
            <a:avLst/>
          </a:prstGeom>
          <a:noFill/>
        </p:spPr>
        <p:txBody>
          <a:bodyPr wrap="square">
            <a:spAutoFit/>
          </a:bodyPr>
          <a:lstStyle/>
          <a:p>
            <a:pPr marL="0" marR="0">
              <a:lnSpc>
                <a:spcPct val="107000"/>
              </a:lnSpc>
              <a:spcBef>
                <a:spcPts val="0"/>
              </a:spcBef>
              <a:spcAft>
                <a:spcPts val="0"/>
              </a:spcAft>
            </a:pPr>
            <a:r>
              <a:rPr lang="en-US" sz="1050" b="1" dirty="0">
                <a:effectLst/>
                <a:latin typeface="Times New Roman" panose="02020603050405020304" pitchFamily="18" charset="0"/>
                <a:ea typeface="Times New Roman" panose="02020603050405020304" pitchFamily="18" charset="0"/>
                <a:cs typeface="Times New Roman" panose="02020603050405020304" pitchFamily="18" charset="0"/>
              </a:rPr>
              <a:t>Power</a:t>
            </a:r>
            <a:r>
              <a:rPr lang="en-US" sz="1050" dirty="0">
                <a:effectLst/>
                <a:latin typeface="Times New Roman" panose="02020603050405020304" pitchFamily="18" charset="0"/>
                <a:ea typeface="Times New Roman" panose="02020603050405020304" pitchFamily="18" charset="0"/>
                <a:cs typeface="Times New Roman" panose="02020603050405020304" pitchFamily="18" charset="0"/>
              </a:rPr>
              <a:t> – Idle (reduces the load on the engine and reduces the aircraft’s left turning tendencies).</a:t>
            </a:r>
            <a:endParaRPr lang="en-US" sz="105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0"/>
              </a:spcAft>
            </a:pPr>
            <a:r>
              <a:rPr lang="en-US" sz="1050" b="1" dirty="0">
                <a:effectLst/>
                <a:latin typeface="Times New Roman" panose="02020603050405020304" pitchFamily="18" charset="0"/>
                <a:ea typeface="Times New Roman" panose="02020603050405020304" pitchFamily="18" charset="0"/>
                <a:cs typeface="Times New Roman" panose="02020603050405020304" pitchFamily="18" charset="0"/>
              </a:rPr>
              <a:t>Ailerons</a:t>
            </a:r>
            <a:r>
              <a:rPr lang="en-US" sz="1050" dirty="0">
                <a:effectLst/>
                <a:latin typeface="Times New Roman" panose="02020603050405020304" pitchFamily="18" charset="0"/>
                <a:ea typeface="Times New Roman" panose="02020603050405020304" pitchFamily="18" charset="0"/>
                <a:cs typeface="Times New Roman" panose="02020603050405020304" pitchFamily="18" charset="0"/>
              </a:rPr>
              <a:t> – Neutral (anything other than neutral will “aggravate” the spin and delay recovery.</a:t>
            </a:r>
            <a:endParaRPr lang="en-US" sz="105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0"/>
              </a:spcAft>
            </a:pPr>
            <a:r>
              <a:rPr lang="en-US" sz="1050" b="1" dirty="0">
                <a:effectLst/>
                <a:latin typeface="Times New Roman" panose="02020603050405020304" pitchFamily="18" charset="0"/>
                <a:ea typeface="Times New Roman" panose="02020603050405020304" pitchFamily="18" charset="0"/>
                <a:cs typeface="Times New Roman" panose="02020603050405020304" pitchFamily="18" charset="0"/>
              </a:rPr>
              <a:t>Rudder</a:t>
            </a:r>
            <a:r>
              <a:rPr lang="en-US" sz="1050" dirty="0">
                <a:effectLst/>
                <a:latin typeface="Times New Roman" panose="02020603050405020304" pitchFamily="18" charset="0"/>
                <a:ea typeface="Times New Roman" panose="02020603050405020304" pitchFamily="18" charset="0"/>
                <a:cs typeface="Times New Roman" panose="02020603050405020304" pitchFamily="18" charset="0"/>
              </a:rPr>
              <a:t> – Full opposite </a:t>
            </a:r>
            <a:r>
              <a:rPr lang="en-US" sz="1050" dirty="0">
                <a:latin typeface="Times New Roman" panose="02020603050405020304" pitchFamily="18" charset="0"/>
                <a:ea typeface="Times New Roman" panose="02020603050405020304" pitchFamily="18" charset="0"/>
                <a:cs typeface="Times New Roman" panose="02020603050405020304" pitchFamily="18" charset="0"/>
              </a:rPr>
              <a:t>d</a:t>
            </a:r>
            <a:r>
              <a:rPr lang="en-US" sz="1050" dirty="0">
                <a:effectLst/>
                <a:latin typeface="Times New Roman" panose="02020603050405020304" pitchFamily="18" charset="0"/>
                <a:ea typeface="Times New Roman" panose="02020603050405020304" pitchFamily="18" charset="0"/>
                <a:cs typeface="Times New Roman" panose="02020603050405020304" pitchFamily="18" charset="0"/>
              </a:rPr>
              <a:t>irection of spin (you need yaw and stall for a spin, this removes the yaw).</a:t>
            </a:r>
            <a:endParaRPr lang="en-US" sz="105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0"/>
              </a:spcAft>
            </a:pPr>
            <a:r>
              <a:rPr lang="en-US" sz="1050" b="1" dirty="0">
                <a:effectLst/>
                <a:latin typeface="Times New Roman" panose="02020603050405020304" pitchFamily="18" charset="0"/>
                <a:ea typeface="Times New Roman" panose="02020603050405020304" pitchFamily="18" charset="0"/>
                <a:cs typeface="Times New Roman" panose="02020603050405020304" pitchFamily="18" charset="0"/>
              </a:rPr>
              <a:t>Elevator</a:t>
            </a:r>
            <a:r>
              <a:rPr lang="en-US" sz="1050" dirty="0">
                <a:effectLst/>
                <a:latin typeface="Times New Roman" panose="02020603050405020304" pitchFamily="18" charset="0"/>
                <a:ea typeface="Times New Roman" panose="02020603050405020304" pitchFamily="18" charset="0"/>
                <a:cs typeface="Times New Roman" panose="02020603050405020304" pitchFamily="18" charset="0"/>
              </a:rPr>
              <a:t> – Forward (reduces AOA so as to break the stall)</a:t>
            </a:r>
            <a:endParaRPr lang="en-US" sz="105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0"/>
              </a:spcAft>
            </a:pPr>
            <a:r>
              <a:rPr lang="en-US" sz="1050" b="1" dirty="0">
                <a:effectLst/>
                <a:latin typeface="Times New Roman" panose="02020603050405020304" pitchFamily="18" charset="0"/>
                <a:ea typeface="Times New Roman" panose="02020603050405020304" pitchFamily="18" charset="0"/>
                <a:cs typeface="Times New Roman" panose="02020603050405020304" pitchFamily="18" charset="0"/>
              </a:rPr>
              <a:t>Recover from the Dive </a:t>
            </a:r>
            <a:r>
              <a:rPr lang="en-US" sz="1050" dirty="0">
                <a:effectLst/>
                <a:latin typeface="Times New Roman" panose="02020603050405020304" pitchFamily="18" charset="0"/>
                <a:ea typeface="Times New Roman" panose="02020603050405020304" pitchFamily="18" charset="0"/>
                <a:cs typeface="Times New Roman" panose="02020603050405020304" pitchFamily="18" charset="0"/>
              </a:rPr>
              <a:t>(yep, you’re now pointed at the ground).</a:t>
            </a:r>
          </a:p>
          <a:p>
            <a:pPr marL="0" marR="0">
              <a:lnSpc>
                <a:spcPct val="107000"/>
              </a:lnSpc>
              <a:spcBef>
                <a:spcPts val="0"/>
              </a:spcBef>
              <a:spcAft>
                <a:spcPts val="0"/>
              </a:spcAft>
            </a:pPr>
            <a:endParaRPr lang="en-US" sz="1050" dirty="0">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0"/>
              </a:spcAft>
            </a:pPr>
            <a:r>
              <a:rPr lang="en-US" sz="1050" dirty="0">
                <a:effectLst/>
                <a:latin typeface="Times New Roman" panose="02020603050405020304" pitchFamily="18" charset="0"/>
                <a:ea typeface="Calibri" panose="020F0502020204030204" pitchFamily="34" charset="0"/>
                <a:cs typeface="Times New Roman" panose="02020603050405020304" pitchFamily="18" charset="0"/>
              </a:rPr>
              <a:t>Be sure to refer to your specific POH/AFM.</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F094C37F-D639-8544-4E94-AACA4D24D621}"/>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Tree>
    <p:extLst>
      <p:ext uri="{BB962C8B-B14F-4D97-AF65-F5344CB8AC3E}">
        <p14:creationId xmlns:p14="http://schemas.microsoft.com/office/powerpoint/2010/main" val="309705053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414693-FF32-7037-7DAF-FD0072AC3E38}"/>
              </a:ext>
            </a:extLst>
          </p:cNvPr>
          <p:cNvSpPr txBox="1"/>
          <p:nvPr/>
        </p:nvSpPr>
        <p:spPr>
          <a:xfrm>
            <a:off x="285593" y="925339"/>
            <a:ext cx="4060124" cy="671851"/>
          </a:xfrm>
          <a:prstGeom prst="rect">
            <a:avLst/>
          </a:prstGeom>
          <a:noFill/>
        </p:spPr>
        <p:txBody>
          <a:bodyPr wrap="square">
            <a:spAutoFit/>
          </a:bodyPr>
          <a:lstStyle/>
          <a:p>
            <a:pPr marL="0" marR="0" algn="ctr">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Define the term “Maneuvering </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S</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peed.”</a:t>
            </a:r>
          </a:p>
          <a:p>
            <a:pPr marL="0" marR="0" algn="ctr">
              <a:lnSpc>
                <a:spcPct val="107000"/>
              </a:lnSpc>
              <a:spcBef>
                <a:spcPts val="0"/>
              </a:spcBef>
              <a:spcAft>
                <a:spcPts val="0"/>
              </a:spcAft>
            </a:pPr>
            <a:endParaRPr lang="en-US" sz="1200"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7000"/>
              </a:lnSpc>
            </a:pPr>
            <a:r>
              <a:rPr lang="pt-BR" sz="1200" dirty="0">
                <a:latin typeface="Times New Roman" panose="02020603050405020304" pitchFamily="18" charset="0"/>
                <a:ea typeface="Calibri" panose="020F0502020204030204" pitchFamily="34" charset="0"/>
                <a:cs typeface="Times New Roman" panose="02020603050405020304" pitchFamily="18" charset="0"/>
              </a:rPr>
              <a:t>FAA-H-8083-25C, Chapter 5, Pg 5-35</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A0EA6836-09C4-34DC-9F5F-001964CBC14F}"/>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Rectangle 1">
            <a:extLst>
              <a:ext uri="{FF2B5EF4-FFF2-40B4-BE49-F238E27FC236}">
                <a16:creationId xmlns:a16="http://schemas.microsoft.com/office/drawing/2014/main" id="{5A0828F8-77BE-55D9-47D3-03595F5B46E1}"/>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79490EE5-F71B-B665-E2F4-F0DBAB8C0F5E}"/>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3239348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0E1A0A-17C0-97C2-6140-571AA36CD7AC}"/>
              </a:ext>
            </a:extLst>
          </p:cNvPr>
          <p:cNvSpPr txBox="1"/>
          <p:nvPr/>
        </p:nvSpPr>
        <p:spPr>
          <a:xfrm>
            <a:off x="333375" y="311066"/>
            <a:ext cx="3905250" cy="1170257"/>
          </a:xfrm>
          <a:prstGeom prst="rect">
            <a:avLst/>
          </a:prstGeom>
          <a:noFill/>
        </p:spPr>
        <p:txBody>
          <a:bodyPr wrap="square">
            <a:spAutoFit/>
          </a:bodyPr>
          <a:lstStyle/>
          <a:p>
            <a:pPr marL="0" marR="0" algn="just">
              <a:lnSpc>
                <a:spcPct val="107000"/>
              </a:lnSpc>
              <a:spcBef>
                <a:spcPts val="0"/>
              </a:spcBef>
              <a:spcAft>
                <a:spcPts val="0"/>
              </a:spcAft>
            </a:pPr>
            <a:r>
              <a:rPr lang="en-US" sz="1100" dirty="0">
                <a:effectLst/>
                <a:latin typeface="Times New Roman" panose="02020603050405020304" pitchFamily="18" charset="0"/>
                <a:ea typeface="Times New Roman" panose="02020603050405020304" pitchFamily="18" charset="0"/>
                <a:cs typeface="Times New Roman" panose="02020603050405020304" pitchFamily="18" charset="0"/>
              </a:rPr>
              <a:t>Maneuvering speed is the max speed at which abrupt control movement can be applied or at which the airplane could be flown in turbulence without exceeding the design load factor limits. When operating below Va, a damaging positive flight load cannot be reached because the wing will stall before reaching that load factor (G forces).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55EE166D-148C-9AFF-8A36-7B4305E63359}"/>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pic>
        <p:nvPicPr>
          <p:cNvPr id="6" name="Picture 5">
            <a:extLst>
              <a:ext uri="{FF2B5EF4-FFF2-40B4-BE49-F238E27FC236}">
                <a16:creationId xmlns:a16="http://schemas.microsoft.com/office/drawing/2014/main" id="{565D92D5-061E-78D2-F698-258AA495CCF0}"/>
              </a:ext>
            </a:extLst>
          </p:cNvPr>
          <p:cNvPicPr>
            <a:picLocks noChangeAspect="1"/>
          </p:cNvPicPr>
          <p:nvPr/>
        </p:nvPicPr>
        <p:blipFill>
          <a:blip r:embed="rId2"/>
          <a:stretch>
            <a:fillRect/>
          </a:stretch>
        </p:blipFill>
        <p:spPr>
          <a:xfrm>
            <a:off x="1673500" y="1329775"/>
            <a:ext cx="1224999" cy="1219052"/>
          </a:xfrm>
          <a:prstGeom prst="rect">
            <a:avLst/>
          </a:prstGeom>
        </p:spPr>
      </p:pic>
    </p:spTree>
    <p:extLst>
      <p:ext uri="{BB962C8B-B14F-4D97-AF65-F5344CB8AC3E}">
        <p14:creationId xmlns:p14="http://schemas.microsoft.com/office/powerpoint/2010/main" val="199902157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561896-27CC-D80D-72A6-3342E39589F4}"/>
              </a:ext>
            </a:extLst>
          </p:cNvPr>
          <p:cNvSpPr txBox="1"/>
          <p:nvPr/>
        </p:nvSpPr>
        <p:spPr>
          <a:xfrm>
            <a:off x="202618" y="1215852"/>
            <a:ext cx="4166764" cy="311496"/>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What is a good rule of thumb for takeoff abort criteria?</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C3085773-B74E-6489-761D-422DB76F3E1C}"/>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Rectangle 1">
            <a:extLst>
              <a:ext uri="{FF2B5EF4-FFF2-40B4-BE49-F238E27FC236}">
                <a16:creationId xmlns:a16="http://schemas.microsoft.com/office/drawing/2014/main" id="{B25CD5DE-5E5D-CE85-74D8-FFC8D621C405}"/>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C1581883-98BB-7A83-D01C-9A1E0987E1DB}"/>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0820783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B7774B-A7F8-8A97-B3FA-F2D4902D3795}"/>
              </a:ext>
            </a:extLst>
          </p:cNvPr>
          <p:cNvSpPr txBox="1"/>
          <p:nvPr/>
        </p:nvSpPr>
        <p:spPr>
          <a:xfrm>
            <a:off x="381114" y="1037096"/>
            <a:ext cx="3809771" cy="542008"/>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You should abort if you have </a:t>
            </a:r>
            <a:r>
              <a:rPr lang="en-US" sz="1400" dirty="0">
                <a:latin typeface="Times New Roman" panose="02020603050405020304" pitchFamily="18" charset="0"/>
                <a:ea typeface="Times New Roman" panose="02020603050405020304" pitchFamily="18" charset="0"/>
                <a:cs typeface="Times New Roman" panose="02020603050405020304" pitchFamily="18" charset="0"/>
              </a:rPr>
              <a:t>not </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reached 70% of your takeoff speed by 50% of the runway.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1333B3FA-1CAC-E6EE-B861-D23989D90105}"/>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Tree>
    <p:extLst>
      <p:ext uri="{BB962C8B-B14F-4D97-AF65-F5344CB8AC3E}">
        <p14:creationId xmlns:p14="http://schemas.microsoft.com/office/powerpoint/2010/main" val="292408101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3CF90E-E430-64C6-6120-13724E4AD6EB}"/>
              </a:ext>
            </a:extLst>
          </p:cNvPr>
          <p:cNvSpPr txBox="1"/>
          <p:nvPr/>
        </p:nvSpPr>
        <p:spPr>
          <a:xfrm>
            <a:off x="205192" y="1215852"/>
            <a:ext cx="4161615" cy="311496"/>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What causes carb icing?</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C483CC87-5751-A823-7782-0A3DDB7BA8CB}"/>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Rectangle 1">
            <a:extLst>
              <a:ext uri="{FF2B5EF4-FFF2-40B4-BE49-F238E27FC236}">
                <a16:creationId xmlns:a16="http://schemas.microsoft.com/office/drawing/2014/main" id="{05AE3250-13BF-6792-80FD-52C99EE950A7}"/>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3B808D0-C0FF-AAE4-129B-FD012530CA0A}"/>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07317880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881571-9ACD-843A-E51A-C906A701D64A}"/>
              </a:ext>
            </a:extLst>
          </p:cNvPr>
          <p:cNvSpPr txBox="1"/>
          <p:nvPr/>
        </p:nvSpPr>
        <p:spPr>
          <a:xfrm>
            <a:off x="267347" y="440992"/>
            <a:ext cx="2717013" cy="1861215"/>
          </a:xfrm>
          <a:prstGeom prst="rect">
            <a:avLst/>
          </a:prstGeom>
          <a:noFill/>
        </p:spPr>
        <p:txBody>
          <a:bodyPr wrap="square">
            <a:spAutoFit/>
          </a:bodyPr>
          <a:lstStyle/>
          <a:p>
            <a:pPr marL="0" marR="0" algn="just">
              <a:lnSpc>
                <a:spcPct val="107000"/>
              </a:lnSpc>
              <a:spcBef>
                <a:spcPts val="0"/>
              </a:spcBef>
              <a:spcAft>
                <a:spcPts val="0"/>
              </a:spcAf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A v</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enturi within the carb causes a velocity increase in the fuel/air mixture. An increase in velocity creates a drop in pressure. A drop in pressure creates a drop in temperature. The temperature drop can be significant enough to cause moisture in the fuel/air mixture to freeze and adhere to the sides of the carburetor’s interior.</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E927F424-4B7B-A7F8-FCD7-9B1A5D13C0C7}"/>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pic>
        <p:nvPicPr>
          <p:cNvPr id="6" name="Picture 5">
            <a:extLst>
              <a:ext uri="{FF2B5EF4-FFF2-40B4-BE49-F238E27FC236}">
                <a16:creationId xmlns:a16="http://schemas.microsoft.com/office/drawing/2014/main" id="{681DC009-3822-E92C-4CB1-D278DD8B66D1}"/>
              </a:ext>
            </a:extLst>
          </p:cNvPr>
          <p:cNvPicPr>
            <a:picLocks noChangeAspect="1"/>
          </p:cNvPicPr>
          <p:nvPr/>
        </p:nvPicPr>
        <p:blipFill>
          <a:blip r:embed="rId2"/>
          <a:stretch>
            <a:fillRect/>
          </a:stretch>
        </p:blipFill>
        <p:spPr>
          <a:xfrm>
            <a:off x="3178400" y="648118"/>
            <a:ext cx="1161422" cy="1161422"/>
          </a:xfrm>
          <a:prstGeom prst="rect">
            <a:avLst/>
          </a:prstGeom>
        </p:spPr>
      </p:pic>
    </p:spTree>
    <p:extLst>
      <p:ext uri="{BB962C8B-B14F-4D97-AF65-F5344CB8AC3E}">
        <p14:creationId xmlns:p14="http://schemas.microsoft.com/office/powerpoint/2010/main" val="198138211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CF5EEA3-1C21-3834-C45A-049E603E9A3F}"/>
              </a:ext>
            </a:extLst>
          </p:cNvPr>
          <p:cNvSpPr txBox="1"/>
          <p:nvPr/>
        </p:nvSpPr>
        <p:spPr>
          <a:xfrm>
            <a:off x="645207" y="1100596"/>
            <a:ext cx="3281585" cy="542008"/>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Why do we turn on carb heat during an air start after an engine failure?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B79CCF0D-8A9F-A8CE-6FF0-5266DC66ADDA}"/>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Rectangle 1">
            <a:extLst>
              <a:ext uri="{FF2B5EF4-FFF2-40B4-BE49-F238E27FC236}">
                <a16:creationId xmlns:a16="http://schemas.microsoft.com/office/drawing/2014/main" id="{98AA8E98-00D1-BDB4-FE8E-0FEA6B1D23DA}"/>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C40DCE67-AF49-883E-1C6A-79AA447824E5}"/>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77026713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44729F-A503-4A50-3C1E-03A38D6465C6}"/>
              </a:ext>
            </a:extLst>
          </p:cNvPr>
          <p:cNvSpPr txBox="1"/>
          <p:nvPr/>
        </p:nvSpPr>
        <p:spPr>
          <a:xfrm>
            <a:off x="288925" y="754828"/>
            <a:ext cx="3994150" cy="1233543"/>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Provides an alternate air source for the engine.</a:t>
            </a:r>
          </a:p>
          <a:p>
            <a:pPr marL="0" marR="0">
              <a:lnSpc>
                <a:spcPct val="107000"/>
              </a:lnSpc>
              <a:spcBef>
                <a:spcPts val="0"/>
              </a:spcBef>
              <a:spcAft>
                <a:spcPts val="0"/>
              </a:spcAft>
            </a:pP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It is not to remove carb icing. There is almost no heat left in the exhaust pipes of a dead engine moving through cold air at best glide airspeed.</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D2039A9C-40C7-A53B-AE9B-A471B53DAC30}"/>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Tree>
    <p:extLst>
      <p:ext uri="{BB962C8B-B14F-4D97-AF65-F5344CB8AC3E}">
        <p14:creationId xmlns:p14="http://schemas.microsoft.com/office/powerpoint/2010/main" val="33350238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0DD91E-7FAE-B03F-4561-68708E1F21AE}"/>
              </a:ext>
            </a:extLst>
          </p:cNvPr>
          <p:cNvSpPr txBox="1"/>
          <p:nvPr/>
        </p:nvSpPr>
        <p:spPr>
          <a:xfrm>
            <a:off x="535384" y="771352"/>
            <a:ext cx="3501231" cy="311496"/>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What is the VHF emergency frequency?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B5BB6D99-6B49-CD9C-1310-20AFD7125C42}"/>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TextBox 1">
            <a:extLst>
              <a:ext uri="{FF2B5EF4-FFF2-40B4-BE49-F238E27FC236}">
                <a16:creationId xmlns:a16="http://schemas.microsoft.com/office/drawing/2014/main" id="{88FDA1CB-613B-1632-E6F4-67821FCD96D8}"/>
              </a:ext>
            </a:extLst>
          </p:cNvPr>
          <p:cNvSpPr txBox="1"/>
          <p:nvPr/>
        </p:nvSpPr>
        <p:spPr>
          <a:xfrm>
            <a:off x="535384" y="1115235"/>
            <a:ext cx="3501231" cy="311496"/>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What is the UHF emergency frequency?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ADE592F6-3A7E-A412-7E77-5281010F8735}"/>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96DFFA4D-8000-3186-44D1-E998BA36526E}"/>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
        <p:nvSpPr>
          <p:cNvPr id="7" name="TextBox 6">
            <a:extLst>
              <a:ext uri="{FF2B5EF4-FFF2-40B4-BE49-F238E27FC236}">
                <a16:creationId xmlns:a16="http://schemas.microsoft.com/office/drawing/2014/main" id="{FD28A04B-681A-333F-51AC-9DC1F126C1C4}"/>
              </a:ext>
            </a:extLst>
          </p:cNvPr>
          <p:cNvSpPr txBox="1"/>
          <p:nvPr/>
        </p:nvSpPr>
        <p:spPr>
          <a:xfrm>
            <a:off x="535384" y="1543134"/>
            <a:ext cx="3501231" cy="312650"/>
          </a:xfrm>
          <a:prstGeom prst="rect">
            <a:avLst/>
          </a:prstGeom>
          <a:noFill/>
        </p:spPr>
        <p:txBody>
          <a:bodyPr wrap="square">
            <a:spAutoFit/>
          </a:bodyPr>
          <a:lstStyle/>
          <a:p>
            <a:pPr algn="ctr">
              <a:lnSpc>
                <a:spcPct val="107000"/>
              </a:lnSpc>
            </a:pPr>
            <a:r>
              <a:rPr lang="en-US" sz="1400" dirty="0">
                <a:latin typeface="Times New Roman" panose="02020603050405020304" pitchFamily="18" charset="0"/>
                <a:cs typeface="Times New Roman" panose="02020603050405020304" pitchFamily="18" charset="0"/>
              </a:rPr>
              <a:t>AIM 6-2-4</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0996323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0A499B1-BE7C-E51D-DE68-9145D1548B51}"/>
              </a:ext>
            </a:extLst>
          </p:cNvPr>
          <p:cNvSpPr txBox="1"/>
          <p:nvPr/>
        </p:nvSpPr>
        <p:spPr>
          <a:xfrm>
            <a:off x="1438544" y="879302"/>
            <a:ext cx="1694912" cy="773673"/>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VHF - 121.5</a:t>
            </a:r>
          </a:p>
          <a:p>
            <a:pPr marL="0" marR="0" algn="ctr">
              <a:lnSpc>
                <a:spcPct val="107000"/>
              </a:lnSpc>
              <a:spcBef>
                <a:spcPts val="0"/>
              </a:spcBef>
              <a:spcAft>
                <a:spcPts val="0"/>
              </a:spcAft>
            </a:pP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UHF - 243.0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BEDC2BE8-8189-27E2-282D-896F416C497B}"/>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Tree>
    <p:extLst>
      <p:ext uri="{BB962C8B-B14F-4D97-AF65-F5344CB8AC3E}">
        <p14:creationId xmlns:p14="http://schemas.microsoft.com/office/powerpoint/2010/main" val="288987312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D22C4-8128-6D83-6E5E-7941A884DC7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4C9EDF1-4B7B-F50C-1ED9-DA824FC3B9E5}"/>
              </a:ext>
            </a:extLst>
          </p:cNvPr>
          <p:cNvSpPr txBox="1"/>
          <p:nvPr/>
        </p:nvSpPr>
        <p:spPr>
          <a:xfrm>
            <a:off x="350230" y="942665"/>
            <a:ext cx="3871539" cy="477888"/>
          </a:xfrm>
          <a:prstGeom prst="rect">
            <a:avLst/>
          </a:prstGeom>
          <a:noFill/>
        </p:spPr>
        <p:txBody>
          <a:bodyPr wrap="square" rtlCol="0">
            <a:spAutoFit/>
          </a:bodyPr>
          <a:lstStyle/>
          <a:p>
            <a:pPr marL="0" marR="0">
              <a:lnSpc>
                <a:spcPct val="107000"/>
              </a:lnSpc>
              <a:spcBef>
                <a:spcPts val="0"/>
              </a:spcBef>
              <a:spcAft>
                <a:spcPts val="80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You determine you blew a tire during your takeoff roll and are now airborne. What are your actions?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29F8D4AD-2589-9507-56E5-ADBDDD1CDA8E}"/>
              </a:ext>
            </a:extLst>
          </p:cNvPr>
          <p:cNvSpPr/>
          <p:nvPr/>
        </p:nvSpPr>
        <p:spPr>
          <a:xfrm>
            <a:off x="4294078" y="101908"/>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6CB063DA-8F98-5A66-8FCC-4A44A9308320}"/>
              </a:ext>
            </a:extLst>
          </p:cNvPr>
          <p:cNvSpPr txBox="1"/>
          <p:nvPr/>
        </p:nvSpPr>
        <p:spPr>
          <a:xfrm>
            <a:off x="4238625" y="63056"/>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
        <p:nvSpPr>
          <p:cNvPr id="7" name="TextBox 6">
            <a:extLst>
              <a:ext uri="{FF2B5EF4-FFF2-40B4-BE49-F238E27FC236}">
                <a16:creationId xmlns:a16="http://schemas.microsoft.com/office/drawing/2014/main" id="{CE0DB116-7F10-AA93-87FA-3D519695A6DE}"/>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Tree>
    <p:extLst>
      <p:ext uri="{BB962C8B-B14F-4D97-AF65-F5344CB8AC3E}">
        <p14:creationId xmlns:p14="http://schemas.microsoft.com/office/powerpoint/2010/main" val="224963240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EFCE1-9F4F-E33C-EE8F-2502CEB23C9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1A94702-BBB9-3A5E-FC74-C456F5C428AD}"/>
              </a:ext>
            </a:extLst>
          </p:cNvPr>
          <p:cNvSpPr txBox="1"/>
          <p:nvPr/>
        </p:nvSpPr>
        <p:spPr>
          <a:xfrm>
            <a:off x="273843" y="448270"/>
            <a:ext cx="4024313" cy="1846659"/>
          </a:xfrm>
          <a:prstGeom prst="rect">
            <a:avLst/>
          </a:prstGeom>
          <a:noFill/>
        </p:spPr>
        <p:txBody>
          <a:bodyPr wrap="square" rtlCol="0">
            <a:spAutoFit/>
          </a:bodyPr>
          <a:lstStyle/>
          <a:p>
            <a:pPr algn="just"/>
            <a:r>
              <a:rPr lang="en-US" sz="1000" dirty="0">
                <a:effectLst/>
                <a:latin typeface="Times New Roman" panose="02020603050405020304" pitchFamily="18" charset="0"/>
                <a:ea typeface="Calibri" panose="020F0502020204030204" pitchFamily="34" charset="0"/>
              </a:rPr>
              <a:t>Follow the guidance in the AFM/POH. If there is none, consider the following:</a:t>
            </a:r>
          </a:p>
          <a:p>
            <a:pPr algn="just"/>
            <a:r>
              <a:rPr lang="en-US" sz="1000" dirty="0">
                <a:latin typeface="Times New Roman" panose="02020603050405020304" pitchFamily="18" charset="0"/>
                <a:cs typeface="Times New Roman" panose="02020603050405020304" pitchFamily="18" charset="0"/>
              </a:rPr>
              <a:t>- Do not retract flaps</a:t>
            </a:r>
          </a:p>
          <a:p>
            <a:pPr algn="just"/>
            <a:r>
              <a:rPr lang="en-US" sz="1000" dirty="0">
                <a:latin typeface="Times New Roman" panose="02020603050405020304" pitchFamily="18" charset="0"/>
                <a:cs typeface="Times New Roman" panose="02020603050405020304" pitchFamily="18" charset="0"/>
              </a:rPr>
              <a:t>- Do not retract gear</a:t>
            </a:r>
          </a:p>
          <a:p>
            <a:pPr algn="just"/>
            <a:r>
              <a:rPr lang="en-US" sz="1000" dirty="0">
                <a:latin typeface="Times New Roman" panose="02020603050405020304" pitchFamily="18" charset="0"/>
                <a:cs typeface="Times New Roman" panose="02020603050405020304" pitchFamily="18" charset="0"/>
              </a:rPr>
              <a:t>- Do not overspeed flaps or gear</a:t>
            </a:r>
          </a:p>
          <a:p>
            <a:pPr algn="just"/>
            <a:r>
              <a:rPr lang="en-US" sz="1000" dirty="0">
                <a:latin typeface="Times New Roman" panose="02020603050405020304" pitchFamily="18" charset="0"/>
                <a:cs typeface="Times New Roman" panose="02020603050405020304" pitchFamily="18" charset="0"/>
              </a:rPr>
              <a:t>- Divert to a runway that is longer and wider and minimal crosswind</a:t>
            </a:r>
          </a:p>
          <a:p>
            <a:pPr algn="just"/>
            <a:r>
              <a:rPr lang="en-US" sz="1000" dirty="0">
                <a:latin typeface="Times New Roman" panose="02020603050405020304" pitchFamily="18" charset="0"/>
                <a:cs typeface="Times New Roman" panose="02020603050405020304" pitchFamily="18" charset="0"/>
              </a:rPr>
              <a:t>- Burn down gas to lower gross weight</a:t>
            </a:r>
          </a:p>
          <a:p>
            <a:pPr algn="just"/>
            <a:r>
              <a:rPr lang="en-US" sz="1000" dirty="0">
                <a:latin typeface="Times New Roman" panose="02020603050405020304" pitchFamily="18" charset="0"/>
                <a:cs typeface="Times New Roman" panose="02020603050405020304" pitchFamily="18" charset="0"/>
              </a:rPr>
              <a:t>-</a:t>
            </a:r>
            <a:r>
              <a:rPr lang="en-US" sz="700" dirty="0">
                <a:latin typeface="Times New Roman" panose="02020603050405020304" pitchFamily="18" charset="0"/>
                <a:cs typeface="Times New Roman" panose="02020603050405020304" pitchFamily="18" charset="0"/>
              </a:rPr>
              <a:t> </a:t>
            </a:r>
            <a:r>
              <a:rPr lang="en-US" sz="1000" dirty="0">
                <a:latin typeface="Times New Roman" panose="02020603050405020304" pitchFamily="18" charset="0"/>
                <a:cs typeface="Times New Roman" panose="02020603050405020304" pitchFamily="18" charset="0"/>
              </a:rPr>
              <a:t>During approach and touchdown, offset left or right so as to place the blown tire near the middle of the runway (drag in the middle)</a:t>
            </a:r>
          </a:p>
          <a:p>
            <a:pPr algn="just"/>
            <a:r>
              <a:rPr lang="en-US" sz="1000" dirty="0">
                <a:latin typeface="Times New Roman" panose="02020603050405020304" pitchFamily="18" charset="0"/>
                <a:cs typeface="Times New Roman" panose="02020603050405020304" pitchFamily="18" charset="0"/>
              </a:rPr>
              <a:t>- Use differential braking and nosewheel steering for directional control</a:t>
            </a:r>
          </a:p>
          <a:p>
            <a:pPr algn="just"/>
            <a:r>
              <a:rPr lang="en-US" sz="1000" dirty="0">
                <a:latin typeface="Times New Roman" panose="02020603050405020304" pitchFamily="18" charset="0"/>
                <a:cs typeface="Times New Roman" panose="02020603050405020304" pitchFamily="18" charset="0"/>
              </a:rPr>
              <a:t>- Stop straight ahead and do not taxi clear</a:t>
            </a:r>
          </a:p>
        </p:txBody>
      </p:sp>
      <p:sp>
        <p:nvSpPr>
          <p:cNvPr id="5" name="TextBox 4">
            <a:extLst>
              <a:ext uri="{FF2B5EF4-FFF2-40B4-BE49-F238E27FC236}">
                <a16:creationId xmlns:a16="http://schemas.microsoft.com/office/drawing/2014/main" id="{40395393-A895-8E2D-A54F-6DF8AAA31116}"/>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Tree>
    <p:extLst>
      <p:ext uri="{BB962C8B-B14F-4D97-AF65-F5344CB8AC3E}">
        <p14:creationId xmlns:p14="http://schemas.microsoft.com/office/powerpoint/2010/main" val="308832208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TextBox 1">
            <a:extLst>
              <a:ext uri="{FF2B5EF4-FFF2-40B4-BE49-F238E27FC236}">
                <a16:creationId xmlns:a16="http://schemas.microsoft.com/office/drawing/2014/main" id="{558B83AA-D708-6AED-A210-1414241986A6}"/>
              </a:ext>
            </a:extLst>
          </p:cNvPr>
          <p:cNvSpPr txBox="1"/>
          <p:nvPr/>
        </p:nvSpPr>
        <p:spPr>
          <a:xfrm>
            <a:off x="381000" y="617160"/>
            <a:ext cx="3809999" cy="1311321"/>
          </a:xfrm>
          <a:prstGeom prst="rect">
            <a:avLst/>
          </a:prstGeom>
          <a:noFill/>
        </p:spPr>
        <p:txBody>
          <a:bodyPr wrap="square">
            <a:spAutoFit/>
          </a:bodyPr>
          <a:lstStyle/>
          <a:p>
            <a:pPr marL="0" marR="0" algn="just">
              <a:lnSpc>
                <a:spcPct val="115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You landed </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at 12 noon, on time, and a friend picked you up at the airport. You forgot to close your VFR flight plan. When will your phone ring?</a:t>
            </a:r>
          </a:p>
          <a:p>
            <a:pPr marL="0" marR="0" algn="just">
              <a:lnSpc>
                <a:spcPct val="115000"/>
              </a:lnSpc>
              <a:spcBef>
                <a:spcPts val="0"/>
              </a:spcBef>
              <a:spcAft>
                <a:spcPts val="0"/>
              </a:spcAft>
            </a:pP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lnSpc>
                <a:spcPct val="115000"/>
              </a:lnSpc>
            </a:pPr>
            <a:r>
              <a:rPr lang="en-US" sz="1400" dirty="0">
                <a:latin typeface="Times New Roman" panose="02020603050405020304" pitchFamily="18" charset="0"/>
                <a:cs typeface="Times New Roman" panose="02020603050405020304" pitchFamily="18" charset="0"/>
              </a:rPr>
              <a:t>AIM 5-1-14</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2AEAFA41-E128-283C-53EF-10E70831DF80}"/>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4F287437-072D-6B53-4331-AB515AFFFE2E}"/>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6638611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TextBox 1">
            <a:extLst>
              <a:ext uri="{FF2B5EF4-FFF2-40B4-BE49-F238E27FC236}">
                <a16:creationId xmlns:a16="http://schemas.microsoft.com/office/drawing/2014/main" id="{4E6486F1-F572-8C0F-CA1E-78DC46A0B7E9}"/>
              </a:ext>
            </a:extLst>
          </p:cNvPr>
          <p:cNvSpPr txBox="1"/>
          <p:nvPr/>
        </p:nvSpPr>
        <p:spPr>
          <a:xfrm>
            <a:off x="337344" y="699710"/>
            <a:ext cx="3897311" cy="1180131"/>
          </a:xfrm>
          <a:prstGeom prst="rect">
            <a:avLst/>
          </a:prstGeom>
          <a:noFill/>
        </p:spPr>
        <p:txBody>
          <a:bodyPr wrap="square">
            <a:spAutoFit/>
          </a:bodyPr>
          <a:lstStyle/>
          <a:p>
            <a:pPr marL="0" marR="0" algn="just">
              <a:lnSpc>
                <a:spcPct val="115000"/>
              </a:lnSpc>
              <a:spcAft>
                <a:spcPts val="60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It’ll probably start ringing around 12:30. Search and rescue efforts begin 30 minutes after your ETA if you do not close your flight plan. From the AIM:</a:t>
            </a:r>
          </a:p>
          <a:p>
            <a:pPr algn="just">
              <a:lnSpc>
                <a:spcPct val="115000"/>
              </a:lnSpc>
              <a:spcAft>
                <a:spcPts val="600"/>
              </a:spcAft>
            </a:pPr>
            <a:r>
              <a:rPr lang="en-US" sz="1100" dirty="0">
                <a:latin typeface="Times New Roman" panose="02020603050405020304" pitchFamily="18" charset="0"/>
                <a:cs typeface="Times New Roman" panose="02020603050405020304" pitchFamily="18" charset="0"/>
              </a:rPr>
              <a:t>“</a:t>
            </a:r>
            <a:r>
              <a:rPr lang="en-US" sz="1100" i="1" dirty="0">
                <a:latin typeface="Times New Roman" panose="02020603050405020304" pitchFamily="18" charset="0"/>
                <a:cs typeface="Times New Roman" panose="02020603050405020304" pitchFamily="18" charset="0"/>
              </a:rPr>
              <a:t>If a VFR flight plan is not closed, search and rescue procedures are started 30 minutes after the estimated time of arrival.</a:t>
            </a:r>
            <a:r>
              <a:rPr lang="en-US" sz="1100" dirty="0">
                <a:latin typeface="Times New Roman" panose="02020603050405020304" pitchFamily="18" charset="0"/>
                <a:cs typeface="Times New Roman" panose="02020603050405020304" pitchFamily="18" charset="0"/>
              </a:rPr>
              <a:t>”</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6170352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TextBox 1">
            <a:extLst>
              <a:ext uri="{FF2B5EF4-FFF2-40B4-BE49-F238E27FC236}">
                <a16:creationId xmlns:a16="http://schemas.microsoft.com/office/drawing/2014/main" id="{457FAEDC-6843-3B74-8B73-72E27133F647}"/>
              </a:ext>
            </a:extLst>
          </p:cNvPr>
          <p:cNvSpPr txBox="1"/>
          <p:nvPr/>
        </p:nvSpPr>
        <p:spPr>
          <a:xfrm>
            <a:off x="334941" y="1049107"/>
            <a:ext cx="4001136" cy="644985"/>
          </a:xfrm>
          <a:prstGeom prst="rect">
            <a:avLst/>
          </a:prstGeom>
          <a:noFill/>
        </p:spPr>
        <p:txBody>
          <a:bodyPr wrap="square">
            <a:spAutoFit/>
          </a:bodyPr>
          <a:lstStyle/>
          <a:p>
            <a:pPr marL="0" marR="0" algn="ctr">
              <a:lnSpc>
                <a:spcPct val="115000"/>
              </a:lnSpc>
              <a:spcAft>
                <a:spcPts val="60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What </a:t>
            </a:r>
            <a:r>
              <a:rPr lang="en-US" sz="1400" dirty="0">
                <a:latin typeface="Times New Roman" panose="02020603050405020304" pitchFamily="18" charset="0"/>
                <a:ea typeface="Times New Roman" panose="02020603050405020304" pitchFamily="18" charset="0"/>
                <a:cs typeface="Times New Roman" panose="02020603050405020304" pitchFamily="18" charset="0"/>
              </a:rPr>
              <a:t>are</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LAHSO operations?</a:t>
            </a:r>
          </a:p>
          <a:p>
            <a:pPr algn="ctr">
              <a:lnSpc>
                <a:spcPct val="115000"/>
              </a:lnSpc>
              <a:spcAft>
                <a:spcPts val="600"/>
              </a:spcAft>
            </a:pPr>
            <a:r>
              <a:rPr lang="en-US" sz="1400" dirty="0">
                <a:latin typeface="Times New Roman" panose="02020603050405020304" pitchFamily="18" charset="0"/>
                <a:cs typeface="Times New Roman" panose="02020603050405020304" pitchFamily="18" charset="0"/>
              </a:rPr>
              <a:t>AIM 4-3-11</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453319B9-4FCF-953C-CA07-B583E6BB8F24}"/>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0628BC23-7540-FC48-685A-32D5C0AEA8D3}"/>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35368058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2" name="TextBox 1">
            <a:extLst>
              <a:ext uri="{FF2B5EF4-FFF2-40B4-BE49-F238E27FC236}">
                <a16:creationId xmlns:a16="http://schemas.microsoft.com/office/drawing/2014/main" id="{67536D98-0A19-0181-7C0B-649F45E74C4E}"/>
              </a:ext>
            </a:extLst>
          </p:cNvPr>
          <p:cNvSpPr txBox="1"/>
          <p:nvPr/>
        </p:nvSpPr>
        <p:spPr>
          <a:xfrm>
            <a:off x="267686" y="416049"/>
            <a:ext cx="4036627" cy="1911101"/>
          </a:xfrm>
          <a:prstGeom prst="rect">
            <a:avLst/>
          </a:prstGeom>
          <a:noFill/>
        </p:spPr>
        <p:txBody>
          <a:bodyPr wrap="square">
            <a:spAutoFit/>
          </a:bodyPr>
          <a:lstStyle/>
          <a:p>
            <a:pPr marL="0" marR="0" algn="just">
              <a:lnSpc>
                <a:spcPct val="115000"/>
              </a:lnSpc>
              <a:spcBef>
                <a:spcPts val="0"/>
              </a:spcBef>
              <a:spcAft>
                <a:spcPts val="0"/>
              </a:spcAft>
            </a:pPr>
            <a:r>
              <a:rPr lang="en-US" sz="115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LAHSO is an acronym for "land and hold short operations." Tower may clear a pilot to land and hold short of an intersecting runway, an intersecting taxiway, or some other designated point along the runway. Pilots may accept this clearance provided they determine the aircraft can safely land and stop within the available landing distance. Student pilots or pilots not familiar with the LAHSO should not participate in the program. Pilots are expected to decline if it is unsafe or weather is below basic VFR (a minimum of 1,000 feet and 3 miles visibility).</a:t>
            </a:r>
            <a:endParaRPr lang="en-US" sz="115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89991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C3F562-47AF-7233-AE64-9125EC852A2C}"/>
              </a:ext>
            </a:extLst>
          </p:cNvPr>
          <p:cNvSpPr txBox="1"/>
          <p:nvPr/>
        </p:nvSpPr>
        <p:spPr>
          <a:xfrm>
            <a:off x="336840" y="696864"/>
            <a:ext cx="3898319" cy="1349472"/>
          </a:xfrm>
          <a:prstGeom prst="rect">
            <a:avLst/>
          </a:prstGeom>
          <a:noFill/>
        </p:spPr>
        <p:txBody>
          <a:bodyPr wrap="square">
            <a:spAutoFit/>
          </a:bodyPr>
          <a:lstStyle/>
          <a:p>
            <a:pPr marL="0" marR="0" algn="just">
              <a:lnSpc>
                <a:spcPct val="115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You’ve achieved your goal of </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becoming</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a pilot and are flying the perfect cross country to a fairly busy airport. After landing, ground gives you confusing taxi instructions. </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Even after they repeat the instructions, you are still not sure what they want. Just to be safe and to ensure you follow their instructions, you can request a _____________.</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2A57B415-AD79-BA89-98AE-99EB31761480}"/>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EB766085-F78D-D586-3082-6094CA7E9EB1}"/>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
        <p:nvSpPr>
          <p:cNvPr id="6" name="TextBox 5">
            <a:extLst>
              <a:ext uri="{FF2B5EF4-FFF2-40B4-BE49-F238E27FC236}">
                <a16:creationId xmlns:a16="http://schemas.microsoft.com/office/drawing/2014/main" id="{33F027FD-EDBE-98D8-51C8-EF5F3DBE05E8}"/>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Tree>
    <p:extLst>
      <p:ext uri="{BB962C8B-B14F-4D97-AF65-F5344CB8AC3E}">
        <p14:creationId xmlns:p14="http://schemas.microsoft.com/office/powerpoint/2010/main" val="158775827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978A66-D3E4-C86B-CA12-8D5F72512A01}"/>
              </a:ext>
            </a:extLst>
          </p:cNvPr>
          <p:cNvSpPr txBox="1"/>
          <p:nvPr/>
        </p:nvSpPr>
        <p:spPr>
          <a:xfrm>
            <a:off x="498620" y="590681"/>
            <a:ext cx="3574760" cy="1561838"/>
          </a:xfrm>
          <a:prstGeom prst="rect">
            <a:avLst/>
          </a:prstGeom>
          <a:noFill/>
        </p:spPr>
        <p:txBody>
          <a:bodyPr wrap="square">
            <a:spAutoFit/>
          </a:bodyPr>
          <a:lstStyle/>
          <a:p>
            <a:pPr marL="0" marR="0" algn="just">
              <a:lnSpc>
                <a:spcPct val="115000"/>
              </a:lnSpc>
              <a:spcBef>
                <a:spcPts val="0"/>
              </a:spcBef>
              <a:spcAft>
                <a:spcPts val="0"/>
              </a:spcAf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“Progressive taxi.” The radio call is pretty simple, “Ground, N777SS, request progressive.” Ground will tell you taxi straight ahead, turn left next taxiway, taxi straight ahead, turn right next taxiway, etc. as required to get you where you want to go. There’s no shame in requesting a progressive. With 30 years of flying experience, I still ask for one now and then!</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0ADCA1DC-8460-4AD0-33DB-C42EF3F61EEA}"/>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Tree>
    <p:extLst>
      <p:ext uri="{BB962C8B-B14F-4D97-AF65-F5344CB8AC3E}">
        <p14:creationId xmlns:p14="http://schemas.microsoft.com/office/powerpoint/2010/main" val="274504759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C3F562-47AF-7233-AE64-9125EC852A2C}"/>
              </a:ext>
            </a:extLst>
          </p:cNvPr>
          <p:cNvSpPr txBox="1"/>
          <p:nvPr/>
        </p:nvSpPr>
        <p:spPr>
          <a:xfrm>
            <a:off x="336840" y="1051320"/>
            <a:ext cx="3898319" cy="320280"/>
          </a:xfrm>
          <a:prstGeom prst="rect">
            <a:avLst/>
          </a:prstGeom>
          <a:noFill/>
        </p:spPr>
        <p:txBody>
          <a:bodyPr wrap="square">
            <a:spAutoFit/>
          </a:bodyPr>
          <a:lstStyle/>
          <a:p>
            <a:pPr marL="0" marR="0" algn="ctr">
              <a:lnSpc>
                <a:spcPct val="115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What color is 100 aviation grade gasoline?</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32FC39A0-0472-CBBE-01B7-34C4EF8B1238}"/>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3551F3BB-FB9E-760B-6718-B49219B64B6C}"/>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
        <p:nvSpPr>
          <p:cNvPr id="6" name="TextBox 5">
            <a:extLst>
              <a:ext uri="{FF2B5EF4-FFF2-40B4-BE49-F238E27FC236}">
                <a16:creationId xmlns:a16="http://schemas.microsoft.com/office/drawing/2014/main" id="{14473A73-4EBB-6A13-3839-FE7B40D71EB2}"/>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Tree>
    <p:extLst>
      <p:ext uri="{BB962C8B-B14F-4D97-AF65-F5344CB8AC3E}">
        <p14:creationId xmlns:p14="http://schemas.microsoft.com/office/powerpoint/2010/main" val="388320574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978A66-D3E4-C86B-CA12-8D5F72512A01}"/>
              </a:ext>
            </a:extLst>
          </p:cNvPr>
          <p:cNvSpPr txBox="1"/>
          <p:nvPr/>
        </p:nvSpPr>
        <p:spPr>
          <a:xfrm>
            <a:off x="498620" y="265634"/>
            <a:ext cx="3574760" cy="320280"/>
          </a:xfrm>
          <a:prstGeom prst="rect">
            <a:avLst/>
          </a:prstGeom>
          <a:noFill/>
        </p:spPr>
        <p:txBody>
          <a:bodyPr wrap="square">
            <a:spAutoFit/>
          </a:bodyPr>
          <a:lstStyle/>
          <a:p>
            <a:pPr marL="0" marR="0" algn="ctr">
              <a:lnSpc>
                <a:spcPct val="115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Green</a:t>
            </a:r>
            <a:r>
              <a:rPr lang="en-US" sz="14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0E6A72B5-786D-D193-EDBE-7B13AC01D79F}"/>
              </a:ext>
            </a:extLst>
          </p:cNvPr>
          <p:cNvSpPr txBox="1"/>
          <p:nvPr/>
        </p:nvSpPr>
        <p:spPr>
          <a:xfrm>
            <a:off x="44450" y="57150"/>
            <a:ext cx="126348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General Knowledge</a:t>
            </a:r>
          </a:p>
        </p:txBody>
      </p:sp>
      <p:sp>
        <p:nvSpPr>
          <p:cNvPr id="4" name="TextBox 3">
            <a:extLst>
              <a:ext uri="{FF2B5EF4-FFF2-40B4-BE49-F238E27FC236}">
                <a16:creationId xmlns:a16="http://schemas.microsoft.com/office/drawing/2014/main" id="{505014B2-E808-B769-E9C1-D9322ED1AD03}"/>
              </a:ext>
            </a:extLst>
          </p:cNvPr>
          <p:cNvSpPr txBox="1"/>
          <p:nvPr/>
        </p:nvSpPr>
        <p:spPr>
          <a:xfrm>
            <a:off x="289070" y="1110226"/>
            <a:ext cx="2115993" cy="634917"/>
          </a:xfrm>
          <a:prstGeom prst="rect">
            <a:avLst/>
          </a:prstGeom>
          <a:noFill/>
        </p:spPr>
        <p:txBody>
          <a:bodyPr wrap="square">
            <a:spAutoFit/>
          </a:bodyPr>
          <a:lstStyle/>
          <a:p>
            <a:pPr marL="0" marR="0" algn="just">
              <a:lnSpc>
                <a:spcPct val="115000"/>
              </a:lnSpc>
              <a:spcBef>
                <a:spcPts val="0"/>
              </a:spcBef>
              <a:spcAft>
                <a:spcPts val="0"/>
              </a:spcAft>
            </a:pPr>
            <a:r>
              <a:rPr lang="en-US" sz="1050" dirty="0">
                <a:effectLst/>
                <a:latin typeface="Times New Roman" panose="02020603050405020304" pitchFamily="18" charset="0"/>
                <a:ea typeface="Calibri" panose="020F0502020204030204" pitchFamily="34" charset="0"/>
                <a:cs typeface="Times New Roman" panose="02020603050405020304" pitchFamily="18" charset="0"/>
              </a:rPr>
              <a:t>Yep, you probably answered blue. Notice the question didn’t ask about 100 LL. </a:t>
            </a:r>
            <a:r>
              <a:rPr lang="en-US" sz="1050" dirty="0">
                <a:latin typeface="Times New Roman" panose="02020603050405020304" pitchFamily="18" charset="0"/>
                <a:ea typeface="Calibri" panose="020F0502020204030204" pitchFamily="34" charset="0"/>
                <a:cs typeface="Times New Roman" panose="02020603050405020304" pitchFamily="18" charset="0"/>
              </a:rPr>
              <a:t>It</a:t>
            </a:r>
            <a:r>
              <a:rPr lang="en-US" sz="1050" dirty="0">
                <a:effectLst/>
                <a:latin typeface="Times New Roman" panose="02020603050405020304" pitchFamily="18" charset="0"/>
                <a:ea typeface="Calibri" panose="020F0502020204030204" pitchFamily="34" charset="0"/>
                <a:cs typeface="Times New Roman" panose="02020603050405020304" pitchFamily="18" charset="0"/>
              </a:rPr>
              <a:t> asked about 100.</a:t>
            </a:r>
          </a:p>
        </p:txBody>
      </p:sp>
      <p:pic>
        <p:nvPicPr>
          <p:cNvPr id="6" name="Picture 5">
            <a:extLst>
              <a:ext uri="{FF2B5EF4-FFF2-40B4-BE49-F238E27FC236}">
                <a16:creationId xmlns:a16="http://schemas.microsoft.com/office/drawing/2014/main" id="{0AD4F2D1-BDD1-4E3C-2C81-429D12AEB47B}"/>
              </a:ext>
            </a:extLst>
          </p:cNvPr>
          <p:cNvPicPr>
            <a:picLocks noChangeAspect="1"/>
          </p:cNvPicPr>
          <p:nvPr/>
        </p:nvPicPr>
        <p:blipFill>
          <a:blip r:embed="rId2"/>
          <a:stretch>
            <a:fillRect/>
          </a:stretch>
        </p:blipFill>
        <p:spPr>
          <a:xfrm>
            <a:off x="2525917" y="698082"/>
            <a:ext cx="1665083" cy="1459204"/>
          </a:xfrm>
          <a:prstGeom prst="rect">
            <a:avLst/>
          </a:prstGeom>
        </p:spPr>
      </p:pic>
    </p:spTree>
    <p:extLst>
      <p:ext uri="{BB962C8B-B14F-4D97-AF65-F5344CB8AC3E}">
        <p14:creationId xmlns:p14="http://schemas.microsoft.com/office/powerpoint/2010/main" val="5745680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8500</TotalTime>
  <Words>2617</Words>
  <Application>Microsoft Office PowerPoint</Application>
  <PresentationFormat>Custom</PresentationFormat>
  <Paragraphs>323</Paragraphs>
  <Slides>82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82</vt:i4>
      </vt:variant>
    </vt:vector>
  </HeadingPairs>
  <TitlesOfParts>
    <vt:vector size="87" baseType="lpstr">
      <vt:lpstr>Arial</vt:lpstr>
      <vt:lpstr>Calibri</vt:lpstr>
      <vt:lpstr>Segoe UI Semibold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Bill Jones</dc:creator>
  <cp:lastModifiedBy>Bill Jones</cp:lastModifiedBy>
  <cp:revision>557</cp:revision>
  <dcterms:created xsi:type="dcterms:W3CDTF">2023-07-11T19:01:37Z</dcterms:created>
  <dcterms:modified xsi:type="dcterms:W3CDTF">2025-11-08T22:02:53Z</dcterms:modified>
</cp:coreProperties>
</file>