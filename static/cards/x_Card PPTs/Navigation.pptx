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534" r:id="rId2"/>
    <p:sldId id="535" r:id="rId3"/>
    <p:sldId id="666" r:id="rId4"/>
    <p:sldId id="667" r:id="rId5"/>
    <p:sldId id="668" r:id="rId6"/>
    <p:sldId id="669" r:id="rId7"/>
    <p:sldId id="536" r:id="rId8"/>
    <p:sldId id="537" r:id="rId9"/>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3" name="TextBox 2">
            <a:extLst>
              <a:ext uri="{FF2B5EF4-FFF2-40B4-BE49-F238E27FC236}">
                <a16:creationId xmlns:a16="http://schemas.microsoft.com/office/drawing/2014/main" id="{39FCF111-D63F-50DF-F1EE-799041670235}"/>
              </a:ext>
            </a:extLst>
          </p:cNvPr>
          <p:cNvSpPr txBox="1"/>
          <p:nvPr/>
        </p:nvSpPr>
        <p:spPr>
          <a:xfrm>
            <a:off x="203092" y="1217711"/>
            <a:ext cx="4213225"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is the first step when proceeding direct to a VOR?</a:t>
            </a:r>
          </a:p>
        </p:txBody>
      </p:sp>
      <p:sp>
        <p:nvSpPr>
          <p:cNvPr id="2" name="Rectangle 1">
            <a:extLst>
              <a:ext uri="{FF2B5EF4-FFF2-40B4-BE49-F238E27FC236}">
                <a16:creationId xmlns:a16="http://schemas.microsoft.com/office/drawing/2014/main" id="{1CEF9101-AFCD-4132-0EA2-0140D8BC341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68C32C1-AAE8-AF0E-F4B3-CE9A0EE8A62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97560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2" name="TextBox 1">
            <a:extLst>
              <a:ext uri="{FF2B5EF4-FFF2-40B4-BE49-F238E27FC236}">
                <a16:creationId xmlns:a16="http://schemas.microsoft.com/office/drawing/2014/main" id="{B514E677-A14B-A35D-7F7C-80A6D82E90BE}"/>
              </a:ext>
            </a:extLst>
          </p:cNvPr>
          <p:cNvSpPr txBox="1"/>
          <p:nvPr/>
        </p:nvSpPr>
        <p:spPr>
          <a:xfrm>
            <a:off x="246185" y="679102"/>
            <a:ext cx="4175090" cy="1384995"/>
          </a:xfrm>
          <a:prstGeom prst="rect">
            <a:avLst/>
          </a:prstGeom>
          <a:noFill/>
        </p:spPr>
        <p:txBody>
          <a:bodyPr wrap="square">
            <a:spAutoFit/>
          </a:bodyPr>
          <a:lstStyle/>
          <a:p>
            <a:pPr marL="0" marR="0" algn="ct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Tune, Identify, and Monitor the VOR.</a:t>
            </a:r>
          </a:p>
          <a:p>
            <a:pPr marL="0" marR="0" algn="ctr">
              <a:spcBef>
                <a:spcPts val="0"/>
              </a:spcBef>
              <a:spcAft>
                <a:spcPts val="0"/>
              </a:spcAft>
            </a:pPr>
            <a:endParaRPr lang="en-US" sz="1200" dirty="0">
              <a:solidFill>
                <a:srgbClr val="000000"/>
              </a:solidFill>
              <a:latin typeface="Times New Roman" panose="02020603050405020304" pitchFamily="18" charset="0"/>
              <a:ea typeface="Calibri" panose="020F0502020204030204" pitchFamily="34" charset="0"/>
            </a:endParaRPr>
          </a:p>
          <a:p>
            <a:pPr marL="0" marR="0" algn="ct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T.I.M.</a:t>
            </a:r>
          </a:p>
          <a:p>
            <a:pPr marL="0" marR="0" algn="ct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Tune the freq. Identify the station by listening to the morse code. Monitor it during use to ensure a valid signal.</a:t>
            </a:r>
          </a:p>
          <a:p>
            <a:pPr marL="0" marR="0" algn="ctr">
              <a:spcBef>
                <a:spcPts val="0"/>
              </a:spcBef>
              <a:spcAft>
                <a:spcPts val="0"/>
              </a:spcAft>
            </a:pPr>
            <a:endParaRPr lang="en-US" sz="1200" dirty="0">
              <a:solidFill>
                <a:srgbClr val="000000"/>
              </a:solidFill>
              <a:latin typeface="Times New Roman" panose="02020603050405020304" pitchFamily="18" charset="0"/>
              <a:ea typeface="Calibri" panose="020F0502020204030204" pitchFamily="34" charset="0"/>
            </a:endParaRPr>
          </a:p>
          <a:p>
            <a:pPr marL="0" marR="0" algn="ct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You’ll do this a lot during your instrument training!</a:t>
            </a:r>
          </a:p>
        </p:txBody>
      </p:sp>
    </p:spTree>
    <p:extLst>
      <p:ext uri="{BB962C8B-B14F-4D97-AF65-F5344CB8AC3E}">
        <p14:creationId xmlns:p14="http://schemas.microsoft.com/office/powerpoint/2010/main" val="425149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2" name="TextBox 1">
            <a:extLst>
              <a:ext uri="{FF2B5EF4-FFF2-40B4-BE49-F238E27FC236}">
                <a16:creationId xmlns:a16="http://schemas.microsoft.com/office/drawing/2014/main" id="{BAD637A6-5A61-C435-FC47-AD420A28C111}"/>
              </a:ext>
            </a:extLst>
          </p:cNvPr>
          <p:cNvSpPr txBox="1"/>
          <p:nvPr/>
        </p:nvSpPr>
        <p:spPr>
          <a:xfrm>
            <a:off x="219837" y="963796"/>
            <a:ext cx="4132326" cy="815608"/>
          </a:xfrm>
          <a:prstGeom prst="rect">
            <a:avLst/>
          </a:prstGeom>
          <a:noFill/>
        </p:spPr>
        <p:txBody>
          <a:bodyPr wrap="square">
            <a:spAutoFit/>
          </a:bodyPr>
          <a:lstStyle/>
          <a:p>
            <a:pPr algn="just">
              <a:spcAft>
                <a:spcPts val="600"/>
              </a:spcAft>
            </a:pPr>
            <a:r>
              <a:rPr lang="en-US" sz="1400" dirty="0">
                <a:solidFill>
                  <a:srgbClr val="000000"/>
                </a:solidFill>
                <a:latin typeface="Times New Roman" panose="02020603050405020304" pitchFamily="18" charset="0"/>
              </a:rPr>
              <a:t>A typical floating type magnetic compass will operate correctly up to ____ degrees of bank and ____ of pitch.</a:t>
            </a:r>
          </a:p>
          <a:p>
            <a:pPr algn="ctr">
              <a:spcAft>
                <a:spcPts val="600"/>
              </a:spcAft>
            </a:pPr>
            <a:r>
              <a:rPr lang="en-US" sz="1400" dirty="0">
                <a:solidFill>
                  <a:srgbClr val="000000"/>
                </a:solidFill>
                <a:latin typeface="Times New Roman" panose="02020603050405020304" pitchFamily="18" charset="0"/>
              </a:rPr>
              <a:t>FAA-H-8083-25B, Ch 8</a:t>
            </a:r>
            <a:endParaRPr lang="en-US" sz="1400" dirty="0"/>
          </a:p>
        </p:txBody>
      </p:sp>
      <p:sp>
        <p:nvSpPr>
          <p:cNvPr id="3" name="Rectangle 2">
            <a:extLst>
              <a:ext uri="{FF2B5EF4-FFF2-40B4-BE49-F238E27FC236}">
                <a16:creationId xmlns:a16="http://schemas.microsoft.com/office/drawing/2014/main" id="{E1CB30AA-2B6E-7C61-3A04-834827A1EF6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0AB53B1-B189-96FF-47AA-1A242653763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14122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3" name="TextBox 2">
            <a:extLst>
              <a:ext uri="{FF2B5EF4-FFF2-40B4-BE49-F238E27FC236}">
                <a16:creationId xmlns:a16="http://schemas.microsoft.com/office/drawing/2014/main" id="{AEB3C3C4-79A0-4EDA-CC36-671B35AE6EA1}"/>
              </a:ext>
            </a:extLst>
          </p:cNvPr>
          <p:cNvSpPr txBox="1"/>
          <p:nvPr/>
        </p:nvSpPr>
        <p:spPr>
          <a:xfrm>
            <a:off x="392493" y="1217711"/>
            <a:ext cx="3787013" cy="307777"/>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18 degrees of bank and 18 degrees of pitch.</a:t>
            </a:r>
          </a:p>
        </p:txBody>
      </p:sp>
    </p:spTree>
    <p:extLst>
      <p:ext uri="{BB962C8B-B14F-4D97-AF65-F5344CB8AC3E}">
        <p14:creationId xmlns:p14="http://schemas.microsoft.com/office/powerpoint/2010/main" val="159092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3" name="TextBox 2">
            <a:extLst>
              <a:ext uri="{FF2B5EF4-FFF2-40B4-BE49-F238E27FC236}">
                <a16:creationId xmlns:a16="http://schemas.microsoft.com/office/drawing/2014/main" id="{39FCF111-D63F-50DF-F1EE-799041670235}"/>
              </a:ext>
            </a:extLst>
          </p:cNvPr>
          <p:cNvSpPr txBox="1"/>
          <p:nvPr/>
        </p:nvSpPr>
        <p:spPr>
          <a:xfrm>
            <a:off x="1076961" y="1002268"/>
            <a:ext cx="2418077" cy="738664"/>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is magnetic deviation?</a:t>
            </a:r>
          </a:p>
          <a:p>
            <a:pPr marL="0" marR="0" algn="ctr">
              <a:spcBef>
                <a:spcPts val="0"/>
              </a:spcBef>
              <a:spcAft>
                <a:spcPts val="0"/>
              </a:spcAft>
            </a:pPr>
            <a:endParaRPr lang="en-US" sz="1400" dirty="0">
              <a:solidFill>
                <a:srgbClr val="000000"/>
              </a:solidFill>
              <a:latin typeface="Times New Roman" panose="02020603050405020304" pitchFamily="18" charset="0"/>
              <a:ea typeface="Calibri" panose="020F0502020204030204" pitchFamily="34" charset="0"/>
            </a:endParaRPr>
          </a:p>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AIM 7-5-2</a:t>
            </a:r>
          </a:p>
        </p:txBody>
      </p:sp>
      <p:sp>
        <p:nvSpPr>
          <p:cNvPr id="2" name="Rectangle 1">
            <a:extLst>
              <a:ext uri="{FF2B5EF4-FFF2-40B4-BE49-F238E27FC236}">
                <a16:creationId xmlns:a16="http://schemas.microsoft.com/office/drawing/2014/main" id="{3B9A0947-4CBA-1C66-05D4-F9A0A8B74B7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C2CF766-8A65-36A1-82DB-DC15BC1BEC4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99012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2" name="TextBox 1">
            <a:extLst>
              <a:ext uri="{FF2B5EF4-FFF2-40B4-BE49-F238E27FC236}">
                <a16:creationId xmlns:a16="http://schemas.microsoft.com/office/drawing/2014/main" id="{B514E677-A14B-A35D-7F7C-80A6D82E90BE}"/>
              </a:ext>
            </a:extLst>
          </p:cNvPr>
          <p:cNvSpPr txBox="1"/>
          <p:nvPr/>
        </p:nvSpPr>
        <p:spPr>
          <a:xfrm>
            <a:off x="216040" y="694491"/>
            <a:ext cx="4139920" cy="1354217"/>
          </a:xfrm>
          <a:prstGeom prst="rect">
            <a:avLst/>
          </a:prstGeom>
          <a:noFill/>
        </p:spPr>
        <p:txBody>
          <a:bodyPr wrap="square">
            <a:spAutoFit/>
          </a:bodyPr>
          <a:lstStyle/>
          <a:p>
            <a:pPr algn="just">
              <a:spcAft>
                <a:spcPts val="600"/>
              </a:spcAft>
            </a:pPr>
            <a:r>
              <a:rPr lang="en-US" sz="1100" dirty="0">
                <a:latin typeface="Times New Roman" panose="02020603050405020304" pitchFamily="18" charset="0"/>
                <a:cs typeface="Times New Roman" panose="02020603050405020304" pitchFamily="18" charset="0"/>
              </a:rPr>
              <a:t>Magnetic deviation is the error in a magnetic compass caused by magnetic fields within the aircraft itself.</a:t>
            </a:r>
            <a:endParaRPr lang="en-US" sz="1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r>
              <a:rPr lang="en-US" sz="1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Sources of aircraft deviation are electronics, metal, and electrical current flow. Your maintenance folks will taxi out to a “compass rose” painted on the ramp and point directly towards magnetic north. Then they’ll note what the magnetic compass reads and record the difference on a “deviation card” and post it in the cockpit.</a:t>
            </a:r>
          </a:p>
        </p:txBody>
      </p:sp>
    </p:spTree>
    <p:extLst>
      <p:ext uri="{BB962C8B-B14F-4D97-AF65-F5344CB8AC3E}">
        <p14:creationId xmlns:p14="http://schemas.microsoft.com/office/powerpoint/2010/main" val="200421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2" name="TextBox 1">
            <a:extLst>
              <a:ext uri="{FF2B5EF4-FFF2-40B4-BE49-F238E27FC236}">
                <a16:creationId xmlns:a16="http://schemas.microsoft.com/office/drawing/2014/main" id="{3DA5451B-F25B-D5AA-7372-DD15915001FA}"/>
              </a:ext>
            </a:extLst>
          </p:cNvPr>
          <p:cNvSpPr txBox="1"/>
          <p:nvPr/>
        </p:nvSpPr>
        <p:spPr>
          <a:xfrm>
            <a:off x="603227" y="1002268"/>
            <a:ext cx="3365546" cy="738664"/>
          </a:xfrm>
          <a:prstGeom prst="rect">
            <a:avLst/>
          </a:prstGeom>
          <a:noFill/>
        </p:spPr>
        <p:txBody>
          <a:bodyPr wrap="square">
            <a:spAutoFit/>
          </a:bodyPr>
          <a:lstStyle/>
          <a:p>
            <a:pPr marL="0" marR="0">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You turn your OBS until the CDI is centered and notice a “TO” indication. Are you flying towards the VOR?</a:t>
            </a:r>
          </a:p>
        </p:txBody>
      </p:sp>
      <p:sp>
        <p:nvSpPr>
          <p:cNvPr id="3" name="Rectangle 2">
            <a:extLst>
              <a:ext uri="{FF2B5EF4-FFF2-40B4-BE49-F238E27FC236}">
                <a16:creationId xmlns:a16="http://schemas.microsoft.com/office/drawing/2014/main" id="{D11B5839-24CF-D067-921F-5C627013D17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2D10149-DAD2-7B52-4D52-A0E59431C50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18784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78098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Navigation</a:t>
            </a:r>
          </a:p>
        </p:txBody>
      </p:sp>
      <p:sp>
        <p:nvSpPr>
          <p:cNvPr id="2" name="TextBox 1">
            <a:extLst>
              <a:ext uri="{FF2B5EF4-FFF2-40B4-BE49-F238E27FC236}">
                <a16:creationId xmlns:a16="http://schemas.microsoft.com/office/drawing/2014/main" id="{C7FFFD50-558D-4596-FA75-E0F903FD07F9}"/>
              </a:ext>
            </a:extLst>
          </p:cNvPr>
          <p:cNvSpPr txBox="1"/>
          <p:nvPr/>
        </p:nvSpPr>
        <p:spPr>
          <a:xfrm>
            <a:off x="282575" y="494437"/>
            <a:ext cx="4006849" cy="1754326"/>
          </a:xfrm>
          <a:prstGeom prst="rect">
            <a:avLst/>
          </a:prstGeom>
          <a:noFill/>
        </p:spPr>
        <p:txBody>
          <a:bodyPr wrap="square">
            <a:spAutoFit/>
          </a:bodyPr>
          <a:lstStyle/>
          <a:p>
            <a:pPr marL="0" marR="0" algn="just">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Unless your heading is exactly equal to the top of what’s dialed into your OBS, the answer is no.</a:t>
            </a:r>
          </a:p>
          <a:p>
            <a:pPr marL="0" marR="0">
              <a:spcBef>
                <a:spcPts val="0"/>
              </a:spcBef>
              <a:spcAft>
                <a:spcPts val="0"/>
              </a:spcAft>
            </a:pPr>
            <a:endParaRPr lang="en-US" sz="1200" dirty="0">
              <a:solidFill>
                <a:srgbClr val="000000"/>
              </a:solidFill>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Your VOR nav instrument (sometimes the entire instrument itself is called an OBS as well as the knob) has no idea which way you are pointed much less if you are flying towards the station. The “TO” indication simply says, “If you intercept the radial you have dialed in the OBS you will be flying towards the VOR.”</a:t>
            </a:r>
          </a:p>
        </p:txBody>
      </p:sp>
    </p:spTree>
    <p:extLst>
      <p:ext uri="{BB962C8B-B14F-4D97-AF65-F5344CB8AC3E}">
        <p14:creationId xmlns:p14="http://schemas.microsoft.com/office/powerpoint/2010/main" val="39190468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305</Words>
  <Application>Microsoft Office PowerPoint</Application>
  <PresentationFormat>Custom</PresentationFormat>
  <Paragraphs>31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2025-11-08T22:03:47Z</dcterms:modified>
</cp:coreProperties>
</file>