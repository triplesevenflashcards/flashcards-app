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318" r:id="rId3"/>
    <p:sldId id="942" r:id="rId4"/>
    <p:sldId id="943" r:id="rId5"/>
    <p:sldId id="275" r:id="rId6"/>
    <p:sldId id="276" r:id="rId7"/>
    <p:sldId id="901" r:id="rId8"/>
    <p:sldId id="902" r:id="rId9"/>
    <p:sldId id="944" r:id="rId10"/>
    <p:sldId id="945" r:id="rId11"/>
    <p:sldId id="948" r:id="rId12"/>
    <p:sldId id="949" r:id="rId13"/>
    <p:sldId id="938" r:id="rId14"/>
    <p:sldId id="939" r:id="rId15"/>
    <p:sldId id="946" r:id="rId16"/>
    <p:sldId id="947" r:id="rId17"/>
    <p:sldId id="940" r:id="rId18"/>
    <p:sldId id="941" r:id="rId19"/>
    <p:sldId id="268" r:id="rId20"/>
    <p:sldId id="269" r:id="rId21"/>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2C8935-E8F2-049A-46D8-18E7DDBC438E}"/>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3" name="TextBox 2">
            <a:extLst>
              <a:ext uri="{FF2B5EF4-FFF2-40B4-BE49-F238E27FC236}">
                <a16:creationId xmlns:a16="http://schemas.microsoft.com/office/drawing/2014/main" id="{582E4762-714F-0210-7BE4-546FD58D3165}"/>
              </a:ext>
            </a:extLst>
          </p:cNvPr>
          <p:cNvSpPr txBox="1"/>
          <p:nvPr/>
        </p:nvSpPr>
        <p:spPr>
          <a:xfrm>
            <a:off x="1461356" y="440021"/>
            <a:ext cx="1549260" cy="307777"/>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What is this?</a:t>
            </a:r>
            <a:endParaRPr lang="en-US" sz="1400" dirty="0"/>
          </a:p>
        </p:txBody>
      </p:sp>
      <p:grpSp>
        <p:nvGrpSpPr>
          <p:cNvPr id="4" name="Group 3">
            <a:extLst>
              <a:ext uri="{FF2B5EF4-FFF2-40B4-BE49-F238E27FC236}">
                <a16:creationId xmlns:a16="http://schemas.microsoft.com/office/drawing/2014/main" id="{7B44C9F8-23CA-28B4-9C08-1AF663F3CE25}"/>
              </a:ext>
            </a:extLst>
          </p:cNvPr>
          <p:cNvGrpSpPr/>
          <p:nvPr/>
        </p:nvGrpSpPr>
        <p:grpSpPr>
          <a:xfrm>
            <a:off x="1032510" y="1080135"/>
            <a:ext cx="2257675" cy="1304925"/>
            <a:chOff x="1009650" y="1019175"/>
            <a:chExt cx="2257675" cy="1304925"/>
          </a:xfrm>
        </p:grpSpPr>
        <p:pic>
          <p:nvPicPr>
            <p:cNvPr id="5" name="Picture 4">
              <a:extLst>
                <a:ext uri="{FF2B5EF4-FFF2-40B4-BE49-F238E27FC236}">
                  <a16:creationId xmlns:a16="http://schemas.microsoft.com/office/drawing/2014/main" id="{1158DAF9-AAFE-7287-19E0-A3FD8B4AF556}"/>
                </a:ext>
              </a:extLst>
            </p:cNvPr>
            <p:cNvPicPr>
              <a:picLocks noChangeAspect="1"/>
            </p:cNvPicPr>
            <p:nvPr/>
          </p:nvPicPr>
          <p:blipFill>
            <a:blip r:embed="rId2">
              <a:grayscl/>
            </a:blip>
            <a:stretch>
              <a:fillRect/>
            </a:stretch>
          </p:blipFill>
          <p:spPr>
            <a:xfrm>
              <a:off x="1158927" y="1133475"/>
              <a:ext cx="2108398" cy="1190625"/>
            </a:xfrm>
            <a:prstGeom prst="rect">
              <a:avLst/>
            </a:prstGeom>
          </p:spPr>
        </p:pic>
        <p:sp>
          <p:nvSpPr>
            <p:cNvPr id="6" name="Rectangle 5">
              <a:extLst>
                <a:ext uri="{FF2B5EF4-FFF2-40B4-BE49-F238E27FC236}">
                  <a16:creationId xmlns:a16="http://schemas.microsoft.com/office/drawing/2014/main" id="{A7F03973-54F0-3ED9-5443-711D725F87D8}"/>
                </a:ext>
              </a:extLst>
            </p:cNvPr>
            <p:cNvSpPr/>
            <p:nvPr/>
          </p:nvSpPr>
          <p:spPr>
            <a:xfrm>
              <a:off x="1009650" y="1019175"/>
              <a:ext cx="1362075" cy="75247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Arrow: Down 6">
            <a:extLst>
              <a:ext uri="{FF2B5EF4-FFF2-40B4-BE49-F238E27FC236}">
                <a16:creationId xmlns:a16="http://schemas.microsoft.com/office/drawing/2014/main" id="{191C6980-D16D-DA8A-9EA5-CB7CF32E56A8}"/>
              </a:ext>
            </a:extLst>
          </p:cNvPr>
          <p:cNvSpPr/>
          <p:nvPr/>
        </p:nvSpPr>
        <p:spPr>
          <a:xfrm rot="17928550">
            <a:off x="641467" y="732386"/>
            <a:ext cx="274320" cy="42862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F8637C82-B5AB-1649-14E3-CA7B72EF737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DB4AE220-F9A2-3BCA-4424-06F115AA6B5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298503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8ACED11-5DD7-CB5A-D472-0E2EDE0350EE}"/>
              </a:ext>
            </a:extLst>
          </p:cNvPr>
          <p:cNvSpPr txBox="1"/>
          <p:nvPr/>
        </p:nvSpPr>
        <p:spPr>
          <a:xfrm>
            <a:off x="304800" y="327360"/>
            <a:ext cx="3943349" cy="954107"/>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This is an RCO (remote communications outlet) for FSS. The frequency is 122.6 and it is co-located at KLHX. The callsign you would use to call this FSS is “Denver Radio.”</a:t>
            </a:r>
            <a:endParaRPr lang="en-US" sz="1400" dirty="0"/>
          </a:p>
        </p:txBody>
      </p:sp>
      <p:sp>
        <p:nvSpPr>
          <p:cNvPr id="3" name="TextBox 2">
            <a:extLst>
              <a:ext uri="{FF2B5EF4-FFF2-40B4-BE49-F238E27FC236}">
                <a16:creationId xmlns:a16="http://schemas.microsoft.com/office/drawing/2014/main" id="{31B3A668-A9F9-7962-104F-5C68ABCE0CFF}"/>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grpSp>
        <p:nvGrpSpPr>
          <p:cNvPr id="2" name="Group 1">
            <a:extLst>
              <a:ext uri="{FF2B5EF4-FFF2-40B4-BE49-F238E27FC236}">
                <a16:creationId xmlns:a16="http://schemas.microsoft.com/office/drawing/2014/main" id="{D4F0DF1E-747B-588B-190B-76535C98E419}"/>
              </a:ext>
            </a:extLst>
          </p:cNvPr>
          <p:cNvGrpSpPr/>
          <p:nvPr/>
        </p:nvGrpSpPr>
        <p:grpSpPr>
          <a:xfrm>
            <a:off x="1454824" y="1333794"/>
            <a:ext cx="1662352" cy="960831"/>
            <a:chOff x="1009650" y="1019175"/>
            <a:chExt cx="2257675" cy="1304925"/>
          </a:xfrm>
        </p:grpSpPr>
        <p:pic>
          <p:nvPicPr>
            <p:cNvPr id="4" name="Picture 3">
              <a:extLst>
                <a:ext uri="{FF2B5EF4-FFF2-40B4-BE49-F238E27FC236}">
                  <a16:creationId xmlns:a16="http://schemas.microsoft.com/office/drawing/2014/main" id="{25B181AA-BA1B-3832-8684-BE56B69D5362}"/>
                </a:ext>
              </a:extLst>
            </p:cNvPr>
            <p:cNvPicPr>
              <a:picLocks noChangeAspect="1"/>
            </p:cNvPicPr>
            <p:nvPr/>
          </p:nvPicPr>
          <p:blipFill>
            <a:blip r:embed="rId2">
              <a:grayscl/>
            </a:blip>
            <a:stretch>
              <a:fillRect/>
            </a:stretch>
          </p:blipFill>
          <p:spPr>
            <a:xfrm>
              <a:off x="1158927" y="1133475"/>
              <a:ext cx="2108398" cy="1190625"/>
            </a:xfrm>
            <a:prstGeom prst="rect">
              <a:avLst/>
            </a:prstGeom>
          </p:spPr>
        </p:pic>
        <p:sp>
          <p:nvSpPr>
            <p:cNvPr id="5" name="Rectangle 4">
              <a:extLst>
                <a:ext uri="{FF2B5EF4-FFF2-40B4-BE49-F238E27FC236}">
                  <a16:creationId xmlns:a16="http://schemas.microsoft.com/office/drawing/2014/main" id="{C11A7371-DE50-2339-CC5D-8159F9B40DFD}"/>
                </a:ext>
              </a:extLst>
            </p:cNvPr>
            <p:cNvSpPr/>
            <p:nvPr/>
          </p:nvSpPr>
          <p:spPr>
            <a:xfrm>
              <a:off x="1009650" y="1019175"/>
              <a:ext cx="1362075" cy="75247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39991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D11B9-7781-9C8B-6A1A-850C6AD41B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ED3AB3-C621-F64D-96D0-97A5B49BCC51}"/>
              </a:ext>
            </a:extLst>
          </p:cNvPr>
          <p:cNvSpPr txBox="1"/>
          <p:nvPr/>
        </p:nvSpPr>
        <p:spPr>
          <a:xfrm>
            <a:off x="2286000" y="813181"/>
            <a:ext cx="1806618" cy="1015663"/>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Here are two towers on a VFR chart. The symbols are different. What is the difference between these towers?</a:t>
            </a:r>
            <a:endParaRPr lang="en-US" sz="1200" dirty="0"/>
          </a:p>
        </p:txBody>
      </p:sp>
      <p:sp>
        <p:nvSpPr>
          <p:cNvPr id="5" name="TextBox 4">
            <a:extLst>
              <a:ext uri="{FF2B5EF4-FFF2-40B4-BE49-F238E27FC236}">
                <a16:creationId xmlns:a16="http://schemas.microsoft.com/office/drawing/2014/main" id="{A1A0A188-05D5-D06F-B541-803A924466FE}"/>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13EDBACC-D74D-5CD9-024D-607AAB9152A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AD3D3B8A-1D06-A705-BDDD-5D3F8CC257A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pic>
        <p:nvPicPr>
          <p:cNvPr id="8" name="Picture 7">
            <a:extLst>
              <a:ext uri="{FF2B5EF4-FFF2-40B4-BE49-F238E27FC236}">
                <a16:creationId xmlns:a16="http://schemas.microsoft.com/office/drawing/2014/main" id="{04FB9109-7AE6-2F15-6FCE-03BF059F6D80}"/>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8125" y="702960"/>
            <a:ext cx="1806618" cy="1236107"/>
          </a:xfrm>
          <a:prstGeom prst="rect">
            <a:avLst/>
          </a:prstGeom>
        </p:spPr>
      </p:pic>
    </p:spTree>
    <p:extLst>
      <p:ext uri="{BB962C8B-B14F-4D97-AF65-F5344CB8AC3E}">
        <p14:creationId xmlns:p14="http://schemas.microsoft.com/office/powerpoint/2010/main" val="1954854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EE45C-C309-874C-3F54-DB5CC11E1AF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CF4BE8-744C-5A61-1F40-405383CFA671}"/>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TextBox 1">
            <a:extLst>
              <a:ext uri="{FF2B5EF4-FFF2-40B4-BE49-F238E27FC236}">
                <a16:creationId xmlns:a16="http://schemas.microsoft.com/office/drawing/2014/main" id="{7E46734C-ACAD-455D-BB4B-A81178C82F56}"/>
              </a:ext>
            </a:extLst>
          </p:cNvPr>
          <p:cNvSpPr txBox="1"/>
          <p:nvPr/>
        </p:nvSpPr>
        <p:spPr>
          <a:xfrm>
            <a:off x="2225718" y="813181"/>
            <a:ext cx="1870032" cy="1015663"/>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The larger tower symbol depicts a tower 1,000 ft AGL or higher. The smaller symbol depicts a tower under 1,000 ft AGL.</a:t>
            </a:r>
            <a:endParaRPr lang="en-US" sz="1200" dirty="0"/>
          </a:p>
        </p:txBody>
      </p:sp>
      <p:pic>
        <p:nvPicPr>
          <p:cNvPr id="7" name="Picture 6">
            <a:extLst>
              <a:ext uri="{FF2B5EF4-FFF2-40B4-BE49-F238E27FC236}">
                <a16:creationId xmlns:a16="http://schemas.microsoft.com/office/drawing/2014/main" id="{0FBCE993-D439-5974-3632-4BAA61D65ED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38125" y="702960"/>
            <a:ext cx="1806618" cy="1236107"/>
          </a:xfrm>
          <a:prstGeom prst="rect">
            <a:avLst/>
          </a:prstGeom>
        </p:spPr>
      </p:pic>
    </p:spTree>
    <p:extLst>
      <p:ext uri="{BB962C8B-B14F-4D97-AF65-F5344CB8AC3E}">
        <p14:creationId xmlns:p14="http://schemas.microsoft.com/office/powerpoint/2010/main" val="3696436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471A07-73E3-1131-1CF9-9330F1E7C387}"/>
              </a:ext>
            </a:extLst>
          </p:cNvPr>
          <p:cNvPicPr>
            <a:picLocks noChangeAspect="1"/>
          </p:cNvPicPr>
          <p:nvPr/>
        </p:nvPicPr>
        <p:blipFill>
          <a:blip r:embed="rId2">
            <a:duotone>
              <a:prstClr val="black"/>
              <a:srgbClr val="D9C3A5">
                <a:tint val="50000"/>
                <a:satMod val="180000"/>
              </a:srgbClr>
            </a:duotone>
          </a:blip>
          <a:stretch>
            <a:fillRect/>
          </a:stretch>
        </p:blipFill>
        <p:spPr>
          <a:xfrm>
            <a:off x="406142" y="753256"/>
            <a:ext cx="1987118" cy="1125126"/>
          </a:xfrm>
          <a:prstGeom prst="rect">
            <a:avLst/>
          </a:prstGeom>
        </p:spPr>
      </p:pic>
      <p:sp>
        <p:nvSpPr>
          <p:cNvPr id="4" name="TextBox 3">
            <a:extLst>
              <a:ext uri="{FF2B5EF4-FFF2-40B4-BE49-F238E27FC236}">
                <a16:creationId xmlns:a16="http://schemas.microsoft.com/office/drawing/2014/main" id="{2370D5A4-2075-EBB3-1060-17C41BB7E3D3}"/>
              </a:ext>
            </a:extLst>
          </p:cNvPr>
          <p:cNvSpPr txBox="1"/>
          <p:nvPr/>
        </p:nvSpPr>
        <p:spPr>
          <a:xfrm>
            <a:off x="2588862" y="946487"/>
            <a:ext cx="1729193" cy="738664"/>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You want to contact FSS. What frequency will you use?</a:t>
            </a:r>
            <a:endParaRPr lang="en-US" sz="1400" dirty="0"/>
          </a:p>
        </p:txBody>
      </p:sp>
      <p:sp>
        <p:nvSpPr>
          <p:cNvPr id="5" name="TextBox 4">
            <a:extLst>
              <a:ext uri="{FF2B5EF4-FFF2-40B4-BE49-F238E27FC236}">
                <a16:creationId xmlns:a16="http://schemas.microsoft.com/office/drawing/2014/main" id="{3311D81E-F222-82FD-D493-77C0E0520453}"/>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6D6A3CEB-5B52-BC6B-C6F0-8AF46472D23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D7B7162D-33A4-8E81-6D6F-2697A3D670B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884240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080DEC-0F1B-C237-0397-DA9916A09AC3}"/>
              </a:ext>
            </a:extLst>
          </p:cNvPr>
          <p:cNvPicPr>
            <a:picLocks noChangeAspect="1"/>
          </p:cNvPicPr>
          <p:nvPr/>
        </p:nvPicPr>
        <p:blipFill>
          <a:blip r:embed="rId2">
            <a:duotone>
              <a:prstClr val="black"/>
              <a:srgbClr val="D9C3A5">
                <a:tint val="50000"/>
                <a:satMod val="180000"/>
              </a:srgbClr>
            </a:duotone>
          </a:blip>
          <a:stretch>
            <a:fillRect/>
          </a:stretch>
        </p:blipFill>
        <p:spPr>
          <a:xfrm>
            <a:off x="310280" y="352053"/>
            <a:ext cx="1899501" cy="1075516"/>
          </a:xfrm>
          <a:prstGeom prst="rect">
            <a:avLst/>
          </a:prstGeom>
        </p:spPr>
      </p:pic>
      <p:sp>
        <p:nvSpPr>
          <p:cNvPr id="4" name="TextBox 3">
            <a:extLst>
              <a:ext uri="{FF2B5EF4-FFF2-40B4-BE49-F238E27FC236}">
                <a16:creationId xmlns:a16="http://schemas.microsoft.com/office/drawing/2014/main" id="{CD18F253-A032-FBD1-24CA-B2D643C38D4E}"/>
              </a:ext>
            </a:extLst>
          </p:cNvPr>
          <p:cNvSpPr txBox="1"/>
          <p:nvPr/>
        </p:nvSpPr>
        <p:spPr>
          <a:xfrm>
            <a:off x="204571" y="1565192"/>
            <a:ext cx="4149969" cy="738664"/>
          </a:xfrm>
          <a:prstGeom prst="rect">
            <a:avLst/>
          </a:prstGeom>
          <a:noFill/>
        </p:spPr>
        <p:txBody>
          <a:bodyPr wrap="square">
            <a:spAutoFit/>
          </a:bodyPr>
          <a:lstStyle/>
          <a:p>
            <a:pPr algn="just"/>
            <a:r>
              <a:rPr lang="en-US" sz="1050" dirty="0">
                <a:solidFill>
                  <a:srgbClr val="000000"/>
                </a:solidFill>
                <a:latin typeface="Times New Roman" panose="02020603050405020304" pitchFamily="18" charset="0"/>
              </a:rPr>
              <a:t>However, FSS can only receive on 122.1 but they will transmit on 114.45. So we need to tune in 114.45 on the NAV radio, and select NAV on the audio panel. Bottomline, we’ll talk to FSS through 122.1 but we’ll listen to their reply on the VOR frequency of 114.45.</a:t>
            </a:r>
            <a:endParaRPr lang="en-US" sz="1050" dirty="0"/>
          </a:p>
        </p:txBody>
      </p:sp>
      <p:sp>
        <p:nvSpPr>
          <p:cNvPr id="5" name="TextBox 4">
            <a:extLst>
              <a:ext uri="{FF2B5EF4-FFF2-40B4-BE49-F238E27FC236}">
                <a16:creationId xmlns:a16="http://schemas.microsoft.com/office/drawing/2014/main" id="{A8A1E961-05A8-5B68-C4F4-D34348F5E3A7}"/>
              </a:ext>
            </a:extLst>
          </p:cNvPr>
          <p:cNvSpPr txBox="1"/>
          <p:nvPr/>
        </p:nvSpPr>
        <p:spPr>
          <a:xfrm>
            <a:off x="2297106" y="267121"/>
            <a:ext cx="2070323" cy="1061829"/>
          </a:xfrm>
          <a:prstGeom prst="rect">
            <a:avLst/>
          </a:prstGeom>
          <a:noFill/>
        </p:spPr>
        <p:txBody>
          <a:bodyPr wrap="square">
            <a:spAutoFit/>
          </a:bodyPr>
          <a:lstStyle/>
          <a:p>
            <a:pPr algn="just"/>
            <a:r>
              <a:rPr lang="en-US" sz="1050" dirty="0">
                <a:solidFill>
                  <a:srgbClr val="000000"/>
                </a:solidFill>
                <a:latin typeface="Times New Roman" panose="02020603050405020304" pitchFamily="18" charset="0"/>
              </a:rPr>
              <a:t>Notice the “R” next to 122.1? Also notice 114.45 (the VOR frequency) is not underlined. This means the VOR frequency is voice capable. We’ll use 122.1 to contact “Princeton Radio.” </a:t>
            </a:r>
            <a:endParaRPr lang="en-US" sz="1050" dirty="0"/>
          </a:p>
        </p:txBody>
      </p:sp>
      <p:sp>
        <p:nvSpPr>
          <p:cNvPr id="6" name="TextBox 5">
            <a:extLst>
              <a:ext uri="{FF2B5EF4-FFF2-40B4-BE49-F238E27FC236}">
                <a16:creationId xmlns:a16="http://schemas.microsoft.com/office/drawing/2014/main" id="{1F570768-219F-184A-6C2C-6E75F1210041}"/>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Tree>
    <p:extLst>
      <p:ext uri="{BB962C8B-B14F-4D97-AF65-F5344CB8AC3E}">
        <p14:creationId xmlns:p14="http://schemas.microsoft.com/office/powerpoint/2010/main" val="3581143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11D81E-F222-82FD-D493-77C0E0520453}"/>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6D6A3CEB-5B52-BC6B-C6F0-8AF46472D23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D7B7162D-33A4-8E81-6D6F-2697A3D670B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pic>
        <p:nvPicPr>
          <p:cNvPr id="8" name="Picture 7">
            <a:extLst>
              <a:ext uri="{FF2B5EF4-FFF2-40B4-BE49-F238E27FC236}">
                <a16:creationId xmlns:a16="http://schemas.microsoft.com/office/drawing/2014/main" id="{DCAA9C13-316D-10DF-3368-3A6DA22FDBE1}"/>
              </a:ext>
            </a:extLst>
          </p:cNvPr>
          <p:cNvPicPr>
            <a:picLocks noChangeAspect="1"/>
          </p:cNvPicPr>
          <p:nvPr/>
        </p:nvPicPr>
        <p:blipFill>
          <a:blip r:embed="rId2"/>
          <a:stretch>
            <a:fillRect/>
          </a:stretch>
        </p:blipFill>
        <p:spPr>
          <a:xfrm>
            <a:off x="353615" y="546273"/>
            <a:ext cx="1823663" cy="1573499"/>
          </a:xfrm>
          <a:prstGeom prst="rect">
            <a:avLst/>
          </a:prstGeom>
          <a:ln>
            <a:solidFill>
              <a:schemeClr val="tx1"/>
            </a:solidFill>
          </a:ln>
        </p:spPr>
      </p:pic>
      <p:sp>
        <p:nvSpPr>
          <p:cNvPr id="9" name="Arrow: Down 8">
            <a:extLst>
              <a:ext uri="{FF2B5EF4-FFF2-40B4-BE49-F238E27FC236}">
                <a16:creationId xmlns:a16="http://schemas.microsoft.com/office/drawing/2014/main" id="{3D3702E1-0BD8-CC18-9E5C-E46E63EBF57B}"/>
              </a:ext>
            </a:extLst>
          </p:cNvPr>
          <p:cNvSpPr/>
          <p:nvPr/>
        </p:nvSpPr>
        <p:spPr>
          <a:xfrm rot="7681816">
            <a:off x="1131126" y="1656081"/>
            <a:ext cx="268638"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9971066E-FDC6-A6C4-C8D9-C09A40DF2A4D}"/>
              </a:ext>
            </a:extLst>
          </p:cNvPr>
          <p:cNvGrpSpPr/>
          <p:nvPr/>
        </p:nvGrpSpPr>
        <p:grpSpPr>
          <a:xfrm>
            <a:off x="2489192" y="988970"/>
            <a:ext cx="1729193" cy="646331"/>
            <a:chOff x="2489192" y="760750"/>
            <a:chExt cx="1729193" cy="646331"/>
          </a:xfrm>
        </p:grpSpPr>
        <p:sp>
          <p:nvSpPr>
            <p:cNvPr id="4" name="TextBox 3">
              <a:extLst>
                <a:ext uri="{FF2B5EF4-FFF2-40B4-BE49-F238E27FC236}">
                  <a16:creationId xmlns:a16="http://schemas.microsoft.com/office/drawing/2014/main" id="{2370D5A4-2075-EBB3-1060-17C41BB7E3D3}"/>
                </a:ext>
              </a:extLst>
            </p:cNvPr>
            <p:cNvSpPr txBox="1"/>
            <p:nvPr/>
          </p:nvSpPr>
          <p:spPr>
            <a:xfrm>
              <a:off x="2489192" y="760750"/>
              <a:ext cx="1729193" cy="646331"/>
            </a:xfrm>
            <a:prstGeom prst="rect">
              <a:avLst/>
            </a:prstGeom>
            <a:noFill/>
            <a:ln>
              <a:noFill/>
            </a:ln>
          </p:spPr>
          <p:txBody>
            <a:bodyPr wrap="square">
              <a:spAutoFit/>
            </a:bodyPr>
            <a:lstStyle/>
            <a:p>
              <a:r>
                <a:rPr lang="en-US" sz="1400" dirty="0">
                  <a:solidFill>
                    <a:srgbClr val="000000"/>
                  </a:solidFill>
                  <a:latin typeface="Times New Roman" panose="02020603050405020304" pitchFamily="18" charset="0"/>
                </a:rPr>
                <a:t>What is the</a:t>
              </a:r>
            </a:p>
            <a:p>
              <a:endParaRPr lang="en-US" sz="700" dirty="0">
                <a:solidFill>
                  <a:srgbClr val="000000"/>
                </a:solidFill>
                <a:latin typeface="Times New Roman" panose="02020603050405020304" pitchFamily="18" charset="0"/>
              </a:endParaRPr>
            </a:p>
            <a:p>
              <a:r>
                <a:rPr lang="en-US" sz="1400" dirty="0">
                  <a:solidFill>
                    <a:srgbClr val="000000"/>
                  </a:solidFill>
                  <a:latin typeface="Times New Roman" panose="02020603050405020304" pitchFamily="18" charset="0"/>
                </a:rPr>
                <a:t>symbol depicting?</a:t>
              </a:r>
              <a:endParaRPr lang="en-US" sz="1400" dirty="0"/>
            </a:p>
          </p:txBody>
        </p:sp>
        <p:pic>
          <p:nvPicPr>
            <p:cNvPr id="13" name="Picture 12">
              <a:extLst>
                <a:ext uri="{FF2B5EF4-FFF2-40B4-BE49-F238E27FC236}">
                  <a16:creationId xmlns:a16="http://schemas.microsoft.com/office/drawing/2014/main" id="{B49C6EE1-F85A-A24F-F2C1-72A49AD5DF34}"/>
                </a:ext>
              </a:extLst>
            </p:cNvPr>
            <p:cNvPicPr>
              <a:picLocks noChangeAspect="1"/>
            </p:cNvPicPr>
            <p:nvPr/>
          </p:nvPicPr>
          <p:blipFill>
            <a:blip r:embed="rId3"/>
            <a:stretch>
              <a:fillRect/>
            </a:stretch>
          </p:blipFill>
          <p:spPr>
            <a:xfrm>
              <a:off x="3443287" y="779802"/>
              <a:ext cx="295275" cy="299962"/>
            </a:xfrm>
            <a:prstGeom prst="rect">
              <a:avLst/>
            </a:prstGeom>
            <a:ln>
              <a:noFill/>
            </a:ln>
          </p:spPr>
        </p:pic>
      </p:grpSp>
    </p:spTree>
    <p:extLst>
      <p:ext uri="{BB962C8B-B14F-4D97-AF65-F5344CB8AC3E}">
        <p14:creationId xmlns:p14="http://schemas.microsoft.com/office/powerpoint/2010/main" val="927926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A1E961-05A8-5B68-C4F4-D34348F5E3A7}"/>
              </a:ext>
            </a:extLst>
          </p:cNvPr>
          <p:cNvSpPr txBox="1"/>
          <p:nvPr/>
        </p:nvSpPr>
        <p:spPr>
          <a:xfrm>
            <a:off x="1525934" y="171300"/>
            <a:ext cx="2903190" cy="646331"/>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The Centennial Class D airspace sits under a Class B shelf. The Class D goes up to but does not include 8,000 MSL.</a:t>
            </a:r>
            <a:endParaRPr lang="en-US" sz="1200" dirty="0"/>
          </a:p>
        </p:txBody>
      </p:sp>
      <p:sp>
        <p:nvSpPr>
          <p:cNvPr id="6" name="TextBox 5">
            <a:extLst>
              <a:ext uri="{FF2B5EF4-FFF2-40B4-BE49-F238E27FC236}">
                <a16:creationId xmlns:a16="http://schemas.microsoft.com/office/drawing/2014/main" id="{1F570768-219F-184A-6C2C-6E75F1210041}"/>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grpSp>
        <p:nvGrpSpPr>
          <p:cNvPr id="11" name="Group 10">
            <a:extLst>
              <a:ext uri="{FF2B5EF4-FFF2-40B4-BE49-F238E27FC236}">
                <a16:creationId xmlns:a16="http://schemas.microsoft.com/office/drawing/2014/main" id="{B03F0F7E-D92B-CE48-0275-B2529445318E}"/>
              </a:ext>
            </a:extLst>
          </p:cNvPr>
          <p:cNvGrpSpPr/>
          <p:nvPr/>
        </p:nvGrpSpPr>
        <p:grpSpPr>
          <a:xfrm>
            <a:off x="252407" y="296773"/>
            <a:ext cx="1161373" cy="1002059"/>
            <a:chOff x="353615" y="546273"/>
            <a:chExt cx="1823663" cy="1573499"/>
          </a:xfrm>
        </p:grpSpPr>
        <p:pic>
          <p:nvPicPr>
            <p:cNvPr id="2" name="Picture 1">
              <a:extLst>
                <a:ext uri="{FF2B5EF4-FFF2-40B4-BE49-F238E27FC236}">
                  <a16:creationId xmlns:a16="http://schemas.microsoft.com/office/drawing/2014/main" id="{65D75BDE-F7B0-BF75-1BCA-EA55ED5DC6F7}"/>
                </a:ext>
              </a:extLst>
            </p:cNvPr>
            <p:cNvPicPr>
              <a:picLocks noChangeAspect="1"/>
            </p:cNvPicPr>
            <p:nvPr/>
          </p:nvPicPr>
          <p:blipFill>
            <a:blip r:embed="rId2"/>
            <a:stretch>
              <a:fillRect/>
            </a:stretch>
          </p:blipFill>
          <p:spPr>
            <a:xfrm>
              <a:off x="353615" y="546273"/>
              <a:ext cx="1823663" cy="1573499"/>
            </a:xfrm>
            <a:prstGeom prst="rect">
              <a:avLst/>
            </a:prstGeom>
            <a:ln>
              <a:solidFill>
                <a:schemeClr val="tx1"/>
              </a:solidFill>
            </a:ln>
          </p:spPr>
        </p:pic>
        <p:sp>
          <p:nvSpPr>
            <p:cNvPr id="7" name="Arrow: Down 6">
              <a:extLst>
                <a:ext uri="{FF2B5EF4-FFF2-40B4-BE49-F238E27FC236}">
                  <a16:creationId xmlns:a16="http://schemas.microsoft.com/office/drawing/2014/main" id="{B77853F8-0813-C13E-82A9-9A4F4AE32DBE}"/>
                </a:ext>
              </a:extLst>
            </p:cNvPr>
            <p:cNvSpPr/>
            <p:nvPr/>
          </p:nvSpPr>
          <p:spPr>
            <a:xfrm rot="7681816">
              <a:off x="1131126" y="1656081"/>
              <a:ext cx="268638"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B91E9204-63D9-0B91-135A-8FF8FAF02AE8}"/>
              </a:ext>
            </a:extLst>
          </p:cNvPr>
          <p:cNvGrpSpPr/>
          <p:nvPr/>
        </p:nvGrpSpPr>
        <p:grpSpPr>
          <a:xfrm>
            <a:off x="1505824" y="808363"/>
            <a:ext cx="2923300" cy="549606"/>
            <a:chOff x="2297106" y="1043247"/>
            <a:chExt cx="2070323" cy="549606"/>
          </a:xfrm>
        </p:grpSpPr>
        <p:sp>
          <p:nvSpPr>
            <p:cNvPr id="8" name="TextBox 7">
              <a:extLst>
                <a:ext uri="{FF2B5EF4-FFF2-40B4-BE49-F238E27FC236}">
                  <a16:creationId xmlns:a16="http://schemas.microsoft.com/office/drawing/2014/main" id="{59A1E7E5-3A4A-D4C5-1789-B5EFB050BBCC}"/>
                </a:ext>
              </a:extLst>
            </p:cNvPr>
            <p:cNvSpPr txBox="1"/>
            <p:nvPr/>
          </p:nvSpPr>
          <p:spPr>
            <a:xfrm>
              <a:off x="2297106" y="1043247"/>
              <a:ext cx="2070323" cy="461665"/>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The Bravo shelf in this area goes down to 8,000 MSL. </a:t>
              </a:r>
              <a:endParaRPr lang="en-US" sz="1200" dirty="0"/>
            </a:p>
          </p:txBody>
        </p:sp>
        <p:pic>
          <p:nvPicPr>
            <p:cNvPr id="10" name="Picture 9">
              <a:extLst>
                <a:ext uri="{FF2B5EF4-FFF2-40B4-BE49-F238E27FC236}">
                  <a16:creationId xmlns:a16="http://schemas.microsoft.com/office/drawing/2014/main" id="{7E388268-215E-0B8E-1035-1DB04A87524F}"/>
                </a:ext>
              </a:extLst>
            </p:cNvPr>
            <p:cNvPicPr>
              <a:picLocks noChangeAspect="1"/>
            </p:cNvPicPr>
            <p:nvPr/>
          </p:nvPicPr>
          <p:blipFill>
            <a:blip r:embed="rId3"/>
            <a:stretch>
              <a:fillRect/>
            </a:stretch>
          </p:blipFill>
          <p:spPr>
            <a:xfrm>
              <a:off x="2899422" y="1278842"/>
              <a:ext cx="237513" cy="314011"/>
            </a:xfrm>
            <a:prstGeom prst="rect">
              <a:avLst/>
            </a:prstGeom>
            <a:ln>
              <a:solidFill>
                <a:schemeClr val="tx1"/>
              </a:solidFill>
            </a:ln>
          </p:spPr>
        </p:pic>
      </p:grpSp>
      <p:pic>
        <p:nvPicPr>
          <p:cNvPr id="14" name="Picture 13">
            <a:extLst>
              <a:ext uri="{FF2B5EF4-FFF2-40B4-BE49-F238E27FC236}">
                <a16:creationId xmlns:a16="http://schemas.microsoft.com/office/drawing/2014/main" id="{07C69699-5E5B-F624-B424-DE487B7430FC}"/>
              </a:ext>
            </a:extLst>
          </p:cNvPr>
          <p:cNvPicPr>
            <a:picLocks noChangeAspect="1"/>
          </p:cNvPicPr>
          <p:nvPr/>
        </p:nvPicPr>
        <p:blipFill>
          <a:blip r:embed="rId4"/>
          <a:stretch>
            <a:fillRect/>
          </a:stretch>
        </p:blipFill>
        <p:spPr>
          <a:xfrm>
            <a:off x="272514" y="1371599"/>
            <a:ext cx="1121157" cy="1074828"/>
          </a:xfrm>
          <a:prstGeom prst="rect">
            <a:avLst/>
          </a:prstGeom>
          <a:ln>
            <a:solidFill>
              <a:schemeClr val="tx1"/>
            </a:solidFill>
          </a:ln>
        </p:spPr>
      </p:pic>
      <p:sp>
        <p:nvSpPr>
          <p:cNvPr id="15" name="Arrow: Down 14">
            <a:extLst>
              <a:ext uri="{FF2B5EF4-FFF2-40B4-BE49-F238E27FC236}">
                <a16:creationId xmlns:a16="http://schemas.microsoft.com/office/drawing/2014/main" id="{1502C38E-6F59-CBC4-6D06-260742E286DE}"/>
              </a:ext>
            </a:extLst>
          </p:cNvPr>
          <p:cNvSpPr/>
          <p:nvPr/>
        </p:nvSpPr>
        <p:spPr>
          <a:xfrm rot="7681816">
            <a:off x="623729" y="1722676"/>
            <a:ext cx="171078" cy="28206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A62A85ED-5D2E-70FD-8EC5-5FB44B637827}"/>
              </a:ext>
            </a:extLst>
          </p:cNvPr>
          <p:cNvSpPr txBox="1"/>
          <p:nvPr/>
        </p:nvSpPr>
        <p:spPr>
          <a:xfrm>
            <a:off x="1505824" y="1376718"/>
            <a:ext cx="2923301" cy="1015663"/>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The Class D airspace at KPUB does not sit under a shelf; it is a stand-alone Delta. So the symbol is missing the hyphen (or minus sign). This means the Class D goes up to and INCLUDES 7,200 MSL.</a:t>
            </a:r>
            <a:endParaRPr lang="en-US" sz="1200" dirty="0"/>
          </a:p>
        </p:txBody>
      </p:sp>
    </p:spTree>
    <p:extLst>
      <p:ext uri="{BB962C8B-B14F-4D97-AF65-F5344CB8AC3E}">
        <p14:creationId xmlns:p14="http://schemas.microsoft.com/office/powerpoint/2010/main" val="2598051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25FFC-B053-12EB-4149-B66E6FB2182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C0A6BB7-34C8-3793-68CF-09E6AE5FC3B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35989" y="805323"/>
            <a:ext cx="1715406" cy="1057275"/>
          </a:xfrm>
          <a:prstGeom prst="rect">
            <a:avLst/>
          </a:prstGeom>
          <a:ln>
            <a:solidFill>
              <a:schemeClr val="tx1"/>
            </a:solidFill>
          </a:ln>
        </p:spPr>
      </p:pic>
      <p:sp>
        <p:nvSpPr>
          <p:cNvPr id="5" name="TextBox 4">
            <a:extLst>
              <a:ext uri="{FF2B5EF4-FFF2-40B4-BE49-F238E27FC236}">
                <a16:creationId xmlns:a16="http://schemas.microsoft.com/office/drawing/2014/main" id="{BBA7F19B-9CC1-D2B6-B845-A522A9F13FEC}"/>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8FD498AE-B825-86B4-77C1-5F9FF528960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589BB1BB-7DAA-1133-87A7-B51396B1A78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9" name="Arrow: Down 8">
            <a:extLst>
              <a:ext uri="{FF2B5EF4-FFF2-40B4-BE49-F238E27FC236}">
                <a16:creationId xmlns:a16="http://schemas.microsoft.com/office/drawing/2014/main" id="{E7F2AD81-CB3E-4FAF-B764-0E8950690616}"/>
              </a:ext>
            </a:extLst>
          </p:cNvPr>
          <p:cNvSpPr/>
          <p:nvPr/>
        </p:nvSpPr>
        <p:spPr>
          <a:xfrm rot="2338772">
            <a:off x="1565905" y="759182"/>
            <a:ext cx="128895"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280905D7-A9F7-B59C-7734-79F4FB859F29}"/>
              </a:ext>
            </a:extLst>
          </p:cNvPr>
          <p:cNvSpPr txBox="1"/>
          <p:nvPr/>
        </p:nvSpPr>
        <p:spPr>
          <a:xfrm>
            <a:off x="2139501" y="1154280"/>
            <a:ext cx="2242683" cy="276999"/>
          </a:xfrm>
          <a:prstGeom prst="rect">
            <a:avLst/>
          </a:prstGeom>
          <a:noFill/>
        </p:spPr>
        <p:txBody>
          <a:bodyPr wrap="square">
            <a:spAutoFit/>
          </a:bodyPr>
          <a:lstStyle/>
          <a:p>
            <a:pPr algn="ctr"/>
            <a:r>
              <a:rPr lang="en-US" sz="1200" dirty="0">
                <a:solidFill>
                  <a:srgbClr val="000000"/>
                </a:solidFill>
                <a:latin typeface="Times New Roman" panose="02020603050405020304" pitchFamily="18" charset="0"/>
              </a:rPr>
              <a:t>What does this star represent?</a:t>
            </a:r>
            <a:endParaRPr lang="en-US" sz="1200" dirty="0"/>
          </a:p>
        </p:txBody>
      </p:sp>
    </p:spTree>
    <p:extLst>
      <p:ext uri="{BB962C8B-B14F-4D97-AF65-F5344CB8AC3E}">
        <p14:creationId xmlns:p14="http://schemas.microsoft.com/office/powerpoint/2010/main" val="853826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E01F3-8414-8723-E0AD-8189EDB330A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592F0BE-B006-B9F4-866F-AD6297A8E3B9}"/>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pic>
        <p:nvPicPr>
          <p:cNvPr id="3" name="Picture 2">
            <a:extLst>
              <a:ext uri="{FF2B5EF4-FFF2-40B4-BE49-F238E27FC236}">
                <a16:creationId xmlns:a16="http://schemas.microsoft.com/office/drawing/2014/main" id="{DA5F01B8-AEB4-1FD1-86BC-7E7B53ECDE3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35989" y="462421"/>
            <a:ext cx="1715406" cy="1057275"/>
          </a:xfrm>
          <a:prstGeom prst="rect">
            <a:avLst/>
          </a:prstGeom>
          <a:ln>
            <a:solidFill>
              <a:schemeClr val="tx1"/>
            </a:solidFill>
          </a:ln>
        </p:spPr>
      </p:pic>
      <p:sp>
        <p:nvSpPr>
          <p:cNvPr id="4" name="TextBox 3">
            <a:extLst>
              <a:ext uri="{FF2B5EF4-FFF2-40B4-BE49-F238E27FC236}">
                <a16:creationId xmlns:a16="http://schemas.microsoft.com/office/drawing/2014/main" id="{B7568D69-CFCA-3828-C0BF-058957F30E0B}"/>
              </a:ext>
            </a:extLst>
          </p:cNvPr>
          <p:cNvSpPr txBox="1"/>
          <p:nvPr/>
        </p:nvSpPr>
        <p:spPr>
          <a:xfrm>
            <a:off x="2139501" y="575561"/>
            <a:ext cx="2242683" cy="830997"/>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This means the KPUB control tower is part time. To see its operating hours, refer to the chart supplement.</a:t>
            </a:r>
            <a:endParaRPr lang="en-US" sz="1200" dirty="0"/>
          </a:p>
        </p:txBody>
      </p:sp>
      <p:pic>
        <p:nvPicPr>
          <p:cNvPr id="13" name="Picture 12">
            <a:extLst>
              <a:ext uri="{FF2B5EF4-FFF2-40B4-BE49-F238E27FC236}">
                <a16:creationId xmlns:a16="http://schemas.microsoft.com/office/drawing/2014/main" id="{F87DC171-4231-DCC0-4A08-4BE1499F3F23}"/>
              </a:ext>
            </a:extLst>
          </p:cNvPr>
          <p:cNvPicPr>
            <a:picLocks noChangeAspect="1"/>
          </p:cNvPicPr>
          <p:nvPr/>
        </p:nvPicPr>
        <p:blipFill>
          <a:blip r:embed="rId4"/>
          <a:srcRect t="6135"/>
          <a:stretch>
            <a:fillRect/>
          </a:stretch>
        </p:blipFill>
        <p:spPr>
          <a:xfrm>
            <a:off x="1039605" y="1617177"/>
            <a:ext cx="3071813" cy="729526"/>
          </a:xfrm>
          <a:prstGeom prst="rect">
            <a:avLst/>
          </a:prstGeom>
        </p:spPr>
      </p:pic>
      <p:sp>
        <p:nvSpPr>
          <p:cNvPr id="17" name="Arrow: Down 16">
            <a:extLst>
              <a:ext uri="{FF2B5EF4-FFF2-40B4-BE49-F238E27FC236}">
                <a16:creationId xmlns:a16="http://schemas.microsoft.com/office/drawing/2014/main" id="{90871689-5387-56AB-3B5B-860C8DBAEFB8}"/>
              </a:ext>
            </a:extLst>
          </p:cNvPr>
          <p:cNvSpPr/>
          <p:nvPr/>
        </p:nvSpPr>
        <p:spPr>
          <a:xfrm rot="16200000">
            <a:off x="1138771" y="1815380"/>
            <a:ext cx="128895"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44014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1E277-CF69-73E3-D201-A9C60AD961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F3874C1-2AFC-D6AF-4BB2-4CD75434F85A}"/>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E0F9BA8C-AEEA-789F-96D6-BCF2C2B305F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F87C3A6C-F323-A030-651A-6B02299093B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58001" y="569559"/>
            <a:ext cx="1698439" cy="1604081"/>
          </a:xfrm>
          <a:prstGeom prst="rect">
            <a:avLst/>
          </a:prstGeom>
          <a:ln>
            <a:solidFill>
              <a:schemeClr val="tx1"/>
            </a:solidFill>
          </a:ln>
        </p:spPr>
      </p:pic>
      <p:sp>
        <p:nvSpPr>
          <p:cNvPr id="6" name="TextBox 5">
            <a:extLst>
              <a:ext uri="{FF2B5EF4-FFF2-40B4-BE49-F238E27FC236}">
                <a16:creationId xmlns:a16="http://schemas.microsoft.com/office/drawing/2014/main" id="{21C5F1FA-3E2C-3CF2-DF4D-8D2210D7E25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9" name="Arrow: Down 8">
            <a:extLst>
              <a:ext uri="{FF2B5EF4-FFF2-40B4-BE49-F238E27FC236}">
                <a16:creationId xmlns:a16="http://schemas.microsoft.com/office/drawing/2014/main" id="{42C903F7-5E1D-EFF4-5C8B-D20D6BA6C379}"/>
              </a:ext>
            </a:extLst>
          </p:cNvPr>
          <p:cNvSpPr/>
          <p:nvPr/>
        </p:nvSpPr>
        <p:spPr>
          <a:xfrm rot="2338772">
            <a:off x="1390372" y="748570"/>
            <a:ext cx="109549" cy="376434"/>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A0F38D3-445B-0134-8D53-25C94C35FA5D}"/>
              </a:ext>
            </a:extLst>
          </p:cNvPr>
          <p:cNvSpPr txBox="1"/>
          <p:nvPr/>
        </p:nvSpPr>
        <p:spPr>
          <a:xfrm>
            <a:off x="2139501" y="1166167"/>
            <a:ext cx="2242683" cy="276999"/>
          </a:xfrm>
          <a:prstGeom prst="rect">
            <a:avLst/>
          </a:prstGeom>
          <a:noFill/>
        </p:spPr>
        <p:txBody>
          <a:bodyPr wrap="square">
            <a:spAutoFit/>
          </a:bodyPr>
          <a:lstStyle/>
          <a:p>
            <a:pPr algn="ctr"/>
            <a:r>
              <a:rPr lang="en-US" sz="1200" dirty="0">
                <a:solidFill>
                  <a:srgbClr val="000000"/>
                </a:solidFill>
                <a:latin typeface="Times New Roman" panose="02020603050405020304" pitchFamily="18" charset="0"/>
              </a:rPr>
              <a:t>What is this flag symbol?</a:t>
            </a:r>
            <a:endParaRPr lang="en-US" sz="1200" dirty="0"/>
          </a:p>
        </p:txBody>
      </p:sp>
    </p:spTree>
    <p:extLst>
      <p:ext uri="{BB962C8B-B14F-4D97-AF65-F5344CB8AC3E}">
        <p14:creationId xmlns:p14="http://schemas.microsoft.com/office/powerpoint/2010/main" val="3274644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1EEAD-EB65-CD3F-B9CE-D0351C9D7D4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CF29BCB-71EB-447E-820B-F10262EA9D5A}"/>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pic>
        <p:nvPicPr>
          <p:cNvPr id="2" name="Picture 1">
            <a:extLst>
              <a:ext uri="{FF2B5EF4-FFF2-40B4-BE49-F238E27FC236}">
                <a16:creationId xmlns:a16="http://schemas.microsoft.com/office/drawing/2014/main" id="{05D78CA8-3229-2E75-0079-22CAB87C2C5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58001" y="569559"/>
            <a:ext cx="1698439" cy="1604081"/>
          </a:xfrm>
          <a:prstGeom prst="rect">
            <a:avLst/>
          </a:prstGeom>
          <a:ln>
            <a:solidFill>
              <a:schemeClr val="tx1"/>
            </a:solidFill>
          </a:ln>
        </p:spPr>
      </p:pic>
      <p:sp>
        <p:nvSpPr>
          <p:cNvPr id="3" name="Arrow: Down 2">
            <a:extLst>
              <a:ext uri="{FF2B5EF4-FFF2-40B4-BE49-F238E27FC236}">
                <a16:creationId xmlns:a16="http://schemas.microsoft.com/office/drawing/2014/main" id="{55371B4F-BAF7-89AE-C4D5-F368D2352F60}"/>
              </a:ext>
            </a:extLst>
          </p:cNvPr>
          <p:cNvSpPr/>
          <p:nvPr/>
        </p:nvSpPr>
        <p:spPr>
          <a:xfrm rot="2338772">
            <a:off x="1390372" y="748570"/>
            <a:ext cx="109549" cy="376434"/>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65B39DE-20F7-4E57-A034-A38A2BE60860}"/>
              </a:ext>
            </a:extLst>
          </p:cNvPr>
          <p:cNvSpPr txBox="1"/>
          <p:nvPr/>
        </p:nvSpPr>
        <p:spPr>
          <a:xfrm>
            <a:off x="2139501" y="689917"/>
            <a:ext cx="2242683" cy="1200329"/>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It is a VFR checkpoint. Sometimes called a reporting point. If there is an underlined name nearby, it is the name of the checkpoint. In this case this checkpoint is called “Casino.”</a:t>
            </a:r>
            <a:endParaRPr lang="en-US" sz="1200" dirty="0"/>
          </a:p>
        </p:txBody>
      </p:sp>
    </p:spTree>
    <p:extLst>
      <p:ext uri="{BB962C8B-B14F-4D97-AF65-F5344CB8AC3E}">
        <p14:creationId xmlns:p14="http://schemas.microsoft.com/office/powerpoint/2010/main" val="2489445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3975D-7E62-DCA1-4886-4D684EDA3B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651663-1F0D-3DCA-115E-ED2EC046B738}"/>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84CF22EC-FF5E-D57C-5532-31815747C0E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7B95F8E3-E068-275F-2ACB-748F6A84EEC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pic>
        <p:nvPicPr>
          <p:cNvPr id="12" name="Picture 11">
            <a:extLst>
              <a:ext uri="{FF2B5EF4-FFF2-40B4-BE49-F238E27FC236}">
                <a16:creationId xmlns:a16="http://schemas.microsoft.com/office/drawing/2014/main" id="{28FDC86C-A95F-B7FE-D46D-C8EF7F02B50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63340" y="632379"/>
            <a:ext cx="1456418" cy="1320800"/>
          </a:xfrm>
          <a:prstGeom prst="rect">
            <a:avLst/>
          </a:prstGeom>
          <a:ln>
            <a:solidFill>
              <a:schemeClr val="tx1"/>
            </a:solidFill>
          </a:ln>
        </p:spPr>
      </p:pic>
      <p:sp>
        <p:nvSpPr>
          <p:cNvPr id="9" name="Arrow: Down 8">
            <a:extLst>
              <a:ext uri="{FF2B5EF4-FFF2-40B4-BE49-F238E27FC236}">
                <a16:creationId xmlns:a16="http://schemas.microsoft.com/office/drawing/2014/main" id="{37CD0C76-6541-F051-EBC0-5B41BF40D359}"/>
              </a:ext>
            </a:extLst>
          </p:cNvPr>
          <p:cNvSpPr/>
          <p:nvPr/>
        </p:nvSpPr>
        <p:spPr>
          <a:xfrm rot="2338772">
            <a:off x="1208559" y="543281"/>
            <a:ext cx="128895"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A3361CCE-8967-1C0B-1B31-8B6B50897391}"/>
              </a:ext>
            </a:extLst>
          </p:cNvPr>
          <p:cNvSpPr txBox="1"/>
          <p:nvPr/>
        </p:nvSpPr>
        <p:spPr>
          <a:xfrm>
            <a:off x="2139501" y="1140767"/>
            <a:ext cx="2242683" cy="461665"/>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What are these lightning bolt symbols on this tower?</a:t>
            </a:r>
            <a:endParaRPr lang="en-US" sz="1200" dirty="0"/>
          </a:p>
        </p:txBody>
      </p:sp>
    </p:spTree>
    <p:extLst>
      <p:ext uri="{BB962C8B-B14F-4D97-AF65-F5344CB8AC3E}">
        <p14:creationId xmlns:p14="http://schemas.microsoft.com/office/powerpoint/2010/main" val="2565712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C26BF-6A31-AB90-F09C-55755CCB736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4A60EF-C925-1488-7DA8-BDFA56D26325}"/>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4" name="TextBox 3">
            <a:extLst>
              <a:ext uri="{FF2B5EF4-FFF2-40B4-BE49-F238E27FC236}">
                <a16:creationId xmlns:a16="http://schemas.microsoft.com/office/drawing/2014/main" id="{6A79B658-D05B-43B9-3117-8B439BC5273D}"/>
              </a:ext>
            </a:extLst>
          </p:cNvPr>
          <p:cNvSpPr txBox="1"/>
          <p:nvPr/>
        </p:nvSpPr>
        <p:spPr>
          <a:xfrm>
            <a:off x="536350" y="1029553"/>
            <a:ext cx="3499299" cy="461665"/>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The lightning bolts tell us the tower has strobe lights and/or night lighting.</a:t>
            </a:r>
            <a:endParaRPr lang="en-US" sz="1200" dirty="0"/>
          </a:p>
        </p:txBody>
      </p:sp>
    </p:spTree>
    <p:extLst>
      <p:ext uri="{BB962C8B-B14F-4D97-AF65-F5344CB8AC3E}">
        <p14:creationId xmlns:p14="http://schemas.microsoft.com/office/powerpoint/2010/main" val="1163923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51FA5-9521-6828-85FE-CA727B99E6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08422C-EA43-AF25-534D-B6FC57F1443F}"/>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938722C5-DCA1-1FD9-F1EB-A9057AFBCB1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C39B2EEE-E122-4C27-EC41-274A0C1A4EE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13" name="TextBox 12">
            <a:extLst>
              <a:ext uri="{FF2B5EF4-FFF2-40B4-BE49-F238E27FC236}">
                <a16:creationId xmlns:a16="http://schemas.microsoft.com/office/drawing/2014/main" id="{7DFCBEA0-B6A8-C3C6-5E3D-3ED118132AF8}"/>
              </a:ext>
            </a:extLst>
          </p:cNvPr>
          <p:cNvSpPr txBox="1"/>
          <p:nvPr/>
        </p:nvSpPr>
        <p:spPr>
          <a:xfrm>
            <a:off x="2460969" y="1233099"/>
            <a:ext cx="1921215" cy="276999"/>
          </a:xfrm>
          <a:prstGeom prst="rect">
            <a:avLst/>
          </a:prstGeom>
          <a:noFill/>
        </p:spPr>
        <p:txBody>
          <a:bodyPr wrap="square">
            <a:spAutoFit/>
          </a:bodyPr>
          <a:lstStyle/>
          <a:p>
            <a:pPr algn="ctr"/>
            <a:r>
              <a:rPr lang="en-US" sz="1200" dirty="0">
                <a:solidFill>
                  <a:srgbClr val="000000"/>
                </a:solidFill>
                <a:latin typeface="Times New Roman" panose="02020603050405020304" pitchFamily="18" charset="0"/>
              </a:rPr>
              <a:t>What does the “36” mean?</a:t>
            </a:r>
            <a:endParaRPr lang="en-US" sz="1200" dirty="0"/>
          </a:p>
        </p:txBody>
      </p:sp>
      <p:pic>
        <p:nvPicPr>
          <p:cNvPr id="7" name="Picture 6">
            <a:extLst>
              <a:ext uri="{FF2B5EF4-FFF2-40B4-BE49-F238E27FC236}">
                <a16:creationId xmlns:a16="http://schemas.microsoft.com/office/drawing/2014/main" id="{E2C71EB2-90DD-4100-F333-1E450A33755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07635" y="566200"/>
            <a:ext cx="1921215" cy="1610800"/>
          </a:xfrm>
          <a:prstGeom prst="rect">
            <a:avLst/>
          </a:prstGeom>
          <a:ln>
            <a:solidFill>
              <a:schemeClr val="tx1"/>
            </a:solidFill>
          </a:ln>
        </p:spPr>
      </p:pic>
      <p:sp>
        <p:nvSpPr>
          <p:cNvPr id="10" name="Arrow: Down 9">
            <a:extLst>
              <a:ext uri="{FF2B5EF4-FFF2-40B4-BE49-F238E27FC236}">
                <a16:creationId xmlns:a16="http://schemas.microsoft.com/office/drawing/2014/main" id="{46323AB6-A830-8C68-2008-8C910B0EA515}"/>
              </a:ext>
            </a:extLst>
          </p:cNvPr>
          <p:cNvSpPr/>
          <p:nvPr/>
        </p:nvSpPr>
        <p:spPr>
          <a:xfrm rot="19515713">
            <a:off x="950093" y="792934"/>
            <a:ext cx="128895"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8351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4C23D-4C04-AEFB-05E5-0FB5E71E2B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1D8F897-C99E-EBB9-8DE1-70EC9C4DDF7C}"/>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TextBox 1">
            <a:extLst>
              <a:ext uri="{FF2B5EF4-FFF2-40B4-BE49-F238E27FC236}">
                <a16:creationId xmlns:a16="http://schemas.microsoft.com/office/drawing/2014/main" id="{B82B10F7-95AF-EFC7-9D5A-4804B503A507}"/>
              </a:ext>
            </a:extLst>
          </p:cNvPr>
          <p:cNvSpPr txBox="1"/>
          <p:nvPr/>
        </p:nvSpPr>
        <p:spPr>
          <a:xfrm>
            <a:off x="2279652" y="817602"/>
            <a:ext cx="2108198" cy="1184940"/>
          </a:xfrm>
          <a:prstGeom prst="rect">
            <a:avLst/>
          </a:prstGeom>
          <a:noFill/>
        </p:spPr>
        <p:txBody>
          <a:bodyPr wrap="square">
            <a:spAutoFit/>
          </a:bodyPr>
          <a:lstStyle/>
          <a:p>
            <a:pPr algn="just">
              <a:spcAft>
                <a:spcPts val="600"/>
              </a:spcAft>
            </a:pPr>
            <a:r>
              <a:rPr lang="en-US" sz="1100" dirty="0">
                <a:solidFill>
                  <a:srgbClr val="000000"/>
                </a:solidFill>
                <a:latin typeface="Times New Roman" panose="02020603050405020304" pitchFamily="18" charset="0"/>
                <a:cs typeface="Times New Roman" panose="02020603050405020304" pitchFamily="18" charset="0"/>
              </a:rPr>
              <a:t>This is the maximum elevation figure (MEF) for this quadrant.</a:t>
            </a:r>
          </a:p>
          <a:p>
            <a:pPr algn="just">
              <a:spcAft>
                <a:spcPts val="600"/>
              </a:spcAft>
            </a:pPr>
            <a:r>
              <a:rPr lang="en-US" sz="1100" dirty="0">
                <a:latin typeface="Times New Roman" panose="02020603050405020304" pitchFamily="18" charset="0"/>
                <a:cs typeface="Times New Roman" panose="02020603050405020304" pitchFamily="18" charset="0"/>
              </a:rPr>
              <a:t>The MEF is the highest elevation (terrain + any obstructions) within the quadrangle, rounded up, to the next 100 feet.</a:t>
            </a:r>
          </a:p>
        </p:txBody>
      </p:sp>
      <p:pic>
        <p:nvPicPr>
          <p:cNvPr id="3" name="Picture 2">
            <a:extLst>
              <a:ext uri="{FF2B5EF4-FFF2-40B4-BE49-F238E27FC236}">
                <a16:creationId xmlns:a16="http://schemas.microsoft.com/office/drawing/2014/main" id="{FC77E0D7-5509-D136-8392-F4A48DE4DA11}"/>
              </a:ext>
            </a:extLst>
          </p:cNvPr>
          <p:cNvPicPr>
            <a:picLocks noChangeAspect="1"/>
          </p:cNvPicPr>
          <p:nvPr/>
        </p:nvPicPr>
        <p:blipFill>
          <a:blip r:embed="rId2"/>
          <a:stretch>
            <a:fillRect/>
          </a:stretch>
        </p:blipFill>
        <p:spPr>
          <a:xfrm>
            <a:off x="263185" y="566200"/>
            <a:ext cx="1921215" cy="1610800"/>
          </a:xfrm>
          <a:prstGeom prst="rect">
            <a:avLst/>
          </a:prstGeom>
          <a:ln>
            <a:solidFill>
              <a:schemeClr val="tx1"/>
            </a:solidFill>
          </a:ln>
        </p:spPr>
      </p:pic>
    </p:spTree>
    <p:extLst>
      <p:ext uri="{BB962C8B-B14F-4D97-AF65-F5344CB8AC3E}">
        <p14:creationId xmlns:p14="http://schemas.microsoft.com/office/powerpoint/2010/main" val="1458912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115F-97E9-D489-039D-7E5496EE92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FFEC00-3385-31D6-C105-BF37FFC92F19}"/>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83AD93D8-CA1F-4CC9-4616-2B10624FD62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C9BF1305-246E-7250-32FB-AB414008B11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grpSp>
        <p:nvGrpSpPr>
          <p:cNvPr id="12" name="Group 11">
            <a:extLst>
              <a:ext uri="{FF2B5EF4-FFF2-40B4-BE49-F238E27FC236}">
                <a16:creationId xmlns:a16="http://schemas.microsoft.com/office/drawing/2014/main" id="{EE44287B-DD5F-1CAD-4A79-F102E549C91F}"/>
              </a:ext>
            </a:extLst>
          </p:cNvPr>
          <p:cNvGrpSpPr/>
          <p:nvPr/>
        </p:nvGrpSpPr>
        <p:grpSpPr>
          <a:xfrm>
            <a:off x="368040" y="620668"/>
            <a:ext cx="1651304" cy="1499115"/>
            <a:chOff x="368040" y="620668"/>
            <a:chExt cx="1651304" cy="1499115"/>
          </a:xfrm>
        </p:grpSpPr>
        <p:pic>
          <p:nvPicPr>
            <p:cNvPr id="4" name="Picture 3">
              <a:extLst>
                <a:ext uri="{FF2B5EF4-FFF2-40B4-BE49-F238E27FC236}">
                  <a16:creationId xmlns:a16="http://schemas.microsoft.com/office/drawing/2014/main" id="{99C5FCF6-007A-66BA-622F-E092E4DD18B2}"/>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368040" y="623416"/>
              <a:ext cx="1651304" cy="1496367"/>
            </a:xfrm>
            <a:prstGeom prst="rect">
              <a:avLst/>
            </a:prstGeom>
            <a:ln>
              <a:solidFill>
                <a:schemeClr val="tx1"/>
              </a:solidFill>
            </a:ln>
          </p:spPr>
        </p:pic>
        <p:sp>
          <p:nvSpPr>
            <p:cNvPr id="9" name="Arrow: Down 8">
              <a:extLst>
                <a:ext uri="{FF2B5EF4-FFF2-40B4-BE49-F238E27FC236}">
                  <a16:creationId xmlns:a16="http://schemas.microsoft.com/office/drawing/2014/main" id="{1816E046-696A-33A0-EE2E-C49E4C64B264}"/>
                </a:ext>
              </a:extLst>
            </p:cNvPr>
            <p:cNvSpPr/>
            <p:nvPr/>
          </p:nvSpPr>
          <p:spPr>
            <a:xfrm rot="19515713">
              <a:off x="1203954" y="620668"/>
              <a:ext cx="128895"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Down 7">
              <a:extLst>
                <a:ext uri="{FF2B5EF4-FFF2-40B4-BE49-F238E27FC236}">
                  <a16:creationId xmlns:a16="http://schemas.microsoft.com/office/drawing/2014/main" id="{C22B8066-B2A1-2F1A-34A8-6B5487F76302}"/>
                </a:ext>
              </a:extLst>
            </p:cNvPr>
            <p:cNvSpPr/>
            <p:nvPr/>
          </p:nvSpPr>
          <p:spPr>
            <a:xfrm rot="9000000">
              <a:off x="962703" y="1593056"/>
              <a:ext cx="128895" cy="442912"/>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E0DC05C0-7072-665E-286B-8B9490E51586}"/>
              </a:ext>
            </a:extLst>
          </p:cNvPr>
          <p:cNvSpPr txBox="1"/>
          <p:nvPr/>
        </p:nvSpPr>
        <p:spPr>
          <a:xfrm>
            <a:off x="2139501" y="1233099"/>
            <a:ext cx="2242683" cy="276999"/>
          </a:xfrm>
          <a:prstGeom prst="rect">
            <a:avLst/>
          </a:prstGeom>
          <a:noFill/>
        </p:spPr>
        <p:txBody>
          <a:bodyPr wrap="square">
            <a:spAutoFit/>
          </a:bodyPr>
          <a:lstStyle/>
          <a:p>
            <a:pPr algn="ctr"/>
            <a:r>
              <a:rPr lang="en-US" sz="1200" dirty="0">
                <a:solidFill>
                  <a:srgbClr val="000000"/>
                </a:solidFill>
                <a:latin typeface="Times New Roman" panose="02020603050405020304" pitchFamily="18" charset="0"/>
              </a:rPr>
              <a:t>What are these?</a:t>
            </a:r>
            <a:endParaRPr lang="en-US" sz="1200" dirty="0"/>
          </a:p>
        </p:txBody>
      </p:sp>
    </p:spTree>
    <p:extLst>
      <p:ext uri="{BB962C8B-B14F-4D97-AF65-F5344CB8AC3E}">
        <p14:creationId xmlns:p14="http://schemas.microsoft.com/office/powerpoint/2010/main" val="2308833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FFA4-5190-7CEB-09D4-B0C8FEE66C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8FB4E8C-0CCB-9031-F389-6210020058FC}"/>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11" name="TextBox 10">
            <a:extLst>
              <a:ext uri="{FF2B5EF4-FFF2-40B4-BE49-F238E27FC236}">
                <a16:creationId xmlns:a16="http://schemas.microsoft.com/office/drawing/2014/main" id="{1CCC1BB1-2419-2FD1-17CD-F91D6B9D0AAB}"/>
              </a:ext>
            </a:extLst>
          </p:cNvPr>
          <p:cNvSpPr txBox="1"/>
          <p:nvPr/>
        </p:nvSpPr>
        <p:spPr>
          <a:xfrm>
            <a:off x="209550" y="409798"/>
            <a:ext cx="2476500" cy="1923604"/>
          </a:xfrm>
          <a:prstGeom prst="rect">
            <a:avLst/>
          </a:prstGeom>
          <a:noFill/>
        </p:spPr>
        <p:txBody>
          <a:bodyPr wrap="square">
            <a:spAutoFit/>
          </a:bodyPr>
          <a:lstStyle/>
          <a:p>
            <a:pPr algn="just">
              <a:spcAft>
                <a:spcPts val="600"/>
              </a:spcAft>
            </a:pPr>
            <a:r>
              <a:rPr lang="en-US" sz="800" dirty="0">
                <a:solidFill>
                  <a:srgbClr val="000000"/>
                </a:solidFill>
                <a:latin typeface="Times New Roman" panose="02020603050405020304" pitchFamily="18" charset="0"/>
              </a:rPr>
              <a:t>These are one of two types of MTRs (military training routes). These are IR (instrument routes) the other type is VR (visual route). They are predesignated corridors for military low-level training.</a:t>
            </a:r>
          </a:p>
          <a:p>
            <a:pPr algn="just">
              <a:spcAft>
                <a:spcPts val="600"/>
              </a:spcAft>
            </a:pPr>
            <a:r>
              <a:rPr lang="en-US" sz="800" dirty="0">
                <a:solidFill>
                  <a:srgbClr val="000000"/>
                </a:solidFill>
                <a:latin typeface="Times New Roman" panose="02020603050405020304" pitchFamily="18" charset="0"/>
              </a:rPr>
              <a:t>Routes at or below 1500’ AGL (with no segment above 1500’) are identified by four-digit numbers; e.g., VR1007, etc. These routes are generally developed for flight under VFR.</a:t>
            </a:r>
          </a:p>
          <a:p>
            <a:pPr algn="just">
              <a:spcAft>
                <a:spcPts val="600"/>
              </a:spcAft>
            </a:pPr>
            <a:r>
              <a:rPr lang="en-US" sz="800" dirty="0">
                <a:solidFill>
                  <a:srgbClr val="000000"/>
                </a:solidFill>
                <a:latin typeface="Times New Roman" panose="02020603050405020304" pitchFamily="18" charset="0"/>
              </a:rPr>
              <a:t>Routes above 1500’ AGL (some segments of these routes may be below 1500’) are identified by three or fewer digit numbers; e.g., IR21, VR302, etc. These routes are developed for flight under IFR.</a:t>
            </a:r>
          </a:p>
          <a:p>
            <a:pPr algn="just"/>
            <a:r>
              <a:rPr lang="en-US" sz="800" dirty="0">
                <a:solidFill>
                  <a:srgbClr val="000000"/>
                </a:solidFill>
                <a:latin typeface="Times New Roman" panose="02020603050405020304" pitchFamily="18" charset="0"/>
              </a:rPr>
              <a:t>To the right is the published data on IR-424.</a:t>
            </a:r>
            <a:endParaRPr lang="en-US" sz="800" dirty="0"/>
          </a:p>
        </p:txBody>
      </p:sp>
      <p:pic>
        <p:nvPicPr>
          <p:cNvPr id="5" name="Picture 4">
            <a:extLst>
              <a:ext uri="{FF2B5EF4-FFF2-40B4-BE49-F238E27FC236}">
                <a16:creationId xmlns:a16="http://schemas.microsoft.com/office/drawing/2014/main" id="{506C4A0F-C292-F702-4C98-D3826326ED53}"/>
              </a:ext>
            </a:extLst>
          </p:cNvPr>
          <p:cNvPicPr>
            <a:picLocks noChangeAspect="1"/>
          </p:cNvPicPr>
          <p:nvPr/>
        </p:nvPicPr>
        <p:blipFill>
          <a:blip r:embed="rId2"/>
          <a:stretch>
            <a:fillRect/>
          </a:stretch>
        </p:blipFill>
        <p:spPr>
          <a:xfrm>
            <a:off x="2861033" y="63394"/>
            <a:ext cx="1398363" cy="2257425"/>
          </a:xfrm>
          <a:prstGeom prst="rect">
            <a:avLst/>
          </a:prstGeom>
        </p:spPr>
      </p:pic>
    </p:spTree>
    <p:extLst>
      <p:ext uri="{BB962C8B-B14F-4D97-AF65-F5344CB8AC3E}">
        <p14:creationId xmlns:p14="http://schemas.microsoft.com/office/powerpoint/2010/main" val="2313935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CC8F0F-F777-9954-6B9D-93BB547F01A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233204" y="560040"/>
            <a:ext cx="1966603" cy="1623120"/>
          </a:xfrm>
          <a:prstGeom prst="rect">
            <a:avLst/>
          </a:prstGeom>
        </p:spPr>
      </p:pic>
      <p:sp>
        <p:nvSpPr>
          <p:cNvPr id="4" name="TextBox 3">
            <a:extLst>
              <a:ext uri="{FF2B5EF4-FFF2-40B4-BE49-F238E27FC236}">
                <a16:creationId xmlns:a16="http://schemas.microsoft.com/office/drawing/2014/main" id="{D230B8A8-706F-68FF-A115-E4EC8C309B6E}"/>
              </a:ext>
            </a:extLst>
          </p:cNvPr>
          <p:cNvSpPr txBox="1"/>
          <p:nvPr/>
        </p:nvSpPr>
        <p:spPr>
          <a:xfrm>
            <a:off x="2433638" y="686096"/>
            <a:ext cx="1905157" cy="1384995"/>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You are flying your homebuilt across the state at high noon. You have no electronics on board. You are headed straight for KSLN. What do you need to do?</a:t>
            </a:r>
          </a:p>
        </p:txBody>
      </p:sp>
      <p:sp>
        <p:nvSpPr>
          <p:cNvPr id="5" name="TextBox 4">
            <a:extLst>
              <a:ext uri="{FF2B5EF4-FFF2-40B4-BE49-F238E27FC236}">
                <a16:creationId xmlns:a16="http://schemas.microsoft.com/office/drawing/2014/main" id="{707E7A67-FFD8-FD22-978C-518ECB2754A6}"/>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2" name="Rectangle 1">
            <a:extLst>
              <a:ext uri="{FF2B5EF4-FFF2-40B4-BE49-F238E27FC236}">
                <a16:creationId xmlns:a16="http://schemas.microsoft.com/office/drawing/2014/main" id="{02CC6476-30F5-0504-B44F-29E4B2DBF7B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760D696-421A-C849-208B-DBDFA4C340D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618116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E9CC7D-5E90-8FD2-481D-3D6A91B3536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342362" y="698809"/>
            <a:ext cx="1702660" cy="1405277"/>
          </a:xfrm>
          <a:prstGeom prst="rect">
            <a:avLst/>
          </a:prstGeom>
        </p:spPr>
      </p:pic>
      <p:sp>
        <p:nvSpPr>
          <p:cNvPr id="6" name="Rectangle 5">
            <a:extLst>
              <a:ext uri="{FF2B5EF4-FFF2-40B4-BE49-F238E27FC236}">
                <a16:creationId xmlns:a16="http://schemas.microsoft.com/office/drawing/2014/main" id="{9360CEEF-DCC8-5917-3FD4-A3D72A2887B1}"/>
              </a:ext>
            </a:extLst>
          </p:cNvPr>
          <p:cNvSpPr/>
          <p:nvPr/>
        </p:nvSpPr>
        <p:spPr>
          <a:xfrm>
            <a:off x="567549" y="1401448"/>
            <a:ext cx="546517" cy="4143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7C0C1F8C-2FEB-9033-C3C7-C608212E0606}"/>
              </a:ext>
            </a:extLst>
          </p:cNvPr>
          <p:cNvSpPr txBox="1"/>
          <p:nvPr/>
        </p:nvSpPr>
        <p:spPr>
          <a:xfrm>
            <a:off x="56842" y="63394"/>
            <a:ext cx="1136850"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Chart Symbology</a:t>
            </a:r>
          </a:p>
        </p:txBody>
      </p:sp>
      <p:sp>
        <p:nvSpPr>
          <p:cNvPr id="5" name="TextBox 4">
            <a:extLst>
              <a:ext uri="{FF2B5EF4-FFF2-40B4-BE49-F238E27FC236}">
                <a16:creationId xmlns:a16="http://schemas.microsoft.com/office/drawing/2014/main" id="{F21DAEAE-E74D-26F6-017D-8C16D0F9F881}"/>
              </a:ext>
            </a:extLst>
          </p:cNvPr>
          <p:cNvSpPr txBox="1"/>
          <p:nvPr/>
        </p:nvSpPr>
        <p:spPr>
          <a:xfrm>
            <a:off x="2205576" y="732963"/>
            <a:ext cx="2024062" cy="1277273"/>
          </a:xfrm>
          <a:prstGeom prst="rect">
            <a:avLst/>
          </a:prstGeom>
          <a:noFill/>
        </p:spPr>
        <p:txBody>
          <a:bodyPr wrap="square">
            <a:spAutoFit/>
          </a:bodyPr>
          <a:lstStyle/>
          <a:p>
            <a:pPr algn="just"/>
            <a:r>
              <a:rPr lang="en-US" sz="1100" dirty="0">
                <a:solidFill>
                  <a:srgbClr val="000000"/>
                </a:solidFill>
                <a:latin typeface="Times New Roman" panose="02020603050405020304" pitchFamily="18" charset="0"/>
              </a:rPr>
              <a:t>A review of the chart supplement shows that KSLN tower is open everyday at noon therefore, the Class D airspace is active. As a result, you must avoid it by flying around it or over it (above 3,800 MSL).</a:t>
            </a:r>
            <a:endParaRPr lang="en-US" sz="1100" dirty="0"/>
          </a:p>
        </p:txBody>
      </p:sp>
    </p:spTree>
    <p:extLst>
      <p:ext uri="{BB962C8B-B14F-4D97-AF65-F5344CB8AC3E}">
        <p14:creationId xmlns:p14="http://schemas.microsoft.com/office/powerpoint/2010/main" val="23814756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686</Words>
  <Application>Microsoft Office PowerPoint</Application>
  <PresentationFormat>Custom</PresentationFormat>
  <Paragraphs>59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2025-11-08T21:58:48Z</dcterms:modified>
</cp:coreProperties>
</file>