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7" r:id="rId2"/>
    <p:sldId id="278" r:id="rId3"/>
    <p:sldId id="674" r:id="rId4"/>
    <p:sldId id="675" r:id="rId5"/>
    <p:sldId id="676" r:id="rId6"/>
    <p:sldId id="677" r:id="rId7"/>
    <p:sldId id="421" r:id="rId8"/>
    <p:sldId id="422" r:id="rId9"/>
    <p:sldId id="678" r:id="rId10"/>
    <p:sldId id="679" r:id="rId11"/>
    <p:sldId id="586" r:id="rId12"/>
    <p:sldId id="587" r:id="rId13"/>
    <p:sldId id="588" r:id="rId14"/>
    <p:sldId id="589" r:id="rId15"/>
    <p:sldId id="590" r:id="rId16"/>
    <p:sldId id="591" r:id="rId17"/>
    <p:sldId id="650" r:id="rId18"/>
    <p:sldId id="651" r:id="rId19"/>
    <p:sldId id="652" r:id="rId20"/>
    <p:sldId id="653" r:id="rId21"/>
    <p:sldId id="654" r:id="rId22"/>
    <p:sldId id="655" r:id="rId23"/>
    <p:sldId id="656" r:id="rId24"/>
    <p:sldId id="657" r:id="rId25"/>
    <p:sldId id="660" r:id="rId26"/>
    <p:sldId id="661" r:id="rId27"/>
    <p:sldId id="662" r:id="rId28"/>
    <p:sldId id="663" r:id="rId29"/>
    <p:sldId id="658" r:id="rId30"/>
    <p:sldId id="659" r:id="rId31"/>
    <p:sldId id="592" r:id="rId32"/>
    <p:sldId id="593" r:id="rId33"/>
    <p:sldId id="594" r:id="rId34"/>
    <p:sldId id="601" r:id="rId35"/>
    <p:sldId id="602" r:id="rId36"/>
    <p:sldId id="603" r:id="rId37"/>
  </p:sldIdLst>
  <p:sldSz cx="4572000" cy="27432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201" d="100"/>
          <a:sy n="201" d="100"/>
        </p:scale>
        <p:origin x="1050" y="156"/>
      </p:cViewPr>
      <p:guideLst/>
    </p:cSldViewPr>
  </p:slideViewPr>
  <p:notesTextViewPr>
    <p:cViewPr>
      <p:scale>
        <a:sx n="1" d="1"/>
        <a:sy n="1" d="1"/>
      </p:scale>
      <p:origin x="0" y="0"/>
    </p:cViewPr>
  </p:notesTextViewPr>
  <p:sorterViewPr>
    <p:cViewPr>
      <p:scale>
        <a:sx n="200" d="100"/>
        <a:sy n="200" d="100"/>
      </p:scale>
      <p:origin x="0" y="-2632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500" y="448945"/>
            <a:ext cx="3429000" cy="955040"/>
          </a:xfrm>
          <a:prstGeom prst="rect">
            <a:avLst/>
          </a:prstGeom>
        </p:spPr>
        <p:txBody>
          <a:bodyPr anchor="b"/>
          <a:lstStyle>
            <a:lvl1pPr algn="ctr">
              <a:defRPr sz="2250"/>
            </a:lvl1pPr>
          </a:lstStyle>
          <a:p>
            <a:r>
              <a:rPr lang="en-US"/>
              <a:t>Click to edit Master title style</a:t>
            </a:r>
            <a:endParaRPr lang="en-US" dirty="0"/>
          </a:p>
        </p:txBody>
      </p:sp>
      <p:sp>
        <p:nvSpPr>
          <p:cNvPr id="3" name="Subtitle 2"/>
          <p:cNvSpPr>
            <a:spLocks noGrp="1"/>
          </p:cNvSpPr>
          <p:nvPr>
            <p:ph type="subTitle" idx="1"/>
          </p:nvPr>
        </p:nvSpPr>
        <p:spPr>
          <a:xfrm>
            <a:off x="571500" y="1440815"/>
            <a:ext cx="3429000" cy="662305"/>
          </a:xfrm>
          <a:prstGeom prst="rect">
            <a:avLst/>
          </a:prstGeom>
        </p:spPr>
        <p:txBody>
          <a:bodyPr/>
          <a:lstStyle>
            <a:lvl1pPr marL="0" indent="0" algn="ctr">
              <a:buNone/>
              <a:defRPr sz="900"/>
            </a:lvl1pPr>
            <a:lvl2pPr marL="171450" indent="0" algn="ctr">
              <a:buNone/>
              <a:defRPr sz="750"/>
            </a:lvl2pPr>
            <a:lvl3pPr marL="342900" indent="0" algn="ctr">
              <a:buNone/>
              <a:defRPr sz="675"/>
            </a:lvl3pPr>
            <a:lvl4pPr marL="514350" indent="0" algn="ctr">
              <a:buNone/>
              <a:defRPr sz="600"/>
            </a:lvl4pPr>
            <a:lvl5pPr marL="685800" indent="0" algn="ctr">
              <a:buNone/>
              <a:defRPr sz="600"/>
            </a:lvl5pPr>
            <a:lvl6pPr marL="857250" indent="0" algn="ctr">
              <a:buNone/>
              <a:defRPr sz="600"/>
            </a:lvl6pPr>
            <a:lvl7pPr marL="1028700" indent="0" algn="ctr">
              <a:buNone/>
              <a:defRPr sz="600"/>
            </a:lvl7pPr>
            <a:lvl8pPr marL="1200150" indent="0" algn="ctr">
              <a:buNone/>
              <a:defRPr sz="600"/>
            </a:lvl8pPr>
            <a:lvl9pPr marL="1371600" indent="0" algn="ctr">
              <a:buNone/>
              <a:defRPr sz="600"/>
            </a:lvl9pPr>
          </a:lstStyle>
          <a:p>
            <a:r>
              <a:rPr lang="en-US"/>
              <a:t>Click to edit Master subtitle style</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364263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314325" y="730250"/>
            <a:ext cx="394335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96151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1944" y="683895"/>
            <a:ext cx="3943350" cy="1141095"/>
          </a:xfrm>
          <a:prstGeom prst="rect">
            <a:avLst/>
          </a:prstGeom>
        </p:spPr>
        <p:txBody>
          <a:bodyPr anchor="b"/>
          <a:lstStyle>
            <a:lvl1pPr>
              <a:defRPr sz="2250"/>
            </a:lvl1pPr>
          </a:lstStyle>
          <a:p>
            <a:r>
              <a:rPr lang="en-US"/>
              <a:t>Click to edit Master title style</a:t>
            </a:r>
            <a:endParaRPr lang="en-US" dirty="0"/>
          </a:p>
        </p:txBody>
      </p:sp>
      <p:sp>
        <p:nvSpPr>
          <p:cNvPr id="3" name="Text Placeholder 2"/>
          <p:cNvSpPr>
            <a:spLocks noGrp="1"/>
          </p:cNvSpPr>
          <p:nvPr>
            <p:ph type="body" idx="1"/>
          </p:nvPr>
        </p:nvSpPr>
        <p:spPr>
          <a:xfrm>
            <a:off x="311944" y="1835785"/>
            <a:ext cx="3943350" cy="600075"/>
          </a:xfrm>
          <a:prstGeom prst="rect">
            <a:avLst/>
          </a:prstGeom>
        </p:spPr>
        <p:txBody>
          <a:bodyPr/>
          <a:lstStyle>
            <a:lvl1pPr marL="0" indent="0">
              <a:buNone/>
              <a:defRPr sz="900">
                <a:solidFill>
                  <a:schemeClr val="tx1">
                    <a:tint val="75000"/>
                  </a:schemeClr>
                </a:solidFill>
              </a:defRPr>
            </a:lvl1pPr>
            <a:lvl2pPr marL="171450" indent="0">
              <a:buNone/>
              <a:defRPr sz="750">
                <a:solidFill>
                  <a:schemeClr val="tx1">
                    <a:tint val="75000"/>
                  </a:schemeClr>
                </a:solidFill>
              </a:defRPr>
            </a:lvl2pPr>
            <a:lvl3pPr marL="342900" indent="0">
              <a:buNone/>
              <a:defRPr sz="675">
                <a:solidFill>
                  <a:schemeClr val="tx1">
                    <a:tint val="75000"/>
                  </a:schemeClr>
                </a:solidFill>
              </a:defRPr>
            </a:lvl3pPr>
            <a:lvl4pPr marL="514350" indent="0">
              <a:buNone/>
              <a:defRPr sz="600">
                <a:solidFill>
                  <a:schemeClr val="tx1">
                    <a:tint val="75000"/>
                  </a:schemeClr>
                </a:solidFill>
              </a:defRPr>
            </a:lvl4pPr>
            <a:lvl5pPr marL="685800" indent="0">
              <a:buNone/>
              <a:defRPr sz="600">
                <a:solidFill>
                  <a:schemeClr val="tx1">
                    <a:tint val="75000"/>
                  </a:schemeClr>
                </a:solidFill>
              </a:defRPr>
            </a:lvl5pPr>
            <a:lvl6pPr marL="857250" indent="0">
              <a:buNone/>
              <a:defRPr sz="600">
                <a:solidFill>
                  <a:schemeClr val="tx1">
                    <a:tint val="75000"/>
                  </a:schemeClr>
                </a:solidFill>
              </a:defRPr>
            </a:lvl6pPr>
            <a:lvl7pPr marL="1028700" indent="0">
              <a:buNone/>
              <a:defRPr sz="600">
                <a:solidFill>
                  <a:schemeClr val="tx1">
                    <a:tint val="75000"/>
                  </a:schemeClr>
                </a:solidFill>
              </a:defRPr>
            </a:lvl7pPr>
            <a:lvl8pPr marL="1200150" indent="0">
              <a:buNone/>
              <a:defRPr sz="600">
                <a:solidFill>
                  <a:schemeClr val="tx1">
                    <a:tint val="75000"/>
                  </a:schemeClr>
                </a:solidFill>
              </a:defRPr>
            </a:lvl8pPr>
            <a:lvl9pPr marL="1371600" indent="0">
              <a:buNone/>
              <a:defRPr sz="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490374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314325" y="730250"/>
            <a:ext cx="194310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314575" y="730250"/>
            <a:ext cx="194310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262417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14921" y="146050"/>
            <a:ext cx="3943350" cy="530225"/>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314921" y="672465"/>
            <a:ext cx="1934170" cy="329565"/>
          </a:xfrm>
          <a:prstGeom prst="rect">
            <a:avLst/>
          </a:prstGeom>
        </p:spPr>
        <p:txBody>
          <a:bodyPr anchor="b"/>
          <a:lstStyle>
            <a:lvl1pPr marL="0" indent="0">
              <a:buNone/>
              <a:defRPr sz="900" b="1"/>
            </a:lvl1pPr>
            <a:lvl2pPr marL="171450" indent="0">
              <a:buNone/>
              <a:defRPr sz="750" b="1"/>
            </a:lvl2pPr>
            <a:lvl3pPr marL="342900" indent="0">
              <a:buNone/>
              <a:defRPr sz="675" b="1"/>
            </a:lvl3pPr>
            <a:lvl4pPr marL="514350" indent="0">
              <a:buNone/>
              <a:defRPr sz="600" b="1"/>
            </a:lvl4pPr>
            <a:lvl5pPr marL="685800" indent="0">
              <a:buNone/>
              <a:defRPr sz="600" b="1"/>
            </a:lvl5pPr>
            <a:lvl6pPr marL="857250" indent="0">
              <a:buNone/>
              <a:defRPr sz="600" b="1"/>
            </a:lvl6pPr>
            <a:lvl7pPr marL="1028700" indent="0">
              <a:buNone/>
              <a:defRPr sz="600" b="1"/>
            </a:lvl7pPr>
            <a:lvl8pPr marL="1200150" indent="0">
              <a:buNone/>
              <a:defRPr sz="600" b="1"/>
            </a:lvl8pPr>
            <a:lvl9pPr marL="1371600" indent="0">
              <a:buNone/>
              <a:defRPr sz="600" b="1"/>
            </a:lvl9pPr>
          </a:lstStyle>
          <a:p>
            <a:pPr lvl="0"/>
            <a:r>
              <a:rPr lang="en-US"/>
              <a:t>Click to edit Master text styles</a:t>
            </a:r>
          </a:p>
        </p:txBody>
      </p:sp>
      <p:sp>
        <p:nvSpPr>
          <p:cNvPr id="4" name="Content Placeholder 3"/>
          <p:cNvSpPr>
            <a:spLocks noGrp="1"/>
          </p:cNvSpPr>
          <p:nvPr>
            <p:ph sz="half" idx="2"/>
          </p:nvPr>
        </p:nvSpPr>
        <p:spPr>
          <a:xfrm>
            <a:off x="314921" y="1002030"/>
            <a:ext cx="1934170" cy="14738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314575" y="672465"/>
            <a:ext cx="1943696" cy="329565"/>
          </a:xfrm>
          <a:prstGeom prst="rect">
            <a:avLst/>
          </a:prstGeom>
        </p:spPr>
        <p:txBody>
          <a:bodyPr anchor="b"/>
          <a:lstStyle>
            <a:lvl1pPr marL="0" indent="0">
              <a:buNone/>
              <a:defRPr sz="900" b="1"/>
            </a:lvl1pPr>
            <a:lvl2pPr marL="171450" indent="0">
              <a:buNone/>
              <a:defRPr sz="750" b="1"/>
            </a:lvl2pPr>
            <a:lvl3pPr marL="342900" indent="0">
              <a:buNone/>
              <a:defRPr sz="675" b="1"/>
            </a:lvl3pPr>
            <a:lvl4pPr marL="514350" indent="0">
              <a:buNone/>
              <a:defRPr sz="600" b="1"/>
            </a:lvl4pPr>
            <a:lvl5pPr marL="685800" indent="0">
              <a:buNone/>
              <a:defRPr sz="600" b="1"/>
            </a:lvl5pPr>
            <a:lvl6pPr marL="857250" indent="0">
              <a:buNone/>
              <a:defRPr sz="600" b="1"/>
            </a:lvl6pPr>
            <a:lvl7pPr marL="1028700" indent="0">
              <a:buNone/>
              <a:defRPr sz="600" b="1"/>
            </a:lvl7pPr>
            <a:lvl8pPr marL="1200150" indent="0">
              <a:buNone/>
              <a:defRPr sz="600" b="1"/>
            </a:lvl8pPr>
            <a:lvl9pPr marL="1371600" indent="0">
              <a:buNone/>
              <a:defRPr sz="600" b="1"/>
            </a:lvl9pPr>
          </a:lstStyle>
          <a:p>
            <a:pPr lvl="0"/>
            <a:r>
              <a:rPr lang="en-US"/>
              <a:t>Click to edit Master text styles</a:t>
            </a:r>
          </a:p>
        </p:txBody>
      </p:sp>
      <p:sp>
        <p:nvSpPr>
          <p:cNvPr id="6" name="Content Placeholder 5"/>
          <p:cNvSpPr>
            <a:spLocks noGrp="1"/>
          </p:cNvSpPr>
          <p:nvPr>
            <p:ph sz="quarter" idx="4"/>
          </p:nvPr>
        </p:nvSpPr>
        <p:spPr>
          <a:xfrm>
            <a:off x="2314575" y="1002030"/>
            <a:ext cx="1943696" cy="14738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8" name="Footer Placeholder 7"/>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9" name="Slide Number Placeholder 8"/>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2740136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4" name="Footer Placeholder 3"/>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5" name="Slide Number Placeholder 4"/>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2115089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3" name="Footer Placeholder 2"/>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4" name="Slide Number Placeholder 3"/>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769017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4921" y="182880"/>
            <a:ext cx="1474589" cy="640080"/>
          </a:xfrm>
          <a:prstGeom prst="rect">
            <a:avLst/>
          </a:prstGeom>
        </p:spPr>
        <p:txBody>
          <a:bodyPr anchor="b"/>
          <a:lstStyle>
            <a:lvl1pPr>
              <a:defRPr sz="1200"/>
            </a:lvl1pPr>
          </a:lstStyle>
          <a:p>
            <a:r>
              <a:rPr lang="en-US"/>
              <a:t>Click to edit Master title style</a:t>
            </a:r>
            <a:endParaRPr lang="en-US" dirty="0"/>
          </a:p>
        </p:txBody>
      </p:sp>
      <p:sp>
        <p:nvSpPr>
          <p:cNvPr id="3" name="Content Placeholder 2"/>
          <p:cNvSpPr>
            <a:spLocks noGrp="1"/>
          </p:cNvSpPr>
          <p:nvPr>
            <p:ph idx="1"/>
          </p:nvPr>
        </p:nvSpPr>
        <p:spPr>
          <a:xfrm>
            <a:off x="1943695" y="394970"/>
            <a:ext cx="2314575" cy="1949450"/>
          </a:xfrm>
          <a:prstGeom prst="rect">
            <a:avLst/>
          </a:prstGeom>
        </p:spPr>
        <p:txBody>
          <a:bodyPr/>
          <a:lstStyle>
            <a:lvl1pPr>
              <a:defRPr sz="1200"/>
            </a:lvl1pPr>
            <a:lvl2pPr>
              <a:defRPr sz="1050"/>
            </a:lvl2pPr>
            <a:lvl3pPr>
              <a:defRPr sz="900"/>
            </a:lvl3pPr>
            <a:lvl4pPr>
              <a:defRPr sz="750"/>
            </a:lvl4pPr>
            <a:lvl5pPr>
              <a:defRPr sz="750"/>
            </a:lvl5pPr>
            <a:lvl6pPr>
              <a:defRPr sz="750"/>
            </a:lvl6pPr>
            <a:lvl7pPr>
              <a:defRPr sz="750"/>
            </a:lvl7pPr>
            <a:lvl8pPr>
              <a:defRPr sz="750"/>
            </a:lvl8pPr>
            <a:lvl9pPr>
              <a:defRPr sz="7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14921" y="822960"/>
            <a:ext cx="1474589" cy="1524635"/>
          </a:xfrm>
          <a:prstGeom prst="rect">
            <a:avLst/>
          </a:prstGeom>
        </p:spPr>
        <p:txBody>
          <a:bodyPr/>
          <a:lstStyle>
            <a:lvl1pPr marL="0" indent="0">
              <a:buNone/>
              <a:defRPr sz="600"/>
            </a:lvl1pPr>
            <a:lvl2pPr marL="171450" indent="0">
              <a:buNone/>
              <a:defRPr sz="525"/>
            </a:lvl2pPr>
            <a:lvl3pPr marL="342900" indent="0">
              <a:buNone/>
              <a:defRPr sz="450"/>
            </a:lvl3pPr>
            <a:lvl4pPr marL="514350" indent="0">
              <a:buNone/>
              <a:defRPr sz="375"/>
            </a:lvl4pPr>
            <a:lvl5pPr marL="685800" indent="0">
              <a:buNone/>
              <a:defRPr sz="375"/>
            </a:lvl5pPr>
            <a:lvl6pPr marL="857250" indent="0">
              <a:buNone/>
              <a:defRPr sz="375"/>
            </a:lvl6pPr>
            <a:lvl7pPr marL="1028700" indent="0">
              <a:buNone/>
              <a:defRPr sz="375"/>
            </a:lvl7pPr>
            <a:lvl8pPr marL="1200150" indent="0">
              <a:buNone/>
              <a:defRPr sz="375"/>
            </a:lvl8pPr>
            <a:lvl9pPr marL="1371600" indent="0">
              <a:buNone/>
              <a:defRPr sz="375"/>
            </a:lvl9pPr>
          </a:lstStyle>
          <a:p>
            <a:pPr lvl="0"/>
            <a:r>
              <a:rPr lang="en-US"/>
              <a:t>Click to edit Master text styles</a:t>
            </a:r>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195399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4921" y="182880"/>
            <a:ext cx="1474589" cy="640080"/>
          </a:xfrm>
          <a:prstGeom prst="rect">
            <a:avLst/>
          </a:prstGeom>
        </p:spPr>
        <p:txBody>
          <a:bodyPr anchor="b"/>
          <a:lstStyle>
            <a:lvl1pPr>
              <a:defRPr sz="1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3695" y="394970"/>
            <a:ext cx="2314575" cy="1949450"/>
          </a:xfrm>
          <a:prstGeom prst="rect">
            <a:avLst/>
          </a:prstGeom>
        </p:spPr>
        <p:txBody>
          <a:bodyPr anchor="t"/>
          <a:lstStyle>
            <a:lvl1pPr marL="0" indent="0">
              <a:buNone/>
              <a:defRPr sz="1200"/>
            </a:lvl1pPr>
            <a:lvl2pPr marL="171450" indent="0">
              <a:buNone/>
              <a:defRPr sz="1050"/>
            </a:lvl2pPr>
            <a:lvl3pPr marL="342900" indent="0">
              <a:buNone/>
              <a:defRPr sz="900"/>
            </a:lvl3pPr>
            <a:lvl4pPr marL="514350" indent="0">
              <a:buNone/>
              <a:defRPr sz="750"/>
            </a:lvl4pPr>
            <a:lvl5pPr marL="685800" indent="0">
              <a:buNone/>
              <a:defRPr sz="750"/>
            </a:lvl5pPr>
            <a:lvl6pPr marL="857250" indent="0">
              <a:buNone/>
              <a:defRPr sz="750"/>
            </a:lvl6pPr>
            <a:lvl7pPr marL="1028700" indent="0">
              <a:buNone/>
              <a:defRPr sz="750"/>
            </a:lvl7pPr>
            <a:lvl8pPr marL="1200150" indent="0">
              <a:buNone/>
              <a:defRPr sz="750"/>
            </a:lvl8pPr>
            <a:lvl9pPr marL="1371600" indent="0">
              <a:buNone/>
              <a:defRPr sz="750"/>
            </a:lvl9pPr>
          </a:lstStyle>
          <a:p>
            <a:r>
              <a:rPr lang="en-US" dirty="0"/>
              <a:t>Click icon to add picture</a:t>
            </a:r>
          </a:p>
        </p:txBody>
      </p:sp>
      <p:sp>
        <p:nvSpPr>
          <p:cNvPr id="4" name="Text Placeholder 3"/>
          <p:cNvSpPr>
            <a:spLocks noGrp="1"/>
          </p:cNvSpPr>
          <p:nvPr>
            <p:ph type="body" sz="half" idx="2"/>
          </p:nvPr>
        </p:nvSpPr>
        <p:spPr>
          <a:xfrm>
            <a:off x="314921" y="822960"/>
            <a:ext cx="1474589" cy="1524635"/>
          </a:xfrm>
          <a:prstGeom prst="rect">
            <a:avLst/>
          </a:prstGeom>
        </p:spPr>
        <p:txBody>
          <a:bodyPr/>
          <a:lstStyle>
            <a:lvl1pPr marL="0" indent="0">
              <a:buNone/>
              <a:defRPr sz="600"/>
            </a:lvl1pPr>
            <a:lvl2pPr marL="171450" indent="0">
              <a:buNone/>
              <a:defRPr sz="525"/>
            </a:lvl2pPr>
            <a:lvl3pPr marL="342900" indent="0">
              <a:buNone/>
              <a:defRPr sz="450"/>
            </a:lvl3pPr>
            <a:lvl4pPr marL="514350" indent="0">
              <a:buNone/>
              <a:defRPr sz="375"/>
            </a:lvl4pPr>
            <a:lvl5pPr marL="685800" indent="0">
              <a:buNone/>
              <a:defRPr sz="375"/>
            </a:lvl5pPr>
            <a:lvl6pPr marL="857250" indent="0">
              <a:buNone/>
              <a:defRPr sz="375"/>
            </a:lvl6pPr>
            <a:lvl7pPr marL="1028700" indent="0">
              <a:buNone/>
              <a:defRPr sz="375"/>
            </a:lvl7pPr>
            <a:lvl8pPr marL="1200150" indent="0">
              <a:buNone/>
              <a:defRPr sz="375"/>
            </a:lvl8pPr>
            <a:lvl9pPr marL="1371600" indent="0">
              <a:buNone/>
              <a:defRPr sz="375"/>
            </a:lvl9pPr>
          </a:lstStyle>
          <a:p>
            <a:pPr lvl="0"/>
            <a:r>
              <a:rPr lang="en-US"/>
              <a:t>Click to edit Master text styles</a:t>
            </a:r>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11024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314325" y="730250"/>
            <a:ext cx="3943350" cy="174053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755794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71837" y="146050"/>
            <a:ext cx="985838" cy="2324735"/>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14325" y="146050"/>
            <a:ext cx="2900363" cy="232473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775824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7A9946-5692-E818-A72E-A36AB2A2FEEA}"/>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3700587" y="2403835"/>
            <a:ext cx="706443" cy="223451"/>
          </a:xfrm>
          <a:prstGeom prst="rect">
            <a:avLst/>
          </a:prstGeom>
        </p:spPr>
      </p:pic>
      <p:sp>
        <p:nvSpPr>
          <p:cNvPr id="4" name="TextBox 3">
            <a:extLst>
              <a:ext uri="{FF2B5EF4-FFF2-40B4-BE49-F238E27FC236}">
                <a16:creationId xmlns:a16="http://schemas.microsoft.com/office/drawing/2014/main" id="{DA4919B7-D03A-9B97-6C73-CC837D59682E}"/>
              </a:ext>
            </a:extLst>
          </p:cNvPr>
          <p:cNvSpPr txBox="1"/>
          <p:nvPr userDrawn="1"/>
        </p:nvSpPr>
        <p:spPr>
          <a:xfrm>
            <a:off x="4180007" y="2314225"/>
            <a:ext cx="325444" cy="261610"/>
          </a:xfrm>
          <a:prstGeom prst="rect">
            <a:avLst/>
          </a:prstGeom>
          <a:noFill/>
        </p:spPr>
        <p:txBody>
          <a:bodyPr wrap="square" rtlCol="0">
            <a:spAutoFit/>
          </a:bodyPr>
          <a:lstStyle/>
          <a:p>
            <a:pPr algn="r"/>
            <a:r>
              <a:rPr lang="en-US" sz="1100" dirty="0"/>
              <a:t>©</a:t>
            </a:r>
          </a:p>
        </p:txBody>
      </p:sp>
      <p:sp>
        <p:nvSpPr>
          <p:cNvPr id="2" name="TextBox 1">
            <a:extLst>
              <a:ext uri="{FF2B5EF4-FFF2-40B4-BE49-F238E27FC236}">
                <a16:creationId xmlns:a16="http://schemas.microsoft.com/office/drawing/2014/main" id="{0412EA83-402B-25E4-AC13-94DA49D0258B}"/>
              </a:ext>
            </a:extLst>
          </p:cNvPr>
          <p:cNvSpPr txBox="1"/>
          <p:nvPr userDrawn="1"/>
        </p:nvSpPr>
        <p:spPr>
          <a:xfrm>
            <a:off x="103694" y="2413266"/>
            <a:ext cx="1192955" cy="215444"/>
          </a:xfrm>
          <a:prstGeom prst="rect">
            <a:avLst/>
          </a:prstGeom>
          <a:noFill/>
        </p:spPr>
        <p:txBody>
          <a:bodyPr wrap="none" rtlCol="0">
            <a:spAutoFit/>
          </a:bodyPr>
          <a:lstStyle/>
          <a:p>
            <a:r>
              <a:rPr lang="en-US" sz="800" dirty="0"/>
              <a:t>triplesevenaviation.com</a:t>
            </a:r>
          </a:p>
        </p:txBody>
      </p:sp>
    </p:spTree>
    <p:extLst>
      <p:ext uri="{BB962C8B-B14F-4D97-AF65-F5344CB8AC3E}">
        <p14:creationId xmlns:p14="http://schemas.microsoft.com/office/powerpoint/2010/main" val="11431500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42900" rtl="0" eaLnBrk="1" latinLnBrk="0" hangingPunct="1">
        <a:lnSpc>
          <a:spcPct val="90000"/>
        </a:lnSpc>
        <a:spcBef>
          <a:spcPct val="0"/>
        </a:spcBef>
        <a:buNone/>
        <a:defRPr sz="1650" kern="1200">
          <a:solidFill>
            <a:schemeClr val="tx1"/>
          </a:solidFill>
          <a:latin typeface="+mj-lt"/>
          <a:ea typeface="+mj-ea"/>
          <a:cs typeface="+mj-cs"/>
        </a:defRPr>
      </a:lvl1pPr>
    </p:titleStyle>
    <p:bodyStyle>
      <a:lvl1pPr marL="85725" indent="-85725" algn="l" defTabSz="3429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1pPr>
      <a:lvl2pPr marL="257175" indent="-85725" algn="l" defTabSz="342900" rtl="0" eaLnBrk="1" latinLnBrk="0" hangingPunct="1">
        <a:lnSpc>
          <a:spcPct val="90000"/>
        </a:lnSpc>
        <a:spcBef>
          <a:spcPts val="188"/>
        </a:spcBef>
        <a:buFont typeface="Arial" panose="020B0604020202020204" pitchFamily="34" charset="0"/>
        <a:buChar char="•"/>
        <a:defRPr sz="900" kern="1200">
          <a:solidFill>
            <a:schemeClr val="tx1"/>
          </a:solidFill>
          <a:latin typeface="+mn-lt"/>
          <a:ea typeface="+mn-ea"/>
          <a:cs typeface="+mn-cs"/>
        </a:defRPr>
      </a:lvl2pPr>
      <a:lvl3pPr marL="428625" indent="-85725" algn="l" defTabSz="342900" rtl="0" eaLnBrk="1" latinLnBrk="0" hangingPunct="1">
        <a:lnSpc>
          <a:spcPct val="90000"/>
        </a:lnSpc>
        <a:spcBef>
          <a:spcPts val="188"/>
        </a:spcBef>
        <a:buFont typeface="Arial" panose="020B0604020202020204" pitchFamily="34" charset="0"/>
        <a:buChar char="•"/>
        <a:defRPr sz="750" kern="1200">
          <a:solidFill>
            <a:schemeClr val="tx1"/>
          </a:solidFill>
          <a:latin typeface="+mn-lt"/>
          <a:ea typeface="+mn-ea"/>
          <a:cs typeface="+mn-cs"/>
        </a:defRPr>
      </a:lvl3pPr>
      <a:lvl4pPr marL="6000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4pPr>
      <a:lvl5pPr marL="7715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5pPr>
      <a:lvl6pPr marL="9429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6pPr>
      <a:lvl7pPr marL="11144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7pPr>
      <a:lvl8pPr marL="12858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8pPr>
      <a:lvl9pPr marL="14573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9pPr>
    </p:bodyStyle>
    <p:otherStyle>
      <a:defPPr>
        <a:defRPr lang="en-US"/>
      </a:defPPr>
      <a:lvl1pPr marL="0" algn="l" defTabSz="342900" rtl="0" eaLnBrk="1" latinLnBrk="0" hangingPunct="1">
        <a:defRPr sz="675" kern="1200">
          <a:solidFill>
            <a:schemeClr val="tx1"/>
          </a:solidFill>
          <a:latin typeface="+mn-lt"/>
          <a:ea typeface="+mn-ea"/>
          <a:cs typeface="+mn-cs"/>
        </a:defRPr>
      </a:lvl1pPr>
      <a:lvl2pPr marL="171450" algn="l" defTabSz="342900" rtl="0" eaLnBrk="1" latinLnBrk="0" hangingPunct="1">
        <a:defRPr sz="675" kern="1200">
          <a:solidFill>
            <a:schemeClr val="tx1"/>
          </a:solidFill>
          <a:latin typeface="+mn-lt"/>
          <a:ea typeface="+mn-ea"/>
          <a:cs typeface="+mn-cs"/>
        </a:defRPr>
      </a:lvl2pPr>
      <a:lvl3pPr marL="342900" algn="l" defTabSz="342900" rtl="0" eaLnBrk="1" latinLnBrk="0" hangingPunct="1">
        <a:defRPr sz="675" kern="1200">
          <a:solidFill>
            <a:schemeClr val="tx1"/>
          </a:solidFill>
          <a:latin typeface="+mn-lt"/>
          <a:ea typeface="+mn-ea"/>
          <a:cs typeface="+mn-cs"/>
        </a:defRPr>
      </a:lvl3pPr>
      <a:lvl4pPr marL="514350" algn="l" defTabSz="342900" rtl="0" eaLnBrk="1" latinLnBrk="0" hangingPunct="1">
        <a:defRPr sz="675" kern="1200">
          <a:solidFill>
            <a:schemeClr val="tx1"/>
          </a:solidFill>
          <a:latin typeface="+mn-lt"/>
          <a:ea typeface="+mn-ea"/>
          <a:cs typeface="+mn-cs"/>
        </a:defRPr>
      </a:lvl4pPr>
      <a:lvl5pPr marL="685800" algn="l" defTabSz="342900" rtl="0" eaLnBrk="1" latinLnBrk="0" hangingPunct="1">
        <a:defRPr sz="675" kern="1200">
          <a:solidFill>
            <a:schemeClr val="tx1"/>
          </a:solidFill>
          <a:latin typeface="+mn-lt"/>
          <a:ea typeface="+mn-ea"/>
          <a:cs typeface="+mn-cs"/>
        </a:defRPr>
      </a:lvl5pPr>
      <a:lvl6pPr marL="857250" algn="l" defTabSz="342900" rtl="0" eaLnBrk="1" latinLnBrk="0" hangingPunct="1">
        <a:defRPr sz="675" kern="1200">
          <a:solidFill>
            <a:schemeClr val="tx1"/>
          </a:solidFill>
          <a:latin typeface="+mn-lt"/>
          <a:ea typeface="+mn-ea"/>
          <a:cs typeface="+mn-cs"/>
        </a:defRPr>
      </a:lvl6pPr>
      <a:lvl7pPr marL="1028700" algn="l" defTabSz="342900" rtl="0" eaLnBrk="1" latinLnBrk="0" hangingPunct="1">
        <a:defRPr sz="675" kern="1200">
          <a:solidFill>
            <a:schemeClr val="tx1"/>
          </a:solidFill>
          <a:latin typeface="+mn-lt"/>
          <a:ea typeface="+mn-ea"/>
          <a:cs typeface="+mn-cs"/>
        </a:defRPr>
      </a:lvl7pPr>
      <a:lvl8pPr marL="1200150" algn="l" defTabSz="342900" rtl="0" eaLnBrk="1" latinLnBrk="0" hangingPunct="1">
        <a:defRPr sz="675" kern="1200">
          <a:solidFill>
            <a:schemeClr val="tx1"/>
          </a:solidFill>
          <a:latin typeface="+mn-lt"/>
          <a:ea typeface="+mn-ea"/>
          <a:cs typeface="+mn-cs"/>
        </a:defRPr>
      </a:lvl8pPr>
      <a:lvl9pPr marL="1371600" algn="l" defTabSz="342900" rtl="0" eaLnBrk="1" latinLnBrk="0" hangingPunct="1">
        <a:defRPr sz="67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0623FC-726F-0E41-F3DC-DDB62442A0F9}"/>
              </a:ext>
            </a:extLst>
          </p:cNvPr>
          <p:cNvSpPr txBox="1"/>
          <p:nvPr/>
        </p:nvSpPr>
        <p:spPr>
          <a:xfrm>
            <a:off x="331595" y="982172"/>
            <a:ext cx="3908809" cy="523220"/>
          </a:xfrm>
          <a:prstGeom prst="rect">
            <a:avLst/>
          </a:prstGeom>
          <a:noFill/>
        </p:spPr>
        <p:txBody>
          <a:bodyPr wrap="square">
            <a:spAutoFit/>
          </a:bodyPr>
          <a:lstStyle/>
          <a:p>
            <a:pPr algn="just"/>
            <a:r>
              <a:rPr lang="en-US" sz="1400" dirty="0">
                <a:latin typeface="Times New Roman" panose="02020603050405020304" pitchFamily="18" charset="0"/>
              </a:rPr>
              <a:t>Regarding symptoms, what is a distinguishing difference between hypoxia and hyperventilation?</a:t>
            </a:r>
            <a:endParaRPr lang="en-US" sz="1400" dirty="0"/>
          </a:p>
        </p:txBody>
      </p:sp>
      <p:sp>
        <p:nvSpPr>
          <p:cNvPr id="2" name="Rectangle 1">
            <a:extLst>
              <a:ext uri="{FF2B5EF4-FFF2-40B4-BE49-F238E27FC236}">
                <a16:creationId xmlns:a16="http://schemas.microsoft.com/office/drawing/2014/main" id="{BC4D11C8-1D3B-EAE0-CA6B-CB172E1DCBC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586C05A5-2088-318A-D507-9BFEC2A56192}"/>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7" name="TextBox 6">
            <a:extLst>
              <a:ext uri="{FF2B5EF4-FFF2-40B4-BE49-F238E27FC236}">
                <a16:creationId xmlns:a16="http://schemas.microsoft.com/office/drawing/2014/main" id="{4E8AB4B9-59D0-C33A-9941-BB24C8D50F12}"/>
              </a:ext>
            </a:extLst>
          </p:cNvPr>
          <p:cNvSpPr txBox="1"/>
          <p:nvPr/>
        </p:nvSpPr>
        <p:spPr>
          <a:xfrm>
            <a:off x="44450" y="5715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Tree>
    <p:extLst>
      <p:ext uri="{BB962C8B-B14F-4D97-AF65-F5344CB8AC3E}">
        <p14:creationId xmlns:p14="http://schemas.microsoft.com/office/powerpoint/2010/main" val="3881214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353966-C995-631F-D7AD-FA1DEE337EC2}"/>
              </a:ext>
            </a:extLst>
          </p:cNvPr>
          <p:cNvSpPr txBox="1"/>
          <p:nvPr/>
        </p:nvSpPr>
        <p:spPr>
          <a:xfrm>
            <a:off x="676193" y="1109990"/>
            <a:ext cx="3063701" cy="523220"/>
          </a:xfrm>
          <a:prstGeom prst="rect">
            <a:avLst/>
          </a:prstGeom>
          <a:noFill/>
        </p:spPr>
        <p:txBody>
          <a:bodyPr wrap="square">
            <a:spAutoFit/>
          </a:bodyPr>
          <a:lstStyle/>
          <a:p>
            <a:pPr algn="just"/>
            <a:r>
              <a:rPr lang="en-US" sz="1400" dirty="0">
                <a:latin typeface="Times New Roman" panose="02020603050405020304" pitchFamily="18" charset="0"/>
              </a:rPr>
              <a:t>The breathing rate will be higher during hyperventilation.</a:t>
            </a:r>
            <a:endParaRPr lang="en-US" sz="1400" dirty="0"/>
          </a:p>
        </p:txBody>
      </p:sp>
      <p:sp>
        <p:nvSpPr>
          <p:cNvPr id="5" name="TextBox 4">
            <a:extLst>
              <a:ext uri="{FF2B5EF4-FFF2-40B4-BE49-F238E27FC236}">
                <a16:creationId xmlns:a16="http://schemas.microsoft.com/office/drawing/2014/main" id="{84F19BF0-4029-7F9B-9838-34AF394EA4A8}"/>
              </a:ext>
            </a:extLst>
          </p:cNvPr>
          <p:cNvSpPr txBox="1"/>
          <p:nvPr/>
        </p:nvSpPr>
        <p:spPr>
          <a:xfrm>
            <a:off x="44450" y="5715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Tree>
    <p:extLst>
      <p:ext uri="{BB962C8B-B14F-4D97-AF65-F5344CB8AC3E}">
        <p14:creationId xmlns:p14="http://schemas.microsoft.com/office/powerpoint/2010/main" val="1039787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75CFD11-6EFA-8089-DE33-A02DFEB2975A}"/>
              </a:ext>
            </a:extLst>
          </p:cNvPr>
          <p:cNvSpPr txBox="1"/>
          <p:nvPr/>
        </p:nvSpPr>
        <p:spPr>
          <a:xfrm>
            <a:off x="44450" y="5715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41E67341-031F-317E-089B-0716204FAA7C}"/>
              </a:ext>
            </a:extLst>
          </p:cNvPr>
          <p:cNvSpPr txBox="1"/>
          <p:nvPr/>
        </p:nvSpPr>
        <p:spPr>
          <a:xfrm>
            <a:off x="856230" y="1002268"/>
            <a:ext cx="2859539" cy="738664"/>
          </a:xfrm>
          <a:prstGeom prst="rect">
            <a:avLst/>
          </a:prstGeom>
          <a:noFill/>
        </p:spPr>
        <p:txBody>
          <a:bodyPr wrap="square">
            <a:spAutoFit/>
          </a:bodyPr>
          <a:lstStyle/>
          <a:p>
            <a:pPr algn="ctr"/>
            <a:r>
              <a:rPr lang="en-US" sz="1400" dirty="0">
                <a:solidFill>
                  <a:srgbClr val="000000"/>
                </a:solidFill>
                <a:latin typeface="Times New Roman" panose="02020603050405020304" pitchFamily="18" charset="0"/>
              </a:rPr>
              <a:t>What is stagnant hypoxia?</a:t>
            </a:r>
          </a:p>
          <a:p>
            <a:pPr algn="ctr"/>
            <a:endParaRPr lang="en-US" sz="1400" dirty="0">
              <a:solidFill>
                <a:srgbClr val="000000"/>
              </a:solidFill>
              <a:latin typeface="Times New Roman" panose="02020603050405020304" pitchFamily="18" charset="0"/>
            </a:endParaRPr>
          </a:p>
          <a:p>
            <a:pPr algn="ctr"/>
            <a:r>
              <a:rPr lang="en-US" sz="1400" dirty="0">
                <a:solidFill>
                  <a:srgbClr val="000000"/>
                </a:solidFill>
                <a:latin typeface="Times New Roman" panose="02020603050405020304" pitchFamily="18" charset="0"/>
              </a:rPr>
              <a:t>AIM 8-1-2</a:t>
            </a:r>
            <a:endParaRPr lang="en-US" sz="1400" dirty="0"/>
          </a:p>
        </p:txBody>
      </p:sp>
      <p:sp>
        <p:nvSpPr>
          <p:cNvPr id="3" name="Rectangle 2">
            <a:extLst>
              <a:ext uri="{FF2B5EF4-FFF2-40B4-BE49-F238E27FC236}">
                <a16:creationId xmlns:a16="http://schemas.microsoft.com/office/drawing/2014/main" id="{7470BB9D-79FF-29AE-5615-B84FE723EF9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E710D3C-EFF6-E55B-5515-0149B03C4FDE}"/>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973760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75CFD11-6EFA-8089-DE33-A02DFEB2975A}"/>
              </a:ext>
            </a:extLst>
          </p:cNvPr>
          <p:cNvSpPr txBox="1"/>
          <p:nvPr/>
        </p:nvSpPr>
        <p:spPr>
          <a:xfrm>
            <a:off x="44450" y="5715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C64CCD0D-F85A-48B5-B5B2-C0923D30964A}"/>
              </a:ext>
            </a:extLst>
          </p:cNvPr>
          <p:cNvSpPr txBox="1"/>
          <p:nvPr/>
        </p:nvSpPr>
        <p:spPr>
          <a:xfrm>
            <a:off x="218377" y="679102"/>
            <a:ext cx="2549944" cy="1384995"/>
          </a:xfrm>
          <a:prstGeom prst="rect">
            <a:avLst/>
          </a:prstGeom>
          <a:noFill/>
        </p:spPr>
        <p:txBody>
          <a:bodyPr wrap="square">
            <a:spAutoFit/>
          </a:bodyPr>
          <a:lstStyle/>
          <a:p>
            <a:pPr algn="just"/>
            <a:r>
              <a:rPr lang="en-US" sz="1200" dirty="0">
                <a:solidFill>
                  <a:srgbClr val="000000"/>
                </a:solidFill>
                <a:latin typeface="Times New Roman" panose="02020603050405020304" pitchFamily="18" charset="0"/>
              </a:rPr>
              <a:t>Your blood may have plenty of oxygen but it is not making its way through your body as it should. This is also known as circulatory hypoxia or stagnant hypoxia. Blood clots or vascular system deformations can cause this.</a:t>
            </a:r>
            <a:endParaRPr lang="en-US" sz="1200" dirty="0"/>
          </a:p>
        </p:txBody>
      </p:sp>
      <p:pic>
        <p:nvPicPr>
          <p:cNvPr id="5" name="Picture 4">
            <a:extLst>
              <a:ext uri="{FF2B5EF4-FFF2-40B4-BE49-F238E27FC236}">
                <a16:creationId xmlns:a16="http://schemas.microsoft.com/office/drawing/2014/main" id="{CFDF1C18-FC7B-2FFD-652F-0BA6A0A354C0}"/>
              </a:ext>
            </a:extLst>
          </p:cNvPr>
          <p:cNvPicPr>
            <a:picLocks noChangeAspect="1"/>
          </p:cNvPicPr>
          <p:nvPr/>
        </p:nvPicPr>
        <p:blipFill>
          <a:blip r:embed="rId2"/>
          <a:stretch>
            <a:fillRect/>
          </a:stretch>
        </p:blipFill>
        <p:spPr>
          <a:xfrm>
            <a:off x="2935842" y="679102"/>
            <a:ext cx="1316756" cy="1323242"/>
          </a:xfrm>
          <a:prstGeom prst="rect">
            <a:avLst/>
          </a:prstGeom>
        </p:spPr>
      </p:pic>
    </p:spTree>
    <p:extLst>
      <p:ext uri="{BB962C8B-B14F-4D97-AF65-F5344CB8AC3E}">
        <p14:creationId xmlns:p14="http://schemas.microsoft.com/office/powerpoint/2010/main" val="732381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D010EC-5778-ECA9-6AD7-C5B74306192B}"/>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3" name="TextBox 2">
            <a:extLst>
              <a:ext uri="{FF2B5EF4-FFF2-40B4-BE49-F238E27FC236}">
                <a16:creationId xmlns:a16="http://schemas.microsoft.com/office/drawing/2014/main" id="{963C7CD8-888C-114B-A1ED-99E796803D5B}"/>
              </a:ext>
            </a:extLst>
          </p:cNvPr>
          <p:cNvSpPr txBox="1"/>
          <p:nvPr/>
        </p:nvSpPr>
        <p:spPr>
          <a:xfrm>
            <a:off x="637259" y="987392"/>
            <a:ext cx="3297481" cy="768415"/>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What is anemic (or hypemic) hypoxia?</a:t>
            </a:r>
          </a:p>
          <a:p>
            <a:pPr marL="0" marR="0" algn="ctr">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AIM 8-1-2</a:t>
            </a:r>
          </a:p>
        </p:txBody>
      </p:sp>
      <p:sp>
        <p:nvSpPr>
          <p:cNvPr id="4" name="Rectangle 3">
            <a:extLst>
              <a:ext uri="{FF2B5EF4-FFF2-40B4-BE49-F238E27FC236}">
                <a16:creationId xmlns:a16="http://schemas.microsoft.com/office/drawing/2014/main" id="{4AEE1F1D-4CB3-CE85-CC75-9F21C5A223DF}"/>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347AC54-0BD3-2D22-3B7E-2A0BBFB21361}"/>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158424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737A45-7079-1FB4-52B8-5A1F9333781D}"/>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3" name="TextBox 2">
            <a:extLst>
              <a:ext uri="{FF2B5EF4-FFF2-40B4-BE49-F238E27FC236}">
                <a16:creationId xmlns:a16="http://schemas.microsoft.com/office/drawing/2014/main" id="{8770AECB-D74E-315C-6ACD-CB879085CB06}"/>
              </a:ext>
            </a:extLst>
          </p:cNvPr>
          <p:cNvSpPr txBox="1"/>
          <p:nvPr/>
        </p:nvSpPr>
        <p:spPr>
          <a:xfrm>
            <a:off x="486019" y="372672"/>
            <a:ext cx="3599962" cy="804707"/>
          </a:xfrm>
          <a:prstGeom prst="rect">
            <a:avLst/>
          </a:prstGeom>
          <a:noFill/>
        </p:spPr>
        <p:txBody>
          <a:bodyPr wrap="square">
            <a:spAutoFit/>
          </a:bodyPr>
          <a:lstStyle/>
          <a:p>
            <a:pPr algn="just">
              <a:lnSpc>
                <a:spcPct val="107000"/>
              </a:lnSpc>
            </a:pPr>
            <a:r>
              <a:rPr lang="en-US" sz="1100" dirty="0">
                <a:latin typeface="Times New Roman" panose="02020603050405020304" pitchFamily="18" charset="0"/>
                <a:cs typeface="Times New Roman" panose="02020603050405020304" pitchFamily="18" charset="0"/>
              </a:rPr>
              <a:t>Anemic (or hypemic) hypoxia occurs when the blood can’t carry enough oxygen to the body’s tissues — even though plenty of oxygen is entering the lungs. The most common cause is CO poisoning.</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066329CB-4CC7-7C04-7B9B-C5F567516766}"/>
              </a:ext>
            </a:extLst>
          </p:cNvPr>
          <p:cNvPicPr>
            <a:picLocks noChangeAspect="1"/>
          </p:cNvPicPr>
          <p:nvPr/>
        </p:nvPicPr>
        <p:blipFill>
          <a:blip r:embed="rId2"/>
          <a:stretch>
            <a:fillRect/>
          </a:stretch>
        </p:blipFill>
        <p:spPr>
          <a:xfrm>
            <a:off x="1661250" y="1177379"/>
            <a:ext cx="1249500" cy="1285717"/>
          </a:xfrm>
          <a:prstGeom prst="rect">
            <a:avLst/>
          </a:prstGeom>
        </p:spPr>
      </p:pic>
    </p:spTree>
    <p:extLst>
      <p:ext uri="{BB962C8B-B14F-4D97-AF65-F5344CB8AC3E}">
        <p14:creationId xmlns:p14="http://schemas.microsoft.com/office/powerpoint/2010/main" val="1234850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DB4708-7D7A-B687-9B3E-96C8943F84C4}"/>
              </a:ext>
            </a:extLst>
          </p:cNvPr>
          <p:cNvSpPr txBox="1"/>
          <p:nvPr/>
        </p:nvSpPr>
        <p:spPr>
          <a:xfrm>
            <a:off x="612351" y="786824"/>
            <a:ext cx="3347298" cy="1169551"/>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What percentage of the Earth’s atmosphere consists of oxygen? Does the percentage change with altitude?</a:t>
            </a:r>
          </a:p>
          <a:p>
            <a:pPr algn="just"/>
            <a:endParaRPr lang="en-US" sz="1400" dirty="0">
              <a:latin typeface="Times New Roman" panose="02020603050405020304" pitchFamily="18" charset="0"/>
              <a:cs typeface="Times New Roman" panose="02020603050405020304" pitchFamily="18" charset="0"/>
            </a:endParaRPr>
          </a:p>
          <a:p>
            <a:pPr algn="ctr"/>
            <a:r>
              <a:rPr lang="en-US" sz="1400" dirty="0">
                <a:latin typeface="Times New Roman" panose="02020603050405020304" pitchFamily="18" charset="0"/>
                <a:cs typeface="Times New Roman" panose="02020603050405020304" pitchFamily="18" charset="0"/>
              </a:rPr>
              <a:t>FAA-H-8083-25B, Ch 17</a:t>
            </a:r>
          </a:p>
        </p:txBody>
      </p:sp>
      <p:sp>
        <p:nvSpPr>
          <p:cNvPr id="2" name="Rectangle 1">
            <a:extLst>
              <a:ext uri="{FF2B5EF4-FFF2-40B4-BE49-F238E27FC236}">
                <a16:creationId xmlns:a16="http://schemas.microsoft.com/office/drawing/2014/main" id="{1A082971-5430-BC16-12FA-8692A93F0DC1}"/>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31DA2EA-4311-603A-B8E4-63B65DF1CB65}"/>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
        <p:nvSpPr>
          <p:cNvPr id="6" name="TextBox 5">
            <a:extLst>
              <a:ext uri="{FF2B5EF4-FFF2-40B4-BE49-F238E27FC236}">
                <a16:creationId xmlns:a16="http://schemas.microsoft.com/office/drawing/2014/main" id="{F1E4D2CB-4583-5371-F99D-E1C15CE39494}"/>
              </a:ext>
            </a:extLst>
          </p:cNvPr>
          <p:cNvSpPr txBox="1"/>
          <p:nvPr/>
        </p:nvSpPr>
        <p:spPr>
          <a:xfrm>
            <a:off x="44450" y="5715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Tree>
    <p:extLst>
      <p:ext uri="{BB962C8B-B14F-4D97-AF65-F5344CB8AC3E}">
        <p14:creationId xmlns:p14="http://schemas.microsoft.com/office/powerpoint/2010/main" val="1319676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46268D-5F29-E834-1E6F-8071DC1EF3C9}"/>
              </a:ext>
            </a:extLst>
          </p:cNvPr>
          <p:cNvSpPr txBox="1"/>
          <p:nvPr/>
        </p:nvSpPr>
        <p:spPr>
          <a:xfrm>
            <a:off x="200967" y="675546"/>
            <a:ext cx="4170066" cy="1277273"/>
          </a:xfrm>
          <a:prstGeom prst="rect">
            <a:avLst/>
          </a:prstGeom>
          <a:noFill/>
        </p:spPr>
        <p:txBody>
          <a:bodyPr wrap="square" rtlCol="0">
            <a:spAutoFit/>
          </a:bodyPr>
          <a:lstStyle/>
          <a:p>
            <a:pPr algn="ctr"/>
            <a:r>
              <a:rPr lang="en-US" sz="1100" dirty="0">
                <a:latin typeface="Times New Roman" panose="02020603050405020304" pitchFamily="18" charset="0"/>
                <a:cs typeface="Times New Roman" panose="02020603050405020304" pitchFamily="18" charset="0"/>
              </a:rPr>
              <a:t>It remains at a constant 21 percent regardless of altitude.</a:t>
            </a:r>
          </a:p>
          <a:p>
            <a:pPr algn="ctr"/>
            <a:endParaRPr lang="en-US" sz="1100" dirty="0">
              <a:latin typeface="Times New Roman" panose="02020603050405020304" pitchFamily="18" charset="0"/>
              <a:cs typeface="Times New Roman" panose="02020603050405020304" pitchFamily="18" charset="0"/>
            </a:endParaRPr>
          </a:p>
          <a:p>
            <a:pPr algn="just"/>
            <a:r>
              <a:rPr lang="en-US" sz="1100" dirty="0">
                <a:latin typeface="Times New Roman" panose="02020603050405020304" pitchFamily="18" charset="0"/>
                <a:cs typeface="Times New Roman" panose="02020603050405020304" pitchFamily="18" charset="0"/>
              </a:rPr>
              <a:t>Varsity Level: The percentage is pretty much constant at all altitudes. What changes is “partial pressure.” So it is not a lack of oxygen in the air that causes hypoxia. It is because the pressure in your body pushing out (namely at your alveoli) is greater than the outside pressure pushing into your body.</a:t>
            </a:r>
          </a:p>
        </p:txBody>
      </p:sp>
      <p:sp>
        <p:nvSpPr>
          <p:cNvPr id="4" name="TextBox 3">
            <a:extLst>
              <a:ext uri="{FF2B5EF4-FFF2-40B4-BE49-F238E27FC236}">
                <a16:creationId xmlns:a16="http://schemas.microsoft.com/office/drawing/2014/main" id="{AC03999A-A4A3-0BDE-380F-CB7B58B4534E}"/>
              </a:ext>
            </a:extLst>
          </p:cNvPr>
          <p:cNvSpPr txBox="1"/>
          <p:nvPr/>
        </p:nvSpPr>
        <p:spPr>
          <a:xfrm>
            <a:off x="44450" y="5715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Tree>
    <p:extLst>
      <p:ext uri="{BB962C8B-B14F-4D97-AF65-F5344CB8AC3E}">
        <p14:creationId xmlns:p14="http://schemas.microsoft.com/office/powerpoint/2010/main" val="4021877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D010EC-5778-ECA9-6AD7-C5B74306192B}"/>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3" name="TextBox 2">
            <a:extLst>
              <a:ext uri="{FF2B5EF4-FFF2-40B4-BE49-F238E27FC236}">
                <a16:creationId xmlns:a16="http://schemas.microsoft.com/office/drawing/2014/main" id="{963C7CD8-888C-114B-A1ED-99E796803D5B}"/>
              </a:ext>
            </a:extLst>
          </p:cNvPr>
          <p:cNvSpPr txBox="1"/>
          <p:nvPr/>
        </p:nvSpPr>
        <p:spPr>
          <a:xfrm>
            <a:off x="637259" y="987392"/>
            <a:ext cx="3297481" cy="768415"/>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What is histotoxic hypoxia?</a:t>
            </a:r>
          </a:p>
          <a:p>
            <a:pPr marL="0" marR="0" algn="ctr">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AIM 8-1-2</a:t>
            </a:r>
          </a:p>
        </p:txBody>
      </p:sp>
      <p:sp>
        <p:nvSpPr>
          <p:cNvPr id="4" name="Rectangle 3">
            <a:extLst>
              <a:ext uri="{FF2B5EF4-FFF2-40B4-BE49-F238E27FC236}">
                <a16:creationId xmlns:a16="http://schemas.microsoft.com/office/drawing/2014/main" id="{CC61F1CA-64C9-5F80-285C-45052DDF4524}"/>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F0EF1575-7E31-8E6E-C27A-A648187076D4}"/>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522950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737A45-7079-1FB4-52B8-5A1F9333781D}"/>
              </a:ext>
            </a:extLst>
          </p:cNvPr>
          <p:cNvSpPr txBox="1"/>
          <p:nvPr/>
        </p:nvSpPr>
        <p:spPr>
          <a:xfrm>
            <a:off x="47477" y="56410"/>
            <a:ext cx="91082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3" name="TextBox 2">
            <a:extLst>
              <a:ext uri="{FF2B5EF4-FFF2-40B4-BE49-F238E27FC236}">
                <a16:creationId xmlns:a16="http://schemas.microsoft.com/office/drawing/2014/main" id="{8770AECB-D74E-315C-6ACD-CB879085CB06}"/>
              </a:ext>
            </a:extLst>
          </p:cNvPr>
          <p:cNvSpPr txBox="1"/>
          <p:nvPr/>
        </p:nvSpPr>
        <p:spPr>
          <a:xfrm>
            <a:off x="324059" y="385753"/>
            <a:ext cx="3923881" cy="985847"/>
          </a:xfrm>
          <a:prstGeom prst="rect">
            <a:avLst/>
          </a:prstGeom>
          <a:noFill/>
        </p:spPr>
        <p:txBody>
          <a:bodyPr wrap="square">
            <a:spAutoFit/>
          </a:bodyPr>
          <a:lstStyle/>
          <a:p>
            <a:pPr algn="just">
              <a:lnSpc>
                <a:spcPct val="107000"/>
              </a:lnSpc>
            </a:pPr>
            <a:r>
              <a:rPr lang="en-US" sz="1100" dirty="0">
                <a:latin typeface="Times New Roman" panose="02020603050405020304" pitchFamily="18" charset="0"/>
                <a:ea typeface="Calibri" panose="020F0502020204030204" pitchFamily="34" charset="0"/>
                <a:cs typeface="Times New Roman" panose="02020603050405020304" pitchFamily="18" charset="0"/>
              </a:rPr>
              <a:t>Histotoxic hypoxia occurs when the body’s cells are unable to use oxygen even though sufficient oxygen is delivered to the tissues. This is usually caused by alcohol, narcotics, or poisons such as cyanide, which interfere with the cellular metabolism that uses oxygen.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0E6FBB75-F048-7E74-3BDF-4879955507B2}"/>
              </a:ext>
            </a:extLst>
          </p:cNvPr>
          <p:cNvPicPr>
            <a:picLocks noChangeAspect="1"/>
          </p:cNvPicPr>
          <p:nvPr/>
        </p:nvPicPr>
        <p:blipFill>
          <a:blip r:embed="rId2"/>
          <a:stretch>
            <a:fillRect/>
          </a:stretch>
        </p:blipFill>
        <p:spPr>
          <a:xfrm>
            <a:off x="1700918" y="1371600"/>
            <a:ext cx="1170161" cy="1175655"/>
          </a:xfrm>
          <a:prstGeom prst="rect">
            <a:avLst/>
          </a:prstGeom>
        </p:spPr>
      </p:pic>
    </p:spTree>
    <p:extLst>
      <p:ext uri="{BB962C8B-B14F-4D97-AF65-F5344CB8AC3E}">
        <p14:creationId xmlns:p14="http://schemas.microsoft.com/office/powerpoint/2010/main" val="355155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3" name="TextBox 2">
            <a:extLst>
              <a:ext uri="{FF2B5EF4-FFF2-40B4-BE49-F238E27FC236}">
                <a16:creationId xmlns:a16="http://schemas.microsoft.com/office/drawing/2014/main" id="{D4CDFE6F-E0EF-D3C1-B6EF-F15FE4560DA3}"/>
              </a:ext>
            </a:extLst>
          </p:cNvPr>
          <p:cNvSpPr txBox="1"/>
          <p:nvPr/>
        </p:nvSpPr>
        <p:spPr>
          <a:xfrm>
            <a:off x="182148" y="1049107"/>
            <a:ext cx="4207704" cy="644985"/>
          </a:xfrm>
          <a:prstGeom prst="rect">
            <a:avLst/>
          </a:prstGeom>
          <a:noFill/>
        </p:spPr>
        <p:txBody>
          <a:bodyPr wrap="square">
            <a:spAutoFit/>
          </a:bodyPr>
          <a:lstStyle/>
          <a:p>
            <a:pPr marL="0" marR="0" algn="ctr">
              <a:lnSpc>
                <a:spcPct val="115000"/>
              </a:lnSpc>
              <a:spcAft>
                <a:spcPts val="60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Which photoreceptors in your eye work better at night?</a:t>
            </a:r>
          </a:p>
          <a:p>
            <a:pPr algn="ctr">
              <a:lnSpc>
                <a:spcPct val="115000"/>
              </a:lnSpc>
              <a:spcAft>
                <a:spcPts val="600"/>
              </a:spcAft>
            </a:pPr>
            <a:r>
              <a:rPr lang="en-US" sz="1400" dirty="0">
                <a:latin typeface="Times New Roman" panose="02020603050405020304" pitchFamily="18" charset="0"/>
                <a:cs typeface="Times New Roman" panose="02020603050405020304" pitchFamily="18" charset="0"/>
              </a:rPr>
              <a:t>FAA-H-8083-25B, Chap 17, Pg 17-5</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94997297-0E5A-F241-8713-9CBB7CA59C1D}"/>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07CACE0-EC65-E7A8-F084-E09666A91287}"/>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15043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E23A8A0C-C8D4-904E-279C-8AFD46BED2EA}"/>
              </a:ext>
            </a:extLst>
          </p:cNvPr>
          <p:cNvSpPr txBox="1"/>
          <p:nvPr/>
        </p:nvSpPr>
        <p:spPr>
          <a:xfrm>
            <a:off x="182148" y="310326"/>
            <a:ext cx="4207704" cy="1053365"/>
          </a:xfrm>
          <a:prstGeom prst="rect">
            <a:avLst/>
          </a:prstGeom>
          <a:noFill/>
        </p:spPr>
        <p:txBody>
          <a:bodyPr wrap="square">
            <a:spAutoFit/>
          </a:bodyPr>
          <a:lstStyle/>
          <a:p>
            <a:pPr marL="0" marR="0" algn="ctr">
              <a:lnSpc>
                <a:spcPct val="115000"/>
              </a:lnSpc>
              <a:spcBef>
                <a:spcPts val="0"/>
              </a:spcBef>
              <a:spcAft>
                <a:spcPts val="0"/>
              </a:spcAft>
            </a:pPr>
            <a:r>
              <a:rPr lang="en-US" sz="11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The r</a:t>
            </a:r>
            <a:r>
              <a:rPr lang="en-US" sz="11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ods.</a:t>
            </a:r>
            <a:endParaRPr lang="en-US" sz="11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11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You have rods and cones. Cones see detail and color but required higher energy levels (brighter light) in order to work well. Incidentally, cones also need more oxygen than rods. Therefore, at night, rods work better.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B7AC48C7-2624-0B56-2786-B6F0222AE8B6}"/>
              </a:ext>
            </a:extLst>
          </p:cNvPr>
          <p:cNvPicPr>
            <a:picLocks noChangeAspect="1"/>
          </p:cNvPicPr>
          <p:nvPr/>
        </p:nvPicPr>
        <p:blipFill>
          <a:blip r:embed="rId2"/>
          <a:stretch>
            <a:fillRect/>
          </a:stretch>
        </p:blipFill>
        <p:spPr>
          <a:xfrm>
            <a:off x="1675013" y="1280704"/>
            <a:ext cx="1221973" cy="1198360"/>
          </a:xfrm>
          <a:prstGeom prst="rect">
            <a:avLst/>
          </a:prstGeom>
        </p:spPr>
      </p:pic>
    </p:spTree>
    <p:extLst>
      <p:ext uri="{BB962C8B-B14F-4D97-AF65-F5344CB8AC3E}">
        <p14:creationId xmlns:p14="http://schemas.microsoft.com/office/powerpoint/2010/main" val="2728508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616E59A9-17E9-6B7A-F9E8-DA9FDB2EBA6E}"/>
              </a:ext>
            </a:extLst>
          </p:cNvPr>
          <p:cNvSpPr txBox="1"/>
          <p:nvPr/>
        </p:nvSpPr>
        <p:spPr>
          <a:xfrm>
            <a:off x="285432" y="837767"/>
            <a:ext cx="4001136" cy="1140505"/>
          </a:xfrm>
          <a:prstGeom prst="rect">
            <a:avLst/>
          </a:prstGeom>
          <a:noFill/>
        </p:spPr>
        <p:txBody>
          <a:bodyPr wrap="square">
            <a:spAutoFit/>
          </a:bodyPr>
          <a:lstStyle/>
          <a:p>
            <a:pPr marL="0" marR="0" algn="just">
              <a:lnSpc>
                <a:spcPct val="115000"/>
              </a:lnSpc>
              <a:spcAft>
                <a:spcPts val="60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You are flying at night and think you see something in front of you. </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What’s the best way to see if there is actually something there?</a:t>
            </a:r>
          </a:p>
          <a:p>
            <a:pPr algn="ctr">
              <a:lnSpc>
                <a:spcPct val="115000"/>
              </a:lnSpc>
              <a:spcAft>
                <a:spcPts val="600"/>
              </a:spcAft>
            </a:pPr>
            <a:r>
              <a:rPr lang="en-US" sz="1400" dirty="0">
                <a:latin typeface="Times New Roman" panose="02020603050405020304" pitchFamily="18" charset="0"/>
                <a:cs typeface="Times New Roman" panose="02020603050405020304" pitchFamily="18" charset="0"/>
              </a:rPr>
              <a:t>FAA-H-8083-25B, Chap 17, Pg 17-5</a:t>
            </a: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627385E9-FF98-116C-7B4B-45E66B1B85A3}"/>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0B7E403-27B3-E242-B62E-2387EAB4FAB0}"/>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530675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3" name="TextBox 2">
            <a:extLst>
              <a:ext uri="{FF2B5EF4-FFF2-40B4-BE49-F238E27FC236}">
                <a16:creationId xmlns:a16="http://schemas.microsoft.com/office/drawing/2014/main" id="{D4CB6606-46E3-B803-C99C-C219D232D8BB}"/>
              </a:ext>
            </a:extLst>
          </p:cNvPr>
          <p:cNvSpPr txBox="1"/>
          <p:nvPr/>
        </p:nvSpPr>
        <p:spPr>
          <a:xfrm>
            <a:off x="377825" y="505944"/>
            <a:ext cx="3816350" cy="1640962"/>
          </a:xfrm>
          <a:prstGeom prst="rect">
            <a:avLst/>
          </a:prstGeom>
          <a:noFill/>
        </p:spPr>
        <p:txBody>
          <a:bodyPr wrap="square">
            <a:spAutoFit/>
          </a:bodyPr>
          <a:lstStyle/>
          <a:p>
            <a:pPr marL="0" marR="0" algn="just">
              <a:lnSpc>
                <a:spcPct val="115000"/>
              </a:lnSpc>
              <a:spcAft>
                <a:spcPts val="600"/>
              </a:spcAft>
            </a:pP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Use your eyes to scan around where you think it is. Staring directly at it uses your foveal vision. </a:t>
            </a:r>
            <a:r>
              <a:rPr lang="en-US" sz="1050" dirty="0">
                <a:latin typeface="Times New Roman" panose="02020603050405020304" pitchFamily="18" charset="0"/>
                <a:ea typeface="Times New Roman" panose="02020603050405020304" pitchFamily="18" charset="0"/>
                <a:cs typeface="Times New Roman" panose="02020603050405020304" pitchFamily="18" charset="0"/>
              </a:rPr>
              <a:t>Foveal vision predominately uses cones which are terrible for night vision. By scanning around the object, you are using rods instead; which are good for night and low light conditions. From the PHAK:</a:t>
            </a:r>
          </a:p>
          <a:p>
            <a:pPr algn="just">
              <a:lnSpc>
                <a:spcPct val="115000"/>
              </a:lnSpc>
              <a:spcAft>
                <a:spcPts val="600"/>
              </a:spcAft>
            </a:pPr>
            <a:r>
              <a:rPr lang="en-US" sz="1050" dirty="0">
                <a:latin typeface="Times New Roman" panose="02020603050405020304" pitchFamily="18" charset="0"/>
                <a:cs typeface="Times New Roman" panose="02020603050405020304" pitchFamily="18" charset="0"/>
              </a:rPr>
              <a:t>“</a:t>
            </a:r>
            <a:r>
              <a:rPr lang="en-US" sz="1050" i="1" dirty="0">
                <a:latin typeface="Times New Roman" panose="02020603050405020304" pitchFamily="18" charset="0"/>
                <a:cs typeface="Times New Roman" panose="02020603050405020304" pitchFamily="18" charset="0"/>
              </a:rPr>
              <a:t>At night, visual scanning should be accomplished by using off-center viewing. The eyes should be shifted in small increments of about 10° allowing time for the rods to detect objects.”</a:t>
            </a:r>
            <a:endParaRPr lang="en-US" sz="1200" i="1"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98992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EBFC8E5A-E407-2C31-3532-9DA46EB48BFD}"/>
              </a:ext>
            </a:extLst>
          </p:cNvPr>
          <p:cNvSpPr txBox="1"/>
          <p:nvPr/>
        </p:nvSpPr>
        <p:spPr>
          <a:xfrm>
            <a:off x="428504" y="792718"/>
            <a:ext cx="3714991" cy="1169551"/>
          </a:xfrm>
          <a:prstGeom prst="rect">
            <a:avLst/>
          </a:prstGeom>
          <a:noFill/>
        </p:spPr>
        <p:txBody>
          <a:bodyPr wrap="square">
            <a:spAutoFit/>
          </a:bodyPr>
          <a:lstStyle/>
          <a:p>
            <a:pPr algn="just"/>
            <a:r>
              <a:rPr lang="en-US" sz="1400" dirty="0">
                <a:solidFill>
                  <a:srgbClr val="222222"/>
                </a:solidFill>
                <a:effectLst/>
                <a:latin typeface="Times New Roman" panose="02020603050405020304" pitchFamily="18" charset="0"/>
                <a:ea typeface="Times New Roman" panose="02020603050405020304" pitchFamily="18" charset="0"/>
              </a:rPr>
              <a:t>During </a:t>
            </a:r>
            <a:r>
              <a:rPr lang="en-US" sz="1400" dirty="0">
                <a:solidFill>
                  <a:srgbClr val="222222"/>
                </a:solidFill>
                <a:latin typeface="Times New Roman" panose="02020603050405020304" pitchFamily="18" charset="0"/>
                <a:ea typeface="Times New Roman" panose="02020603050405020304" pitchFamily="18" charset="0"/>
              </a:rPr>
              <a:t>a night </a:t>
            </a:r>
            <a:r>
              <a:rPr lang="en-US" sz="1400" dirty="0">
                <a:solidFill>
                  <a:srgbClr val="222222"/>
                </a:solidFill>
                <a:effectLst/>
                <a:latin typeface="Times New Roman" panose="02020603050405020304" pitchFamily="18" charset="0"/>
                <a:ea typeface="Times New Roman" panose="02020603050405020304" pitchFamily="18" charset="0"/>
              </a:rPr>
              <a:t>takeoff you suddenly feel as if the aircraft is in an excessively high pitch attitude. What type of illusion is this?</a:t>
            </a:r>
          </a:p>
          <a:p>
            <a:pPr algn="just"/>
            <a:endParaRPr lang="en-US" sz="1400" dirty="0">
              <a:solidFill>
                <a:srgbClr val="222222"/>
              </a:solidFill>
              <a:effectLst/>
              <a:latin typeface="Times New Roman" panose="02020603050405020304" pitchFamily="18" charset="0"/>
              <a:ea typeface="Times New Roman" panose="02020603050405020304" pitchFamily="18" charset="0"/>
            </a:endParaRPr>
          </a:p>
          <a:p>
            <a:pPr algn="ctr"/>
            <a:r>
              <a:rPr lang="en-US" sz="1400" dirty="0">
                <a:solidFill>
                  <a:srgbClr val="222222"/>
                </a:solidFill>
                <a:effectLst/>
                <a:latin typeface="Times New Roman" panose="02020603050405020304" pitchFamily="18" charset="0"/>
                <a:ea typeface="Times New Roman" panose="02020603050405020304" pitchFamily="18" charset="0"/>
              </a:rPr>
              <a:t>AIM 8-1-5</a:t>
            </a:r>
            <a:endParaRPr lang="en-US" sz="1400" dirty="0"/>
          </a:p>
        </p:txBody>
      </p:sp>
      <p:sp>
        <p:nvSpPr>
          <p:cNvPr id="3" name="Rectangle 2">
            <a:extLst>
              <a:ext uri="{FF2B5EF4-FFF2-40B4-BE49-F238E27FC236}">
                <a16:creationId xmlns:a16="http://schemas.microsoft.com/office/drawing/2014/main" id="{E95D4A16-3249-F15B-E26F-A176EAFF1490}"/>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BC39B4B7-A98E-ADE4-8E2B-08D6099A5B09}"/>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733283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4B2AFAE1-FD83-7974-58AA-E69638251C13}"/>
              </a:ext>
            </a:extLst>
          </p:cNvPr>
          <p:cNvSpPr txBox="1"/>
          <p:nvPr/>
        </p:nvSpPr>
        <p:spPr>
          <a:xfrm>
            <a:off x="814193" y="514327"/>
            <a:ext cx="2943614" cy="307777"/>
          </a:xfrm>
          <a:prstGeom prst="rect">
            <a:avLst/>
          </a:prstGeom>
          <a:noFill/>
        </p:spPr>
        <p:txBody>
          <a:bodyPr wrap="square">
            <a:spAutoFit/>
          </a:bodyPr>
          <a:lstStyle/>
          <a:p>
            <a:pPr algn="ctr"/>
            <a:r>
              <a:rPr lang="en-US" sz="1400" dirty="0">
                <a:solidFill>
                  <a:srgbClr val="222222"/>
                </a:solidFill>
                <a:latin typeface="Times New Roman" panose="02020603050405020304" pitchFamily="18" charset="0"/>
                <a:ea typeface="Times New Roman" panose="02020603050405020304" pitchFamily="18" charset="0"/>
              </a:rPr>
              <a:t>S</a:t>
            </a:r>
            <a:r>
              <a:rPr lang="en-US" sz="1400" dirty="0">
                <a:solidFill>
                  <a:srgbClr val="222222"/>
                </a:solidFill>
                <a:effectLst/>
                <a:latin typeface="Times New Roman" panose="02020603050405020304" pitchFamily="18" charset="0"/>
                <a:ea typeface="Times New Roman" panose="02020603050405020304" pitchFamily="18" charset="0"/>
              </a:rPr>
              <a:t>omatogravic </a:t>
            </a:r>
            <a:r>
              <a:rPr lang="en-US" sz="1400" dirty="0">
                <a:solidFill>
                  <a:srgbClr val="222222"/>
                </a:solidFill>
                <a:latin typeface="Times New Roman" panose="02020603050405020304" pitchFamily="18" charset="0"/>
                <a:ea typeface="Times New Roman" panose="02020603050405020304" pitchFamily="18" charset="0"/>
              </a:rPr>
              <a:t>I</a:t>
            </a:r>
            <a:r>
              <a:rPr lang="en-US" sz="1400" dirty="0">
                <a:solidFill>
                  <a:srgbClr val="222222"/>
                </a:solidFill>
                <a:effectLst/>
                <a:latin typeface="Times New Roman" panose="02020603050405020304" pitchFamily="18" charset="0"/>
                <a:ea typeface="Times New Roman" panose="02020603050405020304" pitchFamily="18" charset="0"/>
              </a:rPr>
              <a:t>llusion.</a:t>
            </a:r>
            <a:endParaRPr lang="en-US" sz="1400" dirty="0"/>
          </a:p>
        </p:txBody>
      </p:sp>
      <p:pic>
        <p:nvPicPr>
          <p:cNvPr id="5" name="Picture 4">
            <a:extLst>
              <a:ext uri="{FF2B5EF4-FFF2-40B4-BE49-F238E27FC236}">
                <a16:creationId xmlns:a16="http://schemas.microsoft.com/office/drawing/2014/main" id="{BD206786-8978-0C4E-389D-FE9E12C85C26}"/>
              </a:ext>
            </a:extLst>
          </p:cNvPr>
          <p:cNvPicPr>
            <a:picLocks noChangeAspect="1"/>
          </p:cNvPicPr>
          <p:nvPr/>
        </p:nvPicPr>
        <p:blipFill>
          <a:blip r:embed="rId2"/>
          <a:stretch>
            <a:fillRect/>
          </a:stretch>
        </p:blipFill>
        <p:spPr>
          <a:xfrm>
            <a:off x="1621998" y="1026105"/>
            <a:ext cx="1328004" cy="1347438"/>
          </a:xfrm>
          <a:prstGeom prst="rect">
            <a:avLst/>
          </a:prstGeom>
        </p:spPr>
      </p:pic>
    </p:spTree>
    <p:extLst>
      <p:ext uri="{BB962C8B-B14F-4D97-AF65-F5344CB8AC3E}">
        <p14:creationId xmlns:p14="http://schemas.microsoft.com/office/powerpoint/2010/main" val="1902540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EBFC8E5A-E407-2C31-3532-9DA46EB48BFD}"/>
              </a:ext>
            </a:extLst>
          </p:cNvPr>
          <p:cNvSpPr txBox="1"/>
          <p:nvPr/>
        </p:nvSpPr>
        <p:spPr>
          <a:xfrm>
            <a:off x="428504" y="532909"/>
            <a:ext cx="3714991" cy="1677382"/>
          </a:xfrm>
          <a:prstGeom prst="rect">
            <a:avLst/>
          </a:prstGeom>
          <a:noFill/>
        </p:spPr>
        <p:txBody>
          <a:bodyPr wrap="square">
            <a:spAutoFit/>
          </a:bodyPr>
          <a:lstStyle/>
          <a:p>
            <a:pPr algn="just">
              <a:spcAft>
                <a:spcPts val="600"/>
              </a:spcAft>
            </a:pPr>
            <a:r>
              <a:rPr lang="en-US" sz="1400" dirty="0">
                <a:effectLst/>
                <a:latin typeface="Times New Roman" panose="02020603050405020304" pitchFamily="18" charset="0"/>
                <a:ea typeface="Times New Roman" panose="02020603050405020304" pitchFamily="18" charset="0"/>
              </a:rPr>
              <a:t>You are on a night cross country and ATC calls out traffic at 1 o’clock, 5 miles. You see the aircraft’s position lights. After a few seconds, it appears as if the aircraft is moving back and forth very rapidly. What do you think </a:t>
            </a:r>
            <a:r>
              <a:rPr lang="en-US" sz="1400" dirty="0">
                <a:latin typeface="Times New Roman" panose="02020603050405020304" pitchFamily="18" charset="0"/>
                <a:ea typeface="Times New Roman" panose="02020603050405020304" pitchFamily="18" charset="0"/>
              </a:rPr>
              <a:t>might be happening?</a:t>
            </a:r>
          </a:p>
          <a:p>
            <a:pPr algn="ctr">
              <a:spcAft>
                <a:spcPts val="600"/>
              </a:spcAft>
            </a:pPr>
            <a:r>
              <a:rPr lang="en-US" sz="1400" dirty="0">
                <a:latin typeface="Times New Roman" panose="02020603050405020304" pitchFamily="18" charset="0"/>
                <a:cs typeface="Times New Roman" panose="02020603050405020304" pitchFamily="18" charset="0"/>
              </a:rPr>
              <a:t>FAA-H-8083-25B, Chap 17, Pg 17-5</a:t>
            </a: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D8B8EB65-FCD2-154C-90DD-E2F461F90D62}"/>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A75D688-AF2C-7C58-70AB-E3F02CCB1E6A}"/>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70098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4B2AFAE1-FD83-7974-58AA-E69638251C13}"/>
              </a:ext>
            </a:extLst>
          </p:cNvPr>
          <p:cNvSpPr txBox="1"/>
          <p:nvPr/>
        </p:nvSpPr>
        <p:spPr>
          <a:xfrm>
            <a:off x="150663" y="467404"/>
            <a:ext cx="2930422" cy="1700466"/>
          </a:xfrm>
          <a:prstGeom prst="rect">
            <a:avLst/>
          </a:prstGeom>
          <a:noFill/>
        </p:spPr>
        <p:txBody>
          <a:bodyPr wrap="square">
            <a:spAutoFit/>
          </a:bodyPr>
          <a:lstStyle/>
          <a:p>
            <a:pPr algn="just">
              <a:spcAft>
                <a:spcPts val="600"/>
              </a:spcAft>
            </a:pPr>
            <a:r>
              <a:rPr lang="en-US" sz="1050" dirty="0">
                <a:latin typeface="Times New Roman" panose="02020603050405020304" pitchFamily="18" charset="0"/>
                <a:ea typeface="Times New Roman" panose="02020603050405020304" pitchFamily="18" charset="0"/>
              </a:rPr>
              <a:t>Your first guess was probably “a solo student on a night flight” but…</a:t>
            </a:r>
          </a:p>
          <a:p>
            <a:pPr algn="ctr">
              <a:spcAft>
                <a:spcPts val="600"/>
              </a:spcAft>
            </a:pPr>
            <a:r>
              <a:rPr lang="en-US" sz="1050" dirty="0">
                <a:latin typeface="Times New Roman" panose="02020603050405020304" pitchFamily="18" charset="0"/>
                <a:ea typeface="Times New Roman" panose="02020603050405020304" pitchFamily="18" charset="0"/>
              </a:rPr>
              <a:t>This is the Autokinesis</a:t>
            </a:r>
            <a:r>
              <a:rPr lang="en-US" sz="1050" dirty="0">
                <a:effectLst/>
                <a:latin typeface="Times New Roman" panose="02020603050405020304" pitchFamily="18" charset="0"/>
                <a:ea typeface="Times New Roman" panose="02020603050405020304" pitchFamily="18" charset="0"/>
              </a:rPr>
              <a:t> </a:t>
            </a:r>
            <a:r>
              <a:rPr lang="en-US" sz="1050" dirty="0">
                <a:latin typeface="Times New Roman" panose="02020603050405020304" pitchFamily="18" charset="0"/>
                <a:ea typeface="Times New Roman" panose="02020603050405020304" pitchFamily="18" charset="0"/>
              </a:rPr>
              <a:t>I</a:t>
            </a:r>
            <a:r>
              <a:rPr lang="en-US" sz="1050" dirty="0">
                <a:effectLst/>
                <a:latin typeface="Times New Roman" panose="02020603050405020304" pitchFamily="18" charset="0"/>
                <a:ea typeface="Times New Roman" panose="02020603050405020304" pitchFamily="18" charset="0"/>
              </a:rPr>
              <a:t>llusion.</a:t>
            </a:r>
            <a:endParaRPr lang="en-US" sz="1050" dirty="0">
              <a:latin typeface="Times New Roman" panose="02020603050405020304" pitchFamily="18" charset="0"/>
            </a:endParaRPr>
          </a:p>
          <a:p>
            <a:pPr algn="just">
              <a:spcAft>
                <a:spcPts val="600"/>
              </a:spcAft>
            </a:pPr>
            <a:r>
              <a:rPr lang="en-US" sz="1050" dirty="0">
                <a:latin typeface="Times New Roman" panose="02020603050405020304" pitchFamily="18" charset="0"/>
              </a:rPr>
              <a:t>It can happen with most pinpoint light sources at night. The muscles in your eyes make very small involuntary movements that normally go unnoticed. But pinpoint light sources at night will appear to move around because the light is striking different areas on the retina.</a:t>
            </a:r>
            <a:endParaRPr lang="en-US" sz="1050" dirty="0"/>
          </a:p>
        </p:txBody>
      </p:sp>
      <p:pic>
        <p:nvPicPr>
          <p:cNvPr id="5" name="Picture 4">
            <a:extLst>
              <a:ext uri="{FF2B5EF4-FFF2-40B4-BE49-F238E27FC236}">
                <a16:creationId xmlns:a16="http://schemas.microsoft.com/office/drawing/2014/main" id="{C09129D8-92F4-FE00-E207-87172C2D5BF4}"/>
              </a:ext>
            </a:extLst>
          </p:cNvPr>
          <p:cNvPicPr>
            <a:picLocks noChangeAspect="1"/>
          </p:cNvPicPr>
          <p:nvPr/>
        </p:nvPicPr>
        <p:blipFill>
          <a:blip r:embed="rId2"/>
          <a:stretch>
            <a:fillRect/>
          </a:stretch>
        </p:blipFill>
        <p:spPr>
          <a:xfrm>
            <a:off x="3176336" y="725717"/>
            <a:ext cx="1197376" cy="1191535"/>
          </a:xfrm>
          <a:prstGeom prst="rect">
            <a:avLst/>
          </a:prstGeom>
        </p:spPr>
      </p:pic>
    </p:spTree>
    <p:extLst>
      <p:ext uri="{BB962C8B-B14F-4D97-AF65-F5344CB8AC3E}">
        <p14:creationId xmlns:p14="http://schemas.microsoft.com/office/powerpoint/2010/main" val="1872458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EBFC8E5A-E407-2C31-3532-9DA46EB48BFD}"/>
              </a:ext>
            </a:extLst>
          </p:cNvPr>
          <p:cNvSpPr txBox="1"/>
          <p:nvPr/>
        </p:nvSpPr>
        <p:spPr>
          <a:xfrm>
            <a:off x="428504" y="770950"/>
            <a:ext cx="3714991" cy="1277273"/>
          </a:xfrm>
          <a:prstGeom prst="rect">
            <a:avLst/>
          </a:prstGeom>
          <a:noFill/>
        </p:spPr>
        <p:txBody>
          <a:bodyPr wrap="square">
            <a:spAutoFit/>
          </a:bodyPr>
          <a:lstStyle/>
          <a:p>
            <a:pPr algn="just">
              <a:spcAft>
                <a:spcPts val="600"/>
              </a:spcAft>
            </a:pPr>
            <a:r>
              <a:rPr lang="en-US" sz="1200" dirty="0">
                <a:effectLst/>
                <a:latin typeface="Times New Roman" panose="02020603050405020304" pitchFamily="18" charset="0"/>
                <a:ea typeface="Times New Roman" panose="02020603050405020304" pitchFamily="18" charset="0"/>
              </a:rPr>
              <a:t>You are flying VFR over the top of a solid cloud deck. Every few seconds you look down and keep finding yourself in a 4-degree left bank. You fix it but then look outside and now the horizon is showing a 4-degree right bank. What might be happening?</a:t>
            </a:r>
          </a:p>
          <a:p>
            <a:pPr algn="ctr">
              <a:spcAft>
                <a:spcPts val="600"/>
              </a:spcAft>
            </a:pPr>
            <a:r>
              <a:rPr lang="en-US" sz="1200" dirty="0">
                <a:latin typeface="Times New Roman" panose="02020603050405020304" pitchFamily="18" charset="0"/>
                <a:cs typeface="Times New Roman" panose="02020603050405020304" pitchFamily="18" charset="0"/>
              </a:rPr>
              <a:t>FAA-H-8083-25B, Chap 17, Pg 17-8</a:t>
            </a: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3AA4CBA6-EBFA-FAE3-DABE-30DA94F7A8B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5383791E-F55A-B71E-F95E-0B4ABEDD5D18}"/>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547895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4B2AFAE1-FD83-7974-58AA-E69638251C13}"/>
              </a:ext>
            </a:extLst>
          </p:cNvPr>
          <p:cNvSpPr txBox="1"/>
          <p:nvPr/>
        </p:nvSpPr>
        <p:spPr>
          <a:xfrm>
            <a:off x="150845" y="612857"/>
            <a:ext cx="2768568" cy="1508105"/>
          </a:xfrm>
          <a:prstGeom prst="rect">
            <a:avLst/>
          </a:prstGeom>
          <a:noFill/>
        </p:spPr>
        <p:txBody>
          <a:bodyPr wrap="square">
            <a:spAutoFit/>
          </a:bodyPr>
          <a:lstStyle/>
          <a:p>
            <a:pPr algn="ctr"/>
            <a:r>
              <a:rPr lang="en-US" sz="1200" dirty="0">
                <a:latin typeface="Times New Roman" panose="02020603050405020304" pitchFamily="18" charset="0"/>
                <a:ea typeface="Times New Roman" panose="02020603050405020304" pitchFamily="18" charset="0"/>
                <a:cs typeface="Times New Roman" panose="02020603050405020304" pitchFamily="18" charset="0"/>
              </a:rPr>
              <a:t>This is the False Horizon</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I</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llusion.</a:t>
            </a:r>
          </a:p>
          <a:p>
            <a:pPr algn="ct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r>
              <a:rPr lang="en-US" sz="1200" dirty="0">
                <a:latin typeface="Times New Roman" panose="02020603050405020304" pitchFamily="18" charset="0"/>
                <a:ea typeface="Times New Roman" panose="02020603050405020304" pitchFamily="18" charset="0"/>
                <a:cs typeface="Times New Roman" panose="02020603050405020304" pitchFamily="18" charset="0"/>
              </a:rPr>
              <a:t>From the PHAK:</a:t>
            </a:r>
          </a:p>
          <a:p>
            <a:pPr algn="ctr"/>
            <a:endParaRPr lang="en-US" sz="12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sz="1100" dirty="0">
                <a:latin typeface="Times New Roman" panose="02020603050405020304" pitchFamily="18" charset="0"/>
                <a:cs typeface="Times New Roman" panose="02020603050405020304" pitchFamily="18" charset="0"/>
              </a:rPr>
              <a:t>“</a:t>
            </a:r>
            <a:r>
              <a:rPr lang="en-US" sz="1100" i="1" dirty="0">
                <a:latin typeface="Times New Roman" panose="02020603050405020304" pitchFamily="18" charset="0"/>
                <a:cs typeface="Times New Roman" panose="02020603050405020304" pitchFamily="18" charset="0"/>
              </a:rPr>
              <a:t>A sloping cloud formation, an obscured horizon, or a line of lights can create a false horizon, leading the pilot to misinterpret attitude.”</a:t>
            </a:r>
            <a:endParaRPr lang="en-US" sz="1100" i="1"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87CE231-A0A6-6CD6-B7C6-7AB5F346E68A}"/>
              </a:ext>
            </a:extLst>
          </p:cNvPr>
          <p:cNvPicPr>
            <a:picLocks noChangeAspect="1"/>
          </p:cNvPicPr>
          <p:nvPr/>
        </p:nvPicPr>
        <p:blipFill>
          <a:blip r:embed="rId2"/>
          <a:stretch>
            <a:fillRect/>
          </a:stretch>
        </p:blipFill>
        <p:spPr>
          <a:xfrm>
            <a:off x="3060927" y="709880"/>
            <a:ext cx="1326696" cy="1314061"/>
          </a:xfrm>
          <a:prstGeom prst="rect">
            <a:avLst/>
          </a:prstGeom>
        </p:spPr>
      </p:pic>
    </p:spTree>
    <p:extLst>
      <p:ext uri="{BB962C8B-B14F-4D97-AF65-F5344CB8AC3E}">
        <p14:creationId xmlns:p14="http://schemas.microsoft.com/office/powerpoint/2010/main" val="39592790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EBFC8E5A-E407-2C31-3532-9DA46EB48BFD}"/>
              </a:ext>
            </a:extLst>
          </p:cNvPr>
          <p:cNvSpPr txBox="1"/>
          <p:nvPr/>
        </p:nvSpPr>
        <p:spPr>
          <a:xfrm>
            <a:off x="238648" y="424845"/>
            <a:ext cx="4094703" cy="1831271"/>
          </a:xfrm>
          <a:prstGeom prst="rect">
            <a:avLst/>
          </a:prstGeom>
          <a:noFill/>
        </p:spPr>
        <p:txBody>
          <a:bodyPr wrap="square">
            <a:spAutoFit/>
          </a:bodyPr>
          <a:lstStyle/>
          <a:p>
            <a:pPr algn="just">
              <a:spcAft>
                <a:spcPts val="600"/>
              </a:spcAft>
            </a:pPr>
            <a:r>
              <a:rPr lang="en-US" sz="1200" dirty="0">
                <a:effectLst/>
                <a:latin typeface="Times New Roman" panose="02020603050405020304" pitchFamily="18" charset="0"/>
                <a:ea typeface="Times New Roman" panose="02020603050405020304" pitchFamily="18" charset="0"/>
              </a:rPr>
              <a:t>You are performing a night takeoff and tower tells you to level off at 2,500 feet. You’re a bit slow on your crosscheck tonight and you rapidly approach 2,500 feet. In an effort to avoid blitzing through </a:t>
            </a:r>
            <a:r>
              <a:rPr lang="en-US" sz="1200" dirty="0">
                <a:latin typeface="Times New Roman" panose="02020603050405020304" pitchFamily="18" charset="0"/>
                <a:ea typeface="Times New Roman" panose="02020603050405020304" pitchFamily="18" charset="0"/>
              </a:rPr>
              <a:t>your assigned altitude</a:t>
            </a:r>
            <a:r>
              <a:rPr lang="en-US" sz="1200" dirty="0">
                <a:effectLst/>
                <a:latin typeface="Times New Roman" panose="02020603050405020304" pitchFamily="18" charset="0"/>
                <a:ea typeface="Times New Roman" panose="02020603050405020304" pitchFamily="18" charset="0"/>
              </a:rPr>
              <a:t>, you abruptly push forward on the controls and level off. Suddenly, you have the illusion you are tumbling backwards. </a:t>
            </a:r>
            <a:r>
              <a:rPr lang="en-US" sz="1200" dirty="0">
                <a:latin typeface="Times New Roman" panose="02020603050405020304" pitchFamily="18" charset="0"/>
                <a:ea typeface="Times New Roman" panose="02020603050405020304" pitchFamily="18" charset="0"/>
              </a:rPr>
              <a:t>Naturally, you push slightly forward on the controls. You suspect you may be feeling the effects of __________.</a:t>
            </a:r>
          </a:p>
          <a:p>
            <a:pPr algn="ctr">
              <a:spcAft>
                <a:spcPts val="600"/>
              </a:spcAft>
            </a:pPr>
            <a:r>
              <a:rPr lang="en-US" sz="1200" dirty="0">
                <a:latin typeface="Times New Roman" panose="02020603050405020304" pitchFamily="18" charset="0"/>
                <a:cs typeface="Times New Roman" panose="02020603050405020304" pitchFamily="18" charset="0"/>
              </a:rPr>
              <a:t>FAA-H-8083-25B, Chap 17, Pg 17-7</a:t>
            </a: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57F4155B-4BB3-07FA-67C1-F54895D81837}"/>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0572BAC-6BB8-B0F7-2BB3-AF95E8E2261B}"/>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213674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4B2AFAE1-FD83-7974-58AA-E69638251C13}"/>
              </a:ext>
            </a:extLst>
          </p:cNvPr>
          <p:cNvSpPr txBox="1"/>
          <p:nvPr/>
        </p:nvSpPr>
        <p:spPr>
          <a:xfrm>
            <a:off x="236738" y="602158"/>
            <a:ext cx="2148452" cy="1538883"/>
          </a:xfrm>
          <a:prstGeom prst="rect">
            <a:avLst/>
          </a:prstGeom>
          <a:noFill/>
        </p:spPr>
        <p:txBody>
          <a:bodyPr wrap="square">
            <a:spAutoFit/>
          </a:bodyPr>
          <a:lstStyle/>
          <a:p>
            <a:pPr algn="ctr">
              <a:spcAft>
                <a:spcPts val="600"/>
              </a:spcAft>
            </a:pPr>
            <a:r>
              <a:rPr lang="en-US" sz="1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The Inversion I</a:t>
            </a:r>
            <a:r>
              <a:rPr lang="en-US" sz="12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llusion.</a:t>
            </a:r>
          </a:p>
          <a:p>
            <a:pPr algn="ctr">
              <a:spcAft>
                <a:spcPts val="600"/>
              </a:spcAft>
            </a:pPr>
            <a:r>
              <a:rPr lang="en-US" sz="1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From the PHAK:</a:t>
            </a:r>
            <a:endParaRPr lang="en-US" sz="12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600"/>
              </a:spcAft>
            </a:pPr>
            <a:r>
              <a:rPr lang="en-US" sz="1200" dirty="0">
                <a:latin typeface="Times New Roman" panose="02020603050405020304" pitchFamily="18" charset="0"/>
                <a:cs typeface="Times New Roman" panose="02020603050405020304" pitchFamily="18" charset="0"/>
              </a:rPr>
              <a:t>“</a:t>
            </a:r>
            <a:r>
              <a:rPr lang="en-US" sz="1200" i="1" dirty="0">
                <a:latin typeface="Times New Roman" panose="02020603050405020304" pitchFamily="18" charset="0"/>
                <a:cs typeface="Times New Roman" panose="02020603050405020304" pitchFamily="18" charset="0"/>
              </a:rPr>
              <a:t>The inversion illusion results from an abrupt change from climb to straight-and-level flight, creating the illusion of tumbling backward.”</a:t>
            </a:r>
            <a:endParaRPr lang="en-US" sz="1200" i="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C12C06A-BCCD-95C3-C367-6584215CAFB7}"/>
              </a:ext>
            </a:extLst>
          </p:cNvPr>
          <p:cNvPicPr>
            <a:picLocks noChangeAspect="1"/>
          </p:cNvPicPr>
          <p:nvPr/>
        </p:nvPicPr>
        <p:blipFill>
          <a:blip r:embed="rId2"/>
          <a:stretch>
            <a:fillRect/>
          </a:stretch>
        </p:blipFill>
        <p:spPr>
          <a:xfrm>
            <a:off x="2908396" y="708120"/>
            <a:ext cx="1326958" cy="1326958"/>
          </a:xfrm>
          <a:prstGeom prst="rect">
            <a:avLst/>
          </a:prstGeom>
        </p:spPr>
      </p:pic>
    </p:spTree>
    <p:extLst>
      <p:ext uri="{BB962C8B-B14F-4D97-AF65-F5344CB8AC3E}">
        <p14:creationId xmlns:p14="http://schemas.microsoft.com/office/powerpoint/2010/main" val="1268662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EBFC8E5A-E407-2C31-3532-9DA46EB48BFD}"/>
              </a:ext>
            </a:extLst>
          </p:cNvPr>
          <p:cNvSpPr txBox="1"/>
          <p:nvPr/>
        </p:nvSpPr>
        <p:spPr>
          <a:xfrm>
            <a:off x="238648" y="571381"/>
            <a:ext cx="4094703" cy="1461939"/>
          </a:xfrm>
          <a:prstGeom prst="rect">
            <a:avLst/>
          </a:prstGeom>
          <a:noFill/>
        </p:spPr>
        <p:txBody>
          <a:bodyPr wrap="square">
            <a:spAutoFit/>
          </a:bodyPr>
          <a:lstStyle/>
          <a:p>
            <a:pPr algn="just">
              <a:spcAft>
                <a:spcPts val="600"/>
              </a:spcAft>
            </a:pPr>
            <a:r>
              <a:rPr lang="en-US" sz="1200" dirty="0">
                <a:effectLst/>
                <a:latin typeface="Times New Roman" panose="02020603050405020304" pitchFamily="18" charset="0"/>
                <a:ea typeface="Times New Roman" panose="02020603050405020304" pitchFamily="18" charset="0"/>
              </a:rPr>
              <a:t>You are practicing your night patterns. Tower asks you to perform two 360 degree turns on downwind while they do a runway change. Halfway through the second turn, you turn your head to the right to check your fuel. Suddenly, you feel as if the aircraft is turning in a completely different plane of motion. This is known as the __________ illusion.</a:t>
            </a:r>
          </a:p>
          <a:p>
            <a:pPr algn="ctr">
              <a:spcAft>
                <a:spcPts val="600"/>
              </a:spcAft>
            </a:pPr>
            <a:r>
              <a:rPr lang="en-US" sz="1200" dirty="0">
                <a:latin typeface="Times New Roman" panose="02020603050405020304" pitchFamily="18" charset="0"/>
                <a:cs typeface="Times New Roman" panose="02020603050405020304" pitchFamily="18" charset="0"/>
              </a:rPr>
              <a:t>FAA-H-8083-25B, Chap 17, Pg 17-7</a:t>
            </a: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7DAAD9FD-2770-1964-DC30-9101E2BEED0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6D7D9D0-4FBD-CF99-CDFE-5E8EF8645502}"/>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973158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4B2AFAE1-FD83-7974-58AA-E69638251C13}"/>
              </a:ext>
            </a:extLst>
          </p:cNvPr>
          <p:cNvSpPr txBox="1"/>
          <p:nvPr/>
        </p:nvSpPr>
        <p:spPr>
          <a:xfrm>
            <a:off x="115454" y="394409"/>
            <a:ext cx="2684897" cy="1954381"/>
          </a:xfrm>
          <a:prstGeom prst="rect">
            <a:avLst/>
          </a:prstGeom>
          <a:noFill/>
        </p:spPr>
        <p:txBody>
          <a:bodyPr wrap="square">
            <a:spAutoFit/>
          </a:bodyPr>
          <a:lstStyle/>
          <a:p>
            <a:pPr algn="ctr">
              <a:spcAft>
                <a:spcPts val="600"/>
              </a:spcAft>
            </a:pPr>
            <a:r>
              <a:rPr lang="en-US" sz="1100" dirty="0">
                <a:latin typeface="Times New Roman" panose="02020603050405020304" pitchFamily="18" charset="0"/>
                <a:ea typeface="Times New Roman" panose="02020603050405020304" pitchFamily="18" charset="0"/>
              </a:rPr>
              <a:t>The Coriolis I</a:t>
            </a:r>
            <a:r>
              <a:rPr lang="en-US" sz="1100" dirty="0">
                <a:effectLst/>
                <a:latin typeface="Times New Roman" panose="02020603050405020304" pitchFamily="18" charset="0"/>
                <a:ea typeface="Times New Roman" panose="02020603050405020304" pitchFamily="18" charset="0"/>
              </a:rPr>
              <a:t>llusion.</a:t>
            </a:r>
            <a:endParaRPr lang="en-US" sz="1100" dirty="0">
              <a:latin typeface="Times New Roman" panose="02020603050405020304" pitchFamily="18" charset="0"/>
              <a:ea typeface="Times New Roman" panose="02020603050405020304" pitchFamily="18" charset="0"/>
            </a:endParaRPr>
          </a:p>
          <a:p>
            <a:pPr algn="just">
              <a:spcAft>
                <a:spcPts val="600"/>
              </a:spcAft>
            </a:pPr>
            <a:r>
              <a:rPr lang="en-US" sz="1100" dirty="0">
                <a:effectLst/>
                <a:latin typeface="Times New Roman" panose="02020603050405020304" pitchFamily="18" charset="0"/>
                <a:ea typeface="Times New Roman" panose="02020603050405020304" pitchFamily="18" charset="0"/>
              </a:rPr>
              <a:t>This is why, during night and instrument flight, you should move your eyes first and then, if needed, turn your head…but do so slowly.</a:t>
            </a:r>
          </a:p>
          <a:p>
            <a:pPr algn="ctr">
              <a:spcAft>
                <a:spcPts val="600"/>
              </a:spcAft>
            </a:pPr>
            <a:r>
              <a:rPr lang="en-US" sz="1100" dirty="0">
                <a:latin typeface="Times New Roman" panose="02020603050405020304" pitchFamily="18" charset="0"/>
                <a:ea typeface="Times New Roman" panose="02020603050405020304" pitchFamily="18" charset="0"/>
                <a:cs typeface="Times New Roman" panose="02020603050405020304" pitchFamily="18" charset="0"/>
              </a:rPr>
              <a:t>From the PHAK:</a:t>
            </a:r>
          </a:p>
          <a:p>
            <a:pPr algn="just">
              <a:spcAft>
                <a:spcPts val="600"/>
              </a:spcAft>
            </a:pPr>
            <a:r>
              <a:rPr lang="en-US" sz="1000" dirty="0">
                <a:latin typeface="Times New Roman" panose="02020603050405020304" pitchFamily="18" charset="0"/>
                <a:cs typeface="Times New Roman" panose="02020603050405020304" pitchFamily="18" charset="0"/>
              </a:rPr>
              <a:t>“</a:t>
            </a:r>
            <a:r>
              <a:rPr lang="en-US" sz="1000" i="1" dirty="0">
                <a:latin typeface="Times New Roman" panose="02020603050405020304" pitchFamily="18" charset="0"/>
                <a:cs typeface="Times New Roman" panose="02020603050405020304" pitchFamily="18" charset="0"/>
              </a:rPr>
              <a:t>The Coriolis illusion occurs when a pilot who is in a prolonged, constant-rate turn makes a head movement, causing an overwhelming sensation of motion in a different axis.</a:t>
            </a:r>
            <a:r>
              <a:rPr lang="en-US" sz="1000" dirty="0">
                <a:latin typeface="Times New Roman" panose="02020603050405020304" pitchFamily="18" charset="0"/>
                <a:cs typeface="Times New Roman" panose="02020603050405020304" pitchFamily="18" charset="0"/>
              </a:rPr>
              <a:t>”</a:t>
            </a:r>
            <a:endParaRPr lang="en-US" sz="1000"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443A014-F347-664F-262D-218C4AE0FE23}"/>
              </a:ext>
            </a:extLst>
          </p:cNvPr>
          <p:cNvPicPr>
            <a:picLocks noChangeAspect="1"/>
          </p:cNvPicPr>
          <p:nvPr/>
        </p:nvPicPr>
        <p:blipFill>
          <a:blip r:embed="rId2"/>
          <a:stretch>
            <a:fillRect/>
          </a:stretch>
        </p:blipFill>
        <p:spPr>
          <a:xfrm>
            <a:off x="2945911" y="713370"/>
            <a:ext cx="1329428" cy="1316458"/>
          </a:xfrm>
          <a:prstGeom prst="rect">
            <a:avLst/>
          </a:prstGeom>
        </p:spPr>
      </p:pic>
    </p:spTree>
    <p:extLst>
      <p:ext uri="{BB962C8B-B14F-4D97-AF65-F5344CB8AC3E}">
        <p14:creationId xmlns:p14="http://schemas.microsoft.com/office/powerpoint/2010/main" val="25488063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EBFC8E5A-E407-2C31-3532-9DA46EB48BFD}"/>
              </a:ext>
            </a:extLst>
          </p:cNvPr>
          <p:cNvSpPr txBox="1"/>
          <p:nvPr/>
        </p:nvSpPr>
        <p:spPr>
          <a:xfrm>
            <a:off x="312205" y="480149"/>
            <a:ext cx="3947590" cy="1692771"/>
          </a:xfrm>
          <a:prstGeom prst="rect">
            <a:avLst/>
          </a:prstGeom>
          <a:noFill/>
        </p:spPr>
        <p:txBody>
          <a:bodyPr wrap="square">
            <a:spAutoFit/>
          </a:bodyPr>
          <a:lstStyle/>
          <a:p>
            <a:pPr algn="just">
              <a:spcAft>
                <a:spcPts val="600"/>
              </a:spcAft>
            </a:pPr>
            <a:r>
              <a:rPr lang="en-US" sz="1100" dirty="0">
                <a:effectLst/>
                <a:latin typeface="Times New Roman" panose="02020603050405020304" pitchFamily="18" charset="0"/>
                <a:ea typeface="Times New Roman" panose="02020603050405020304" pitchFamily="18" charset="0"/>
              </a:rPr>
              <a:t>You are on a night cross country to your favorite airfield. While inbound, you learn the previous aircraft blew a tire and airport personnel are performing a runway inspection for debris. You decide to perform a present position, 360-degree, right hand turn until the runway opens. A few minutes later, towers tells you to proceed inbound for landing. </a:t>
            </a:r>
            <a:r>
              <a:rPr lang="en-US" sz="1100" dirty="0">
                <a:latin typeface="Times New Roman" panose="02020603050405020304" pitchFamily="18" charset="0"/>
                <a:ea typeface="Times New Roman" panose="02020603050405020304" pitchFamily="18" charset="0"/>
              </a:rPr>
              <a:t>As you roll out and point towards the airfield, you have an overwhelming sensation you are now turning to the left. You are experiencing the ____________ illusion.</a:t>
            </a:r>
          </a:p>
          <a:p>
            <a:pPr algn="ctr">
              <a:spcAft>
                <a:spcPts val="600"/>
              </a:spcAft>
            </a:pPr>
            <a:r>
              <a:rPr lang="en-US" sz="1100" dirty="0">
                <a:latin typeface="Times New Roman" panose="02020603050405020304" pitchFamily="18" charset="0"/>
                <a:cs typeface="Times New Roman" panose="02020603050405020304" pitchFamily="18" charset="0"/>
              </a:rPr>
              <a:t>FAA-H-8083-25B, Chap 17, Pg 17-6</a:t>
            </a:r>
            <a:endParaRPr lang="en-US" sz="1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706B0DE3-2689-1756-0E13-A39C99B5F35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6EF1B1E-764D-C342-EB49-C58A88346CAC}"/>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9692149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pic>
        <p:nvPicPr>
          <p:cNvPr id="8" name="Picture 7">
            <a:extLst>
              <a:ext uri="{FF2B5EF4-FFF2-40B4-BE49-F238E27FC236}">
                <a16:creationId xmlns:a16="http://schemas.microsoft.com/office/drawing/2014/main" id="{B78EB379-F369-D600-9C65-80AECDB79E8B}"/>
              </a:ext>
            </a:extLst>
          </p:cNvPr>
          <p:cNvPicPr>
            <a:picLocks noChangeAspect="1"/>
          </p:cNvPicPr>
          <p:nvPr/>
        </p:nvPicPr>
        <p:blipFill>
          <a:blip r:embed="rId2"/>
          <a:stretch>
            <a:fillRect/>
          </a:stretch>
        </p:blipFill>
        <p:spPr>
          <a:xfrm>
            <a:off x="3087906" y="664023"/>
            <a:ext cx="1282263" cy="1300847"/>
          </a:xfrm>
          <a:prstGeom prst="rect">
            <a:avLst/>
          </a:prstGeom>
        </p:spPr>
      </p:pic>
      <p:sp>
        <p:nvSpPr>
          <p:cNvPr id="5" name="TextBox 4">
            <a:extLst>
              <a:ext uri="{FF2B5EF4-FFF2-40B4-BE49-F238E27FC236}">
                <a16:creationId xmlns:a16="http://schemas.microsoft.com/office/drawing/2014/main" id="{F5370B99-949B-BD54-F08F-4C9EAA9AB464}"/>
              </a:ext>
            </a:extLst>
          </p:cNvPr>
          <p:cNvSpPr txBox="1"/>
          <p:nvPr/>
        </p:nvSpPr>
        <p:spPr>
          <a:xfrm>
            <a:off x="87204" y="282840"/>
            <a:ext cx="2917934" cy="2177519"/>
          </a:xfrm>
          <a:prstGeom prst="rect">
            <a:avLst/>
          </a:prstGeom>
          <a:noFill/>
        </p:spPr>
        <p:txBody>
          <a:bodyPr wrap="square">
            <a:spAutoFit/>
          </a:bodyPr>
          <a:lstStyle/>
          <a:p>
            <a:pPr algn="ctr">
              <a:spcAft>
                <a:spcPts val="600"/>
              </a:spcAft>
            </a:pPr>
            <a:r>
              <a:rPr lang="en-US" sz="1050" dirty="0">
                <a:latin typeface="Times New Roman" panose="02020603050405020304" pitchFamily="18" charset="0"/>
                <a:ea typeface="Times New Roman" panose="02020603050405020304" pitchFamily="18" charset="0"/>
                <a:cs typeface="Times New Roman" panose="02020603050405020304" pitchFamily="18" charset="0"/>
              </a:rPr>
              <a:t>The Leans I</a:t>
            </a: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llusion.</a:t>
            </a:r>
            <a:endParaRPr lang="en-US" sz="1050" dirty="0">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600"/>
              </a:spcAft>
            </a:pPr>
            <a:r>
              <a:rPr lang="en-US" sz="1000" dirty="0">
                <a:latin typeface="Times New Roman" panose="02020603050405020304" pitchFamily="18" charset="0"/>
                <a:ea typeface="Times New Roman" panose="02020603050405020304" pitchFamily="18" charset="0"/>
                <a:cs typeface="Times New Roman" panose="02020603050405020304" pitchFamily="18" charset="0"/>
              </a:rPr>
              <a:t>From the PHAK:</a:t>
            </a:r>
          </a:p>
          <a:p>
            <a:pPr algn="just">
              <a:spcAft>
                <a:spcPts val="600"/>
              </a:spcAft>
            </a:pPr>
            <a:r>
              <a:rPr lang="en-US" sz="1000" dirty="0">
                <a:latin typeface="Times New Roman" panose="02020603050405020304" pitchFamily="18" charset="0"/>
                <a:cs typeface="Times New Roman" panose="02020603050405020304" pitchFamily="18" charset="0"/>
              </a:rPr>
              <a:t>“</a:t>
            </a:r>
            <a:r>
              <a:rPr lang="en-US" sz="1000" i="1" dirty="0">
                <a:latin typeface="Times New Roman" panose="02020603050405020304" pitchFamily="18" charset="0"/>
                <a:cs typeface="Times New Roman" panose="02020603050405020304" pitchFamily="18" charset="0"/>
              </a:rPr>
              <a:t>The most common illusion during flight is known as ‘the leans.’ A pilot who enters a bank too slowly to set the semicircular canals in motion may feel level even though the aircraft is banked. When the pilot levels the wings, an illusion of banking in the opposite direction is experienced.”</a:t>
            </a:r>
            <a:endParaRPr lang="en-US" sz="1000" i="1" dirty="0">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600"/>
              </a:spcAft>
            </a:pPr>
            <a:r>
              <a:rPr lang="en-US" sz="1000" dirty="0">
                <a:solidFill>
                  <a:srgbClr val="222222"/>
                </a:solidFill>
                <a:latin typeface="Times New Roman" panose="02020603050405020304" pitchFamily="18" charset="0"/>
                <a:ea typeface="Times New Roman" panose="02020603050405020304" pitchFamily="18" charset="0"/>
              </a:rPr>
              <a:t>Author’s note: I have experienced this many times. The key is to use wide lazy circles if you must do turns. Use slow roll rates into and out of the turn. Trust your instruments!</a:t>
            </a:r>
            <a:endParaRPr lang="en-US" sz="1000" i="1"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38852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EBFC8E5A-E407-2C31-3532-9DA46EB48BFD}"/>
              </a:ext>
            </a:extLst>
          </p:cNvPr>
          <p:cNvSpPr txBox="1"/>
          <p:nvPr/>
        </p:nvSpPr>
        <p:spPr>
          <a:xfrm>
            <a:off x="476511" y="310326"/>
            <a:ext cx="3618977" cy="2015936"/>
          </a:xfrm>
          <a:prstGeom prst="rect">
            <a:avLst/>
          </a:prstGeom>
          <a:noFill/>
        </p:spPr>
        <p:txBody>
          <a:bodyPr wrap="square">
            <a:spAutoFit/>
          </a:bodyPr>
          <a:lstStyle/>
          <a:p>
            <a:pPr algn="just">
              <a:spcAft>
                <a:spcPts val="600"/>
              </a:spcAft>
            </a:pPr>
            <a:r>
              <a:rPr lang="en-US" sz="1000" dirty="0">
                <a:latin typeface="Times New Roman" panose="02020603050405020304" pitchFamily="18" charset="0"/>
              </a:rPr>
              <a:t>While on a night cross country, you find yourself in a very hazy airmass. You glance at your iPad to check the local weather and confirm your location. When you glance at your ADI, you are in a 20 degree, left hand bank. You rapidly fix this. But suddenly you feel as if you are in a right-hand bank even though the ADI says you are level. The feeling is overwhelming and your brain makes you establish what it thinks is straight and level flight. But now, again, the ADI shows a bank so now, you make the ADI “look right.” This process repeats itself and each time it does, you lose altitude. This continues until ground impact. You succumbed to what illusion?</a:t>
            </a:r>
          </a:p>
          <a:p>
            <a:pPr algn="ctr"/>
            <a:r>
              <a:rPr lang="en-US" sz="1000" dirty="0">
                <a:latin typeface="Times New Roman" panose="02020603050405020304" pitchFamily="18" charset="0"/>
                <a:cs typeface="Times New Roman" panose="02020603050405020304" pitchFamily="18" charset="0"/>
              </a:rPr>
              <a:t>FAA-H-8083-25B, Chap 17, Pg 17-6</a:t>
            </a:r>
            <a:endParaRPr lang="en-US" sz="1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B1D9A003-21EC-D7F5-3391-9FC569B6A11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345ED2B3-17FA-FC8C-EB56-97E313969F9E}"/>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3087879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4B2AFAE1-FD83-7974-58AA-E69638251C13}"/>
              </a:ext>
            </a:extLst>
          </p:cNvPr>
          <p:cNvSpPr txBox="1"/>
          <p:nvPr/>
        </p:nvSpPr>
        <p:spPr>
          <a:xfrm>
            <a:off x="388448" y="369222"/>
            <a:ext cx="3795103" cy="646331"/>
          </a:xfrm>
          <a:prstGeom prst="rect">
            <a:avLst/>
          </a:prstGeom>
          <a:noFill/>
        </p:spPr>
        <p:txBody>
          <a:bodyPr wrap="square">
            <a:spAutoFit/>
          </a:bodyPr>
          <a:lstStyle/>
          <a:p>
            <a:pPr algn="ctr"/>
            <a:r>
              <a:rPr lang="en-US" sz="1200" dirty="0">
                <a:solidFill>
                  <a:srgbClr val="222222"/>
                </a:solidFill>
                <a:latin typeface="Times New Roman" panose="02020603050405020304" pitchFamily="18" charset="0"/>
                <a:ea typeface="Times New Roman" panose="02020603050405020304" pitchFamily="18" charset="0"/>
              </a:rPr>
              <a:t>The Graveyard Spiral I</a:t>
            </a:r>
            <a:r>
              <a:rPr lang="en-US" sz="1200" dirty="0">
                <a:solidFill>
                  <a:srgbClr val="222222"/>
                </a:solidFill>
                <a:effectLst/>
                <a:latin typeface="Times New Roman" panose="02020603050405020304" pitchFamily="18" charset="0"/>
                <a:ea typeface="Times New Roman" panose="02020603050405020304" pitchFamily="18" charset="0"/>
              </a:rPr>
              <a:t>llusion.</a:t>
            </a:r>
          </a:p>
          <a:p>
            <a:pPr algn="ctr"/>
            <a:endParaRPr lang="en-US" sz="1200" dirty="0">
              <a:solidFill>
                <a:srgbClr val="222222"/>
              </a:solidFill>
              <a:latin typeface="Times New Roman" panose="02020603050405020304" pitchFamily="18" charset="0"/>
              <a:ea typeface="Times New Roman" panose="02020603050405020304" pitchFamily="18" charset="0"/>
            </a:endParaRPr>
          </a:p>
          <a:p>
            <a:pPr algn="ctr"/>
            <a:r>
              <a:rPr lang="en-US" sz="1200" dirty="0">
                <a:solidFill>
                  <a:srgbClr val="222222"/>
                </a:solidFill>
                <a:effectLst/>
                <a:latin typeface="Times New Roman" panose="02020603050405020304" pitchFamily="18" charset="0"/>
                <a:ea typeface="Times New Roman" panose="02020603050405020304" pitchFamily="18" charset="0"/>
              </a:rPr>
              <a:t>Author’s note: Read about the tragic JFK Junior mishap.</a:t>
            </a:r>
          </a:p>
        </p:txBody>
      </p:sp>
      <p:grpSp>
        <p:nvGrpSpPr>
          <p:cNvPr id="9" name="Group 8">
            <a:extLst>
              <a:ext uri="{FF2B5EF4-FFF2-40B4-BE49-F238E27FC236}">
                <a16:creationId xmlns:a16="http://schemas.microsoft.com/office/drawing/2014/main" id="{DBDA0A77-E523-D716-100D-698518553FCD}"/>
              </a:ext>
            </a:extLst>
          </p:cNvPr>
          <p:cNvGrpSpPr/>
          <p:nvPr/>
        </p:nvGrpSpPr>
        <p:grpSpPr>
          <a:xfrm>
            <a:off x="901649" y="1067447"/>
            <a:ext cx="2768699" cy="1285384"/>
            <a:chOff x="1055798" y="1067447"/>
            <a:chExt cx="2768699" cy="1285384"/>
          </a:xfrm>
        </p:grpSpPr>
        <p:pic>
          <p:nvPicPr>
            <p:cNvPr id="6" name="Picture 5">
              <a:extLst>
                <a:ext uri="{FF2B5EF4-FFF2-40B4-BE49-F238E27FC236}">
                  <a16:creationId xmlns:a16="http://schemas.microsoft.com/office/drawing/2014/main" id="{F486784E-5F97-A568-4991-750652560959}"/>
                </a:ext>
              </a:extLst>
            </p:cNvPr>
            <p:cNvPicPr>
              <a:picLocks noChangeAspect="1"/>
            </p:cNvPicPr>
            <p:nvPr/>
          </p:nvPicPr>
          <p:blipFill>
            <a:blip r:embed="rId2"/>
            <a:stretch>
              <a:fillRect/>
            </a:stretch>
          </p:blipFill>
          <p:spPr>
            <a:xfrm>
              <a:off x="2551182" y="1067447"/>
              <a:ext cx="1273315" cy="1285384"/>
            </a:xfrm>
            <a:prstGeom prst="rect">
              <a:avLst/>
            </a:prstGeom>
          </p:spPr>
        </p:pic>
        <p:pic>
          <p:nvPicPr>
            <p:cNvPr id="8" name="Picture 7">
              <a:extLst>
                <a:ext uri="{FF2B5EF4-FFF2-40B4-BE49-F238E27FC236}">
                  <a16:creationId xmlns:a16="http://schemas.microsoft.com/office/drawing/2014/main" id="{C9C4D031-490B-CE15-D7D1-1097CE9E71F2}"/>
                </a:ext>
              </a:extLst>
            </p:cNvPr>
            <p:cNvPicPr>
              <a:picLocks noChangeAspect="1"/>
            </p:cNvPicPr>
            <p:nvPr/>
          </p:nvPicPr>
          <p:blipFill>
            <a:blip r:embed="rId3"/>
            <a:stretch>
              <a:fillRect/>
            </a:stretch>
          </p:blipFill>
          <p:spPr>
            <a:xfrm>
              <a:off x="1055798" y="1074449"/>
              <a:ext cx="1266207" cy="1278382"/>
            </a:xfrm>
            <a:prstGeom prst="rect">
              <a:avLst/>
            </a:prstGeom>
          </p:spPr>
        </p:pic>
      </p:grpSp>
    </p:spTree>
    <p:extLst>
      <p:ext uri="{BB962C8B-B14F-4D97-AF65-F5344CB8AC3E}">
        <p14:creationId xmlns:p14="http://schemas.microsoft.com/office/powerpoint/2010/main" val="3677973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EBFC8E5A-E407-2C31-3532-9DA46EB48BFD}"/>
              </a:ext>
            </a:extLst>
          </p:cNvPr>
          <p:cNvSpPr txBox="1"/>
          <p:nvPr/>
        </p:nvSpPr>
        <p:spPr>
          <a:xfrm>
            <a:off x="238648" y="749855"/>
            <a:ext cx="4094703" cy="1169551"/>
          </a:xfrm>
          <a:prstGeom prst="rect">
            <a:avLst/>
          </a:prstGeom>
          <a:noFill/>
        </p:spPr>
        <p:txBody>
          <a:bodyPr wrap="square">
            <a:spAutoFit/>
          </a:bodyPr>
          <a:lstStyle/>
          <a:p>
            <a:pPr algn="just"/>
            <a:r>
              <a:rPr lang="en-US" sz="1400" dirty="0">
                <a:solidFill>
                  <a:srgbClr val="222222"/>
                </a:solidFill>
                <a:effectLst/>
                <a:latin typeface="Times New Roman" panose="02020603050405020304" pitchFamily="18" charset="0"/>
                <a:ea typeface="Times New Roman" panose="02020603050405020304" pitchFamily="18" charset="0"/>
              </a:rPr>
              <a:t>You are on a night cross country to visit a friend. </a:t>
            </a:r>
            <a:r>
              <a:rPr lang="en-US" sz="1400" dirty="0">
                <a:solidFill>
                  <a:srgbClr val="222222"/>
                </a:solidFill>
                <a:latin typeface="Times New Roman" panose="02020603050405020304" pitchFamily="18" charset="0"/>
                <a:ea typeface="Times New Roman" panose="02020603050405020304" pitchFamily="18" charset="0"/>
              </a:rPr>
              <a:t>You find yourself in a strong updraft and instinctively push forward on the controls. This is the ________ illusion.</a:t>
            </a:r>
          </a:p>
          <a:p>
            <a:pPr algn="just"/>
            <a:endParaRPr lang="en-US" sz="1400" dirty="0">
              <a:solidFill>
                <a:srgbClr val="222222"/>
              </a:solidFill>
              <a:latin typeface="Times New Roman" panose="02020603050405020304" pitchFamily="18" charset="0"/>
            </a:endParaRPr>
          </a:p>
          <a:p>
            <a:pPr algn="ctr"/>
            <a:r>
              <a:rPr lang="en-US" sz="1400" dirty="0">
                <a:solidFill>
                  <a:srgbClr val="222222"/>
                </a:solidFill>
                <a:latin typeface="Times New Roman" panose="02020603050405020304" pitchFamily="18" charset="0"/>
              </a:rPr>
              <a:t>AIM 8-1-5</a:t>
            </a:r>
            <a:endParaRPr lang="en-US" sz="1400" dirty="0"/>
          </a:p>
        </p:txBody>
      </p:sp>
      <p:sp>
        <p:nvSpPr>
          <p:cNvPr id="3" name="Rectangle 2">
            <a:extLst>
              <a:ext uri="{FF2B5EF4-FFF2-40B4-BE49-F238E27FC236}">
                <a16:creationId xmlns:a16="http://schemas.microsoft.com/office/drawing/2014/main" id="{6ED12A11-6A91-2954-066C-381092FB7952}"/>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0B96720-BCCB-8A37-C500-74B1C35F2720}"/>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0455617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pic>
        <p:nvPicPr>
          <p:cNvPr id="6" name="Picture 5">
            <a:extLst>
              <a:ext uri="{FF2B5EF4-FFF2-40B4-BE49-F238E27FC236}">
                <a16:creationId xmlns:a16="http://schemas.microsoft.com/office/drawing/2014/main" id="{4F932E0C-1E73-B703-FF25-2A12B103C8FC}"/>
              </a:ext>
            </a:extLst>
          </p:cNvPr>
          <p:cNvPicPr>
            <a:picLocks noChangeAspect="1"/>
          </p:cNvPicPr>
          <p:nvPr/>
        </p:nvPicPr>
        <p:blipFill>
          <a:blip r:embed="rId2"/>
          <a:stretch>
            <a:fillRect/>
          </a:stretch>
        </p:blipFill>
        <p:spPr>
          <a:xfrm>
            <a:off x="2938552" y="726097"/>
            <a:ext cx="1266645" cy="1291004"/>
          </a:xfrm>
          <a:prstGeom prst="rect">
            <a:avLst/>
          </a:prstGeom>
        </p:spPr>
      </p:pic>
      <p:sp>
        <p:nvSpPr>
          <p:cNvPr id="3" name="TextBox 2">
            <a:extLst>
              <a:ext uri="{FF2B5EF4-FFF2-40B4-BE49-F238E27FC236}">
                <a16:creationId xmlns:a16="http://schemas.microsoft.com/office/drawing/2014/main" id="{65DCB199-DD40-628D-79C1-6782013846B4}"/>
              </a:ext>
            </a:extLst>
          </p:cNvPr>
          <p:cNvSpPr txBox="1"/>
          <p:nvPr/>
        </p:nvSpPr>
        <p:spPr>
          <a:xfrm>
            <a:off x="115454" y="471353"/>
            <a:ext cx="2684897" cy="1800493"/>
          </a:xfrm>
          <a:prstGeom prst="rect">
            <a:avLst/>
          </a:prstGeom>
          <a:noFill/>
        </p:spPr>
        <p:txBody>
          <a:bodyPr wrap="square">
            <a:spAutoFit/>
          </a:bodyPr>
          <a:lstStyle/>
          <a:p>
            <a:pPr algn="ctr">
              <a:spcAft>
                <a:spcPts val="600"/>
              </a:spcAft>
            </a:pPr>
            <a:r>
              <a:rPr lang="en-US" sz="1100" dirty="0">
                <a:latin typeface="Times New Roman" panose="02020603050405020304" pitchFamily="18" charset="0"/>
                <a:ea typeface="Times New Roman" panose="02020603050405020304" pitchFamily="18" charset="0"/>
                <a:cs typeface="Times New Roman" panose="02020603050405020304" pitchFamily="18" charset="0"/>
              </a:rPr>
              <a:t>The Elevator I</a:t>
            </a:r>
            <a:r>
              <a:rPr lang="en-US" sz="1100" dirty="0">
                <a:effectLst/>
                <a:latin typeface="Times New Roman" panose="02020603050405020304" pitchFamily="18" charset="0"/>
                <a:ea typeface="Times New Roman" panose="02020603050405020304" pitchFamily="18" charset="0"/>
                <a:cs typeface="Times New Roman" panose="02020603050405020304" pitchFamily="18" charset="0"/>
              </a:rPr>
              <a:t>llusion.</a:t>
            </a:r>
            <a:endParaRPr lang="en-US" sz="11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600"/>
              </a:spcAft>
            </a:pPr>
            <a:r>
              <a:rPr lang="en-US" sz="1100" dirty="0">
                <a:latin typeface="Times New Roman" panose="02020603050405020304" pitchFamily="18" charset="0"/>
                <a:cs typeface="Times New Roman" panose="02020603050405020304" pitchFamily="18" charset="0"/>
              </a:rPr>
              <a:t>The elevator illusion occurs when vertical acceleration (not horizontal acceleration like in the Somatogravic illusion) tricks your inner ear.</a:t>
            </a:r>
          </a:p>
          <a:p>
            <a:pPr algn="ctr">
              <a:spcAft>
                <a:spcPts val="600"/>
              </a:spcAft>
            </a:pPr>
            <a:r>
              <a:rPr lang="en-US" sz="1100" dirty="0">
                <a:latin typeface="Times New Roman" panose="02020603050405020304" pitchFamily="18" charset="0"/>
                <a:ea typeface="Times New Roman" panose="02020603050405020304" pitchFamily="18" charset="0"/>
                <a:cs typeface="Times New Roman" panose="02020603050405020304" pitchFamily="18" charset="0"/>
              </a:rPr>
              <a:t>From the PHAK:</a:t>
            </a:r>
          </a:p>
          <a:p>
            <a:pPr algn="just">
              <a:spcAft>
                <a:spcPts val="600"/>
              </a:spcAft>
            </a:pPr>
            <a:r>
              <a:rPr lang="en-US" sz="1000" i="1" dirty="0">
                <a:latin typeface="Times New Roman" panose="02020603050405020304" pitchFamily="18" charset="0"/>
                <a:cs typeface="Times New Roman" panose="02020603050405020304" pitchFamily="18" charset="0"/>
              </a:rPr>
              <a:t>“An abrupt upward vertical acceleration, as in an updraft, can create the illusion of being in a climb. This is known as the elevator illusion.”</a:t>
            </a:r>
            <a:endParaRPr lang="en-US" sz="1000" i="1"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74634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AC32C307-B2E0-AED6-2621-66B1B9B6DBBD}"/>
              </a:ext>
            </a:extLst>
          </p:cNvPr>
          <p:cNvSpPr txBox="1"/>
          <p:nvPr/>
        </p:nvSpPr>
        <p:spPr>
          <a:xfrm>
            <a:off x="543454" y="858781"/>
            <a:ext cx="3485091" cy="954107"/>
          </a:xfrm>
          <a:prstGeom prst="rect">
            <a:avLst/>
          </a:prstGeom>
          <a:noFill/>
        </p:spPr>
        <p:txBody>
          <a:bodyPr wrap="square">
            <a:spAutoFit/>
          </a:bodyPr>
          <a:lstStyle/>
          <a:p>
            <a:pPr algn="just"/>
            <a:r>
              <a:rPr lang="en-US" sz="1400" dirty="0">
                <a:solidFill>
                  <a:srgbClr val="222222"/>
                </a:solidFill>
                <a:effectLst/>
                <a:latin typeface="Times New Roman" panose="02020603050405020304" pitchFamily="18" charset="0"/>
                <a:ea typeface="Times New Roman" panose="02020603050405020304" pitchFamily="18" charset="0"/>
              </a:rPr>
              <a:t>Are aircraft anti-collision lights required to be on during night flight operations?</a:t>
            </a:r>
          </a:p>
          <a:p>
            <a:pPr algn="just"/>
            <a:endParaRPr lang="en-US" sz="1400" dirty="0">
              <a:solidFill>
                <a:srgbClr val="222222"/>
              </a:solidFill>
              <a:effectLst/>
              <a:latin typeface="Times New Roman" panose="02020603050405020304" pitchFamily="18" charset="0"/>
              <a:ea typeface="Times New Roman" panose="02020603050405020304" pitchFamily="18" charset="0"/>
            </a:endParaRPr>
          </a:p>
          <a:p>
            <a:pPr algn="ctr"/>
            <a:r>
              <a:rPr lang="en-US" sz="1400" dirty="0">
                <a:solidFill>
                  <a:srgbClr val="222222"/>
                </a:solidFill>
                <a:effectLst/>
                <a:latin typeface="Times New Roman" panose="02020603050405020304" pitchFamily="18" charset="0"/>
                <a:ea typeface="Times New Roman" panose="02020603050405020304" pitchFamily="18" charset="0"/>
              </a:rPr>
              <a:t>91.209(b)</a:t>
            </a:r>
            <a:endParaRPr lang="en-US" sz="1400" dirty="0"/>
          </a:p>
        </p:txBody>
      </p:sp>
      <p:sp>
        <p:nvSpPr>
          <p:cNvPr id="3" name="Rectangle 2">
            <a:extLst>
              <a:ext uri="{FF2B5EF4-FFF2-40B4-BE49-F238E27FC236}">
                <a16:creationId xmlns:a16="http://schemas.microsoft.com/office/drawing/2014/main" id="{C640AAA2-C3AE-81F4-E0F1-D782FD9343A4}"/>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FFBCE34-D538-D34D-17F1-599F7D751170}"/>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2925972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2586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Regulations</a:t>
            </a:r>
          </a:p>
        </p:txBody>
      </p:sp>
      <p:sp>
        <p:nvSpPr>
          <p:cNvPr id="2" name="TextBox 1">
            <a:extLst>
              <a:ext uri="{FF2B5EF4-FFF2-40B4-BE49-F238E27FC236}">
                <a16:creationId xmlns:a16="http://schemas.microsoft.com/office/drawing/2014/main" id="{11DF1549-5C7B-C58F-897E-D0AA8557D743}"/>
              </a:ext>
            </a:extLst>
          </p:cNvPr>
          <p:cNvSpPr txBox="1"/>
          <p:nvPr/>
        </p:nvSpPr>
        <p:spPr>
          <a:xfrm>
            <a:off x="298003" y="310326"/>
            <a:ext cx="3975994" cy="1938992"/>
          </a:xfrm>
          <a:prstGeom prst="rect">
            <a:avLst/>
          </a:prstGeom>
          <a:noFill/>
        </p:spPr>
        <p:txBody>
          <a:bodyPr wrap="square">
            <a:spAutoFit/>
          </a:bodyPr>
          <a:lstStyle/>
          <a:p>
            <a:pPr algn="ctr">
              <a:spcAft>
                <a:spcPts val="600"/>
              </a:spcAft>
            </a:pPr>
            <a:r>
              <a:rPr lang="en-US" sz="11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Yes.</a:t>
            </a:r>
            <a:endParaRPr lang="en-US" sz="11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600"/>
              </a:spcAft>
            </a:pPr>
            <a:r>
              <a:rPr lang="en-US" sz="1100" i="1" dirty="0">
                <a:latin typeface="Times New Roman" panose="02020603050405020304" pitchFamily="18" charset="0"/>
                <a:cs typeface="Times New Roman" panose="02020603050405020304" pitchFamily="18" charset="0"/>
              </a:rPr>
              <a:t>“No person may operate an aircraft that is equipped with an anticollision light system, unless it has lighted anticollision lights. However, the anticollision lights need not be lighted when the pilot-in-command determines that, because of operating conditions, it would be in the interest of safety to turn the lights off.”</a:t>
            </a:r>
            <a:endParaRPr lang="en-US" sz="1100" i="1"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600"/>
              </a:spcAft>
            </a:pPr>
            <a:r>
              <a:rPr lang="en-US" sz="11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Examples of </a:t>
            </a:r>
            <a:r>
              <a:rPr lang="en-US" sz="1100" i="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100" i="1"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in the interest of safety” </a:t>
            </a:r>
            <a:r>
              <a:rPr lang="en-US" sz="11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would be flying in the clouds at night; flashing strobes could be disorienting. Flashing strobes during ground operations can be somewhat disorienting to you and others.</a:t>
            </a:r>
            <a:endParaRPr lang="en-US"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06060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DE841BD3-0D4F-B01D-7421-43F02459F607}"/>
              </a:ext>
            </a:extLst>
          </p:cNvPr>
          <p:cNvSpPr txBox="1"/>
          <p:nvPr/>
        </p:nvSpPr>
        <p:spPr>
          <a:xfrm>
            <a:off x="1081006" y="1002268"/>
            <a:ext cx="2330373" cy="738664"/>
          </a:xfrm>
          <a:prstGeom prst="rect">
            <a:avLst/>
          </a:prstGeom>
          <a:noFill/>
        </p:spPr>
        <p:txBody>
          <a:bodyPr wrap="square">
            <a:spAutoFit/>
          </a:bodyPr>
          <a:lstStyle/>
          <a:p>
            <a:pPr algn="ctr"/>
            <a:r>
              <a:rPr lang="en-US" sz="1400" dirty="0">
                <a:solidFill>
                  <a:srgbClr val="222222"/>
                </a:solidFill>
                <a:effectLst/>
                <a:latin typeface="Times New Roman" panose="02020603050405020304" pitchFamily="18" charset="0"/>
                <a:ea typeface="Times New Roman" panose="02020603050405020304" pitchFamily="18" charset="0"/>
              </a:rPr>
              <a:t>What is Hypoxia?</a:t>
            </a:r>
          </a:p>
          <a:p>
            <a:pPr algn="ctr"/>
            <a:endParaRPr lang="en-US" sz="1400" dirty="0">
              <a:solidFill>
                <a:srgbClr val="222222"/>
              </a:solidFill>
              <a:latin typeface="Times New Roman" panose="02020603050405020304" pitchFamily="18" charset="0"/>
            </a:endParaRPr>
          </a:p>
          <a:p>
            <a:pPr algn="ctr"/>
            <a:r>
              <a:rPr lang="en-US" sz="1400" dirty="0">
                <a:solidFill>
                  <a:srgbClr val="222222"/>
                </a:solidFill>
                <a:latin typeface="Times New Roman" panose="02020603050405020304" pitchFamily="18" charset="0"/>
              </a:rPr>
              <a:t>AIM 8-1-2</a:t>
            </a:r>
            <a:endParaRPr lang="en-US" sz="1400" dirty="0"/>
          </a:p>
        </p:txBody>
      </p:sp>
      <p:sp>
        <p:nvSpPr>
          <p:cNvPr id="3" name="Rectangle 2">
            <a:extLst>
              <a:ext uri="{FF2B5EF4-FFF2-40B4-BE49-F238E27FC236}">
                <a16:creationId xmlns:a16="http://schemas.microsoft.com/office/drawing/2014/main" id="{73D77553-4CD7-B73A-CB86-6D35012F5B49}"/>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575B319-5530-8A95-B895-D810D933DC27}"/>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957051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485E71FF-E68D-5975-F853-398749F78420}"/>
              </a:ext>
            </a:extLst>
          </p:cNvPr>
          <p:cNvSpPr txBox="1"/>
          <p:nvPr/>
        </p:nvSpPr>
        <p:spPr>
          <a:xfrm>
            <a:off x="648752" y="446032"/>
            <a:ext cx="3274493" cy="738664"/>
          </a:xfrm>
          <a:prstGeom prst="rect">
            <a:avLst/>
          </a:prstGeom>
          <a:noFill/>
        </p:spPr>
        <p:txBody>
          <a:bodyPr wrap="square">
            <a:spAutoFit/>
          </a:bodyPr>
          <a:lstStyle/>
          <a:p>
            <a:pPr marL="0" marR="0" algn="just">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Hypoxia is a state of oxygen deficiency in the body sufficient enough to impair functions of the brain and other organs.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593693B-0C3B-4A55-1B21-03771121EAAC}"/>
              </a:ext>
            </a:extLst>
          </p:cNvPr>
          <p:cNvPicPr>
            <a:picLocks noChangeAspect="1"/>
          </p:cNvPicPr>
          <p:nvPr/>
        </p:nvPicPr>
        <p:blipFill>
          <a:blip r:embed="rId2"/>
          <a:stretch>
            <a:fillRect/>
          </a:stretch>
        </p:blipFill>
        <p:spPr>
          <a:xfrm>
            <a:off x="1725896" y="1244179"/>
            <a:ext cx="1120207" cy="1125593"/>
          </a:xfrm>
          <a:prstGeom prst="rect">
            <a:avLst/>
          </a:prstGeom>
        </p:spPr>
      </p:pic>
    </p:spTree>
    <p:extLst>
      <p:ext uri="{BB962C8B-B14F-4D97-AF65-F5344CB8AC3E}">
        <p14:creationId xmlns:p14="http://schemas.microsoft.com/office/powerpoint/2010/main" val="22373719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339FC97A-FB15-0D1E-0606-2D741CDDD9E0}"/>
              </a:ext>
            </a:extLst>
          </p:cNvPr>
          <p:cNvSpPr txBox="1"/>
          <p:nvPr/>
        </p:nvSpPr>
        <p:spPr>
          <a:xfrm>
            <a:off x="438150" y="679102"/>
            <a:ext cx="3822700" cy="1384995"/>
          </a:xfrm>
          <a:prstGeom prst="rect">
            <a:avLst/>
          </a:prstGeom>
          <a:noFill/>
        </p:spPr>
        <p:txBody>
          <a:bodyPr wrap="square">
            <a:spAutoFit/>
          </a:bodyPr>
          <a:lstStyle/>
          <a:p>
            <a:pPr algn="just"/>
            <a:r>
              <a:rPr lang="en-US" sz="1400" dirty="0">
                <a:solidFill>
                  <a:srgbClr val="222222"/>
                </a:solidFill>
                <a:effectLst/>
                <a:latin typeface="Times New Roman" panose="02020603050405020304" pitchFamily="18" charset="0"/>
                <a:ea typeface="Times New Roman" panose="02020603050405020304" pitchFamily="18" charset="0"/>
              </a:rPr>
              <a:t>You won the lottery and are flying your King Air to the Bahamas for some scuba diving. Your planned cruis</a:t>
            </a:r>
            <a:r>
              <a:rPr lang="en-US" sz="1400" dirty="0">
                <a:solidFill>
                  <a:srgbClr val="222222"/>
                </a:solidFill>
                <a:latin typeface="Times New Roman" panose="02020603050405020304" pitchFamily="18" charset="0"/>
                <a:ea typeface="Times New Roman" panose="02020603050405020304" pitchFamily="18" charset="0"/>
              </a:rPr>
              <a:t>e altitude on the return trip is 17,000 MSL. How long must you wait after diving before you can return home?</a:t>
            </a:r>
          </a:p>
          <a:p>
            <a:pPr algn="ctr"/>
            <a:r>
              <a:rPr lang="en-US" sz="1400" dirty="0">
                <a:solidFill>
                  <a:srgbClr val="222222"/>
                </a:solidFill>
                <a:latin typeface="Times New Roman" panose="02020603050405020304" pitchFamily="18" charset="0"/>
                <a:ea typeface="Times New Roman" panose="02020603050405020304" pitchFamily="18" charset="0"/>
              </a:rPr>
              <a:t>AIM 8-1-2</a:t>
            </a:r>
            <a:endParaRPr lang="en-US" sz="1400" dirty="0"/>
          </a:p>
        </p:txBody>
      </p:sp>
      <p:sp>
        <p:nvSpPr>
          <p:cNvPr id="3" name="Rectangle 2">
            <a:extLst>
              <a:ext uri="{FF2B5EF4-FFF2-40B4-BE49-F238E27FC236}">
                <a16:creationId xmlns:a16="http://schemas.microsoft.com/office/drawing/2014/main" id="{31CF7148-1D6D-FE30-E2CC-EBEBAF2754E2}"/>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4490263-02F8-00ED-D566-DC82C8A437BB}"/>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8947859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877163"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Aeromedical</a:t>
            </a:r>
          </a:p>
        </p:txBody>
      </p:sp>
      <p:sp>
        <p:nvSpPr>
          <p:cNvPr id="2" name="TextBox 1">
            <a:extLst>
              <a:ext uri="{FF2B5EF4-FFF2-40B4-BE49-F238E27FC236}">
                <a16:creationId xmlns:a16="http://schemas.microsoft.com/office/drawing/2014/main" id="{CADE1DA8-56FC-CE66-BACA-3FF5D3D631D7}"/>
              </a:ext>
            </a:extLst>
          </p:cNvPr>
          <p:cNvSpPr txBox="1"/>
          <p:nvPr/>
        </p:nvSpPr>
        <p:spPr>
          <a:xfrm>
            <a:off x="540114" y="565248"/>
            <a:ext cx="3491771" cy="1231106"/>
          </a:xfrm>
          <a:prstGeom prst="rect">
            <a:avLst/>
          </a:prstGeom>
          <a:noFill/>
        </p:spPr>
        <p:txBody>
          <a:bodyPr wrap="square">
            <a:spAutoFit/>
          </a:bodyPr>
          <a:lstStyle/>
          <a:p>
            <a:pPr algn="ctr">
              <a:spcAft>
                <a:spcPts val="60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24 Hours.</a:t>
            </a:r>
          </a:p>
          <a:p>
            <a:pPr algn="ctr">
              <a:spcAft>
                <a:spcPts val="600"/>
              </a:spcAft>
            </a:pPr>
            <a:r>
              <a:rPr lang="en-US" sz="1400" dirty="0">
                <a:solidFill>
                  <a:srgbClr val="222222"/>
                </a:solidFill>
                <a:latin typeface="Times New Roman" panose="02020603050405020304" pitchFamily="18" charset="0"/>
                <a:cs typeface="Times New Roman" panose="02020603050405020304" pitchFamily="18" charset="0"/>
              </a:rPr>
              <a:t>From the AIM:</a:t>
            </a:r>
          </a:p>
          <a:p>
            <a:pPr algn="just">
              <a:spcAft>
                <a:spcPts val="600"/>
              </a:spcAft>
            </a:pPr>
            <a:r>
              <a:rPr lang="en-US" sz="1200" i="1" dirty="0">
                <a:latin typeface="Times New Roman" panose="02020603050405020304" pitchFamily="18" charset="0"/>
                <a:cs typeface="Times New Roman" panose="02020603050405020304" pitchFamily="18" charset="0"/>
              </a:rPr>
              <a:t>“For flights above 8,000 feet cabin altitude, a minimum surface interval of 24 hours is recommended before flight.”</a:t>
            </a:r>
          </a:p>
        </p:txBody>
      </p:sp>
    </p:spTree>
    <p:extLst>
      <p:ext uri="{BB962C8B-B14F-4D97-AF65-F5344CB8AC3E}">
        <p14:creationId xmlns:p14="http://schemas.microsoft.com/office/powerpoint/2010/main" val="319636071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8500</TotalTime>
  <Words>1724</Words>
  <Application>Microsoft Office PowerPoint</Application>
  <PresentationFormat>Custom</PresentationFormat>
  <Paragraphs>142</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Segoe UI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Bill Jones</dc:creator>
  <cp:lastModifiedBy>Bill Jones</cp:lastModifiedBy>
  <cp:revision>557</cp:revision>
  <dcterms:created xsi:type="dcterms:W3CDTF">2023-07-11T19:01:37Z</dcterms:created>
  <dcterms:modified xsi:type="dcterms:W3CDTF">2025-11-08T22:01:11Z</dcterms:modified>
</cp:coreProperties>
</file>