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648" r:id="rId2"/>
    <p:sldId id="649" r:id="rId3"/>
    <p:sldId id="736" r:id="rId4"/>
    <p:sldId id="737" r:id="rId5"/>
    <p:sldId id="903" r:id="rId6"/>
    <p:sldId id="476" r:id="rId7"/>
    <p:sldId id="738" r:id="rId8"/>
    <p:sldId id="750" r:id="rId9"/>
    <p:sldId id="680" r:id="rId10"/>
    <p:sldId id="681" r:id="rId11"/>
    <p:sldId id="742" r:id="rId12"/>
    <p:sldId id="743" r:id="rId13"/>
    <p:sldId id="481" r:id="rId14"/>
    <p:sldId id="482" r:id="rId15"/>
    <p:sldId id="614" r:id="rId16"/>
    <p:sldId id="615" r:id="rId17"/>
    <p:sldId id="483" r:id="rId18"/>
    <p:sldId id="484" r:id="rId19"/>
    <p:sldId id="295" r:id="rId20"/>
    <p:sldId id="296" r:id="rId21"/>
    <p:sldId id="297" r:id="rId22"/>
    <p:sldId id="298" r:id="rId23"/>
    <p:sldId id="299" r:id="rId24"/>
    <p:sldId id="300" r:id="rId25"/>
    <p:sldId id="933" r:id="rId26"/>
    <p:sldId id="934" r:id="rId27"/>
    <p:sldId id="301" r:id="rId28"/>
    <p:sldId id="302" r:id="rId29"/>
    <p:sldId id="303" r:id="rId30"/>
    <p:sldId id="304" r:id="rId31"/>
    <p:sldId id="305" r:id="rId32"/>
    <p:sldId id="306" r:id="rId33"/>
    <p:sldId id="315" r:id="rId34"/>
    <p:sldId id="316" r:id="rId35"/>
    <p:sldId id="638" r:id="rId36"/>
    <p:sldId id="639" r:id="rId37"/>
    <p:sldId id="307" r:id="rId38"/>
    <p:sldId id="308" r:id="rId39"/>
    <p:sldId id="696" r:id="rId40"/>
    <p:sldId id="697" r:id="rId41"/>
    <p:sldId id="309" r:id="rId42"/>
    <p:sldId id="310" r:id="rId43"/>
    <p:sldId id="698" r:id="rId44"/>
    <p:sldId id="699" r:id="rId45"/>
    <p:sldId id="311" r:id="rId46"/>
    <p:sldId id="312" r:id="rId47"/>
    <p:sldId id="313" r:id="rId48"/>
    <p:sldId id="314" r:id="rId49"/>
    <p:sldId id="319" r:id="rId50"/>
    <p:sldId id="320" r:id="rId51"/>
    <p:sldId id="377" r:id="rId52"/>
    <p:sldId id="378" r:id="rId53"/>
    <p:sldId id="379" r:id="rId54"/>
    <p:sldId id="380" r:id="rId55"/>
    <p:sldId id="383" r:id="rId56"/>
    <p:sldId id="384" r:id="rId57"/>
    <p:sldId id="387" r:id="rId58"/>
    <p:sldId id="388" r:id="rId59"/>
    <p:sldId id="439" r:id="rId60"/>
    <p:sldId id="440" r:id="rId61"/>
    <p:sldId id="443" r:id="rId62"/>
    <p:sldId id="444" r:id="rId63"/>
    <p:sldId id="445" r:id="rId64"/>
    <p:sldId id="446" r:id="rId65"/>
    <p:sldId id="451" r:id="rId66"/>
    <p:sldId id="452" r:id="rId67"/>
    <p:sldId id="453" r:id="rId68"/>
    <p:sldId id="454" r:id="rId69"/>
    <p:sldId id="512" r:id="rId70"/>
    <p:sldId id="513" r:id="rId71"/>
    <p:sldId id="514" r:id="rId72"/>
    <p:sldId id="515" r:id="rId73"/>
    <p:sldId id="518" r:id="rId74"/>
    <p:sldId id="519" r:id="rId75"/>
    <p:sldId id="740" r:id="rId76"/>
    <p:sldId id="741" r:id="rId77"/>
    <p:sldId id="558" r:id="rId78"/>
    <p:sldId id="559" r:id="rId79"/>
    <p:sldId id="560" r:id="rId80"/>
    <p:sldId id="561" r:id="rId81"/>
    <p:sldId id="562" r:id="rId82"/>
    <p:sldId id="563" r:id="rId83"/>
    <p:sldId id="564" r:id="rId84"/>
    <p:sldId id="565" r:id="rId85"/>
    <p:sldId id="566" r:id="rId86"/>
    <p:sldId id="567" r:id="rId87"/>
    <p:sldId id="568" r:id="rId88"/>
    <p:sldId id="569" r:id="rId89"/>
    <p:sldId id="570" r:id="rId90"/>
    <p:sldId id="571" r:id="rId91"/>
    <p:sldId id="572" r:id="rId92"/>
    <p:sldId id="573" r:id="rId93"/>
    <p:sldId id="935" r:id="rId94"/>
    <p:sldId id="937" r:id="rId95"/>
    <p:sldId id="608" r:id="rId96"/>
    <p:sldId id="609" r:id="rId97"/>
    <p:sldId id="595" r:id="rId98"/>
    <p:sldId id="596" r:id="rId99"/>
    <p:sldId id="489" r:id="rId100"/>
    <p:sldId id="490" r:id="rId101"/>
    <p:sldId id="597" r:id="rId102"/>
    <p:sldId id="598" r:id="rId103"/>
    <p:sldId id="599" r:id="rId104"/>
    <p:sldId id="600" r:id="rId105"/>
    <p:sldId id="612" r:id="rId106"/>
    <p:sldId id="613" r:id="rId107"/>
    <p:sldId id="576" r:id="rId108"/>
    <p:sldId id="577" r:id="rId109"/>
    <p:sldId id="578" r:id="rId110"/>
    <p:sldId id="579" r:id="rId111"/>
    <p:sldId id="495" r:id="rId112"/>
    <p:sldId id="496" r:id="rId113"/>
    <p:sldId id="510" r:id="rId114"/>
    <p:sldId id="511" r:id="rId115"/>
    <p:sldId id="455" r:id="rId116"/>
    <p:sldId id="456" r:id="rId117"/>
    <p:sldId id="459" r:id="rId118"/>
    <p:sldId id="460" r:id="rId119"/>
  </p:sldIdLst>
  <p:sldSz cx="4572000" cy="27432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varScale="1">
        <p:scale>
          <a:sx n="201" d="100"/>
          <a:sy n="201" d="100"/>
        </p:scale>
        <p:origin x="1050" y="156"/>
      </p:cViewPr>
      <p:guideLst/>
    </p:cSldViewPr>
  </p:slideViewPr>
  <p:notesTextViewPr>
    <p:cViewPr>
      <p:scale>
        <a:sx n="1" d="1"/>
        <a:sy n="1" d="1"/>
      </p:scale>
      <p:origin x="0" y="0"/>
    </p:cViewPr>
  </p:notesTextViewPr>
  <p:sorterViewPr>
    <p:cViewPr>
      <p:scale>
        <a:sx n="200" d="100"/>
        <a:sy n="200" d="100"/>
      </p:scale>
      <p:origin x="0" y="-26328"/>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71500" y="448945"/>
            <a:ext cx="3429000" cy="955040"/>
          </a:xfrm>
          <a:prstGeom prst="rect">
            <a:avLst/>
          </a:prstGeom>
        </p:spPr>
        <p:txBody>
          <a:bodyPr anchor="b"/>
          <a:lstStyle>
            <a:lvl1pPr algn="ctr">
              <a:defRPr sz="2250"/>
            </a:lvl1pPr>
          </a:lstStyle>
          <a:p>
            <a:r>
              <a:rPr lang="en-US"/>
              <a:t>Click to edit Master title style</a:t>
            </a:r>
            <a:endParaRPr lang="en-US" dirty="0"/>
          </a:p>
        </p:txBody>
      </p:sp>
      <p:sp>
        <p:nvSpPr>
          <p:cNvPr id="3" name="Subtitle 2"/>
          <p:cNvSpPr>
            <a:spLocks noGrp="1"/>
          </p:cNvSpPr>
          <p:nvPr>
            <p:ph type="subTitle" idx="1"/>
          </p:nvPr>
        </p:nvSpPr>
        <p:spPr>
          <a:xfrm>
            <a:off x="571500" y="1440815"/>
            <a:ext cx="3429000" cy="662305"/>
          </a:xfrm>
          <a:prstGeom prst="rect">
            <a:avLst/>
          </a:prstGeom>
        </p:spPr>
        <p:txBody>
          <a:bodyPr/>
          <a:lstStyle>
            <a:lvl1pPr marL="0" indent="0" algn="ctr">
              <a:buNone/>
              <a:defRPr sz="900"/>
            </a:lvl1pPr>
            <a:lvl2pPr marL="171450" indent="0" algn="ctr">
              <a:buNone/>
              <a:defRPr sz="750"/>
            </a:lvl2pPr>
            <a:lvl3pPr marL="342900" indent="0" algn="ctr">
              <a:buNone/>
              <a:defRPr sz="675"/>
            </a:lvl3pPr>
            <a:lvl4pPr marL="514350" indent="0" algn="ctr">
              <a:buNone/>
              <a:defRPr sz="600"/>
            </a:lvl4pPr>
            <a:lvl5pPr marL="685800" indent="0" algn="ctr">
              <a:buNone/>
              <a:defRPr sz="600"/>
            </a:lvl5pPr>
            <a:lvl6pPr marL="857250" indent="0" algn="ctr">
              <a:buNone/>
              <a:defRPr sz="600"/>
            </a:lvl6pPr>
            <a:lvl7pPr marL="1028700" indent="0" algn="ctr">
              <a:buNone/>
              <a:defRPr sz="600"/>
            </a:lvl7pPr>
            <a:lvl8pPr marL="1200150" indent="0" algn="ctr">
              <a:buNone/>
              <a:defRPr sz="600"/>
            </a:lvl8pPr>
            <a:lvl9pPr marL="1371600" indent="0" algn="ctr">
              <a:buNone/>
              <a:defRPr sz="600"/>
            </a:lvl9pPr>
          </a:lstStyle>
          <a:p>
            <a:r>
              <a:rPr lang="en-US"/>
              <a:t>Click to edit Master subtitle style</a:t>
            </a:r>
            <a:endParaRPr lang="en-US" dirty="0"/>
          </a:p>
        </p:txBody>
      </p:sp>
      <p:sp>
        <p:nvSpPr>
          <p:cNvPr id="4" name="Date Placeholder 3"/>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5" name="Footer Placeholder 4"/>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6" name="Slide Number Placeholder 5"/>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13642634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14325" y="146050"/>
            <a:ext cx="3943350" cy="530225"/>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a:xfrm>
            <a:off x="314325" y="730250"/>
            <a:ext cx="3943350" cy="174053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5" name="Footer Placeholder 4"/>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6" name="Slide Number Placeholder 5"/>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3961517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11944" y="683895"/>
            <a:ext cx="3943350" cy="1141095"/>
          </a:xfrm>
          <a:prstGeom prst="rect">
            <a:avLst/>
          </a:prstGeom>
        </p:spPr>
        <p:txBody>
          <a:bodyPr anchor="b"/>
          <a:lstStyle>
            <a:lvl1pPr>
              <a:defRPr sz="2250"/>
            </a:lvl1pPr>
          </a:lstStyle>
          <a:p>
            <a:r>
              <a:rPr lang="en-US"/>
              <a:t>Click to edit Master title style</a:t>
            </a:r>
            <a:endParaRPr lang="en-US" dirty="0"/>
          </a:p>
        </p:txBody>
      </p:sp>
      <p:sp>
        <p:nvSpPr>
          <p:cNvPr id="3" name="Text Placeholder 2"/>
          <p:cNvSpPr>
            <a:spLocks noGrp="1"/>
          </p:cNvSpPr>
          <p:nvPr>
            <p:ph type="body" idx="1"/>
          </p:nvPr>
        </p:nvSpPr>
        <p:spPr>
          <a:xfrm>
            <a:off x="311944" y="1835785"/>
            <a:ext cx="3943350" cy="600075"/>
          </a:xfrm>
          <a:prstGeom prst="rect">
            <a:avLst/>
          </a:prstGeom>
        </p:spPr>
        <p:txBody>
          <a:bodyPr/>
          <a:lstStyle>
            <a:lvl1pPr marL="0" indent="0">
              <a:buNone/>
              <a:defRPr sz="900">
                <a:solidFill>
                  <a:schemeClr val="tx1">
                    <a:tint val="75000"/>
                  </a:schemeClr>
                </a:solidFill>
              </a:defRPr>
            </a:lvl1pPr>
            <a:lvl2pPr marL="171450" indent="0">
              <a:buNone/>
              <a:defRPr sz="750">
                <a:solidFill>
                  <a:schemeClr val="tx1">
                    <a:tint val="75000"/>
                  </a:schemeClr>
                </a:solidFill>
              </a:defRPr>
            </a:lvl2pPr>
            <a:lvl3pPr marL="342900" indent="0">
              <a:buNone/>
              <a:defRPr sz="675">
                <a:solidFill>
                  <a:schemeClr val="tx1">
                    <a:tint val="75000"/>
                  </a:schemeClr>
                </a:solidFill>
              </a:defRPr>
            </a:lvl3pPr>
            <a:lvl4pPr marL="514350" indent="0">
              <a:buNone/>
              <a:defRPr sz="600">
                <a:solidFill>
                  <a:schemeClr val="tx1">
                    <a:tint val="75000"/>
                  </a:schemeClr>
                </a:solidFill>
              </a:defRPr>
            </a:lvl4pPr>
            <a:lvl5pPr marL="685800" indent="0">
              <a:buNone/>
              <a:defRPr sz="600">
                <a:solidFill>
                  <a:schemeClr val="tx1">
                    <a:tint val="75000"/>
                  </a:schemeClr>
                </a:solidFill>
              </a:defRPr>
            </a:lvl5pPr>
            <a:lvl6pPr marL="857250" indent="0">
              <a:buNone/>
              <a:defRPr sz="600">
                <a:solidFill>
                  <a:schemeClr val="tx1">
                    <a:tint val="75000"/>
                  </a:schemeClr>
                </a:solidFill>
              </a:defRPr>
            </a:lvl6pPr>
            <a:lvl7pPr marL="1028700" indent="0">
              <a:buNone/>
              <a:defRPr sz="600">
                <a:solidFill>
                  <a:schemeClr val="tx1">
                    <a:tint val="75000"/>
                  </a:schemeClr>
                </a:solidFill>
              </a:defRPr>
            </a:lvl7pPr>
            <a:lvl8pPr marL="1200150" indent="0">
              <a:buNone/>
              <a:defRPr sz="600">
                <a:solidFill>
                  <a:schemeClr val="tx1">
                    <a:tint val="75000"/>
                  </a:schemeClr>
                </a:solidFill>
              </a:defRPr>
            </a:lvl8pPr>
            <a:lvl9pPr marL="1371600" indent="0">
              <a:buNone/>
              <a:defRPr sz="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5" name="Footer Placeholder 4"/>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6" name="Slide Number Placeholder 5"/>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34903740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14325" y="146050"/>
            <a:ext cx="3943350" cy="530225"/>
          </a:xfrm>
          <a:prstGeom prst="rect">
            <a:avLst/>
          </a:prstGeom>
        </p:spPr>
        <p:txBody>
          <a:bodyPr/>
          <a:lstStyle/>
          <a:p>
            <a:r>
              <a:rPr lang="en-US"/>
              <a:t>Click to edit Master title style</a:t>
            </a:r>
            <a:endParaRPr lang="en-US" dirty="0"/>
          </a:p>
        </p:txBody>
      </p:sp>
      <p:sp>
        <p:nvSpPr>
          <p:cNvPr id="3" name="Content Placeholder 2"/>
          <p:cNvSpPr>
            <a:spLocks noGrp="1"/>
          </p:cNvSpPr>
          <p:nvPr>
            <p:ph sz="half" idx="1"/>
          </p:nvPr>
        </p:nvSpPr>
        <p:spPr>
          <a:xfrm>
            <a:off x="314325" y="730250"/>
            <a:ext cx="1943100" cy="174053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314575" y="730250"/>
            <a:ext cx="1943100" cy="174053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6" name="Footer Placeholder 5"/>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7" name="Slide Number Placeholder 6"/>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12624173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14921" y="146050"/>
            <a:ext cx="3943350" cy="530225"/>
          </a:xfrm>
          <a:prstGeom prst="rect">
            <a:avLst/>
          </a:prstGeom>
        </p:spPr>
        <p:txBody>
          <a:bodyPr/>
          <a:lstStyle/>
          <a:p>
            <a:r>
              <a:rPr lang="en-US"/>
              <a:t>Click to edit Master title style</a:t>
            </a:r>
            <a:endParaRPr lang="en-US" dirty="0"/>
          </a:p>
        </p:txBody>
      </p:sp>
      <p:sp>
        <p:nvSpPr>
          <p:cNvPr id="3" name="Text Placeholder 2"/>
          <p:cNvSpPr>
            <a:spLocks noGrp="1"/>
          </p:cNvSpPr>
          <p:nvPr>
            <p:ph type="body" idx="1"/>
          </p:nvPr>
        </p:nvSpPr>
        <p:spPr>
          <a:xfrm>
            <a:off x="314921" y="672465"/>
            <a:ext cx="1934170" cy="329565"/>
          </a:xfrm>
          <a:prstGeom prst="rect">
            <a:avLst/>
          </a:prstGeom>
        </p:spPr>
        <p:txBody>
          <a:bodyPr anchor="b"/>
          <a:lstStyle>
            <a:lvl1pPr marL="0" indent="0">
              <a:buNone/>
              <a:defRPr sz="900" b="1"/>
            </a:lvl1pPr>
            <a:lvl2pPr marL="171450" indent="0">
              <a:buNone/>
              <a:defRPr sz="750" b="1"/>
            </a:lvl2pPr>
            <a:lvl3pPr marL="342900" indent="0">
              <a:buNone/>
              <a:defRPr sz="675" b="1"/>
            </a:lvl3pPr>
            <a:lvl4pPr marL="514350" indent="0">
              <a:buNone/>
              <a:defRPr sz="600" b="1"/>
            </a:lvl4pPr>
            <a:lvl5pPr marL="685800" indent="0">
              <a:buNone/>
              <a:defRPr sz="600" b="1"/>
            </a:lvl5pPr>
            <a:lvl6pPr marL="857250" indent="0">
              <a:buNone/>
              <a:defRPr sz="600" b="1"/>
            </a:lvl6pPr>
            <a:lvl7pPr marL="1028700" indent="0">
              <a:buNone/>
              <a:defRPr sz="600" b="1"/>
            </a:lvl7pPr>
            <a:lvl8pPr marL="1200150" indent="0">
              <a:buNone/>
              <a:defRPr sz="600" b="1"/>
            </a:lvl8pPr>
            <a:lvl9pPr marL="1371600" indent="0">
              <a:buNone/>
              <a:defRPr sz="600" b="1"/>
            </a:lvl9pPr>
          </a:lstStyle>
          <a:p>
            <a:pPr lvl="0"/>
            <a:r>
              <a:rPr lang="en-US"/>
              <a:t>Click to edit Master text styles</a:t>
            </a:r>
          </a:p>
        </p:txBody>
      </p:sp>
      <p:sp>
        <p:nvSpPr>
          <p:cNvPr id="4" name="Content Placeholder 3"/>
          <p:cNvSpPr>
            <a:spLocks noGrp="1"/>
          </p:cNvSpPr>
          <p:nvPr>
            <p:ph sz="half" idx="2"/>
          </p:nvPr>
        </p:nvSpPr>
        <p:spPr>
          <a:xfrm>
            <a:off x="314921" y="1002030"/>
            <a:ext cx="1934170" cy="147383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314575" y="672465"/>
            <a:ext cx="1943696" cy="329565"/>
          </a:xfrm>
          <a:prstGeom prst="rect">
            <a:avLst/>
          </a:prstGeom>
        </p:spPr>
        <p:txBody>
          <a:bodyPr anchor="b"/>
          <a:lstStyle>
            <a:lvl1pPr marL="0" indent="0">
              <a:buNone/>
              <a:defRPr sz="900" b="1"/>
            </a:lvl1pPr>
            <a:lvl2pPr marL="171450" indent="0">
              <a:buNone/>
              <a:defRPr sz="750" b="1"/>
            </a:lvl2pPr>
            <a:lvl3pPr marL="342900" indent="0">
              <a:buNone/>
              <a:defRPr sz="675" b="1"/>
            </a:lvl3pPr>
            <a:lvl4pPr marL="514350" indent="0">
              <a:buNone/>
              <a:defRPr sz="600" b="1"/>
            </a:lvl4pPr>
            <a:lvl5pPr marL="685800" indent="0">
              <a:buNone/>
              <a:defRPr sz="600" b="1"/>
            </a:lvl5pPr>
            <a:lvl6pPr marL="857250" indent="0">
              <a:buNone/>
              <a:defRPr sz="600" b="1"/>
            </a:lvl6pPr>
            <a:lvl7pPr marL="1028700" indent="0">
              <a:buNone/>
              <a:defRPr sz="600" b="1"/>
            </a:lvl7pPr>
            <a:lvl8pPr marL="1200150" indent="0">
              <a:buNone/>
              <a:defRPr sz="600" b="1"/>
            </a:lvl8pPr>
            <a:lvl9pPr marL="1371600" indent="0">
              <a:buNone/>
              <a:defRPr sz="600" b="1"/>
            </a:lvl9pPr>
          </a:lstStyle>
          <a:p>
            <a:pPr lvl="0"/>
            <a:r>
              <a:rPr lang="en-US"/>
              <a:t>Click to edit Master text styles</a:t>
            </a:r>
          </a:p>
        </p:txBody>
      </p:sp>
      <p:sp>
        <p:nvSpPr>
          <p:cNvPr id="6" name="Content Placeholder 5"/>
          <p:cNvSpPr>
            <a:spLocks noGrp="1"/>
          </p:cNvSpPr>
          <p:nvPr>
            <p:ph sz="quarter" idx="4"/>
          </p:nvPr>
        </p:nvSpPr>
        <p:spPr>
          <a:xfrm>
            <a:off x="2314575" y="1002030"/>
            <a:ext cx="1943696" cy="147383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8" name="Footer Placeholder 7"/>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9" name="Slide Number Placeholder 8"/>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27401361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14325" y="146050"/>
            <a:ext cx="3943350" cy="530225"/>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4" name="Footer Placeholder 3"/>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5" name="Slide Number Placeholder 4"/>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21150897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3" name="Footer Placeholder 2"/>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4" name="Slide Number Placeholder 3"/>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17690175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14921" y="182880"/>
            <a:ext cx="1474589" cy="640080"/>
          </a:xfrm>
          <a:prstGeom prst="rect">
            <a:avLst/>
          </a:prstGeom>
        </p:spPr>
        <p:txBody>
          <a:bodyPr anchor="b"/>
          <a:lstStyle>
            <a:lvl1pPr>
              <a:defRPr sz="1200"/>
            </a:lvl1pPr>
          </a:lstStyle>
          <a:p>
            <a:r>
              <a:rPr lang="en-US"/>
              <a:t>Click to edit Master title style</a:t>
            </a:r>
            <a:endParaRPr lang="en-US" dirty="0"/>
          </a:p>
        </p:txBody>
      </p:sp>
      <p:sp>
        <p:nvSpPr>
          <p:cNvPr id="3" name="Content Placeholder 2"/>
          <p:cNvSpPr>
            <a:spLocks noGrp="1"/>
          </p:cNvSpPr>
          <p:nvPr>
            <p:ph idx="1"/>
          </p:nvPr>
        </p:nvSpPr>
        <p:spPr>
          <a:xfrm>
            <a:off x="1943695" y="394970"/>
            <a:ext cx="2314575" cy="1949450"/>
          </a:xfrm>
          <a:prstGeom prst="rect">
            <a:avLst/>
          </a:prstGeom>
        </p:spPr>
        <p:txBody>
          <a:bodyPr/>
          <a:lstStyle>
            <a:lvl1pPr>
              <a:defRPr sz="1200"/>
            </a:lvl1pPr>
            <a:lvl2pPr>
              <a:defRPr sz="1050"/>
            </a:lvl2pPr>
            <a:lvl3pPr>
              <a:defRPr sz="900"/>
            </a:lvl3pPr>
            <a:lvl4pPr>
              <a:defRPr sz="750"/>
            </a:lvl4pPr>
            <a:lvl5pPr>
              <a:defRPr sz="750"/>
            </a:lvl5pPr>
            <a:lvl6pPr>
              <a:defRPr sz="750"/>
            </a:lvl6pPr>
            <a:lvl7pPr>
              <a:defRPr sz="750"/>
            </a:lvl7pPr>
            <a:lvl8pPr>
              <a:defRPr sz="750"/>
            </a:lvl8pPr>
            <a:lvl9pPr>
              <a:defRPr sz="7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14921" y="822960"/>
            <a:ext cx="1474589" cy="1524635"/>
          </a:xfrm>
          <a:prstGeom prst="rect">
            <a:avLst/>
          </a:prstGeom>
        </p:spPr>
        <p:txBody>
          <a:bodyPr/>
          <a:lstStyle>
            <a:lvl1pPr marL="0" indent="0">
              <a:buNone/>
              <a:defRPr sz="600"/>
            </a:lvl1pPr>
            <a:lvl2pPr marL="171450" indent="0">
              <a:buNone/>
              <a:defRPr sz="525"/>
            </a:lvl2pPr>
            <a:lvl3pPr marL="342900" indent="0">
              <a:buNone/>
              <a:defRPr sz="450"/>
            </a:lvl3pPr>
            <a:lvl4pPr marL="514350" indent="0">
              <a:buNone/>
              <a:defRPr sz="375"/>
            </a:lvl4pPr>
            <a:lvl5pPr marL="685800" indent="0">
              <a:buNone/>
              <a:defRPr sz="375"/>
            </a:lvl5pPr>
            <a:lvl6pPr marL="857250" indent="0">
              <a:buNone/>
              <a:defRPr sz="375"/>
            </a:lvl6pPr>
            <a:lvl7pPr marL="1028700" indent="0">
              <a:buNone/>
              <a:defRPr sz="375"/>
            </a:lvl7pPr>
            <a:lvl8pPr marL="1200150" indent="0">
              <a:buNone/>
              <a:defRPr sz="375"/>
            </a:lvl8pPr>
            <a:lvl9pPr marL="1371600" indent="0">
              <a:buNone/>
              <a:defRPr sz="375"/>
            </a:lvl9pPr>
          </a:lstStyle>
          <a:p>
            <a:pPr lvl="0"/>
            <a:r>
              <a:rPr lang="en-US"/>
              <a:t>Click to edit Master text styles</a:t>
            </a:r>
          </a:p>
        </p:txBody>
      </p:sp>
      <p:sp>
        <p:nvSpPr>
          <p:cNvPr id="5" name="Date Placeholder 4"/>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6" name="Footer Placeholder 5"/>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7" name="Slide Number Placeholder 6"/>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31953995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14921" y="182880"/>
            <a:ext cx="1474589" cy="640080"/>
          </a:xfrm>
          <a:prstGeom prst="rect">
            <a:avLst/>
          </a:prstGeom>
        </p:spPr>
        <p:txBody>
          <a:bodyPr anchor="b"/>
          <a:lstStyle>
            <a:lvl1pPr>
              <a:defRPr sz="1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43695" y="394970"/>
            <a:ext cx="2314575" cy="1949450"/>
          </a:xfrm>
          <a:prstGeom prst="rect">
            <a:avLst/>
          </a:prstGeom>
        </p:spPr>
        <p:txBody>
          <a:bodyPr anchor="t"/>
          <a:lstStyle>
            <a:lvl1pPr marL="0" indent="0">
              <a:buNone/>
              <a:defRPr sz="1200"/>
            </a:lvl1pPr>
            <a:lvl2pPr marL="171450" indent="0">
              <a:buNone/>
              <a:defRPr sz="1050"/>
            </a:lvl2pPr>
            <a:lvl3pPr marL="342900" indent="0">
              <a:buNone/>
              <a:defRPr sz="900"/>
            </a:lvl3pPr>
            <a:lvl4pPr marL="514350" indent="0">
              <a:buNone/>
              <a:defRPr sz="750"/>
            </a:lvl4pPr>
            <a:lvl5pPr marL="685800" indent="0">
              <a:buNone/>
              <a:defRPr sz="750"/>
            </a:lvl5pPr>
            <a:lvl6pPr marL="857250" indent="0">
              <a:buNone/>
              <a:defRPr sz="750"/>
            </a:lvl6pPr>
            <a:lvl7pPr marL="1028700" indent="0">
              <a:buNone/>
              <a:defRPr sz="750"/>
            </a:lvl7pPr>
            <a:lvl8pPr marL="1200150" indent="0">
              <a:buNone/>
              <a:defRPr sz="750"/>
            </a:lvl8pPr>
            <a:lvl9pPr marL="1371600" indent="0">
              <a:buNone/>
              <a:defRPr sz="750"/>
            </a:lvl9pPr>
          </a:lstStyle>
          <a:p>
            <a:r>
              <a:rPr lang="en-US" dirty="0"/>
              <a:t>Click icon to add picture</a:t>
            </a:r>
          </a:p>
        </p:txBody>
      </p:sp>
      <p:sp>
        <p:nvSpPr>
          <p:cNvPr id="4" name="Text Placeholder 3"/>
          <p:cNvSpPr>
            <a:spLocks noGrp="1"/>
          </p:cNvSpPr>
          <p:nvPr>
            <p:ph type="body" sz="half" idx="2"/>
          </p:nvPr>
        </p:nvSpPr>
        <p:spPr>
          <a:xfrm>
            <a:off x="314921" y="822960"/>
            <a:ext cx="1474589" cy="1524635"/>
          </a:xfrm>
          <a:prstGeom prst="rect">
            <a:avLst/>
          </a:prstGeom>
        </p:spPr>
        <p:txBody>
          <a:bodyPr/>
          <a:lstStyle>
            <a:lvl1pPr marL="0" indent="0">
              <a:buNone/>
              <a:defRPr sz="600"/>
            </a:lvl1pPr>
            <a:lvl2pPr marL="171450" indent="0">
              <a:buNone/>
              <a:defRPr sz="525"/>
            </a:lvl2pPr>
            <a:lvl3pPr marL="342900" indent="0">
              <a:buNone/>
              <a:defRPr sz="450"/>
            </a:lvl3pPr>
            <a:lvl4pPr marL="514350" indent="0">
              <a:buNone/>
              <a:defRPr sz="375"/>
            </a:lvl4pPr>
            <a:lvl5pPr marL="685800" indent="0">
              <a:buNone/>
              <a:defRPr sz="375"/>
            </a:lvl5pPr>
            <a:lvl6pPr marL="857250" indent="0">
              <a:buNone/>
              <a:defRPr sz="375"/>
            </a:lvl6pPr>
            <a:lvl7pPr marL="1028700" indent="0">
              <a:buNone/>
              <a:defRPr sz="375"/>
            </a:lvl7pPr>
            <a:lvl8pPr marL="1200150" indent="0">
              <a:buNone/>
              <a:defRPr sz="375"/>
            </a:lvl8pPr>
            <a:lvl9pPr marL="1371600" indent="0">
              <a:buNone/>
              <a:defRPr sz="375"/>
            </a:lvl9pPr>
          </a:lstStyle>
          <a:p>
            <a:pPr lvl="0"/>
            <a:r>
              <a:rPr lang="en-US"/>
              <a:t>Click to edit Master text styles</a:t>
            </a:r>
          </a:p>
        </p:txBody>
      </p:sp>
      <p:sp>
        <p:nvSpPr>
          <p:cNvPr id="5" name="Date Placeholder 4"/>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6" name="Footer Placeholder 5"/>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7" name="Slide Number Placeholder 6"/>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3110242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314325" y="146050"/>
            <a:ext cx="3943350" cy="530225"/>
          </a:xfrm>
          <a:prstGeom prst="rect">
            <a:avLst/>
          </a:prstGeo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314325" y="730250"/>
            <a:ext cx="3943350" cy="174053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5" name="Footer Placeholder 4"/>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6" name="Slide Number Placeholder 5"/>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3755794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271837" y="146050"/>
            <a:ext cx="985838" cy="2324735"/>
          </a:xfrm>
          <a:prstGeom prst="rect">
            <a:avLst/>
          </a:prstGeo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14325" y="146050"/>
            <a:ext cx="2900363" cy="232473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5" name="Footer Placeholder 4"/>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6" name="Slide Number Placeholder 5"/>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17758245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7A9946-5692-E818-A72E-A36AB2A2FEEA}"/>
              </a:ext>
            </a:extLst>
          </p:cNvPr>
          <p:cNvPicPr>
            <a:picLocks noChangeAspect="1"/>
          </p:cNvPicPr>
          <p:nvPr userDrawn="1"/>
        </p:nvPicPr>
        <p:blipFill>
          <a:blip r:embed="rId13">
            <a:clrChange>
              <a:clrFrom>
                <a:srgbClr val="FFFFFF"/>
              </a:clrFrom>
              <a:clrTo>
                <a:srgbClr val="FFFFFF">
                  <a:alpha val="0"/>
                </a:srgbClr>
              </a:clrTo>
            </a:clrChange>
          </a:blip>
          <a:stretch>
            <a:fillRect/>
          </a:stretch>
        </p:blipFill>
        <p:spPr>
          <a:xfrm>
            <a:off x="3700587" y="2403835"/>
            <a:ext cx="706443" cy="223451"/>
          </a:xfrm>
          <a:prstGeom prst="rect">
            <a:avLst/>
          </a:prstGeom>
        </p:spPr>
      </p:pic>
      <p:sp>
        <p:nvSpPr>
          <p:cNvPr id="4" name="TextBox 3">
            <a:extLst>
              <a:ext uri="{FF2B5EF4-FFF2-40B4-BE49-F238E27FC236}">
                <a16:creationId xmlns:a16="http://schemas.microsoft.com/office/drawing/2014/main" id="{DA4919B7-D03A-9B97-6C73-CC837D59682E}"/>
              </a:ext>
            </a:extLst>
          </p:cNvPr>
          <p:cNvSpPr txBox="1"/>
          <p:nvPr userDrawn="1"/>
        </p:nvSpPr>
        <p:spPr>
          <a:xfrm>
            <a:off x="4180007" y="2314225"/>
            <a:ext cx="325444" cy="261610"/>
          </a:xfrm>
          <a:prstGeom prst="rect">
            <a:avLst/>
          </a:prstGeom>
          <a:noFill/>
        </p:spPr>
        <p:txBody>
          <a:bodyPr wrap="square" rtlCol="0">
            <a:spAutoFit/>
          </a:bodyPr>
          <a:lstStyle/>
          <a:p>
            <a:pPr algn="r"/>
            <a:r>
              <a:rPr lang="en-US" sz="1100" dirty="0"/>
              <a:t>©</a:t>
            </a:r>
          </a:p>
        </p:txBody>
      </p:sp>
      <p:sp>
        <p:nvSpPr>
          <p:cNvPr id="2" name="TextBox 1">
            <a:extLst>
              <a:ext uri="{FF2B5EF4-FFF2-40B4-BE49-F238E27FC236}">
                <a16:creationId xmlns:a16="http://schemas.microsoft.com/office/drawing/2014/main" id="{0412EA83-402B-25E4-AC13-94DA49D0258B}"/>
              </a:ext>
            </a:extLst>
          </p:cNvPr>
          <p:cNvSpPr txBox="1"/>
          <p:nvPr userDrawn="1"/>
        </p:nvSpPr>
        <p:spPr>
          <a:xfrm>
            <a:off x="103694" y="2413266"/>
            <a:ext cx="1192955" cy="215444"/>
          </a:xfrm>
          <a:prstGeom prst="rect">
            <a:avLst/>
          </a:prstGeom>
          <a:noFill/>
        </p:spPr>
        <p:txBody>
          <a:bodyPr wrap="none" rtlCol="0">
            <a:spAutoFit/>
          </a:bodyPr>
          <a:lstStyle/>
          <a:p>
            <a:r>
              <a:rPr lang="en-US" sz="800" dirty="0"/>
              <a:t>triplesevenaviation.com</a:t>
            </a:r>
          </a:p>
        </p:txBody>
      </p:sp>
    </p:spTree>
    <p:extLst>
      <p:ext uri="{BB962C8B-B14F-4D97-AF65-F5344CB8AC3E}">
        <p14:creationId xmlns:p14="http://schemas.microsoft.com/office/powerpoint/2010/main" val="11431500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42900" rtl="0" eaLnBrk="1" latinLnBrk="0" hangingPunct="1">
        <a:lnSpc>
          <a:spcPct val="90000"/>
        </a:lnSpc>
        <a:spcBef>
          <a:spcPct val="0"/>
        </a:spcBef>
        <a:buNone/>
        <a:defRPr sz="1650" kern="1200">
          <a:solidFill>
            <a:schemeClr val="tx1"/>
          </a:solidFill>
          <a:latin typeface="+mj-lt"/>
          <a:ea typeface="+mj-ea"/>
          <a:cs typeface="+mj-cs"/>
        </a:defRPr>
      </a:lvl1pPr>
    </p:titleStyle>
    <p:bodyStyle>
      <a:lvl1pPr marL="85725" indent="-85725" algn="l" defTabSz="342900" rtl="0" eaLnBrk="1" latinLnBrk="0" hangingPunct="1">
        <a:lnSpc>
          <a:spcPct val="90000"/>
        </a:lnSpc>
        <a:spcBef>
          <a:spcPts val="375"/>
        </a:spcBef>
        <a:buFont typeface="Arial" panose="020B0604020202020204" pitchFamily="34" charset="0"/>
        <a:buChar char="•"/>
        <a:defRPr sz="1050" kern="1200">
          <a:solidFill>
            <a:schemeClr val="tx1"/>
          </a:solidFill>
          <a:latin typeface="+mn-lt"/>
          <a:ea typeface="+mn-ea"/>
          <a:cs typeface="+mn-cs"/>
        </a:defRPr>
      </a:lvl1pPr>
      <a:lvl2pPr marL="257175" indent="-85725" algn="l" defTabSz="342900" rtl="0" eaLnBrk="1" latinLnBrk="0" hangingPunct="1">
        <a:lnSpc>
          <a:spcPct val="90000"/>
        </a:lnSpc>
        <a:spcBef>
          <a:spcPts val="188"/>
        </a:spcBef>
        <a:buFont typeface="Arial" panose="020B0604020202020204" pitchFamily="34" charset="0"/>
        <a:buChar char="•"/>
        <a:defRPr sz="900" kern="1200">
          <a:solidFill>
            <a:schemeClr val="tx1"/>
          </a:solidFill>
          <a:latin typeface="+mn-lt"/>
          <a:ea typeface="+mn-ea"/>
          <a:cs typeface="+mn-cs"/>
        </a:defRPr>
      </a:lvl2pPr>
      <a:lvl3pPr marL="428625" indent="-85725" algn="l" defTabSz="342900" rtl="0" eaLnBrk="1" latinLnBrk="0" hangingPunct="1">
        <a:lnSpc>
          <a:spcPct val="90000"/>
        </a:lnSpc>
        <a:spcBef>
          <a:spcPts val="188"/>
        </a:spcBef>
        <a:buFont typeface="Arial" panose="020B0604020202020204" pitchFamily="34" charset="0"/>
        <a:buChar char="•"/>
        <a:defRPr sz="750" kern="1200">
          <a:solidFill>
            <a:schemeClr val="tx1"/>
          </a:solidFill>
          <a:latin typeface="+mn-lt"/>
          <a:ea typeface="+mn-ea"/>
          <a:cs typeface="+mn-cs"/>
        </a:defRPr>
      </a:lvl3pPr>
      <a:lvl4pPr marL="600075" indent="-85725" algn="l" defTabSz="342900" rtl="0" eaLnBrk="1" latinLnBrk="0" hangingPunct="1">
        <a:lnSpc>
          <a:spcPct val="90000"/>
        </a:lnSpc>
        <a:spcBef>
          <a:spcPts val="188"/>
        </a:spcBef>
        <a:buFont typeface="Arial" panose="020B0604020202020204" pitchFamily="34" charset="0"/>
        <a:buChar char="•"/>
        <a:defRPr sz="675" kern="1200">
          <a:solidFill>
            <a:schemeClr val="tx1"/>
          </a:solidFill>
          <a:latin typeface="+mn-lt"/>
          <a:ea typeface="+mn-ea"/>
          <a:cs typeface="+mn-cs"/>
        </a:defRPr>
      </a:lvl4pPr>
      <a:lvl5pPr marL="771525" indent="-85725" algn="l" defTabSz="342900" rtl="0" eaLnBrk="1" latinLnBrk="0" hangingPunct="1">
        <a:lnSpc>
          <a:spcPct val="90000"/>
        </a:lnSpc>
        <a:spcBef>
          <a:spcPts val="188"/>
        </a:spcBef>
        <a:buFont typeface="Arial" panose="020B0604020202020204" pitchFamily="34" charset="0"/>
        <a:buChar char="•"/>
        <a:defRPr sz="675" kern="1200">
          <a:solidFill>
            <a:schemeClr val="tx1"/>
          </a:solidFill>
          <a:latin typeface="+mn-lt"/>
          <a:ea typeface="+mn-ea"/>
          <a:cs typeface="+mn-cs"/>
        </a:defRPr>
      </a:lvl5pPr>
      <a:lvl6pPr marL="942975" indent="-85725" algn="l" defTabSz="342900" rtl="0" eaLnBrk="1" latinLnBrk="0" hangingPunct="1">
        <a:lnSpc>
          <a:spcPct val="90000"/>
        </a:lnSpc>
        <a:spcBef>
          <a:spcPts val="188"/>
        </a:spcBef>
        <a:buFont typeface="Arial" panose="020B0604020202020204" pitchFamily="34" charset="0"/>
        <a:buChar char="•"/>
        <a:defRPr sz="675" kern="1200">
          <a:solidFill>
            <a:schemeClr val="tx1"/>
          </a:solidFill>
          <a:latin typeface="+mn-lt"/>
          <a:ea typeface="+mn-ea"/>
          <a:cs typeface="+mn-cs"/>
        </a:defRPr>
      </a:lvl6pPr>
      <a:lvl7pPr marL="1114425" indent="-85725" algn="l" defTabSz="342900" rtl="0" eaLnBrk="1" latinLnBrk="0" hangingPunct="1">
        <a:lnSpc>
          <a:spcPct val="90000"/>
        </a:lnSpc>
        <a:spcBef>
          <a:spcPts val="188"/>
        </a:spcBef>
        <a:buFont typeface="Arial" panose="020B0604020202020204" pitchFamily="34" charset="0"/>
        <a:buChar char="•"/>
        <a:defRPr sz="675" kern="1200">
          <a:solidFill>
            <a:schemeClr val="tx1"/>
          </a:solidFill>
          <a:latin typeface="+mn-lt"/>
          <a:ea typeface="+mn-ea"/>
          <a:cs typeface="+mn-cs"/>
        </a:defRPr>
      </a:lvl7pPr>
      <a:lvl8pPr marL="1285875" indent="-85725" algn="l" defTabSz="342900" rtl="0" eaLnBrk="1" latinLnBrk="0" hangingPunct="1">
        <a:lnSpc>
          <a:spcPct val="90000"/>
        </a:lnSpc>
        <a:spcBef>
          <a:spcPts val="188"/>
        </a:spcBef>
        <a:buFont typeface="Arial" panose="020B0604020202020204" pitchFamily="34" charset="0"/>
        <a:buChar char="•"/>
        <a:defRPr sz="675" kern="1200">
          <a:solidFill>
            <a:schemeClr val="tx1"/>
          </a:solidFill>
          <a:latin typeface="+mn-lt"/>
          <a:ea typeface="+mn-ea"/>
          <a:cs typeface="+mn-cs"/>
        </a:defRPr>
      </a:lvl8pPr>
      <a:lvl9pPr marL="1457325" indent="-85725" algn="l" defTabSz="342900" rtl="0" eaLnBrk="1" latinLnBrk="0" hangingPunct="1">
        <a:lnSpc>
          <a:spcPct val="90000"/>
        </a:lnSpc>
        <a:spcBef>
          <a:spcPts val="188"/>
        </a:spcBef>
        <a:buFont typeface="Arial" panose="020B0604020202020204" pitchFamily="34" charset="0"/>
        <a:buChar char="•"/>
        <a:defRPr sz="675" kern="1200">
          <a:solidFill>
            <a:schemeClr val="tx1"/>
          </a:solidFill>
          <a:latin typeface="+mn-lt"/>
          <a:ea typeface="+mn-ea"/>
          <a:cs typeface="+mn-cs"/>
        </a:defRPr>
      </a:lvl9pPr>
    </p:bodyStyle>
    <p:otherStyle>
      <a:defPPr>
        <a:defRPr lang="en-US"/>
      </a:defPPr>
      <a:lvl1pPr marL="0" algn="l" defTabSz="342900" rtl="0" eaLnBrk="1" latinLnBrk="0" hangingPunct="1">
        <a:defRPr sz="675" kern="1200">
          <a:solidFill>
            <a:schemeClr val="tx1"/>
          </a:solidFill>
          <a:latin typeface="+mn-lt"/>
          <a:ea typeface="+mn-ea"/>
          <a:cs typeface="+mn-cs"/>
        </a:defRPr>
      </a:lvl1pPr>
      <a:lvl2pPr marL="171450" algn="l" defTabSz="342900" rtl="0" eaLnBrk="1" latinLnBrk="0" hangingPunct="1">
        <a:defRPr sz="675" kern="1200">
          <a:solidFill>
            <a:schemeClr val="tx1"/>
          </a:solidFill>
          <a:latin typeface="+mn-lt"/>
          <a:ea typeface="+mn-ea"/>
          <a:cs typeface="+mn-cs"/>
        </a:defRPr>
      </a:lvl2pPr>
      <a:lvl3pPr marL="342900" algn="l" defTabSz="342900" rtl="0" eaLnBrk="1" latinLnBrk="0" hangingPunct="1">
        <a:defRPr sz="675" kern="1200">
          <a:solidFill>
            <a:schemeClr val="tx1"/>
          </a:solidFill>
          <a:latin typeface="+mn-lt"/>
          <a:ea typeface="+mn-ea"/>
          <a:cs typeface="+mn-cs"/>
        </a:defRPr>
      </a:lvl3pPr>
      <a:lvl4pPr marL="514350" algn="l" defTabSz="342900" rtl="0" eaLnBrk="1" latinLnBrk="0" hangingPunct="1">
        <a:defRPr sz="675" kern="1200">
          <a:solidFill>
            <a:schemeClr val="tx1"/>
          </a:solidFill>
          <a:latin typeface="+mn-lt"/>
          <a:ea typeface="+mn-ea"/>
          <a:cs typeface="+mn-cs"/>
        </a:defRPr>
      </a:lvl4pPr>
      <a:lvl5pPr marL="685800" algn="l" defTabSz="342900" rtl="0" eaLnBrk="1" latinLnBrk="0" hangingPunct="1">
        <a:defRPr sz="675" kern="1200">
          <a:solidFill>
            <a:schemeClr val="tx1"/>
          </a:solidFill>
          <a:latin typeface="+mn-lt"/>
          <a:ea typeface="+mn-ea"/>
          <a:cs typeface="+mn-cs"/>
        </a:defRPr>
      </a:lvl5pPr>
      <a:lvl6pPr marL="857250" algn="l" defTabSz="342900" rtl="0" eaLnBrk="1" latinLnBrk="0" hangingPunct="1">
        <a:defRPr sz="675" kern="1200">
          <a:solidFill>
            <a:schemeClr val="tx1"/>
          </a:solidFill>
          <a:latin typeface="+mn-lt"/>
          <a:ea typeface="+mn-ea"/>
          <a:cs typeface="+mn-cs"/>
        </a:defRPr>
      </a:lvl6pPr>
      <a:lvl7pPr marL="1028700" algn="l" defTabSz="342900" rtl="0" eaLnBrk="1" latinLnBrk="0" hangingPunct="1">
        <a:defRPr sz="675" kern="1200">
          <a:solidFill>
            <a:schemeClr val="tx1"/>
          </a:solidFill>
          <a:latin typeface="+mn-lt"/>
          <a:ea typeface="+mn-ea"/>
          <a:cs typeface="+mn-cs"/>
        </a:defRPr>
      </a:lvl7pPr>
      <a:lvl8pPr marL="1200150" algn="l" defTabSz="342900" rtl="0" eaLnBrk="1" latinLnBrk="0" hangingPunct="1">
        <a:defRPr sz="675" kern="1200">
          <a:solidFill>
            <a:schemeClr val="tx1"/>
          </a:solidFill>
          <a:latin typeface="+mn-lt"/>
          <a:ea typeface="+mn-ea"/>
          <a:cs typeface="+mn-cs"/>
        </a:defRPr>
      </a:lvl8pPr>
      <a:lvl9pPr marL="1371600" algn="l" defTabSz="342900" rtl="0" eaLnBrk="1" latinLnBrk="0" hangingPunct="1">
        <a:defRPr sz="67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C3F562-47AF-7233-AE64-9125EC852A2C}"/>
              </a:ext>
            </a:extLst>
          </p:cNvPr>
          <p:cNvSpPr txBox="1"/>
          <p:nvPr/>
        </p:nvSpPr>
        <p:spPr>
          <a:xfrm>
            <a:off x="336840" y="378315"/>
            <a:ext cx="3898319" cy="1907702"/>
          </a:xfrm>
          <a:prstGeom prst="rect">
            <a:avLst/>
          </a:prstGeom>
          <a:noFill/>
        </p:spPr>
        <p:txBody>
          <a:bodyPr wrap="square">
            <a:spAutoFit/>
          </a:bodyPr>
          <a:lstStyle/>
          <a:p>
            <a:pPr marL="0" marR="0" algn="just">
              <a:lnSpc>
                <a:spcPct val="115000"/>
              </a:lnSpc>
              <a:spcBef>
                <a:spcPts val="0"/>
              </a:spcBef>
              <a:spcAft>
                <a:spcPts val="0"/>
              </a:spcAft>
            </a:pPr>
            <a:r>
              <a:rPr lang="en-US" sz="1150" dirty="0">
                <a:effectLst/>
                <a:latin typeface="Times New Roman" panose="02020603050405020304" pitchFamily="18" charset="0"/>
                <a:ea typeface="Times New Roman" panose="02020603050405020304" pitchFamily="18" charset="0"/>
                <a:cs typeface="Times New Roman" panose="02020603050405020304" pitchFamily="18" charset="0"/>
              </a:rPr>
              <a:t>You are out practicing your maneuvers one day and get a call from ATC. They tell you they’ve received a phone call from a local Sheriff concerning a possible downed aircraft in your area. They ask if you can fly 15 miles south to see if you can spot anything out of the ordinary. You agree to help and end up spending 1.2 hours helping the Sheriff and ATC. A week later, the Sherriff's office calls you and wants to pay you for the aircraft rental, fuel, and an additional amount to compensate you for your time. Can you accept? 61.113(e)(1)</a:t>
            </a:r>
            <a:endParaRPr lang="en-US" sz="115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Rectangle 2">
            <a:extLst>
              <a:ext uri="{FF2B5EF4-FFF2-40B4-BE49-F238E27FC236}">
                <a16:creationId xmlns:a16="http://schemas.microsoft.com/office/drawing/2014/main" id="{920C2259-70EF-FE61-24DE-BB1AB19E287A}"/>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055472A2-5ECA-4A3C-3C4D-986F3D863625}"/>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
        <p:nvSpPr>
          <p:cNvPr id="6" name="TextBox 5">
            <a:extLst>
              <a:ext uri="{FF2B5EF4-FFF2-40B4-BE49-F238E27FC236}">
                <a16:creationId xmlns:a16="http://schemas.microsoft.com/office/drawing/2014/main" id="{3F57F30B-66F4-10E1-401B-DF580784E3D0}"/>
              </a:ext>
            </a:extLst>
          </p:cNvPr>
          <p:cNvSpPr txBox="1"/>
          <p:nvPr/>
        </p:nvSpPr>
        <p:spPr>
          <a:xfrm>
            <a:off x="44450" y="5715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Tree>
    <p:extLst>
      <p:ext uri="{BB962C8B-B14F-4D97-AF65-F5344CB8AC3E}">
        <p14:creationId xmlns:p14="http://schemas.microsoft.com/office/powerpoint/2010/main" val="1206769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8978A66-D3E4-C86B-CA12-8D5F72512A01}"/>
              </a:ext>
            </a:extLst>
          </p:cNvPr>
          <p:cNvSpPr txBox="1"/>
          <p:nvPr/>
        </p:nvSpPr>
        <p:spPr>
          <a:xfrm>
            <a:off x="554110" y="601639"/>
            <a:ext cx="3463780" cy="1311321"/>
          </a:xfrm>
          <a:prstGeom prst="rect">
            <a:avLst/>
          </a:prstGeom>
          <a:noFill/>
        </p:spPr>
        <p:txBody>
          <a:bodyPr wrap="square">
            <a:spAutoFit/>
          </a:bodyPr>
          <a:lstStyle/>
          <a:p>
            <a:pPr marL="0" marR="0" algn="ctr">
              <a:lnSpc>
                <a:spcPct val="115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Partially.</a:t>
            </a:r>
          </a:p>
          <a:p>
            <a:pPr marL="0" marR="0" algn="ctr">
              <a:lnSpc>
                <a:spcPct val="115000"/>
              </a:lnSpc>
              <a:spcBef>
                <a:spcPts val="0"/>
              </a:spcBef>
              <a:spcAft>
                <a:spcPts val="0"/>
              </a:spcAft>
            </a:pPr>
            <a:endParaRPr lang="en-US" sz="1400" dirty="0">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You can accept payment for the ful</a:t>
            </a:r>
            <a:r>
              <a:rPr lang="en-US" sz="1400" dirty="0">
                <a:latin typeface="Times New Roman" panose="02020603050405020304" pitchFamily="18" charset="0"/>
                <a:ea typeface="Calibri" panose="020F0502020204030204" pitchFamily="34" charset="0"/>
                <a:cs typeface="Times New Roman" panose="02020603050405020304" pitchFamily="18" charset="0"/>
              </a:rPr>
              <a:t>l reimbursement of aircraft fuel, rental, and oil  but you cannot accept anything beyond that.</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55B003E0-B0D3-B9BF-4A74-D9A6619E163A}"/>
              </a:ext>
            </a:extLst>
          </p:cNvPr>
          <p:cNvSpPr txBox="1"/>
          <p:nvPr/>
        </p:nvSpPr>
        <p:spPr>
          <a:xfrm>
            <a:off x="44450" y="5715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Tree>
    <p:extLst>
      <p:ext uri="{BB962C8B-B14F-4D97-AF65-F5344CB8AC3E}">
        <p14:creationId xmlns:p14="http://schemas.microsoft.com/office/powerpoint/2010/main" val="30757682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CE8903-34D5-E24E-6BB0-A86B59A761EF}"/>
              </a:ext>
            </a:extLst>
          </p:cNvPr>
          <p:cNvSpPr txBox="1"/>
          <p:nvPr/>
        </p:nvSpPr>
        <p:spPr>
          <a:xfrm>
            <a:off x="47477" y="5641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2" name="TextBox 1">
            <a:extLst>
              <a:ext uri="{FF2B5EF4-FFF2-40B4-BE49-F238E27FC236}">
                <a16:creationId xmlns:a16="http://schemas.microsoft.com/office/drawing/2014/main" id="{D5FBB64E-9613-BD6E-95ED-CF9E8BBEE59A}"/>
              </a:ext>
            </a:extLst>
          </p:cNvPr>
          <p:cNvSpPr txBox="1"/>
          <p:nvPr/>
        </p:nvSpPr>
        <p:spPr>
          <a:xfrm>
            <a:off x="485775" y="679102"/>
            <a:ext cx="3600450" cy="1384995"/>
          </a:xfrm>
          <a:prstGeom prst="rect">
            <a:avLst/>
          </a:prstGeom>
          <a:noFill/>
        </p:spPr>
        <p:txBody>
          <a:bodyPr wrap="square">
            <a:spAutoFit/>
          </a:bodyPr>
          <a:lstStyle/>
          <a:p>
            <a:pPr marL="0" marR="0" algn="just">
              <a:spcBef>
                <a:spcPts val="0"/>
              </a:spcBef>
              <a:spcAft>
                <a:spcPts val="0"/>
              </a:spcAft>
            </a:pPr>
            <a:r>
              <a:rPr lang="en-US" sz="1400" dirty="0">
                <a:latin typeface="Times New Roman" panose="02020603050405020304" pitchFamily="18" charset="0"/>
                <a:ea typeface="Calibri" panose="020F0502020204030204" pitchFamily="34" charset="0"/>
              </a:rPr>
              <a:t>Your friend has a conventional light twin. Each engine is 180 HP. You ask to use his plane to get your high-performance endorsement. How’s this going to work for you?</a:t>
            </a:r>
          </a:p>
          <a:p>
            <a:pPr marL="0" marR="0" algn="just">
              <a:spcBef>
                <a:spcPts val="0"/>
              </a:spcBef>
              <a:spcAft>
                <a:spcPts val="0"/>
              </a:spcAft>
            </a:pPr>
            <a:endParaRPr lang="en-US" sz="1400" dirty="0">
              <a:latin typeface="Times New Roman" panose="02020603050405020304" pitchFamily="18" charset="0"/>
              <a:ea typeface="Calibri" panose="020F0502020204030204" pitchFamily="34" charset="0"/>
            </a:endParaRPr>
          </a:p>
          <a:p>
            <a:pPr marL="0" marR="0" algn="ctr">
              <a:spcBef>
                <a:spcPts val="0"/>
              </a:spcBef>
              <a:spcAft>
                <a:spcPts val="0"/>
              </a:spcAft>
            </a:pPr>
            <a:r>
              <a:rPr lang="en-US" sz="1400" dirty="0">
                <a:latin typeface="Times New Roman" panose="02020603050405020304" pitchFamily="18" charset="0"/>
                <a:ea typeface="Calibri" panose="020F0502020204030204" pitchFamily="34" charset="0"/>
              </a:rPr>
              <a:t>61.31(f)</a:t>
            </a:r>
            <a:endParaRPr lang="en-US" sz="1400" dirty="0">
              <a:effectLst/>
              <a:latin typeface="Times New Roman" panose="02020603050405020304" pitchFamily="18" charset="0"/>
              <a:ea typeface="Calibri" panose="020F0502020204030204" pitchFamily="34" charset="0"/>
            </a:endParaRPr>
          </a:p>
        </p:txBody>
      </p:sp>
      <p:sp>
        <p:nvSpPr>
          <p:cNvPr id="3" name="Rectangle 2">
            <a:extLst>
              <a:ext uri="{FF2B5EF4-FFF2-40B4-BE49-F238E27FC236}">
                <a16:creationId xmlns:a16="http://schemas.microsoft.com/office/drawing/2014/main" id="{11E6B3A0-F371-A786-68F0-DE0397BF0C21}"/>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43969AE6-AFED-FA41-3EEF-C95B85BDA320}"/>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31680992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CE8903-34D5-E24E-6BB0-A86B59A761EF}"/>
              </a:ext>
            </a:extLst>
          </p:cNvPr>
          <p:cNvSpPr txBox="1"/>
          <p:nvPr/>
        </p:nvSpPr>
        <p:spPr>
          <a:xfrm>
            <a:off x="47477" y="5641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2" name="TextBox 1">
            <a:extLst>
              <a:ext uri="{FF2B5EF4-FFF2-40B4-BE49-F238E27FC236}">
                <a16:creationId xmlns:a16="http://schemas.microsoft.com/office/drawing/2014/main" id="{4F844123-00CE-9969-1ABB-34D29E3001D0}"/>
              </a:ext>
            </a:extLst>
          </p:cNvPr>
          <p:cNvSpPr txBox="1"/>
          <p:nvPr/>
        </p:nvSpPr>
        <p:spPr>
          <a:xfrm>
            <a:off x="476250" y="1002268"/>
            <a:ext cx="3619500" cy="738664"/>
          </a:xfrm>
          <a:prstGeom prst="rect">
            <a:avLst/>
          </a:prstGeom>
          <a:noFill/>
        </p:spPr>
        <p:txBody>
          <a:bodyPr wrap="square">
            <a:spAutoFit/>
          </a:bodyPr>
          <a:lstStyle/>
          <a:p>
            <a:pPr marL="0" marR="0" algn="just">
              <a:spcBef>
                <a:spcPts val="0"/>
              </a:spcBef>
              <a:spcAft>
                <a:spcPts val="0"/>
              </a:spcAft>
            </a:pPr>
            <a:r>
              <a:rPr lang="en-US" sz="1400" dirty="0">
                <a:latin typeface="Times New Roman" panose="02020603050405020304" pitchFamily="18" charset="0"/>
                <a:ea typeface="Calibri" panose="020F0502020204030204" pitchFamily="34" charset="0"/>
              </a:rPr>
              <a:t>It won’t. The definition of high performance (HP) is an airplane with an engine greater than 200 horsepower. Not combined horsepower.</a:t>
            </a:r>
            <a:endParaRPr lang="en-US" sz="1400" dirty="0">
              <a:effectLst/>
              <a:latin typeface="Times New Roman" panose="02020603050405020304" pitchFamily="18" charset="0"/>
              <a:ea typeface="Calibri" panose="020F0502020204030204" pitchFamily="34" charset="0"/>
            </a:endParaRPr>
          </a:p>
        </p:txBody>
      </p:sp>
    </p:spTree>
    <p:extLst>
      <p:ext uri="{BB962C8B-B14F-4D97-AF65-F5344CB8AC3E}">
        <p14:creationId xmlns:p14="http://schemas.microsoft.com/office/powerpoint/2010/main" val="33657001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3335E-476C-6CEF-34CA-B78CCF19143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76FA5EC-263A-FF7C-4D13-8C079D698C40}"/>
              </a:ext>
            </a:extLst>
          </p:cNvPr>
          <p:cNvSpPr txBox="1"/>
          <p:nvPr/>
        </p:nvSpPr>
        <p:spPr>
          <a:xfrm>
            <a:off x="41127" y="5641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3" name="TextBox 2">
            <a:extLst>
              <a:ext uri="{FF2B5EF4-FFF2-40B4-BE49-F238E27FC236}">
                <a16:creationId xmlns:a16="http://schemas.microsoft.com/office/drawing/2014/main" id="{9AE1258D-0681-629B-7724-9572B2F9CF7F}"/>
              </a:ext>
            </a:extLst>
          </p:cNvPr>
          <p:cNvSpPr txBox="1"/>
          <p:nvPr/>
        </p:nvSpPr>
        <p:spPr>
          <a:xfrm>
            <a:off x="620069" y="984763"/>
            <a:ext cx="3331862" cy="773673"/>
          </a:xfrm>
          <a:prstGeom prst="rect">
            <a:avLst/>
          </a:prstGeom>
          <a:noFill/>
        </p:spPr>
        <p:txBody>
          <a:bodyPr wrap="square">
            <a:spAutoFit/>
          </a:bodyPr>
          <a:lstStyle/>
          <a:p>
            <a:pPr marL="0" marR="0" algn="ctr">
              <a:lnSpc>
                <a:spcPct val="107000"/>
              </a:lnSpc>
              <a:spcBef>
                <a:spcPts val="0"/>
              </a:spcBef>
              <a:spcAft>
                <a:spcPts val="0"/>
              </a:spcAft>
            </a:pPr>
            <a:r>
              <a:rPr lang="en-US" sz="14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What are the Basic Med Restrictions?</a:t>
            </a:r>
          </a:p>
          <a:p>
            <a:pPr marL="0" marR="0" algn="ctr">
              <a:lnSpc>
                <a:spcPct val="107000"/>
              </a:lnSpc>
              <a:spcBef>
                <a:spcPts val="0"/>
              </a:spcBef>
              <a:spcAft>
                <a:spcPts val="0"/>
              </a:spcAft>
            </a:pPr>
            <a:endParaRPr lang="en-US" sz="1400" dirty="0">
              <a:solidFill>
                <a:srgbClr val="222222"/>
              </a:solidFill>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7000"/>
              </a:lnSpc>
            </a:pPr>
            <a:r>
              <a:rPr lang="en-US" sz="1400" dirty="0">
                <a:latin typeface="Times New Roman" panose="02020603050405020304" pitchFamily="18" charset="0"/>
                <a:ea typeface="Calibri" panose="020F0502020204030204" pitchFamily="34" charset="0"/>
                <a:cs typeface="Times New Roman" panose="02020603050405020304" pitchFamily="18" charset="0"/>
              </a:rPr>
              <a:t>61.113(</a:t>
            </a:r>
            <a:r>
              <a:rPr lang="en-US" sz="1400" dirty="0" err="1">
                <a:latin typeface="Times New Roman" panose="02020603050405020304" pitchFamily="18" charset="0"/>
                <a:ea typeface="Calibri" panose="020F0502020204030204" pitchFamily="34" charset="0"/>
                <a:cs typeface="Times New Roman" panose="02020603050405020304" pitchFamily="18" charset="0"/>
              </a:rPr>
              <a:t>i</a:t>
            </a:r>
            <a:r>
              <a:rPr lang="en-US" sz="1400" dirty="0">
                <a:latin typeface="Times New Roman" panose="02020603050405020304" pitchFamily="18" charset="0"/>
                <a:ea typeface="Calibri" panose="020F0502020204030204" pitchFamily="34" charset="0"/>
                <a:cs typeface="Times New Roman" panose="02020603050405020304" pitchFamily="18" charset="0"/>
              </a:rPr>
              <a:t>)</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Rectangle 3">
            <a:extLst>
              <a:ext uri="{FF2B5EF4-FFF2-40B4-BE49-F238E27FC236}">
                <a16:creationId xmlns:a16="http://schemas.microsoft.com/office/drawing/2014/main" id="{C7A20C91-46E8-FB26-DCF3-3E8A79608932}"/>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3F76B3E1-C536-9F7B-B0CE-449A0DBA806D}"/>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39320165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B1A5E44-050E-B68E-38A2-4E84C33D0DD2}"/>
              </a:ext>
            </a:extLst>
          </p:cNvPr>
          <p:cNvSpPr txBox="1"/>
          <p:nvPr/>
        </p:nvSpPr>
        <p:spPr>
          <a:xfrm>
            <a:off x="317726" y="667810"/>
            <a:ext cx="4025673" cy="1463606"/>
          </a:xfrm>
          <a:prstGeom prst="rect">
            <a:avLst/>
          </a:prstGeom>
          <a:noFill/>
        </p:spPr>
        <p:txBody>
          <a:bodyPr wrap="square">
            <a:spAutoFit/>
          </a:bodyPr>
          <a:lstStyle/>
          <a:p>
            <a:pPr marL="285750" marR="0" indent="-285750">
              <a:lnSpc>
                <a:spcPct val="107000"/>
              </a:lnSpc>
              <a:spcBef>
                <a:spcPts val="0"/>
              </a:spcBef>
              <a:spcAft>
                <a:spcPts val="0"/>
              </a:spcAft>
              <a:buFont typeface="Arial" panose="020B0604020202020204" pitchFamily="34" charset="0"/>
              <a:buChar char="•"/>
            </a:pPr>
            <a:r>
              <a:rPr lang="en-US" sz="1050" dirty="0">
                <a:effectLst/>
                <a:latin typeface="Times New Roman" panose="02020603050405020304" pitchFamily="18" charset="0"/>
                <a:ea typeface="Calibri" panose="020F0502020204030204" pitchFamily="34" charset="0"/>
                <a:cs typeface="Times New Roman" panose="02020603050405020304" pitchFamily="18" charset="0"/>
              </a:rPr>
              <a:t>Must have held an FAA </a:t>
            </a:r>
            <a:r>
              <a:rPr lang="en-US" sz="1050" dirty="0">
                <a:latin typeface="Times New Roman" panose="02020603050405020304" pitchFamily="18" charset="0"/>
                <a:ea typeface="Calibri" panose="020F0502020204030204" pitchFamily="34" charset="0"/>
                <a:cs typeface="Times New Roman" panose="02020603050405020304" pitchFamily="18" charset="0"/>
              </a:rPr>
              <a:t>med certificate </a:t>
            </a:r>
            <a:r>
              <a:rPr lang="en-US" sz="1050" dirty="0">
                <a:effectLst/>
                <a:latin typeface="Times New Roman" panose="02020603050405020304" pitchFamily="18" charset="0"/>
                <a:ea typeface="Calibri" panose="020F0502020204030204" pitchFamily="34" charset="0"/>
                <a:cs typeface="Times New Roman" panose="02020603050405020304" pitchFamily="18" charset="0"/>
              </a:rPr>
              <a:t>at some point in the past.</a:t>
            </a:r>
          </a:p>
          <a:p>
            <a:pPr marL="285750" marR="0" indent="-285750">
              <a:lnSpc>
                <a:spcPct val="107000"/>
              </a:lnSpc>
              <a:spcBef>
                <a:spcPts val="0"/>
              </a:spcBef>
              <a:spcAft>
                <a:spcPts val="0"/>
              </a:spcAft>
              <a:buFont typeface="Arial" panose="020B0604020202020204" pitchFamily="34" charset="0"/>
              <a:buChar char="•"/>
            </a:pPr>
            <a:r>
              <a:rPr lang="en-US" sz="1050" dirty="0">
                <a:effectLst/>
                <a:latin typeface="Times New Roman" panose="02020603050405020304" pitchFamily="18" charset="0"/>
                <a:ea typeface="Calibri" panose="020F0502020204030204" pitchFamily="34" charset="0"/>
                <a:cs typeface="Times New Roman" panose="02020603050405020304" pitchFamily="18" charset="0"/>
              </a:rPr>
              <a:t>No more than seven total seats (you as the pilot and six passengers maximum).</a:t>
            </a:r>
          </a:p>
          <a:p>
            <a:pPr marL="285750" marR="0" indent="-285750">
              <a:lnSpc>
                <a:spcPct val="107000"/>
              </a:lnSpc>
              <a:spcBef>
                <a:spcPts val="0"/>
              </a:spcBef>
              <a:spcAft>
                <a:spcPts val="0"/>
              </a:spcAft>
              <a:buFont typeface="Arial" panose="020B0604020202020204" pitchFamily="34" charset="0"/>
              <a:buChar char="•"/>
            </a:pPr>
            <a:r>
              <a:rPr lang="en-US" sz="1050" dirty="0">
                <a:latin typeface="Times New Roman" panose="02020603050405020304" pitchFamily="18" charset="0"/>
                <a:ea typeface="Calibri" panose="020F0502020204030204" pitchFamily="34" charset="0"/>
                <a:cs typeface="Times New Roman" panose="02020603050405020304" pitchFamily="18" charset="0"/>
              </a:rPr>
              <a:t>Max certificated takeoff weight of 12,500 pounds.</a:t>
            </a:r>
            <a:endParaRPr lang="en-US" sz="105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marR="0" indent="-285750">
              <a:lnSpc>
                <a:spcPct val="107000"/>
              </a:lnSpc>
              <a:spcBef>
                <a:spcPts val="0"/>
              </a:spcBef>
              <a:spcAft>
                <a:spcPts val="0"/>
              </a:spcAft>
              <a:buFont typeface="Arial" panose="020B0604020202020204" pitchFamily="34" charset="0"/>
              <a:buChar char="•"/>
            </a:pPr>
            <a:r>
              <a:rPr lang="en-US" sz="1050" dirty="0">
                <a:effectLst/>
                <a:latin typeface="Times New Roman" panose="02020603050405020304" pitchFamily="18" charset="0"/>
                <a:ea typeface="Calibri" panose="020F0502020204030204" pitchFamily="34" charset="0"/>
                <a:cs typeface="Times New Roman" panose="02020603050405020304" pitchFamily="18" charset="0"/>
              </a:rPr>
              <a:t>Operates at or below18,000 feet.</a:t>
            </a:r>
          </a:p>
          <a:p>
            <a:pPr marL="285750" marR="0" indent="-285750">
              <a:lnSpc>
                <a:spcPct val="107000"/>
              </a:lnSpc>
              <a:spcBef>
                <a:spcPts val="0"/>
              </a:spcBef>
              <a:spcAft>
                <a:spcPts val="0"/>
              </a:spcAft>
              <a:buFont typeface="Arial" panose="020B0604020202020204" pitchFamily="34" charset="0"/>
              <a:buChar char="•"/>
            </a:pPr>
            <a:r>
              <a:rPr lang="en-US" sz="1050" dirty="0">
                <a:effectLst/>
                <a:latin typeface="Times New Roman" panose="02020603050405020304" pitchFamily="18" charset="0"/>
                <a:ea typeface="Calibri" panose="020F0502020204030204" pitchFamily="34" charset="0"/>
                <a:cs typeface="Times New Roman" panose="02020603050405020304" pitchFamily="18" charset="0"/>
              </a:rPr>
              <a:t>Fly at or below 250 knots.</a:t>
            </a:r>
          </a:p>
          <a:p>
            <a:pPr marL="285750" marR="0" indent="-285750">
              <a:lnSpc>
                <a:spcPct val="107000"/>
              </a:lnSpc>
              <a:spcBef>
                <a:spcPts val="0"/>
              </a:spcBef>
              <a:spcAft>
                <a:spcPts val="0"/>
              </a:spcAft>
              <a:buFont typeface="Arial" panose="020B0604020202020204" pitchFamily="34" charset="0"/>
              <a:buChar char="•"/>
            </a:pPr>
            <a:r>
              <a:rPr lang="en-US" sz="1050" dirty="0">
                <a:effectLst/>
                <a:latin typeface="Times New Roman" panose="02020603050405020304" pitchFamily="18" charset="0"/>
                <a:ea typeface="Calibri" panose="020F0502020204030204" pitchFamily="34" charset="0"/>
                <a:cs typeface="Times New Roman" panose="02020603050405020304" pitchFamily="18" charset="0"/>
              </a:rPr>
              <a:t>Can’t fly for compensation or hire.</a:t>
            </a:r>
          </a:p>
          <a:p>
            <a:pPr marL="285750" marR="0" indent="-285750">
              <a:lnSpc>
                <a:spcPct val="107000"/>
              </a:lnSpc>
              <a:spcBef>
                <a:spcPts val="0"/>
              </a:spcBef>
              <a:spcAft>
                <a:spcPts val="0"/>
              </a:spcAft>
              <a:buFont typeface="Arial" panose="020B0604020202020204" pitchFamily="34" charset="0"/>
              <a:buChar char="•"/>
            </a:pPr>
            <a:r>
              <a:rPr lang="en-US" sz="1050" dirty="0">
                <a:latin typeface="Times New Roman" panose="02020603050405020304" pitchFamily="18" charset="0"/>
                <a:ea typeface="Calibri" panose="020F0502020204030204" pitchFamily="34" charset="0"/>
                <a:cs typeface="Times New Roman" panose="02020603050405020304" pitchFamily="18" charset="0"/>
              </a:rPr>
              <a:t>Must remain within the United States.</a:t>
            </a:r>
            <a:endParaRPr lang="en-US" sz="105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7C7A5215-7472-65D4-64E5-5A33101766F2}"/>
              </a:ext>
            </a:extLst>
          </p:cNvPr>
          <p:cNvSpPr txBox="1"/>
          <p:nvPr/>
        </p:nvSpPr>
        <p:spPr>
          <a:xfrm>
            <a:off x="44450" y="5715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Tree>
    <p:extLst>
      <p:ext uri="{BB962C8B-B14F-4D97-AF65-F5344CB8AC3E}">
        <p14:creationId xmlns:p14="http://schemas.microsoft.com/office/powerpoint/2010/main" val="15833465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AE7D7F-7BC0-0D1B-A13E-9E1512F35614}"/>
              </a:ext>
            </a:extLst>
          </p:cNvPr>
          <p:cNvSpPr txBox="1"/>
          <p:nvPr/>
        </p:nvSpPr>
        <p:spPr>
          <a:xfrm>
            <a:off x="41127" y="5641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3" name="TextBox 2">
            <a:extLst>
              <a:ext uri="{FF2B5EF4-FFF2-40B4-BE49-F238E27FC236}">
                <a16:creationId xmlns:a16="http://schemas.microsoft.com/office/drawing/2014/main" id="{4E1E48D4-DF11-AB4F-B167-81F903DC413F}"/>
              </a:ext>
            </a:extLst>
          </p:cNvPr>
          <p:cNvSpPr txBox="1"/>
          <p:nvPr/>
        </p:nvSpPr>
        <p:spPr>
          <a:xfrm>
            <a:off x="620069" y="1100596"/>
            <a:ext cx="3331862" cy="542008"/>
          </a:xfrm>
          <a:prstGeom prst="rect">
            <a:avLst/>
          </a:prstGeom>
          <a:noFill/>
        </p:spPr>
        <p:txBody>
          <a:bodyPr wrap="square">
            <a:spAutoFit/>
          </a:bodyPr>
          <a:lstStyle/>
          <a:p>
            <a:pPr marL="0" marR="0" algn="ctr">
              <a:lnSpc>
                <a:spcPct val="107000"/>
              </a:lnSpc>
              <a:spcBef>
                <a:spcPts val="0"/>
              </a:spcBef>
              <a:spcAft>
                <a:spcPts val="0"/>
              </a:spcAft>
            </a:pPr>
            <a:r>
              <a:rPr lang="en-US" sz="14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What defines a complex airplane?</a:t>
            </a:r>
          </a:p>
          <a:p>
            <a:pPr marL="0" marR="0" algn="ctr">
              <a:lnSpc>
                <a:spcPct val="107000"/>
              </a:lnSpc>
              <a:spcBef>
                <a:spcPts val="0"/>
              </a:spcBef>
              <a:spcAft>
                <a:spcPts val="0"/>
              </a:spcAft>
            </a:pPr>
            <a:r>
              <a:rPr lang="en-US" sz="14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61.1(b)(3)</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3">
            <a:extLst>
              <a:ext uri="{FF2B5EF4-FFF2-40B4-BE49-F238E27FC236}">
                <a16:creationId xmlns:a16="http://schemas.microsoft.com/office/drawing/2014/main" id="{BC31788A-C5C0-164F-2565-B3CA24A78C0F}"/>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212DB09D-D08B-B326-E153-622932DE1FF2}"/>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22672080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AE7D7F-7BC0-0D1B-A13E-9E1512F35614}"/>
              </a:ext>
            </a:extLst>
          </p:cNvPr>
          <p:cNvSpPr txBox="1"/>
          <p:nvPr/>
        </p:nvSpPr>
        <p:spPr>
          <a:xfrm>
            <a:off x="41127" y="5641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3" name="TextBox 2">
            <a:extLst>
              <a:ext uri="{FF2B5EF4-FFF2-40B4-BE49-F238E27FC236}">
                <a16:creationId xmlns:a16="http://schemas.microsoft.com/office/drawing/2014/main" id="{4E1E48D4-DF11-AB4F-B167-81F903DC413F}"/>
              </a:ext>
            </a:extLst>
          </p:cNvPr>
          <p:cNvSpPr txBox="1"/>
          <p:nvPr/>
        </p:nvSpPr>
        <p:spPr>
          <a:xfrm>
            <a:off x="620069" y="1100596"/>
            <a:ext cx="3331862" cy="542008"/>
          </a:xfrm>
          <a:prstGeom prst="rect">
            <a:avLst/>
          </a:prstGeom>
          <a:noFill/>
        </p:spPr>
        <p:txBody>
          <a:bodyPr wrap="square">
            <a:spAutoFit/>
          </a:bodyPr>
          <a:lstStyle/>
          <a:p>
            <a:pPr marL="0" marR="0" algn="ctr">
              <a:lnSpc>
                <a:spcPct val="107000"/>
              </a:lnSpc>
              <a:spcBef>
                <a:spcPts val="0"/>
              </a:spcBef>
              <a:spcAft>
                <a:spcPts val="0"/>
              </a:spcAft>
            </a:pPr>
            <a:r>
              <a:rPr lang="en-US" sz="14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An airplane with flaps, variable pitch propeller, and retractable landing gear.</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730287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CE8903-34D5-E24E-6BB0-A86B59A761EF}"/>
              </a:ext>
            </a:extLst>
          </p:cNvPr>
          <p:cNvSpPr txBox="1"/>
          <p:nvPr/>
        </p:nvSpPr>
        <p:spPr>
          <a:xfrm>
            <a:off x="47477" y="5641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2" name="TextBox 1">
            <a:extLst>
              <a:ext uri="{FF2B5EF4-FFF2-40B4-BE49-F238E27FC236}">
                <a16:creationId xmlns:a16="http://schemas.microsoft.com/office/drawing/2014/main" id="{D5FBB64E-9613-BD6E-95ED-CF9E8BBEE59A}"/>
              </a:ext>
            </a:extLst>
          </p:cNvPr>
          <p:cNvSpPr txBox="1"/>
          <p:nvPr/>
        </p:nvSpPr>
        <p:spPr>
          <a:xfrm>
            <a:off x="485775" y="894546"/>
            <a:ext cx="3600450" cy="954107"/>
          </a:xfrm>
          <a:prstGeom prst="rect">
            <a:avLst/>
          </a:prstGeom>
          <a:noFill/>
        </p:spPr>
        <p:txBody>
          <a:bodyPr wrap="square">
            <a:spAutoFit/>
          </a:bodyPr>
          <a:lstStyle/>
          <a:p>
            <a:pPr marL="0" marR="0" algn="just">
              <a:spcBef>
                <a:spcPts val="0"/>
              </a:spcBef>
              <a:spcAft>
                <a:spcPts val="0"/>
              </a:spcAft>
            </a:pPr>
            <a:r>
              <a:rPr lang="en-US" sz="1400" dirty="0">
                <a:effectLst/>
                <a:latin typeface="Times New Roman" panose="02020603050405020304" pitchFamily="18" charset="0"/>
                <a:ea typeface="Calibri" panose="020F0502020204030204" pitchFamily="34" charset="0"/>
              </a:rPr>
              <a:t>You own your own airplane and use it solely for personal use. You’ve logged 94 hours since your last </a:t>
            </a:r>
            <a:r>
              <a:rPr lang="en-US" sz="1400" dirty="0">
                <a:latin typeface="Times New Roman" panose="02020603050405020304" pitchFamily="18" charset="0"/>
                <a:ea typeface="Calibri" panose="020F0502020204030204" pitchFamily="34" charset="0"/>
              </a:rPr>
              <a:t>Annual</a:t>
            </a:r>
            <a:r>
              <a:rPr lang="en-US" sz="1400" dirty="0">
                <a:effectLst/>
                <a:latin typeface="Times New Roman" panose="02020603050405020304" pitchFamily="18" charset="0"/>
                <a:ea typeface="Calibri" panose="020F0502020204030204" pitchFamily="34" charset="0"/>
              </a:rPr>
              <a:t> inspection. When is your 100-hour inspection due?</a:t>
            </a:r>
          </a:p>
        </p:txBody>
      </p:sp>
      <p:sp>
        <p:nvSpPr>
          <p:cNvPr id="3" name="Rectangle 2">
            <a:extLst>
              <a:ext uri="{FF2B5EF4-FFF2-40B4-BE49-F238E27FC236}">
                <a16:creationId xmlns:a16="http://schemas.microsoft.com/office/drawing/2014/main" id="{334B5951-E179-981D-79AA-AA124E5A2A7A}"/>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EA54ECB3-5383-D853-AECF-4D85577E0A4B}"/>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2213109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CE8903-34D5-E24E-6BB0-A86B59A761EF}"/>
              </a:ext>
            </a:extLst>
          </p:cNvPr>
          <p:cNvSpPr txBox="1"/>
          <p:nvPr/>
        </p:nvSpPr>
        <p:spPr>
          <a:xfrm>
            <a:off x="47477" y="5641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2" name="TextBox 1">
            <a:extLst>
              <a:ext uri="{FF2B5EF4-FFF2-40B4-BE49-F238E27FC236}">
                <a16:creationId xmlns:a16="http://schemas.microsoft.com/office/drawing/2014/main" id="{4F844123-00CE-9969-1ABB-34D29E3001D0}"/>
              </a:ext>
            </a:extLst>
          </p:cNvPr>
          <p:cNvSpPr txBox="1"/>
          <p:nvPr/>
        </p:nvSpPr>
        <p:spPr>
          <a:xfrm>
            <a:off x="476250" y="894546"/>
            <a:ext cx="3619500" cy="954107"/>
          </a:xfrm>
          <a:prstGeom prst="rect">
            <a:avLst/>
          </a:prstGeom>
          <a:noFill/>
        </p:spPr>
        <p:txBody>
          <a:bodyPr wrap="square">
            <a:spAutoFit/>
          </a:bodyPr>
          <a:lstStyle/>
          <a:p>
            <a:pPr marL="0" marR="0" algn="just">
              <a:spcBef>
                <a:spcPts val="0"/>
              </a:spcBef>
              <a:spcAft>
                <a:spcPts val="0"/>
              </a:spcAft>
            </a:pPr>
            <a:r>
              <a:rPr lang="en-US" sz="1400" dirty="0">
                <a:solidFill>
                  <a:srgbClr val="000000"/>
                </a:solidFill>
                <a:latin typeface="Times New Roman" panose="02020603050405020304" pitchFamily="18" charset="0"/>
                <a:ea typeface="Calibri" panose="020F0502020204030204" pitchFamily="34" charset="0"/>
              </a:rPr>
              <a:t>Unless there is a specific AD that directs a 100-hour inspection, you don’t have one. 100-hour inspections are required for aircraft that are used for training or for hire.</a:t>
            </a:r>
            <a:endParaRPr lang="en-US" sz="1400" dirty="0">
              <a:solidFill>
                <a:srgbClr val="000000"/>
              </a:solidFill>
              <a:effectLst/>
              <a:latin typeface="Times New Roman" panose="02020603050405020304" pitchFamily="18" charset="0"/>
              <a:ea typeface="Calibri" panose="020F0502020204030204" pitchFamily="34" charset="0"/>
            </a:endParaRPr>
          </a:p>
        </p:txBody>
      </p:sp>
    </p:spTree>
    <p:extLst>
      <p:ext uri="{BB962C8B-B14F-4D97-AF65-F5344CB8AC3E}">
        <p14:creationId xmlns:p14="http://schemas.microsoft.com/office/powerpoint/2010/main" val="30796968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AE7D7F-7BC0-0D1B-A13E-9E1512F35614}"/>
              </a:ext>
            </a:extLst>
          </p:cNvPr>
          <p:cNvSpPr txBox="1"/>
          <p:nvPr/>
        </p:nvSpPr>
        <p:spPr>
          <a:xfrm>
            <a:off x="41127" y="5641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3" name="TextBox 2">
            <a:extLst>
              <a:ext uri="{FF2B5EF4-FFF2-40B4-BE49-F238E27FC236}">
                <a16:creationId xmlns:a16="http://schemas.microsoft.com/office/drawing/2014/main" id="{4E1E48D4-DF11-AB4F-B167-81F903DC413F}"/>
              </a:ext>
            </a:extLst>
          </p:cNvPr>
          <p:cNvSpPr txBox="1"/>
          <p:nvPr/>
        </p:nvSpPr>
        <p:spPr>
          <a:xfrm>
            <a:off x="399422" y="539801"/>
            <a:ext cx="3773156" cy="1663597"/>
          </a:xfrm>
          <a:prstGeom prst="rect">
            <a:avLst/>
          </a:prstGeom>
          <a:noFill/>
        </p:spPr>
        <p:txBody>
          <a:bodyPr wrap="square">
            <a:spAutoFit/>
          </a:bodyPr>
          <a:lstStyle/>
          <a:p>
            <a:pPr marL="0" marR="0" algn="just">
              <a:lnSpc>
                <a:spcPct val="107000"/>
              </a:lnSpc>
              <a:spcBef>
                <a:spcPts val="0"/>
              </a:spcBef>
              <a:spcAft>
                <a:spcPts val="0"/>
              </a:spcAft>
            </a:pPr>
            <a:r>
              <a:rPr lang="en-US" sz="12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You’re flying with your spouse to Grandma’s for Thanksgiving. Grandma lives on a remote grass strip. You perform what you thought was a perfect soft field landing but things don’t go as planned. You depart the end of the runway and come to an abrupt stop. Your aircraft is fine but your spouse’s nose is broken.</a:t>
            </a:r>
            <a:r>
              <a:rPr lang="en-US" sz="1200"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 Do you need to notify the NTSB?</a:t>
            </a:r>
          </a:p>
          <a:p>
            <a:pPr marL="0" marR="0" algn="ctr">
              <a:lnSpc>
                <a:spcPct val="107000"/>
              </a:lnSpc>
              <a:spcBef>
                <a:spcPts val="0"/>
              </a:spcBef>
              <a:spcAft>
                <a:spcPts val="0"/>
              </a:spcAft>
            </a:pPr>
            <a:r>
              <a:rPr lang="en-US" sz="1200"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NTSB Part 830</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3">
            <a:extLst>
              <a:ext uri="{FF2B5EF4-FFF2-40B4-BE49-F238E27FC236}">
                <a16:creationId xmlns:a16="http://schemas.microsoft.com/office/drawing/2014/main" id="{A3AD09E0-63BB-E721-5258-9936D9AFBC4F}"/>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5F221452-5ED6-6C9B-94CA-33C32CEFC73D}"/>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37691688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C7D5051-48AD-5EF2-D222-35B155CAAE25}"/>
              </a:ext>
            </a:extLst>
          </p:cNvPr>
          <p:cNvSpPr txBox="1"/>
          <p:nvPr/>
        </p:nvSpPr>
        <p:spPr>
          <a:xfrm>
            <a:off x="398261" y="737419"/>
            <a:ext cx="3775477" cy="1268361"/>
          </a:xfrm>
          <a:prstGeom prst="rect">
            <a:avLst/>
          </a:prstGeom>
          <a:noFill/>
        </p:spPr>
        <p:txBody>
          <a:bodyPr wrap="square">
            <a:spAutoFit/>
          </a:bodyPr>
          <a:lstStyle/>
          <a:p>
            <a:pPr marL="0" marR="0" algn="just">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Broken bones are considered a serious injury and therefore must be reported. However, broken fingers, toes, or a broken nose do not meet the NTSB reporting threshold. With that being said, the Thanksgiving dinner conversation will be interesting. But no, you do not need to report this to the NTSB.</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2C3ED980-AE92-C7EB-B2E6-E12C44685A3C}"/>
              </a:ext>
            </a:extLst>
          </p:cNvPr>
          <p:cNvSpPr txBox="1"/>
          <p:nvPr/>
        </p:nvSpPr>
        <p:spPr>
          <a:xfrm>
            <a:off x="44450" y="5715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Tree>
    <p:extLst>
      <p:ext uri="{BB962C8B-B14F-4D97-AF65-F5344CB8AC3E}">
        <p14:creationId xmlns:p14="http://schemas.microsoft.com/office/powerpoint/2010/main" val="35202412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F91051-880C-3E11-9A05-7E8C60A22F1C}"/>
              </a:ext>
            </a:extLst>
          </p:cNvPr>
          <p:cNvSpPr txBox="1"/>
          <p:nvPr/>
        </p:nvSpPr>
        <p:spPr>
          <a:xfrm>
            <a:off x="47477" y="5641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3" name="TextBox 2">
            <a:extLst>
              <a:ext uri="{FF2B5EF4-FFF2-40B4-BE49-F238E27FC236}">
                <a16:creationId xmlns:a16="http://schemas.microsoft.com/office/drawing/2014/main" id="{010107D8-4F7C-310E-91AD-79BF921DBA22}"/>
              </a:ext>
            </a:extLst>
          </p:cNvPr>
          <p:cNvSpPr txBox="1"/>
          <p:nvPr/>
        </p:nvSpPr>
        <p:spPr>
          <a:xfrm>
            <a:off x="412961" y="756880"/>
            <a:ext cx="3746077" cy="1229439"/>
          </a:xfrm>
          <a:prstGeom prst="rect">
            <a:avLst/>
          </a:prstGeom>
          <a:noFill/>
        </p:spPr>
        <p:txBody>
          <a:bodyPr wrap="square">
            <a:spAutoFit/>
          </a:bodyPr>
          <a:lstStyle/>
          <a:p>
            <a:pPr marL="0" marR="0" algn="just">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You own an airplane; in order to change the oil, you must remove the cowl. However, to remove the cowl, the propeller must be removed. Can you change the oil?</a:t>
            </a:r>
          </a:p>
          <a:p>
            <a:pPr marL="0" marR="0" algn="ctr">
              <a:lnSpc>
                <a:spcPct val="107000"/>
              </a:lnSpc>
              <a:spcBef>
                <a:spcPts val="0"/>
              </a:spcBef>
              <a:spcAft>
                <a:spcPts val="0"/>
              </a:spcAft>
            </a:pPr>
            <a:r>
              <a:rPr lang="en-US" sz="1400" dirty="0">
                <a:latin typeface="Times New Roman" panose="02020603050405020304" pitchFamily="18" charset="0"/>
                <a:ea typeface="Calibri" panose="020F0502020204030204" pitchFamily="34" charset="0"/>
                <a:cs typeface="Times New Roman" panose="02020603050405020304" pitchFamily="18" charset="0"/>
              </a:rPr>
              <a:t>Appendix A to Part 43 (3)(C)(19)</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Rectangle 3">
            <a:extLst>
              <a:ext uri="{FF2B5EF4-FFF2-40B4-BE49-F238E27FC236}">
                <a16:creationId xmlns:a16="http://schemas.microsoft.com/office/drawing/2014/main" id="{A531E7C7-DA65-A02A-2EA8-641F3F8CF6EA}"/>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603301EF-39AA-8FA8-D8C3-1DE8877544D7}"/>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10616856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3B3A385-CA10-3181-19F5-53A2D7DD471B}"/>
              </a:ext>
            </a:extLst>
          </p:cNvPr>
          <p:cNvSpPr txBox="1"/>
          <p:nvPr/>
        </p:nvSpPr>
        <p:spPr>
          <a:xfrm>
            <a:off x="214984" y="638031"/>
            <a:ext cx="4142031" cy="1264705"/>
          </a:xfrm>
          <a:prstGeom prst="rect">
            <a:avLst/>
          </a:prstGeom>
          <a:noFill/>
        </p:spPr>
        <p:txBody>
          <a:bodyPr wrap="square">
            <a:spAutoFit/>
          </a:bodyPr>
          <a:lstStyle/>
          <a:p>
            <a:pPr marL="0" marR="0" algn="ctr">
              <a:lnSpc>
                <a:spcPct val="107000"/>
              </a:lnSpc>
              <a:spcBef>
                <a:spcPts val="0"/>
              </a:spcBef>
              <a:spcAft>
                <a:spcPts val="0"/>
              </a:spcAft>
            </a:pP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No.</a:t>
            </a:r>
          </a:p>
          <a:p>
            <a:pPr marL="0" marR="0" algn="just">
              <a:lnSpc>
                <a:spcPct val="107000"/>
              </a:lnSpc>
              <a:spcBef>
                <a:spcPts val="0"/>
              </a:spcBef>
              <a:spcAft>
                <a:spcPts val="0"/>
              </a:spcAft>
            </a:pP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There are a lot of maintenance related items a non A&amp;P or non IA can do. However, removing the prop is a no-no. So, although removing the cowl and changing oil is allowed, in this case they cannot do either because they both involve removing the propeller.</a:t>
            </a:r>
          </a:p>
        </p:txBody>
      </p:sp>
      <p:sp>
        <p:nvSpPr>
          <p:cNvPr id="3" name="TextBox 2">
            <a:extLst>
              <a:ext uri="{FF2B5EF4-FFF2-40B4-BE49-F238E27FC236}">
                <a16:creationId xmlns:a16="http://schemas.microsoft.com/office/drawing/2014/main" id="{B6F1F251-3702-9979-4ABF-4FEB95095D17}"/>
              </a:ext>
            </a:extLst>
          </p:cNvPr>
          <p:cNvSpPr txBox="1"/>
          <p:nvPr/>
        </p:nvSpPr>
        <p:spPr>
          <a:xfrm>
            <a:off x="47477" y="5641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Tree>
    <p:extLst>
      <p:ext uri="{BB962C8B-B14F-4D97-AF65-F5344CB8AC3E}">
        <p14:creationId xmlns:p14="http://schemas.microsoft.com/office/powerpoint/2010/main" val="10244868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2" name="TextBox 1">
            <a:extLst>
              <a:ext uri="{FF2B5EF4-FFF2-40B4-BE49-F238E27FC236}">
                <a16:creationId xmlns:a16="http://schemas.microsoft.com/office/drawing/2014/main" id="{82CD57F5-39C2-2748-710F-72CF40339487}"/>
              </a:ext>
            </a:extLst>
          </p:cNvPr>
          <p:cNvSpPr txBox="1"/>
          <p:nvPr/>
        </p:nvSpPr>
        <p:spPr>
          <a:xfrm>
            <a:off x="428206" y="961648"/>
            <a:ext cx="3715587" cy="1067665"/>
          </a:xfrm>
          <a:prstGeom prst="rect">
            <a:avLst/>
          </a:prstGeom>
          <a:noFill/>
        </p:spPr>
        <p:txBody>
          <a:bodyPr wrap="square">
            <a:spAutoFit/>
          </a:bodyPr>
          <a:lstStyle/>
          <a:p>
            <a:pPr marL="0" marR="0" algn="just">
              <a:lnSpc>
                <a:spcPct val="115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Your flight school just bought a Super Decathlon. You head out by yourself to practice aerobatic maneuvers. Do you require a parachute?</a:t>
            </a:r>
          </a:p>
          <a:p>
            <a:pPr marL="0" marR="0" algn="ctr">
              <a:lnSpc>
                <a:spcPct val="115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91.307</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a:extLst>
              <a:ext uri="{FF2B5EF4-FFF2-40B4-BE49-F238E27FC236}">
                <a16:creationId xmlns:a16="http://schemas.microsoft.com/office/drawing/2014/main" id="{55E105B8-B471-ACBC-5219-B95A5D5F1478}"/>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1F1C37F3-88C5-2AA6-726D-5398DEFDBA86}"/>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30318601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2" name="TextBox 1">
            <a:extLst>
              <a:ext uri="{FF2B5EF4-FFF2-40B4-BE49-F238E27FC236}">
                <a16:creationId xmlns:a16="http://schemas.microsoft.com/office/drawing/2014/main" id="{E4597038-4C0E-9700-29B2-7C91202446AB}"/>
              </a:ext>
            </a:extLst>
          </p:cNvPr>
          <p:cNvSpPr txBox="1"/>
          <p:nvPr/>
        </p:nvSpPr>
        <p:spPr>
          <a:xfrm>
            <a:off x="349086" y="780402"/>
            <a:ext cx="3873827" cy="1067665"/>
          </a:xfrm>
          <a:prstGeom prst="rect">
            <a:avLst/>
          </a:prstGeom>
          <a:noFill/>
        </p:spPr>
        <p:txBody>
          <a:bodyPr wrap="square">
            <a:spAutoFit/>
          </a:bodyPr>
          <a:lstStyle/>
          <a:p>
            <a:pPr marL="0" marR="0" algn="just">
              <a:lnSpc>
                <a:spcPct val="115000"/>
              </a:lnSpc>
              <a:spcBef>
                <a:spcPts val="0"/>
              </a:spcBef>
              <a:spcAft>
                <a:spcPts val="0"/>
              </a:spcAft>
            </a:pPr>
            <a:r>
              <a:rPr lang="en-US" sz="1400" dirty="0">
                <a:latin typeface="Times New Roman" panose="02020603050405020304" pitchFamily="18" charset="0"/>
                <a:ea typeface="Times New Roman" panose="02020603050405020304" pitchFamily="18" charset="0"/>
                <a:cs typeface="Times New Roman" panose="02020603050405020304" pitchFamily="18" charset="0"/>
              </a:rPr>
              <a:t>It’s been said t</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he FAR is written by lawyers for lawyers so it is not always easy to interpret. This rule is no exception. In this scenario</a:t>
            </a:r>
            <a:r>
              <a:rPr lang="en-US" sz="1400" dirty="0">
                <a:latin typeface="Times New Roman" panose="02020603050405020304" pitchFamily="18" charset="0"/>
                <a:ea typeface="Times New Roman" panose="02020603050405020304" pitchFamily="18" charset="0"/>
                <a:cs typeface="Times New Roman" panose="02020603050405020304" pitchFamily="18" charset="0"/>
              </a:rPr>
              <a:t>…bottom line, if you are by yourself, you do not need a parachute.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709029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8F5F92-BB1D-F522-1043-EEB689CF5521}"/>
              </a:ext>
            </a:extLst>
          </p:cNvPr>
          <p:cNvSpPr txBox="1"/>
          <p:nvPr/>
        </p:nvSpPr>
        <p:spPr>
          <a:xfrm>
            <a:off x="301215" y="872136"/>
            <a:ext cx="3969569" cy="998928"/>
          </a:xfrm>
          <a:prstGeom prst="rect">
            <a:avLst/>
          </a:prstGeom>
          <a:noFill/>
        </p:spPr>
        <p:txBody>
          <a:bodyPr wrap="square">
            <a:spAutoFit/>
          </a:bodyPr>
          <a:lstStyle/>
          <a:p>
            <a:pPr marL="0" marR="0" algn="just">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It’s Sunday morning and you are performing a preflight for a day cross country. You notice the left nav light is inoperative. What do you think the odds are that you will takeoff on time?</a:t>
            </a:r>
          </a:p>
        </p:txBody>
      </p:sp>
      <p:sp>
        <p:nvSpPr>
          <p:cNvPr id="3" name="TextBox 2">
            <a:extLst>
              <a:ext uri="{FF2B5EF4-FFF2-40B4-BE49-F238E27FC236}">
                <a16:creationId xmlns:a16="http://schemas.microsoft.com/office/drawing/2014/main" id="{3B73BDA6-830D-0C8A-58A1-12020690BD6A}"/>
              </a:ext>
            </a:extLst>
          </p:cNvPr>
          <p:cNvSpPr txBox="1"/>
          <p:nvPr/>
        </p:nvSpPr>
        <p:spPr>
          <a:xfrm>
            <a:off x="47477" y="5641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4" name="Rectangle 3">
            <a:extLst>
              <a:ext uri="{FF2B5EF4-FFF2-40B4-BE49-F238E27FC236}">
                <a16:creationId xmlns:a16="http://schemas.microsoft.com/office/drawing/2014/main" id="{FF41A29B-6CDD-A904-B3E7-C86BE3BA2125}"/>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B75F46E9-F826-36FE-238F-7A3BB62CBB28}"/>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29445553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7E51452-4B79-8921-B817-346C50314994}"/>
              </a:ext>
            </a:extLst>
          </p:cNvPr>
          <p:cNvSpPr txBox="1"/>
          <p:nvPr/>
        </p:nvSpPr>
        <p:spPr>
          <a:xfrm>
            <a:off x="47477" y="5641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3" name="TextBox 2">
            <a:extLst>
              <a:ext uri="{FF2B5EF4-FFF2-40B4-BE49-F238E27FC236}">
                <a16:creationId xmlns:a16="http://schemas.microsoft.com/office/drawing/2014/main" id="{C1AB6E6E-B1F7-B6B4-8EDD-8E180FFC9C4C}"/>
              </a:ext>
            </a:extLst>
          </p:cNvPr>
          <p:cNvSpPr txBox="1"/>
          <p:nvPr/>
        </p:nvSpPr>
        <p:spPr>
          <a:xfrm>
            <a:off x="243376" y="385412"/>
            <a:ext cx="4085248" cy="2072683"/>
          </a:xfrm>
          <a:prstGeom prst="rect">
            <a:avLst/>
          </a:prstGeom>
          <a:noFill/>
        </p:spPr>
        <p:txBody>
          <a:bodyPr wrap="square">
            <a:spAutoFit/>
          </a:bodyPr>
          <a:lstStyle/>
          <a:p>
            <a:pPr marL="0" marR="0" algn="just">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If you follow the guidance in 91.213, odds are you are not flying. Yes, you don’t need a nav light during the day. However, there is more required than just asking if the nav light is in the 91.205 list. Is there an MEL, KOL, was the nav light required for the issuance of the airworthiness certificate, are there any ADs that required the nav light, etc? You won’t know the answer to these questions on an early Sunday morning. Furthermore, the last step in the process is to have power removed (or equipment removed), have it placarded, and make an entry in the log books. </a:t>
            </a:r>
            <a:r>
              <a:rPr lang="en-US" sz="1100" dirty="0">
                <a:latin typeface="Times New Roman" panose="02020603050405020304" pitchFamily="18" charset="0"/>
                <a:ea typeface="Calibri" panose="020F0502020204030204" pitchFamily="34" charset="0"/>
                <a:cs typeface="Times New Roman" panose="02020603050405020304" pitchFamily="18" charset="0"/>
              </a:rPr>
              <a:t>The chances</a:t>
            </a: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 of that happening on an early Sunday morning are probably low. Cancel and go have a nice breakfast.</a:t>
            </a:r>
          </a:p>
        </p:txBody>
      </p:sp>
    </p:spTree>
    <p:extLst>
      <p:ext uri="{BB962C8B-B14F-4D97-AF65-F5344CB8AC3E}">
        <p14:creationId xmlns:p14="http://schemas.microsoft.com/office/powerpoint/2010/main" val="33260012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334D9A4-FA02-7752-69E2-DA28BFCECDD7}"/>
              </a:ext>
            </a:extLst>
          </p:cNvPr>
          <p:cNvSpPr txBox="1"/>
          <p:nvPr/>
        </p:nvSpPr>
        <p:spPr>
          <a:xfrm>
            <a:off x="593695" y="1051190"/>
            <a:ext cx="3384610" cy="772519"/>
          </a:xfrm>
          <a:prstGeom prst="rect">
            <a:avLst/>
          </a:prstGeom>
          <a:noFill/>
        </p:spPr>
        <p:txBody>
          <a:bodyPr wrap="square">
            <a:spAutoFit/>
          </a:bodyPr>
          <a:lstStyle/>
          <a:p>
            <a:pPr marL="0" marR="0" algn="just">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To act as PIC, what must a pilot have in their physical possession?</a:t>
            </a:r>
          </a:p>
          <a:p>
            <a:pPr marL="0" marR="0" algn="ctr">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61.3</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138B8375-20BE-2E51-4CC4-E067CD362667}"/>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72E44639-1ABA-9976-0A09-B1FD5107FFF2}"/>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
        <p:nvSpPr>
          <p:cNvPr id="7" name="TextBox 6">
            <a:extLst>
              <a:ext uri="{FF2B5EF4-FFF2-40B4-BE49-F238E27FC236}">
                <a16:creationId xmlns:a16="http://schemas.microsoft.com/office/drawing/2014/main" id="{66894A49-4B69-446D-40E8-B31112776037}"/>
              </a:ext>
            </a:extLst>
          </p:cNvPr>
          <p:cNvSpPr txBox="1"/>
          <p:nvPr/>
        </p:nvSpPr>
        <p:spPr>
          <a:xfrm>
            <a:off x="44450" y="5715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Tree>
    <p:extLst>
      <p:ext uri="{BB962C8B-B14F-4D97-AF65-F5344CB8AC3E}">
        <p14:creationId xmlns:p14="http://schemas.microsoft.com/office/powerpoint/2010/main" val="627076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60BEF48-909E-0F50-367F-4965FEF6E258}"/>
              </a:ext>
            </a:extLst>
          </p:cNvPr>
          <p:cNvSpPr txBox="1"/>
          <p:nvPr/>
        </p:nvSpPr>
        <p:spPr>
          <a:xfrm>
            <a:off x="415401" y="754828"/>
            <a:ext cx="3741197" cy="1233543"/>
          </a:xfrm>
          <a:prstGeom prst="rect">
            <a:avLst/>
          </a:prstGeom>
          <a:noFill/>
        </p:spPr>
        <p:txBody>
          <a:bodyPr wrap="square">
            <a:spAutoFit/>
          </a:bodyPr>
          <a:lstStyle/>
          <a:p>
            <a:pPr marL="285750" marR="0" indent="-171450">
              <a:lnSpc>
                <a:spcPct val="107000"/>
              </a:lnSpc>
              <a:spcBef>
                <a:spcPts val="0"/>
              </a:spcBef>
              <a:spcAft>
                <a:spcPts val="0"/>
              </a:spcAft>
              <a:buFont typeface="Arial" panose="020B0604020202020204" pitchFamily="34" charset="0"/>
              <a:buChar char="•"/>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A valid pilot certificate</a:t>
            </a:r>
            <a:r>
              <a:rPr lang="en-US" sz="1400" dirty="0">
                <a:latin typeface="Times New Roman" panose="02020603050405020304" pitchFamily="18" charset="0"/>
                <a:ea typeface="Times New Roman" panose="02020603050405020304" pitchFamily="18" charset="0"/>
                <a:cs typeface="Times New Roman" panose="02020603050405020304" pitchFamily="18" charset="0"/>
              </a:rPr>
              <a:t>.</a:t>
            </a:r>
          </a:p>
          <a:p>
            <a:pPr marL="285750" marR="0" indent="-171450">
              <a:lnSpc>
                <a:spcPct val="107000"/>
              </a:lnSpc>
              <a:spcBef>
                <a:spcPts val="0"/>
              </a:spcBef>
              <a:spcAft>
                <a:spcPts val="0"/>
              </a:spcAft>
              <a:buFont typeface="Arial" panose="020B0604020202020204" pitchFamily="34" charset="0"/>
              <a:buChar char="•"/>
            </a:pPr>
            <a:r>
              <a:rPr lang="en-US" sz="1400" dirty="0">
                <a:latin typeface="Times New Roman" panose="02020603050405020304" pitchFamily="18" charset="0"/>
                <a:ea typeface="Times New Roman" panose="02020603050405020304" pitchFamily="18" charset="0"/>
                <a:cs typeface="Times New Roman" panose="02020603050405020304" pitchFamily="18" charset="0"/>
              </a:rPr>
              <a:t>A</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 government issued photo ID.</a:t>
            </a:r>
            <a:endParaRPr lang="en-US" sz="1400" dirty="0">
              <a:latin typeface="Times New Roman" panose="02020603050405020304" pitchFamily="18" charset="0"/>
              <a:ea typeface="Times New Roman" panose="02020603050405020304" pitchFamily="18" charset="0"/>
              <a:cs typeface="Times New Roman" panose="02020603050405020304" pitchFamily="18" charset="0"/>
            </a:endParaRPr>
          </a:p>
          <a:p>
            <a:pPr marL="285750" marR="0" indent="-171450">
              <a:lnSpc>
                <a:spcPct val="107000"/>
              </a:lnSpc>
              <a:spcBef>
                <a:spcPts val="0"/>
              </a:spcBef>
              <a:spcAft>
                <a:spcPts val="0"/>
              </a:spcAft>
              <a:buFont typeface="Arial" panose="020B0604020202020204" pitchFamily="34" charset="0"/>
              <a:buChar char="•"/>
            </a:pPr>
            <a:r>
              <a:rPr lang="en-US" sz="1400" dirty="0">
                <a:latin typeface="Times New Roman" panose="02020603050405020304" pitchFamily="18" charset="0"/>
                <a:ea typeface="Times New Roman" panose="02020603050405020304" pitchFamily="18" charset="0"/>
                <a:cs typeface="Times New Roman" panose="02020603050405020304" pitchFamily="18" charset="0"/>
              </a:rPr>
              <a:t>A</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 current and appropriate medical certificate.</a:t>
            </a:r>
          </a:p>
          <a:p>
            <a:pPr marL="285750" marR="0" indent="-171450">
              <a:lnSpc>
                <a:spcPct val="107000"/>
              </a:lnSpc>
              <a:spcBef>
                <a:spcPts val="0"/>
              </a:spcBef>
              <a:spcAft>
                <a:spcPts val="0"/>
              </a:spcAft>
              <a:buFont typeface="Arial" panose="020B0604020202020204" pitchFamily="34" charset="0"/>
              <a:buChar char="•"/>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A student pilot must have their logbook with the appropriate endorsements.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F1A41C5A-36ED-7FFC-8058-96EDFE6FD73E}"/>
              </a:ext>
            </a:extLst>
          </p:cNvPr>
          <p:cNvSpPr txBox="1"/>
          <p:nvPr/>
        </p:nvSpPr>
        <p:spPr>
          <a:xfrm>
            <a:off x="44450" y="5715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Tree>
    <p:extLst>
      <p:ext uri="{BB962C8B-B14F-4D97-AF65-F5344CB8AC3E}">
        <p14:creationId xmlns:p14="http://schemas.microsoft.com/office/powerpoint/2010/main" val="15231430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939657C-1DC0-11A1-48F2-B39136FFC645}"/>
              </a:ext>
            </a:extLst>
          </p:cNvPr>
          <p:cNvSpPr txBox="1"/>
          <p:nvPr/>
        </p:nvSpPr>
        <p:spPr>
          <a:xfrm>
            <a:off x="400974" y="554803"/>
            <a:ext cx="3770051" cy="1694566"/>
          </a:xfrm>
          <a:prstGeom prst="rect">
            <a:avLst/>
          </a:prstGeom>
          <a:noFill/>
        </p:spPr>
        <p:txBody>
          <a:bodyPr wrap="square">
            <a:spAutoFit/>
          </a:bodyPr>
          <a:lstStyle/>
          <a:p>
            <a:pPr marL="0" marR="0" algn="just">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A Third-Class Medical Certificate was issued to a 19-year-old pilot on August 10, this year. To exercise the privileges of a Recreational or Private Pilot Certificate, the medical certificate is good until midnight on _______________. </a:t>
            </a:r>
          </a:p>
          <a:p>
            <a:pPr marL="0" marR="0" algn="ctr">
              <a:lnSpc>
                <a:spcPct val="107000"/>
              </a:lnSpc>
              <a:spcBef>
                <a:spcPts val="0"/>
              </a:spcBef>
              <a:spcAft>
                <a:spcPts val="0"/>
              </a:spcAft>
            </a:pP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ctr">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61.23(c)</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CC5DD269-A7E3-C250-572D-8D837FE99018}"/>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E88E3788-0FF4-8A70-7252-4489E4A37DF7}"/>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
        <p:nvSpPr>
          <p:cNvPr id="7" name="TextBox 6">
            <a:extLst>
              <a:ext uri="{FF2B5EF4-FFF2-40B4-BE49-F238E27FC236}">
                <a16:creationId xmlns:a16="http://schemas.microsoft.com/office/drawing/2014/main" id="{5E582596-2C0B-27D5-A214-25368B1E91FC}"/>
              </a:ext>
            </a:extLst>
          </p:cNvPr>
          <p:cNvSpPr txBox="1"/>
          <p:nvPr/>
        </p:nvSpPr>
        <p:spPr>
          <a:xfrm>
            <a:off x="44450" y="5715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Tree>
    <p:extLst>
      <p:ext uri="{BB962C8B-B14F-4D97-AF65-F5344CB8AC3E}">
        <p14:creationId xmlns:p14="http://schemas.microsoft.com/office/powerpoint/2010/main" val="35022600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58E989-3D7A-8617-D9D5-0650E810037C}"/>
              </a:ext>
            </a:extLst>
          </p:cNvPr>
          <p:cNvSpPr txBox="1"/>
          <p:nvPr/>
        </p:nvSpPr>
        <p:spPr>
          <a:xfrm>
            <a:off x="1107359" y="1215852"/>
            <a:ext cx="2357282" cy="311496"/>
          </a:xfrm>
          <a:prstGeom prst="rect">
            <a:avLst/>
          </a:prstGeom>
          <a:noFill/>
        </p:spPr>
        <p:txBody>
          <a:bodyPr wrap="square">
            <a:spAutoFit/>
          </a:bodyPr>
          <a:lstStyle/>
          <a:p>
            <a:pPr marL="114300" marR="0" algn="ctr">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August 31, 5 years later.</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BA73B332-19F2-5A7E-72B2-1C7302D1B7B5}"/>
              </a:ext>
            </a:extLst>
          </p:cNvPr>
          <p:cNvSpPr txBox="1"/>
          <p:nvPr/>
        </p:nvSpPr>
        <p:spPr>
          <a:xfrm>
            <a:off x="44450" y="5715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Tree>
    <p:extLst>
      <p:ext uri="{BB962C8B-B14F-4D97-AF65-F5344CB8AC3E}">
        <p14:creationId xmlns:p14="http://schemas.microsoft.com/office/powerpoint/2010/main" val="6393400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D6DE195-631D-5F98-EDC0-D9FB62C17C14}"/>
              </a:ext>
            </a:extLst>
          </p:cNvPr>
          <p:cNvSpPr txBox="1"/>
          <p:nvPr/>
        </p:nvSpPr>
        <p:spPr>
          <a:xfrm>
            <a:off x="751685" y="900571"/>
            <a:ext cx="3068629" cy="772519"/>
          </a:xfrm>
          <a:prstGeom prst="rect">
            <a:avLst/>
          </a:prstGeom>
          <a:noFill/>
        </p:spPr>
        <p:txBody>
          <a:bodyPr wrap="square">
            <a:spAutoFit/>
          </a:bodyPr>
          <a:lstStyle/>
          <a:p>
            <a:pPr marL="0" marR="0" algn="just">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How do you keep your private pilot certificate current?</a:t>
            </a:r>
          </a:p>
          <a:p>
            <a:pPr marL="0" marR="0" algn="ctr">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61.56</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CFC3B78D-F7FA-8624-DCEB-D64320ED513E}"/>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1322ACF4-C72A-7E76-97E1-FF4A8482113B}"/>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
        <p:nvSpPr>
          <p:cNvPr id="7" name="TextBox 6">
            <a:extLst>
              <a:ext uri="{FF2B5EF4-FFF2-40B4-BE49-F238E27FC236}">
                <a16:creationId xmlns:a16="http://schemas.microsoft.com/office/drawing/2014/main" id="{37933080-7F0D-4A79-7DD8-0B76DE068CEE}"/>
              </a:ext>
            </a:extLst>
          </p:cNvPr>
          <p:cNvSpPr txBox="1"/>
          <p:nvPr/>
        </p:nvSpPr>
        <p:spPr>
          <a:xfrm>
            <a:off x="44450" y="5715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Tree>
    <p:extLst>
      <p:ext uri="{BB962C8B-B14F-4D97-AF65-F5344CB8AC3E}">
        <p14:creationId xmlns:p14="http://schemas.microsoft.com/office/powerpoint/2010/main" val="19164189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40A778B-5B86-AEBD-8EA5-476F86966167}"/>
              </a:ext>
            </a:extLst>
          </p:cNvPr>
          <p:cNvSpPr txBox="1"/>
          <p:nvPr/>
        </p:nvSpPr>
        <p:spPr>
          <a:xfrm>
            <a:off x="678253" y="1215852"/>
            <a:ext cx="3215494" cy="311496"/>
          </a:xfrm>
          <a:prstGeom prst="rect">
            <a:avLst/>
          </a:prstGeom>
          <a:noFill/>
        </p:spPr>
        <p:txBody>
          <a:bodyPr wrap="square">
            <a:spAutoFit/>
          </a:bodyPr>
          <a:lstStyle/>
          <a:p>
            <a:pPr marL="0" marR="0" algn="ctr">
              <a:lnSpc>
                <a:spcPct val="107000"/>
              </a:lnSpc>
              <a:spcBef>
                <a:spcPts val="0"/>
              </a:spcBef>
              <a:spcAft>
                <a:spcPts val="0"/>
              </a:spcAft>
            </a:pPr>
            <a:r>
              <a:rPr lang="en-US" sz="1400" dirty="0">
                <a:latin typeface="Times New Roman" panose="02020603050405020304" pitchFamily="18" charset="0"/>
                <a:ea typeface="Times New Roman" panose="02020603050405020304" pitchFamily="18" charset="0"/>
                <a:cs typeface="Times New Roman" panose="02020603050405020304" pitchFamily="18" charset="0"/>
              </a:rPr>
              <a:t>Perform a f</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light review every 24 months.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55F277F7-4E80-B62A-2963-38B5F5D4C754}"/>
              </a:ext>
            </a:extLst>
          </p:cNvPr>
          <p:cNvSpPr txBox="1"/>
          <p:nvPr/>
        </p:nvSpPr>
        <p:spPr>
          <a:xfrm>
            <a:off x="44450" y="5715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Tree>
    <p:extLst>
      <p:ext uri="{BB962C8B-B14F-4D97-AF65-F5344CB8AC3E}">
        <p14:creationId xmlns:p14="http://schemas.microsoft.com/office/powerpoint/2010/main" val="18614718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7B726-B6E6-C189-2F13-B48E4E37242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9D0906D-53A6-069F-4DE9-7C8078CC0033}"/>
              </a:ext>
            </a:extLst>
          </p:cNvPr>
          <p:cNvSpPr txBox="1"/>
          <p:nvPr/>
        </p:nvSpPr>
        <p:spPr>
          <a:xfrm>
            <a:off x="751685" y="886284"/>
            <a:ext cx="2958303" cy="873124"/>
          </a:xfrm>
          <a:prstGeom prst="rect">
            <a:avLst/>
          </a:prstGeom>
          <a:noFill/>
        </p:spPr>
        <p:txBody>
          <a:bodyPr wrap="square">
            <a:spAutoFit/>
          </a:bodyPr>
          <a:lstStyle/>
          <a:p>
            <a:pPr marL="0" marR="0" algn="just">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What is the minimum training requirements for a valid flight review?</a:t>
            </a:r>
          </a:p>
          <a:p>
            <a:pPr marL="0" marR="0" algn="just">
              <a:lnSpc>
                <a:spcPct val="107000"/>
              </a:lnSpc>
              <a:spcBef>
                <a:spcPts val="0"/>
              </a:spcBef>
              <a:spcAft>
                <a:spcPts val="0"/>
              </a:spcAft>
            </a:pP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ctr">
              <a:lnSpc>
                <a:spcPct val="107000"/>
              </a:lnSpc>
              <a:spcBef>
                <a:spcPts val="0"/>
              </a:spcBef>
              <a:spcAft>
                <a:spcPts val="0"/>
              </a:spcAft>
            </a:pPr>
            <a:r>
              <a:rPr lang="en-US" sz="1200" dirty="0">
                <a:latin typeface="Times New Roman" panose="02020603050405020304" pitchFamily="18" charset="0"/>
                <a:ea typeface="Calibri" panose="020F0502020204030204" pitchFamily="34" charset="0"/>
                <a:cs typeface="Times New Roman" panose="02020603050405020304" pitchFamily="18" charset="0"/>
              </a:rPr>
              <a:t>Part 61.56</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EA500E2F-3619-7596-6351-24C7AF093C7D}"/>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03806797-20E0-37A9-C4CC-E72C80F276E1}"/>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
        <p:nvSpPr>
          <p:cNvPr id="7" name="TextBox 6">
            <a:extLst>
              <a:ext uri="{FF2B5EF4-FFF2-40B4-BE49-F238E27FC236}">
                <a16:creationId xmlns:a16="http://schemas.microsoft.com/office/drawing/2014/main" id="{20064B9F-1B2C-9B66-82E4-BEFD6DE0EF62}"/>
              </a:ext>
            </a:extLst>
          </p:cNvPr>
          <p:cNvSpPr txBox="1"/>
          <p:nvPr/>
        </p:nvSpPr>
        <p:spPr>
          <a:xfrm>
            <a:off x="44450" y="5715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Tree>
    <p:extLst>
      <p:ext uri="{BB962C8B-B14F-4D97-AF65-F5344CB8AC3E}">
        <p14:creationId xmlns:p14="http://schemas.microsoft.com/office/powerpoint/2010/main" val="13482829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3A389-ADF0-7714-341B-5A0D759FE0C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21429D7-F921-B474-19A7-84E961716359}"/>
              </a:ext>
            </a:extLst>
          </p:cNvPr>
          <p:cNvSpPr txBox="1"/>
          <p:nvPr/>
        </p:nvSpPr>
        <p:spPr>
          <a:xfrm>
            <a:off x="472476" y="625302"/>
            <a:ext cx="3627047" cy="1401474"/>
          </a:xfrm>
          <a:prstGeom prst="rect">
            <a:avLst/>
          </a:prstGeom>
          <a:noFill/>
        </p:spPr>
        <p:txBody>
          <a:bodyPr wrap="square">
            <a:spAutoFit/>
          </a:bodyPr>
          <a:lstStyle/>
          <a:p>
            <a:pPr marL="171450" indent="-171450">
              <a:lnSpc>
                <a:spcPct val="107000"/>
              </a:lnSpc>
              <a:buFont typeface="Arial" panose="020B0604020202020204" pitchFamily="34" charset="0"/>
              <a:buChar char="•"/>
            </a:pPr>
            <a:r>
              <a:rPr lang="en-US" sz="1000" dirty="0">
                <a:latin typeface="Times New Roman" panose="02020603050405020304" pitchFamily="18" charset="0"/>
                <a:ea typeface="Times New Roman" panose="02020603050405020304" pitchFamily="18" charset="0"/>
                <a:cs typeface="Times New Roman" panose="02020603050405020304" pitchFamily="18" charset="0"/>
              </a:rPr>
              <a:t>At least 1 hour of ground instruction.</a:t>
            </a:r>
          </a:p>
          <a:p>
            <a:pPr marL="171450" indent="-171450">
              <a:lnSpc>
                <a:spcPct val="107000"/>
              </a:lnSpc>
              <a:buFont typeface="Arial" panose="020B0604020202020204" pitchFamily="34" charset="0"/>
              <a:buChar char="•"/>
            </a:pPr>
            <a:r>
              <a:rPr lang="en-US" sz="1000" dirty="0">
                <a:latin typeface="Times New Roman" panose="02020603050405020304" pitchFamily="18" charset="0"/>
                <a:ea typeface="Times New Roman" panose="02020603050405020304" pitchFamily="18" charset="0"/>
                <a:cs typeface="Times New Roman" panose="02020603050405020304" pitchFamily="18" charset="0"/>
              </a:rPr>
              <a:t>At least 1 hour of flight instruction.</a:t>
            </a:r>
          </a:p>
          <a:p>
            <a:pPr marL="171450" indent="-171450">
              <a:lnSpc>
                <a:spcPct val="107000"/>
              </a:lnSpc>
              <a:buFont typeface="Arial" panose="020B0604020202020204" pitchFamily="34" charset="0"/>
              <a:buChar char="•"/>
            </a:pPr>
            <a:r>
              <a:rPr lang="en-US" sz="1000" dirty="0">
                <a:latin typeface="Times New Roman" panose="02020603050405020304" pitchFamily="18" charset="0"/>
                <a:ea typeface="Times New Roman" panose="02020603050405020304" pitchFamily="18" charset="0"/>
                <a:cs typeface="Times New Roman" panose="02020603050405020304" pitchFamily="18" charset="0"/>
              </a:rPr>
              <a:t>Conducted by an authorized instructor.</a:t>
            </a:r>
          </a:p>
          <a:p>
            <a:pPr marL="171450" indent="-171450">
              <a:lnSpc>
                <a:spcPct val="107000"/>
              </a:lnSpc>
              <a:buFont typeface="Arial" panose="020B0604020202020204" pitchFamily="34" charset="0"/>
              <a:buChar char="•"/>
            </a:pPr>
            <a:r>
              <a:rPr lang="en-US" sz="1000" dirty="0">
                <a:latin typeface="Times New Roman" panose="02020603050405020304" pitchFamily="18" charset="0"/>
                <a:ea typeface="Times New Roman" panose="02020603050405020304" pitchFamily="18" charset="0"/>
                <a:cs typeface="Times New Roman" panose="02020603050405020304" pitchFamily="18" charset="0"/>
              </a:rPr>
              <a:t>Reviewing the current general operating and flight rules (Part 91) and a flight portion sufficient to demonstrate safe operation of the aircraft.</a:t>
            </a:r>
          </a:p>
          <a:p>
            <a:pPr marL="171450" indent="-171450">
              <a:lnSpc>
                <a:spcPct val="107000"/>
              </a:lnSpc>
              <a:buFont typeface="Arial" panose="020B0604020202020204" pitchFamily="34" charset="0"/>
              <a:buChar char="•"/>
            </a:pPr>
            <a:r>
              <a:rPr lang="en-US" sz="1000" dirty="0">
                <a:latin typeface="Times New Roman" panose="02020603050405020304" pitchFamily="18" charset="0"/>
                <a:ea typeface="Times New Roman" panose="02020603050405020304" pitchFamily="18" charset="0"/>
                <a:cs typeface="Times New Roman" panose="02020603050405020304" pitchFamily="18" charset="0"/>
              </a:rPr>
              <a:t>A logbook endorsement from the instructor is required to show satisfactory completion.</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F7A4F819-7EA3-D331-1AE3-8EB4CCA69FFD}"/>
              </a:ext>
            </a:extLst>
          </p:cNvPr>
          <p:cNvSpPr txBox="1"/>
          <p:nvPr/>
        </p:nvSpPr>
        <p:spPr>
          <a:xfrm>
            <a:off x="44450" y="5715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Tree>
    <p:extLst>
      <p:ext uri="{BB962C8B-B14F-4D97-AF65-F5344CB8AC3E}">
        <p14:creationId xmlns:p14="http://schemas.microsoft.com/office/powerpoint/2010/main" val="26358845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DB41CBD-BDCB-CF48-B9F1-446F2943E497}"/>
              </a:ext>
            </a:extLst>
          </p:cNvPr>
          <p:cNvSpPr txBox="1"/>
          <p:nvPr/>
        </p:nvSpPr>
        <p:spPr>
          <a:xfrm>
            <a:off x="483436" y="859761"/>
            <a:ext cx="3605127" cy="768415"/>
          </a:xfrm>
          <a:prstGeom prst="rect">
            <a:avLst/>
          </a:prstGeom>
          <a:noFill/>
        </p:spPr>
        <p:txBody>
          <a:bodyPr wrap="square">
            <a:spAutoFit/>
          </a:bodyPr>
          <a:lstStyle/>
          <a:p>
            <a:pPr marL="0" marR="0" algn="just">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What are your privileges and limitations as a private pilot?</a:t>
            </a:r>
          </a:p>
          <a:p>
            <a:pPr marL="0" marR="0" algn="ctr">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61.113, 91.146</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3E5E47C-CBF6-6C03-DC8A-7AADA98A7FE2}"/>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7C235B14-95C8-75B6-6C88-7D64E2E5BDFE}"/>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
        <p:nvSpPr>
          <p:cNvPr id="8" name="TextBox 7">
            <a:extLst>
              <a:ext uri="{FF2B5EF4-FFF2-40B4-BE49-F238E27FC236}">
                <a16:creationId xmlns:a16="http://schemas.microsoft.com/office/drawing/2014/main" id="{1008B7A1-1484-A3FC-FCFA-289A349CC80D}"/>
              </a:ext>
            </a:extLst>
          </p:cNvPr>
          <p:cNvSpPr txBox="1"/>
          <p:nvPr/>
        </p:nvSpPr>
        <p:spPr>
          <a:xfrm>
            <a:off x="44450" y="5715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Tree>
    <p:extLst>
      <p:ext uri="{BB962C8B-B14F-4D97-AF65-F5344CB8AC3E}">
        <p14:creationId xmlns:p14="http://schemas.microsoft.com/office/powerpoint/2010/main" val="11742986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15C1880-616B-F876-D7FE-CC8F41380A53}"/>
              </a:ext>
            </a:extLst>
          </p:cNvPr>
          <p:cNvSpPr txBox="1"/>
          <p:nvPr/>
        </p:nvSpPr>
        <p:spPr>
          <a:xfrm>
            <a:off x="244650" y="580497"/>
            <a:ext cx="4082700" cy="1264705"/>
          </a:xfrm>
          <a:prstGeom prst="rect">
            <a:avLst/>
          </a:prstGeom>
          <a:noFill/>
        </p:spPr>
        <p:txBody>
          <a:bodyPr wrap="square">
            <a:spAutoFit/>
          </a:bodyPr>
          <a:lstStyle/>
          <a:p>
            <a:pPr marL="0" marR="0" algn="just">
              <a:lnSpc>
                <a:spcPct val="107000"/>
              </a:lnSpc>
              <a:spcBef>
                <a:spcPts val="0"/>
              </a:spcBef>
              <a:spcAft>
                <a:spcPts val="0"/>
              </a:spcAft>
            </a:pPr>
            <a:r>
              <a:rPr lang="en-US" sz="12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Privileges: </a:t>
            </a:r>
            <a:r>
              <a:rPr lang="en-US"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Act as PIC and carry passengers; conduct search and rescue operations; fly for charitable, non-profit, or community event; act as an aircraft salesman if you have at least 200 hours.</a:t>
            </a:r>
          </a:p>
          <a:p>
            <a:pPr marL="0" marR="0" algn="just">
              <a:lnSpc>
                <a:spcPct val="107000"/>
              </a:lnSpc>
              <a:spcBef>
                <a:spcPts val="0"/>
              </a:spcBef>
              <a:spcAft>
                <a:spcPts val="0"/>
              </a:spcAft>
            </a:pP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Limitations: Cannot fly for hire or compensation.</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D87DDB6B-4D3F-D47C-D667-53D7AD62C7EC}"/>
              </a:ext>
            </a:extLst>
          </p:cNvPr>
          <p:cNvSpPr txBox="1"/>
          <p:nvPr/>
        </p:nvSpPr>
        <p:spPr>
          <a:xfrm>
            <a:off x="44450" y="5715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Tree>
    <p:extLst>
      <p:ext uri="{BB962C8B-B14F-4D97-AF65-F5344CB8AC3E}">
        <p14:creationId xmlns:p14="http://schemas.microsoft.com/office/powerpoint/2010/main" val="25993877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EE1246D-54B8-2DF7-96AA-B63E4BB47406}"/>
              </a:ext>
            </a:extLst>
          </p:cNvPr>
          <p:cNvSpPr txBox="1"/>
          <p:nvPr/>
        </p:nvSpPr>
        <p:spPr>
          <a:xfrm>
            <a:off x="394050" y="985340"/>
            <a:ext cx="3783899" cy="772519"/>
          </a:xfrm>
          <a:prstGeom prst="rect">
            <a:avLst/>
          </a:prstGeom>
          <a:noFill/>
        </p:spPr>
        <p:txBody>
          <a:bodyPr wrap="square">
            <a:spAutoFit/>
          </a:bodyPr>
          <a:lstStyle/>
          <a:p>
            <a:pPr marL="0" marR="0" algn="just">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What are your pilot currency requirements if you want to carry passengers?</a:t>
            </a:r>
          </a:p>
          <a:p>
            <a:pPr marL="0" marR="0" algn="ctr">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61.57(a)</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F2061B94-5CD2-1660-CF51-A600AF084723}"/>
              </a:ext>
            </a:extLst>
          </p:cNvPr>
          <p:cNvSpPr txBox="1"/>
          <p:nvPr/>
        </p:nvSpPr>
        <p:spPr>
          <a:xfrm>
            <a:off x="44450" y="5715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2" name="Rectangle 1">
            <a:extLst>
              <a:ext uri="{FF2B5EF4-FFF2-40B4-BE49-F238E27FC236}">
                <a16:creationId xmlns:a16="http://schemas.microsoft.com/office/drawing/2014/main" id="{38D567D1-0F93-6B3E-4EC8-ECC7E7AF2916}"/>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B0D59F36-AF56-F271-D313-277448AAE0DE}"/>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25707927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A5D88F5-7ADB-7E25-B8AD-5E8454A96688}"/>
              </a:ext>
            </a:extLst>
          </p:cNvPr>
          <p:cNvSpPr txBox="1"/>
          <p:nvPr/>
        </p:nvSpPr>
        <p:spPr>
          <a:xfrm>
            <a:off x="571813" y="870084"/>
            <a:ext cx="3428373" cy="1003031"/>
          </a:xfrm>
          <a:prstGeom prst="rect">
            <a:avLst/>
          </a:prstGeom>
          <a:noFill/>
        </p:spPr>
        <p:txBody>
          <a:bodyPr wrap="square">
            <a:spAutoFit/>
          </a:bodyPr>
          <a:lstStyle/>
          <a:p>
            <a:pPr marL="0" marR="0" algn="just">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Three takeoffs and landings within the preceding 90 days in same category, class, and type if required. Night currency requires the landings be to a full stop.</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F4FDED69-D265-BBCC-0E0E-518DBD1BF597}"/>
              </a:ext>
            </a:extLst>
          </p:cNvPr>
          <p:cNvSpPr txBox="1"/>
          <p:nvPr/>
        </p:nvSpPr>
        <p:spPr>
          <a:xfrm>
            <a:off x="44450" y="5715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Tree>
    <p:extLst>
      <p:ext uri="{BB962C8B-B14F-4D97-AF65-F5344CB8AC3E}">
        <p14:creationId xmlns:p14="http://schemas.microsoft.com/office/powerpoint/2010/main" val="3773640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87FE23E-B91D-2450-8A3E-4B65D6280360}"/>
              </a:ext>
            </a:extLst>
          </p:cNvPr>
          <p:cNvSpPr txBox="1"/>
          <p:nvPr/>
        </p:nvSpPr>
        <p:spPr>
          <a:xfrm>
            <a:off x="338138" y="1100596"/>
            <a:ext cx="3895724" cy="542008"/>
          </a:xfrm>
          <a:prstGeom prst="rect">
            <a:avLst/>
          </a:prstGeom>
          <a:noFill/>
        </p:spPr>
        <p:txBody>
          <a:bodyPr wrap="square">
            <a:spAutoFit/>
          </a:bodyPr>
          <a:lstStyle/>
          <a:p>
            <a:pPr marL="0" marR="0" algn="ctr">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When can you log night time?</a:t>
            </a:r>
          </a:p>
          <a:p>
            <a:pPr marL="0" marR="0" algn="ctr">
              <a:lnSpc>
                <a:spcPct val="107000"/>
              </a:lnSpc>
              <a:spcBef>
                <a:spcPts val="0"/>
              </a:spcBef>
              <a:spcAft>
                <a:spcPts val="0"/>
              </a:spcAft>
            </a:pPr>
            <a:r>
              <a:rPr lang="en-US" sz="1400" dirty="0">
                <a:latin typeface="Times New Roman" panose="02020603050405020304" pitchFamily="18" charset="0"/>
                <a:ea typeface="Times New Roman" panose="02020603050405020304" pitchFamily="18" charset="0"/>
                <a:cs typeface="Times New Roman" panose="02020603050405020304" pitchFamily="18" charset="0"/>
              </a:rPr>
              <a:t>14 CFR 1.1</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5664CD3E-3B61-A3E6-AB5F-456BE7EB1CC2}"/>
              </a:ext>
            </a:extLst>
          </p:cNvPr>
          <p:cNvSpPr txBox="1"/>
          <p:nvPr/>
        </p:nvSpPr>
        <p:spPr>
          <a:xfrm>
            <a:off x="44450" y="5715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2" name="Rectangle 1">
            <a:extLst>
              <a:ext uri="{FF2B5EF4-FFF2-40B4-BE49-F238E27FC236}">
                <a16:creationId xmlns:a16="http://schemas.microsoft.com/office/drawing/2014/main" id="{A9D0C13D-E9ED-0B9F-8EBF-9663883B2CD1}"/>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8A612F8A-0280-62B5-D39B-6C6BDEECB548}"/>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16131817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2874EB0-4632-7A7A-ECEA-2DF7E1B6D077}"/>
              </a:ext>
            </a:extLst>
          </p:cNvPr>
          <p:cNvSpPr txBox="1"/>
          <p:nvPr/>
        </p:nvSpPr>
        <p:spPr>
          <a:xfrm>
            <a:off x="311944" y="806417"/>
            <a:ext cx="3948112" cy="1264705"/>
          </a:xfrm>
          <a:prstGeom prst="rect">
            <a:avLst/>
          </a:prstGeom>
          <a:noFill/>
        </p:spPr>
        <p:txBody>
          <a:bodyPr wrap="square">
            <a:spAutoFit/>
          </a:bodyPr>
          <a:lstStyle/>
          <a:p>
            <a:pPr algn="just">
              <a:lnSpc>
                <a:spcPct val="107000"/>
              </a:lnSpc>
            </a:pPr>
            <a:r>
              <a:rPr lang="en-US" sz="1200" dirty="0">
                <a:latin typeface="Times New Roman" panose="02020603050405020304" pitchFamily="18" charset="0"/>
                <a:ea typeface="Times New Roman" panose="02020603050405020304" pitchFamily="18" charset="0"/>
                <a:cs typeface="Times New Roman" panose="02020603050405020304" pitchFamily="18" charset="0"/>
              </a:rPr>
              <a:t>You can log night time beginning at the end of evening civil twilight and ending at the beginning of morning civil twilight, as published in the Air Almanac and on official sources such as NOAA’s sunrise/sunset tables.</a:t>
            </a:r>
          </a:p>
          <a:p>
            <a:pPr algn="just">
              <a:lnSpc>
                <a:spcPct val="107000"/>
              </a:lnSpc>
            </a:pP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pPr>
            <a:r>
              <a:rPr lang="en-US" sz="1200" dirty="0">
                <a:latin typeface="Times New Roman" panose="02020603050405020304" pitchFamily="18" charset="0"/>
                <a:ea typeface="Calibri" panose="020F0502020204030204" pitchFamily="34" charset="0"/>
                <a:cs typeface="Times New Roman" panose="02020603050405020304" pitchFamily="18" charset="0"/>
              </a:rPr>
              <a:t>NOAA: National Oceanic and Atmospheric Administration</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D38ADD33-A851-CDCA-3677-F29A769B11C5}"/>
              </a:ext>
            </a:extLst>
          </p:cNvPr>
          <p:cNvSpPr txBox="1"/>
          <p:nvPr/>
        </p:nvSpPr>
        <p:spPr>
          <a:xfrm>
            <a:off x="44450" y="5715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Tree>
    <p:extLst>
      <p:ext uri="{BB962C8B-B14F-4D97-AF65-F5344CB8AC3E}">
        <p14:creationId xmlns:p14="http://schemas.microsoft.com/office/powerpoint/2010/main" val="16231493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7BEE4E0-A0B9-27F6-6703-518A82D359F4}"/>
              </a:ext>
            </a:extLst>
          </p:cNvPr>
          <p:cNvSpPr txBox="1"/>
          <p:nvPr/>
        </p:nvSpPr>
        <p:spPr>
          <a:xfrm>
            <a:off x="437267" y="914859"/>
            <a:ext cx="3697466" cy="772519"/>
          </a:xfrm>
          <a:prstGeom prst="rect">
            <a:avLst/>
          </a:prstGeom>
          <a:noFill/>
        </p:spPr>
        <p:txBody>
          <a:bodyPr wrap="square">
            <a:spAutoFit/>
          </a:bodyPr>
          <a:lstStyle/>
          <a:p>
            <a:pPr marL="0" marR="0" algn="just">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You want to test your ELT? At what </a:t>
            </a:r>
            <a:r>
              <a:rPr lang="en-US" sz="1400" dirty="0">
                <a:latin typeface="Times New Roman" panose="02020603050405020304" pitchFamily="18" charset="0"/>
                <a:ea typeface="Times New Roman" panose="02020603050405020304" pitchFamily="18" charset="0"/>
                <a:cs typeface="Times New Roman" panose="02020603050405020304" pitchFamily="18" charset="0"/>
              </a:rPr>
              <a:t>time should you test it?</a:t>
            </a:r>
          </a:p>
          <a:p>
            <a:pPr marL="0" marR="0" algn="ctr">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AIM 6-2-4</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596C5225-46A6-8E07-488D-EE78EA36204E}"/>
              </a:ext>
            </a:extLst>
          </p:cNvPr>
          <p:cNvSpPr txBox="1"/>
          <p:nvPr/>
        </p:nvSpPr>
        <p:spPr>
          <a:xfrm>
            <a:off x="44450" y="5715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2" name="Rectangle 1">
            <a:extLst>
              <a:ext uri="{FF2B5EF4-FFF2-40B4-BE49-F238E27FC236}">
                <a16:creationId xmlns:a16="http://schemas.microsoft.com/office/drawing/2014/main" id="{75E2F5CC-0B72-6868-9C3A-54079D5E5E4E}"/>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67870B64-4337-FB3E-C7AE-49B678FAF099}"/>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13717738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0B09693-A53C-8707-62DB-6A51F95E5977}"/>
              </a:ext>
            </a:extLst>
          </p:cNvPr>
          <p:cNvSpPr txBox="1"/>
          <p:nvPr/>
        </p:nvSpPr>
        <p:spPr>
          <a:xfrm>
            <a:off x="512762" y="1215852"/>
            <a:ext cx="3546476" cy="311496"/>
          </a:xfrm>
          <a:prstGeom prst="rect">
            <a:avLst/>
          </a:prstGeom>
          <a:noFill/>
        </p:spPr>
        <p:txBody>
          <a:bodyPr wrap="square">
            <a:spAutoFit/>
          </a:bodyPr>
          <a:lstStyle/>
          <a:p>
            <a:pPr marL="0" marR="0" algn="ctr">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Within the first five minutes after every hour.</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9683F5E4-3475-BCD5-6C3F-D7EB8837D8E8}"/>
              </a:ext>
            </a:extLst>
          </p:cNvPr>
          <p:cNvSpPr txBox="1"/>
          <p:nvPr/>
        </p:nvSpPr>
        <p:spPr>
          <a:xfrm>
            <a:off x="44450" y="5715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Tree>
    <p:extLst>
      <p:ext uri="{BB962C8B-B14F-4D97-AF65-F5344CB8AC3E}">
        <p14:creationId xmlns:p14="http://schemas.microsoft.com/office/powerpoint/2010/main" val="4872426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2874EB0-4632-7A7A-ECEA-2DF7E1B6D077}"/>
              </a:ext>
            </a:extLst>
          </p:cNvPr>
          <p:cNvSpPr txBox="1"/>
          <p:nvPr/>
        </p:nvSpPr>
        <p:spPr>
          <a:xfrm>
            <a:off x="611273" y="960896"/>
            <a:ext cx="3349454" cy="772519"/>
          </a:xfrm>
          <a:prstGeom prst="rect">
            <a:avLst/>
          </a:prstGeom>
          <a:noFill/>
        </p:spPr>
        <p:txBody>
          <a:bodyPr wrap="square">
            <a:spAutoFit/>
          </a:bodyPr>
          <a:lstStyle/>
          <a:p>
            <a:pPr marL="0" marR="0" algn="just">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What is the formal definition of evening civil twilight and morning civil twilight</a:t>
            </a:r>
            <a:r>
              <a:rPr lang="en-US" sz="1400" dirty="0">
                <a:latin typeface="Times New Roman" panose="02020603050405020304" pitchFamily="18" charset="0"/>
                <a:ea typeface="Times New Roman" panose="02020603050405020304" pitchFamily="18" charset="0"/>
                <a:cs typeface="Times New Roman" panose="02020603050405020304" pitchFamily="18" charset="0"/>
              </a:rPr>
              <a:t>?</a:t>
            </a:r>
          </a:p>
          <a:p>
            <a:pPr marL="0" marR="0" algn="ctr">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AFH Chapter 10</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D38ADD33-A851-CDCA-3677-F29A769B11C5}"/>
              </a:ext>
            </a:extLst>
          </p:cNvPr>
          <p:cNvSpPr txBox="1"/>
          <p:nvPr/>
        </p:nvSpPr>
        <p:spPr>
          <a:xfrm>
            <a:off x="44450" y="5715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2" name="Rectangle 1">
            <a:extLst>
              <a:ext uri="{FF2B5EF4-FFF2-40B4-BE49-F238E27FC236}">
                <a16:creationId xmlns:a16="http://schemas.microsoft.com/office/drawing/2014/main" id="{8E7A9DD7-C833-5A14-97CB-7DBA94FD258F}"/>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C5F8EAD4-A239-3DC8-C7C3-E7B4FC63C31A}"/>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23332544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38ADD33-A851-CDCA-3677-F29A769B11C5}"/>
              </a:ext>
            </a:extLst>
          </p:cNvPr>
          <p:cNvSpPr txBox="1"/>
          <p:nvPr/>
        </p:nvSpPr>
        <p:spPr>
          <a:xfrm>
            <a:off x="44450" y="5715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5" name="TextBox 4">
            <a:extLst>
              <a:ext uri="{FF2B5EF4-FFF2-40B4-BE49-F238E27FC236}">
                <a16:creationId xmlns:a16="http://schemas.microsoft.com/office/drawing/2014/main" id="{F1867B50-391F-1DD2-CB06-0A36DE0C8332}"/>
              </a:ext>
            </a:extLst>
          </p:cNvPr>
          <p:cNvSpPr txBox="1"/>
          <p:nvPr/>
        </p:nvSpPr>
        <p:spPr>
          <a:xfrm>
            <a:off x="266700" y="420112"/>
            <a:ext cx="2205038" cy="1954381"/>
          </a:xfrm>
          <a:prstGeom prst="rect">
            <a:avLst/>
          </a:prstGeom>
          <a:noFill/>
        </p:spPr>
        <p:txBody>
          <a:bodyPr wrap="square">
            <a:spAutoFit/>
          </a:bodyPr>
          <a:lstStyle/>
          <a:p>
            <a:pPr algn="just"/>
            <a:r>
              <a:rPr lang="en-US" sz="1100" dirty="0">
                <a:latin typeface="Times New Roman" panose="02020603050405020304" pitchFamily="18" charset="0"/>
                <a:cs typeface="Times New Roman" panose="02020603050405020304" pitchFamily="18" charset="0"/>
              </a:rPr>
              <a:t>Evening civil twilight begins at sunset and ends when the geometric center of the sun reaches 6° below the horizon. Morning civil twilight begins when the geometric center of the sun is 6° below the horizon and ends at sunrise. The actual number of minutes this occurs after sunset varies with the seasons and your latitude, but this chart is a rough estimate</a:t>
            </a:r>
          </a:p>
        </p:txBody>
      </p:sp>
      <p:sp>
        <p:nvSpPr>
          <p:cNvPr id="3" name="TextBox 2">
            <a:extLst>
              <a:ext uri="{FF2B5EF4-FFF2-40B4-BE49-F238E27FC236}">
                <a16:creationId xmlns:a16="http://schemas.microsoft.com/office/drawing/2014/main" id="{21FEEA62-F1D9-E007-DFAE-8423986E3810}"/>
              </a:ext>
            </a:extLst>
          </p:cNvPr>
          <p:cNvSpPr txBox="1"/>
          <p:nvPr/>
        </p:nvSpPr>
        <p:spPr>
          <a:xfrm>
            <a:off x="2366963" y="759894"/>
            <a:ext cx="2205037" cy="1223412"/>
          </a:xfrm>
          <a:prstGeom prst="rect">
            <a:avLst/>
          </a:prstGeom>
          <a:noFill/>
        </p:spPr>
        <p:txBody>
          <a:bodyPr wrap="square">
            <a:spAutoFit/>
          </a:bodyPr>
          <a:lstStyle/>
          <a:p>
            <a:pPr algn="ctr"/>
            <a:r>
              <a:rPr lang="en-US" sz="1050" dirty="0">
                <a:latin typeface="Times New Roman" panose="02020603050405020304" pitchFamily="18" charset="0"/>
                <a:cs typeface="Times New Roman" panose="02020603050405020304" pitchFamily="18" charset="0"/>
              </a:rPr>
              <a:t>Latitude and Length of evening/morning civil twilight</a:t>
            </a:r>
          </a:p>
          <a:p>
            <a:pPr algn="ctr"/>
            <a:r>
              <a:rPr lang="en-US" sz="1050" dirty="0">
                <a:latin typeface="Times New Roman" panose="02020603050405020304" pitchFamily="18" charset="0"/>
                <a:cs typeface="Times New Roman" panose="02020603050405020304" pitchFamily="18" charset="0"/>
              </a:rPr>
              <a:t>20° ≈ 25.5 min</a:t>
            </a:r>
          </a:p>
          <a:p>
            <a:pPr algn="ctr"/>
            <a:r>
              <a:rPr lang="en-US" sz="1050" dirty="0">
                <a:latin typeface="Times New Roman" panose="02020603050405020304" pitchFamily="18" charset="0"/>
                <a:cs typeface="Times New Roman" panose="02020603050405020304" pitchFamily="18" charset="0"/>
              </a:rPr>
              <a:t>30° ≈ 27.7 min</a:t>
            </a:r>
          </a:p>
          <a:p>
            <a:pPr algn="ctr"/>
            <a:r>
              <a:rPr lang="en-US" sz="1050" dirty="0">
                <a:latin typeface="Times New Roman" panose="02020603050405020304" pitchFamily="18" charset="0"/>
                <a:cs typeface="Times New Roman" panose="02020603050405020304" pitchFamily="18" charset="0"/>
              </a:rPr>
              <a:t>35° ≈ 29.3 min</a:t>
            </a:r>
          </a:p>
          <a:p>
            <a:pPr algn="ctr"/>
            <a:r>
              <a:rPr lang="en-US" sz="1050" dirty="0">
                <a:latin typeface="Times New Roman" panose="02020603050405020304" pitchFamily="18" charset="0"/>
                <a:cs typeface="Times New Roman" panose="02020603050405020304" pitchFamily="18" charset="0"/>
              </a:rPr>
              <a:t>40° ≈ 31.4 min</a:t>
            </a:r>
          </a:p>
          <a:p>
            <a:pPr algn="ctr"/>
            <a:r>
              <a:rPr lang="en-US" sz="1050" dirty="0">
                <a:latin typeface="Times New Roman" panose="02020603050405020304" pitchFamily="18" charset="0"/>
                <a:cs typeface="Times New Roman" panose="02020603050405020304" pitchFamily="18" charset="0"/>
              </a:rPr>
              <a:t>45° ≈ 34.0 min</a:t>
            </a:r>
          </a:p>
        </p:txBody>
      </p:sp>
    </p:spTree>
    <p:extLst>
      <p:ext uri="{BB962C8B-B14F-4D97-AF65-F5344CB8AC3E}">
        <p14:creationId xmlns:p14="http://schemas.microsoft.com/office/powerpoint/2010/main" val="27909465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0B1D487-578C-4E84-EBF9-866089217F9E}"/>
              </a:ext>
            </a:extLst>
          </p:cNvPr>
          <p:cNvSpPr txBox="1"/>
          <p:nvPr/>
        </p:nvSpPr>
        <p:spPr>
          <a:xfrm>
            <a:off x="336577" y="1100596"/>
            <a:ext cx="3898845" cy="542008"/>
          </a:xfrm>
          <a:prstGeom prst="rect">
            <a:avLst/>
          </a:prstGeom>
          <a:noFill/>
        </p:spPr>
        <p:txBody>
          <a:bodyPr wrap="square">
            <a:spAutoFit/>
          </a:bodyPr>
          <a:lstStyle/>
          <a:p>
            <a:pPr marL="0" marR="0" algn="ctr">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When can you log night landings?</a:t>
            </a:r>
          </a:p>
          <a:p>
            <a:pPr marL="0" marR="0" algn="ctr">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61.57(b)(1)</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BDAB9BF0-CA0D-6D2F-4173-E58B43A78BF9}"/>
              </a:ext>
            </a:extLst>
          </p:cNvPr>
          <p:cNvSpPr txBox="1"/>
          <p:nvPr/>
        </p:nvSpPr>
        <p:spPr>
          <a:xfrm>
            <a:off x="44450" y="5715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2" name="Rectangle 1">
            <a:extLst>
              <a:ext uri="{FF2B5EF4-FFF2-40B4-BE49-F238E27FC236}">
                <a16:creationId xmlns:a16="http://schemas.microsoft.com/office/drawing/2014/main" id="{9442FF97-A61E-75B5-D1EB-B976BA66D3B8}"/>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4653478A-1942-1396-4589-BAB6377AA1A5}"/>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37444307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ACB85B8-1CFE-20A6-1BC0-90DA91DCB7C2}"/>
              </a:ext>
            </a:extLst>
          </p:cNvPr>
          <p:cNvSpPr txBox="1"/>
          <p:nvPr/>
        </p:nvSpPr>
        <p:spPr>
          <a:xfrm>
            <a:off x="354326" y="1215852"/>
            <a:ext cx="3863348" cy="311496"/>
          </a:xfrm>
          <a:prstGeom prst="rect">
            <a:avLst/>
          </a:prstGeom>
          <a:noFill/>
        </p:spPr>
        <p:txBody>
          <a:bodyPr wrap="square">
            <a:spAutoFit/>
          </a:bodyPr>
          <a:lstStyle/>
          <a:p>
            <a:pPr marL="0" marR="0" algn="ctr">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One hour after sunset to one hour before sunrise.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ECF8F8DF-2D85-08D5-70FE-6B8A2C800B2D}"/>
              </a:ext>
            </a:extLst>
          </p:cNvPr>
          <p:cNvSpPr txBox="1"/>
          <p:nvPr/>
        </p:nvSpPr>
        <p:spPr>
          <a:xfrm>
            <a:off x="44450" y="5715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Tree>
    <p:extLst>
      <p:ext uri="{BB962C8B-B14F-4D97-AF65-F5344CB8AC3E}">
        <p14:creationId xmlns:p14="http://schemas.microsoft.com/office/powerpoint/2010/main" val="35242512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09BE4C6-AEB5-F36C-D669-EF419EDF6F30}"/>
              </a:ext>
            </a:extLst>
          </p:cNvPr>
          <p:cNvSpPr txBox="1"/>
          <p:nvPr/>
        </p:nvSpPr>
        <p:spPr>
          <a:xfrm>
            <a:off x="425031" y="872136"/>
            <a:ext cx="3721937" cy="1229439"/>
          </a:xfrm>
          <a:prstGeom prst="rect">
            <a:avLst/>
          </a:prstGeom>
          <a:noFill/>
        </p:spPr>
        <p:txBody>
          <a:bodyPr wrap="square">
            <a:spAutoFit/>
          </a:bodyPr>
          <a:lstStyle/>
          <a:p>
            <a:pPr marL="0" marR="0" algn="just">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You just earned your private pilot certificate yesterday. Today, your maintenance chief asked you to do a test flight on an aircraft he’s been working on. Can you do this?</a:t>
            </a:r>
          </a:p>
          <a:p>
            <a:pPr marL="0" marR="0" algn="ctr">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91.407(</a:t>
            </a:r>
            <a:r>
              <a:rPr lang="en-US" sz="1400" dirty="0">
                <a:latin typeface="Times New Roman" panose="02020603050405020304" pitchFamily="18" charset="0"/>
                <a:ea typeface="Times New Roman" panose="02020603050405020304" pitchFamily="18" charset="0"/>
                <a:cs typeface="Times New Roman" panose="02020603050405020304" pitchFamily="18" charset="0"/>
              </a:rPr>
              <a:t>b</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181AAAC3-DE55-2CEA-BC32-CB1CF6D3F07C}"/>
              </a:ext>
            </a:extLst>
          </p:cNvPr>
          <p:cNvSpPr txBox="1"/>
          <p:nvPr/>
        </p:nvSpPr>
        <p:spPr>
          <a:xfrm>
            <a:off x="44450" y="5715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2" name="Rectangle 1">
            <a:extLst>
              <a:ext uri="{FF2B5EF4-FFF2-40B4-BE49-F238E27FC236}">
                <a16:creationId xmlns:a16="http://schemas.microsoft.com/office/drawing/2014/main" id="{2FD76588-9644-63D5-937D-3B58E4BB8C33}"/>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6D871F0D-640E-A2B2-6440-52BDD3ADA36B}"/>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32929612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2E24BF4-1C15-662D-F8D5-65C2571E6C89}"/>
              </a:ext>
            </a:extLst>
          </p:cNvPr>
          <p:cNvSpPr txBox="1"/>
          <p:nvPr/>
        </p:nvSpPr>
        <p:spPr>
          <a:xfrm>
            <a:off x="2023833" y="1217904"/>
            <a:ext cx="524334" cy="307392"/>
          </a:xfrm>
          <a:prstGeom prst="rect">
            <a:avLst/>
          </a:prstGeom>
          <a:noFill/>
        </p:spPr>
        <p:txBody>
          <a:bodyPr wrap="square">
            <a:spAutoFit/>
          </a:bodyPr>
          <a:lstStyle/>
          <a:p>
            <a:pPr marL="0" marR="0" algn="ctr">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Yes.</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0669CFDE-F927-7DC6-635D-18B50AEA767A}"/>
              </a:ext>
            </a:extLst>
          </p:cNvPr>
          <p:cNvSpPr txBox="1"/>
          <p:nvPr/>
        </p:nvSpPr>
        <p:spPr>
          <a:xfrm>
            <a:off x="44450" y="5715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Tree>
    <p:extLst>
      <p:ext uri="{BB962C8B-B14F-4D97-AF65-F5344CB8AC3E}">
        <p14:creationId xmlns:p14="http://schemas.microsoft.com/office/powerpoint/2010/main" val="4593474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09BE4C6-AEB5-F36C-D669-EF419EDF6F30}"/>
              </a:ext>
            </a:extLst>
          </p:cNvPr>
          <p:cNvSpPr txBox="1"/>
          <p:nvPr/>
        </p:nvSpPr>
        <p:spPr>
          <a:xfrm>
            <a:off x="425031" y="1102648"/>
            <a:ext cx="3721937" cy="768415"/>
          </a:xfrm>
          <a:prstGeom prst="rect">
            <a:avLst/>
          </a:prstGeom>
          <a:noFill/>
        </p:spPr>
        <p:txBody>
          <a:bodyPr wrap="square">
            <a:spAutoFit/>
          </a:bodyPr>
          <a:lstStyle/>
          <a:p>
            <a:pPr marL="0" marR="0" algn="just">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Who is </a:t>
            </a:r>
            <a:r>
              <a:rPr lang="en-US" sz="1400" dirty="0">
                <a:latin typeface="Times New Roman" panose="02020603050405020304" pitchFamily="18" charset="0"/>
                <a:ea typeface="Times New Roman" panose="02020603050405020304" pitchFamily="18" charset="0"/>
                <a:cs typeface="Times New Roman" panose="02020603050405020304" pitchFamily="18" charset="0"/>
              </a:rPr>
              <a:t>primarily </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responsible for ensuring an aircraft is maintained in an airworthy condition?</a:t>
            </a:r>
          </a:p>
          <a:p>
            <a:pPr marL="0" marR="0" algn="ctr">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91.403(a)</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181AAAC3-DE55-2CEA-BC32-CB1CF6D3F07C}"/>
              </a:ext>
            </a:extLst>
          </p:cNvPr>
          <p:cNvSpPr txBox="1"/>
          <p:nvPr/>
        </p:nvSpPr>
        <p:spPr>
          <a:xfrm>
            <a:off x="44450" y="5715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2" name="Rectangle 1">
            <a:extLst>
              <a:ext uri="{FF2B5EF4-FFF2-40B4-BE49-F238E27FC236}">
                <a16:creationId xmlns:a16="http://schemas.microsoft.com/office/drawing/2014/main" id="{1D58705D-531C-E92B-7F45-AC751D374902}"/>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FD1E8C4F-2CA3-CC70-E98A-DAF31A552F0B}"/>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26874552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2E24BF4-1C15-662D-F8D5-65C2571E6C89}"/>
              </a:ext>
            </a:extLst>
          </p:cNvPr>
          <p:cNvSpPr txBox="1"/>
          <p:nvPr/>
        </p:nvSpPr>
        <p:spPr>
          <a:xfrm>
            <a:off x="374993" y="943984"/>
            <a:ext cx="3888674" cy="768415"/>
          </a:xfrm>
          <a:prstGeom prst="rect">
            <a:avLst/>
          </a:prstGeom>
          <a:noFill/>
        </p:spPr>
        <p:txBody>
          <a:bodyPr wrap="square">
            <a:spAutoFit/>
          </a:bodyPr>
          <a:lstStyle/>
          <a:p>
            <a:pPr marL="0" marR="0" algn="just">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The owner/operator of the aircraft is primarily responsible for maintaining the aircraft in an airworthy condition.</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0669CFDE-F927-7DC6-635D-18B50AEA767A}"/>
              </a:ext>
            </a:extLst>
          </p:cNvPr>
          <p:cNvSpPr txBox="1"/>
          <p:nvPr/>
        </p:nvSpPr>
        <p:spPr>
          <a:xfrm>
            <a:off x="44450" y="5715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Tree>
    <p:extLst>
      <p:ext uri="{BB962C8B-B14F-4D97-AF65-F5344CB8AC3E}">
        <p14:creationId xmlns:p14="http://schemas.microsoft.com/office/powerpoint/2010/main" val="141224425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21C6738-B892-1E30-682A-1F247749C3E6}"/>
              </a:ext>
            </a:extLst>
          </p:cNvPr>
          <p:cNvSpPr txBox="1"/>
          <p:nvPr/>
        </p:nvSpPr>
        <p:spPr>
          <a:xfrm>
            <a:off x="444021" y="639572"/>
            <a:ext cx="3683957" cy="1464055"/>
          </a:xfrm>
          <a:prstGeom prst="rect">
            <a:avLst/>
          </a:prstGeom>
          <a:noFill/>
        </p:spPr>
        <p:txBody>
          <a:bodyPr wrap="square">
            <a:spAutoFit/>
          </a:bodyPr>
          <a:lstStyle/>
          <a:p>
            <a:pPr marL="0" marR="0" algn="just">
              <a:lnSpc>
                <a:spcPct val="107000"/>
              </a:lnSpc>
              <a:spcBef>
                <a:spcPts val="0"/>
              </a:spcBef>
              <a:spcAft>
                <a:spcPts val="0"/>
              </a:spcAft>
            </a:pPr>
            <a:r>
              <a:rPr lang="en-US" sz="1400" dirty="0">
                <a:latin typeface="Times New Roman" panose="02020603050405020304" pitchFamily="18" charset="0"/>
                <a:ea typeface="Calibri" panose="020F0502020204030204" pitchFamily="34" charset="0"/>
                <a:cs typeface="Times New Roman" panose="02020603050405020304" pitchFamily="18" charset="0"/>
              </a:rPr>
              <a:t>At what altitude do you need to provide your passengers with supplemental oxygen?</a:t>
            </a:r>
          </a:p>
          <a:p>
            <a:pPr marL="0" marR="0" algn="just">
              <a:lnSpc>
                <a:spcPct val="107000"/>
              </a:lnSpc>
              <a:spcBef>
                <a:spcPts val="0"/>
              </a:spcBef>
              <a:spcAft>
                <a:spcPts val="0"/>
              </a:spcAft>
            </a:pPr>
            <a:endParaRPr lang="en-US" sz="1400" dirty="0">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7000"/>
              </a:lnSpc>
              <a:spcBef>
                <a:spcPts val="0"/>
              </a:spcBef>
              <a:spcAft>
                <a:spcPts val="0"/>
              </a:spcAft>
            </a:pPr>
            <a:r>
              <a:rPr lang="en-US" sz="1400" dirty="0">
                <a:latin typeface="Times New Roman" panose="02020603050405020304" pitchFamily="18" charset="0"/>
                <a:ea typeface="Calibri" panose="020F0502020204030204" pitchFamily="34" charset="0"/>
                <a:cs typeface="Times New Roman" panose="02020603050405020304" pitchFamily="18" charset="0"/>
              </a:rPr>
              <a:t>Are they required to use it?</a:t>
            </a:r>
          </a:p>
          <a:p>
            <a:pPr marL="0" marR="0" algn="just">
              <a:lnSpc>
                <a:spcPct val="107000"/>
              </a:lnSpc>
              <a:spcBef>
                <a:spcPts val="0"/>
              </a:spcBef>
              <a:spcAft>
                <a:spcPts val="0"/>
              </a:spcAft>
            </a:pPr>
            <a:endParaRPr lang="en-US" sz="1400" dirty="0">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7000"/>
              </a:lnSpc>
              <a:spcBef>
                <a:spcPts val="0"/>
              </a:spcBef>
              <a:spcAft>
                <a:spcPts val="0"/>
              </a:spcAft>
            </a:pPr>
            <a:r>
              <a:rPr lang="en-US" sz="1400" dirty="0">
                <a:latin typeface="Times New Roman" panose="02020603050405020304" pitchFamily="18" charset="0"/>
                <a:ea typeface="Calibri" panose="020F0502020204030204" pitchFamily="34" charset="0"/>
                <a:cs typeface="Times New Roman" panose="02020603050405020304" pitchFamily="18" charset="0"/>
              </a:rPr>
              <a:t>91.211(b)</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DE93D092-E453-DCFA-557E-2550689556CB}"/>
              </a:ext>
            </a:extLst>
          </p:cNvPr>
          <p:cNvSpPr txBox="1"/>
          <p:nvPr/>
        </p:nvSpPr>
        <p:spPr>
          <a:xfrm>
            <a:off x="44450" y="5715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2" name="Rectangle 1">
            <a:extLst>
              <a:ext uri="{FF2B5EF4-FFF2-40B4-BE49-F238E27FC236}">
                <a16:creationId xmlns:a16="http://schemas.microsoft.com/office/drawing/2014/main" id="{2EEA3FB5-B1C9-F636-0718-BC3A3B42B2E6}"/>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655F6BDE-BF2D-B6DE-B146-27F0D1271554}"/>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15736819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46A4B5D-6BAE-F0E4-284E-2042269B235A}"/>
              </a:ext>
            </a:extLst>
          </p:cNvPr>
          <p:cNvSpPr txBox="1"/>
          <p:nvPr/>
        </p:nvSpPr>
        <p:spPr>
          <a:xfrm>
            <a:off x="915193" y="745952"/>
            <a:ext cx="2741613" cy="1003031"/>
          </a:xfrm>
          <a:prstGeom prst="rect">
            <a:avLst/>
          </a:prstGeom>
          <a:noFill/>
        </p:spPr>
        <p:txBody>
          <a:bodyPr wrap="square">
            <a:spAutoFit/>
          </a:bodyPr>
          <a:lstStyle/>
          <a:p>
            <a:pPr marL="0" marR="0" algn="ctr">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15,000 MSL.</a:t>
            </a:r>
          </a:p>
          <a:p>
            <a:pPr marL="0" marR="0" algn="ctr">
              <a:lnSpc>
                <a:spcPct val="107000"/>
              </a:lnSpc>
              <a:spcBef>
                <a:spcPts val="0"/>
              </a:spcBef>
              <a:spcAft>
                <a:spcPts val="0"/>
              </a:spcAft>
            </a:pPr>
            <a:endParaRPr lang="en-US" sz="1400" dirty="0">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They are not required to use it…but it must be available for their use.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3456103D-FF4F-5A79-0BF9-FD1724CA5239}"/>
              </a:ext>
            </a:extLst>
          </p:cNvPr>
          <p:cNvSpPr txBox="1"/>
          <p:nvPr/>
        </p:nvSpPr>
        <p:spPr>
          <a:xfrm>
            <a:off x="44450" y="5715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Tree>
    <p:extLst>
      <p:ext uri="{BB962C8B-B14F-4D97-AF65-F5344CB8AC3E}">
        <p14:creationId xmlns:p14="http://schemas.microsoft.com/office/powerpoint/2010/main" val="16694184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21C6738-B892-1E30-682A-1F247749C3E6}"/>
              </a:ext>
            </a:extLst>
          </p:cNvPr>
          <p:cNvSpPr txBox="1"/>
          <p:nvPr/>
        </p:nvSpPr>
        <p:spPr>
          <a:xfrm>
            <a:off x="483648" y="1030257"/>
            <a:ext cx="3604703" cy="542008"/>
          </a:xfrm>
          <a:prstGeom prst="rect">
            <a:avLst/>
          </a:prstGeom>
          <a:noFill/>
        </p:spPr>
        <p:txBody>
          <a:bodyPr wrap="square">
            <a:spAutoFit/>
          </a:bodyPr>
          <a:lstStyle/>
          <a:p>
            <a:pPr marL="0" marR="0">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When does your private pilot certificate expire?</a:t>
            </a:r>
          </a:p>
          <a:p>
            <a:pPr marL="0" marR="0" algn="ctr">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61.19(c)</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DE93D092-E453-DCFA-557E-2550689556CB}"/>
              </a:ext>
            </a:extLst>
          </p:cNvPr>
          <p:cNvSpPr txBox="1"/>
          <p:nvPr/>
        </p:nvSpPr>
        <p:spPr>
          <a:xfrm>
            <a:off x="44450" y="5715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2" name="Rectangle 1">
            <a:extLst>
              <a:ext uri="{FF2B5EF4-FFF2-40B4-BE49-F238E27FC236}">
                <a16:creationId xmlns:a16="http://schemas.microsoft.com/office/drawing/2014/main" id="{848D8F59-0879-931E-8688-B7E8D0D5DA33}"/>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0DBBE187-6C1E-7043-ED2E-1978663BAA13}"/>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99966566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46A4B5D-6BAE-F0E4-284E-2042269B235A}"/>
              </a:ext>
            </a:extLst>
          </p:cNvPr>
          <p:cNvSpPr txBox="1"/>
          <p:nvPr/>
        </p:nvSpPr>
        <p:spPr>
          <a:xfrm>
            <a:off x="545703" y="1215852"/>
            <a:ext cx="3480593" cy="311496"/>
          </a:xfrm>
          <a:prstGeom prst="rect">
            <a:avLst/>
          </a:prstGeom>
          <a:noFill/>
        </p:spPr>
        <p:txBody>
          <a:bodyPr wrap="square">
            <a:spAutoFit/>
          </a:bodyPr>
          <a:lstStyle/>
          <a:p>
            <a:pPr algn="ctr">
              <a:lnSpc>
                <a:spcPct val="107000"/>
              </a:lnSpc>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Your </a:t>
            </a:r>
            <a:r>
              <a:rPr lang="en-US" sz="1400" dirty="0">
                <a:latin typeface="Times New Roman" panose="02020603050405020304" pitchFamily="18" charset="0"/>
                <a:ea typeface="Times New Roman" panose="02020603050405020304" pitchFamily="18" charset="0"/>
                <a:cs typeface="Times New Roman" panose="02020603050405020304" pitchFamily="18" charset="0"/>
              </a:rPr>
              <a:t>private pilot certificate</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 does not expire.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3456103D-FF4F-5A79-0BF9-FD1724CA5239}"/>
              </a:ext>
            </a:extLst>
          </p:cNvPr>
          <p:cNvSpPr txBox="1"/>
          <p:nvPr/>
        </p:nvSpPr>
        <p:spPr>
          <a:xfrm>
            <a:off x="44450" y="5715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Tree>
    <p:extLst>
      <p:ext uri="{BB962C8B-B14F-4D97-AF65-F5344CB8AC3E}">
        <p14:creationId xmlns:p14="http://schemas.microsoft.com/office/powerpoint/2010/main" val="132497997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8526D7D-6DB7-27AB-AC25-958EC9958CE6}"/>
              </a:ext>
            </a:extLst>
          </p:cNvPr>
          <p:cNvSpPr txBox="1"/>
          <p:nvPr/>
        </p:nvSpPr>
        <p:spPr>
          <a:xfrm>
            <a:off x="521493" y="987392"/>
            <a:ext cx="3529013" cy="768415"/>
          </a:xfrm>
          <a:prstGeom prst="rect">
            <a:avLst/>
          </a:prstGeom>
          <a:noFill/>
        </p:spPr>
        <p:txBody>
          <a:bodyPr wrap="square">
            <a:spAutoFit/>
          </a:bodyPr>
          <a:lstStyle/>
          <a:p>
            <a:pPr marL="0" marR="0" algn="just">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Provide two </a:t>
            </a:r>
            <a:r>
              <a:rPr lang="en-US" sz="1400" dirty="0">
                <a:latin typeface="Times New Roman" panose="02020603050405020304" pitchFamily="18" charset="0"/>
                <a:ea typeface="Times New Roman" panose="02020603050405020304" pitchFamily="18" charset="0"/>
                <a:cs typeface="Times New Roman" panose="02020603050405020304" pitchFamily="18" charset="0"/>
              </a:rPr>
              <a:t>cases where an ELT is not required</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a:t>
            </a:r>
          </a:p>
          <a:p>
            <a:pPr marL="0" marR="0" algn="ctr">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91.207</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A8A978B1-CF22-74F2-BE56-D73FF46B8A91}"/>
              </a:ext>
            </a:extLst>
          </p:cNvPr>
          <p:cNvSpPr txBox="1"/>
          <p:nvPr/>
        </p:nvSpPr>
        <p:spPr>
          <a:xfrm>
            <a:off x="44450" y="5715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2" name="Rectangle 1">
            <a:extLst>
              <a:ext uri="{FF2B5EF4-FFF2-40B4-BE49-F238E27FC236}">
                <a16:creationId xmlns:a16="http://schemas.microsoft.com/office/drawing/2014/main" id="{2F65DC87-E925-46FD-D32E-AFCC054CB9FA}"/>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9765B30C-EC2A-F62C-74F6-8727394FAE6E}"/>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380335441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CB0521C-0C86-1CB4-5ABF-1C8FB3C69B6F}"/>
              </a:ext>
            </a:extLst>
          </p:cNvPr>
          <p:cNvSpPr txBox="1"/>
          <p:nvPr/>
        </p:nvSpPr>
        <p:spPr>
          <a:xfrm>
            <a:off x="365521" y="876518"/>
            <a:ext cx="3840957" cy="1067087"/>
          </a:xfrm>
          <a:prstGeom prst="rect">
            <a:avLst/>
          </a:prstGeom>
          <a:noFill/>
        </p:spPr>
        <p:txBody>
          <a:bodyPr wrap="square">
            <a:spAutoFit/>
          </a:bodyPr>
          <a:lstStyle/>
          <a:p>
            <a:pPr marL="0" marR="0" algn="just">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When conducting training flights within 50 nm of the home airport.</a:t>
            </a:r>
          </a:p>
          <a:p>
            <a:pPr marL="0" marR="0" algn="just">
              <a:lnSpc>
                <a:spcPct val="107000"/>
              </a:lnSpc>
              <a:spcBef>
                <a:spcPts val="0"/>
              </a:spcBef>
              <a:spcAft>
                <a:spcPts val="0"/>
              </a:spcAft>
            </a:pP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An ELT is not required for aircraft designed to carry one person.</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3B819463-DA75-C210-13DB-F060E5B96595}"/>
              </a:ext>
            </a:extLst>
          </p:cNvPr>
          <p:cNvSpPr txBox="1"/>
          <p:nvPr/>
        </p:nvSpPr>
        <p:spPr>
          <a:xfrm>
            <a:off x="44450" y="5715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Tree>
    <p:extLst>
      <p:ext uri="{BB962C8B-B14F-4D97-AF65-F5344CB8AC3E}">
        <p14:creationId xmlns:p14="http://schemas.microsoft.com/office/powerpoint/2010/main" val="25637812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BA7236A-F7C6-4095-1890-E0A6EF0956F4}"/>
              </a:ext>
            </a:extLst>
          </p:cNvPr>
          <p:cNvSpPr txBox="1"/>
          <p:nvPr/>
        </p:nvSpPr>
        <p:spPr>
          <a:xfrm>
            <a:off x="560147" y="801198"/>
            <a:ext cx="3451706" cy="998928"/>
          </a:xfrm>
          <a:prstGeom prst="rect">
            <a:avLst/>
          </a:prstGeom>
          <a:noFill/>
        </p:spPr>
        <p:txBody>
          <a:bodyPr wrap="square">
            <a:spAutoFit/>
          </a:bodyPr>
          <a:lstStyle/>
          <a:p>
            <a:pPr marL="0" marR="0" algn="just">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When does an ELT battery have to be replaced or recharged?</a:t>
            </a:r>
          </a:p>
          <a:p>
            <a:pPr marL="0" marR="0" algn="just">
              <a:lnSpc>
                <a:spcPct val="107000"/>
              </a:lnSpc>
              <a:spcBef>
                <a:spcPts val="0"/>
              </a:spcBef>
              <a:spcAft>
                <a:spcPts val="0"/>
              </a:spcAft>
            </a:pP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ctr">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91.207</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32673CF6-08D7-E731-4C3D-27432E57C8BE}"/>
              </a:ext>
            </a:extLst>
          </p:cNvPr>
          <p:cNvSpPr txBox="1"/>
          <p:nvPr/>
        </p:nvSpPr>
        <p:spPr>
          <a:xfrm>
            <a:off x="44450" y="5715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3" name="Rectangle 2">
            <a:extLst>
              <a:ext uri="{FF2B5EF4-FFF2-40B4-BE49-F238E27FC236}">
                <a16:creationId xmlns:a16="http://schemas.microsoft.com/office/drawing/2014/main" id="{DAB7EA4F-D7DA-3FF6-1619-C1AE669771F1}"/>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9075BD29-5863-25C2-D99D-B444F20082C9}"/>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16225975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96DBF7E-6C28-901E-3F84-130EADF599C4}"/>
              </a:ext>
            </a:extLst>
          </p:cNvPr>
          <p:cNvSpPr txBox="1"/>
          <p:nvPr/>
        </p:nvSpPr>
        <p:spPr>
          <a:xfrm>
            <a:off x="508457" y="987392"/>
            <a:ext cx="3555085" cy="768415"/>
          </a:xfrm>
          <a:prstGeom prst="rect">
            <a:avLst/>
          </a:prstGeom>
          <a:noFill/>
        </p:spPr>
        <p:txBody>
          <a:bodyPr wrap="square">
            <a:spAutoFit/>
          </a:bodyPr>
          <a:lstStyle/>
          <a:p>
            <a:pPr marL="0" marR="0" algn="just">
              <a:lnSpc>
                <a:spcPct val="107000"/>
              </a:lnSpc>
              <a:spcBef>
                <a:spcPts val="0"/>
              </a:spcBef>
              <a:spcAft>
                <a:spcPts val="0"/>
              </a:spcAft>
            </a:pPr>
            <a:r>
              <a:rPr lang="en-US" sz="1400" dirty="0">
                <a:latin typeface="Times New Roman" panose="02020603050405020304" pitchFamily="18" charset="0"/>
                <a:ea typeface="Times New Roman" panose="02020603050405020304" pitchFamily="18" charset="0"/>
                <a:cs typeface="Times New Roman" panose="02020603050405020304" pitchFamily="18" charset="0"/>
              </a:rPr>
              <a:t>After one</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 hour of cumulative use or half of the battery life remaining or half of useful life of charge for rechargeable batteries.</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8B4949B6-DC2F-EEC3-4E53-A24FB87A07A2}"/>
              </a:ext>
            </a:extLst>
          </p:cNvPr>
          <p:cNvSpPr txBox="1"/>
          <p:nvPr/>
        </p:nvSpPr>
        <p:spPr>
          <a:xfrm>
            <a:off x="44450" y="5715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Tree>
    <p:extLst>
      <p:ext uri="{BB962C8B-B14F-4D97-AF65-F5344CB8AC3E}">
        <p14:creationId xmlns:p14="http://schemas.microsoft.com/office/powerpoint/2010/main" val="418950478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5DEB279-E576-5CD9-6F43-0068836B84A3}"/>
              </a:ext>
            </a:extLst>
          </p:cNvPr>
          <p:cNvSpPr txBox="1"/>
          <p:nvPr/>
        </p:nvSpPr>
        <p:spPr>
          <a:xfrm>
            <a:off x="466228" y="599081"/>
            <a:ext cx="3776662" cy="772519"/>
          </a:xfrm>
          <a:prstGeom prst="rect">
            <a:avLst/>
          </a:prstGeom>
          <a:noFill/>
        </p:spPr>
        <p:txBody>
          <a:bodyPr wrap="square">
            <a:spAutoFit/>
          </a:bodyPr>
          <a:lstStyle/>
          <a:p>
            <a:pPr marL="0" marR="0" algn="just">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A stranger holds a gun to your head and </a:t>
            </a:r>
            <a:r>
              <a:rPr lang="en-US" sz="1400" dirty="0">
                <a:latin typeface="Times New Roman" panose="02020603050405020304" pitchFamily="18" charset="0"/>
                <a:ea typeface="Times New Roman" panose="02020603050405020304" pitchFamily="18" charset="0"/>
                <a:cs typeface="Times New Roman" panose="02020603050405020304" pitchFamily="18" charset="0"/>
              </a:rPr>
              <a:t>insists you fly him to </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Mexico, what would you squawk on the transponder?</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0BC33B02-C9A3-E1A6-AECB-CC117B92C42B}"/>
              </a:ext>
            </a:extLst>
          </p:cNvPr>
          <p:cNvSpPr txBox="1"/>
          <p:nvPr/>
        </p:nvSpPr>
        <p:spPr>
          <a:xfrm>
            <a:off x="44450" y="5715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2" name="Rectangle 1">
            <a:extLst>
              <a:ext uri="{FF2B5EF4-FFF2-40B4-BE49-F238E27FC236}">
                <a16:creationId xmlns:a16="http://schemas.microsoft.com/office/drawing/2014/main" id="{22A343DE-A25B-C897-C512-B440685521B2}"/>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9CE3A1F9-A772-82E3-F01C-8CC11BAA6ADB}"/>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
        <p:nvSpPr>
          <p:cNvPr id="6" name="TextBox 5">
            <a:extLst>
              <a:ext uri="{FF2B5EF4-FFF2-40B4-BE49-F238E27FC236}">
                <a16:creationId xmlns:a16="http://schemas.microsoft.com/office/drawing/2014/main" id="{59F6153E-88EE-756A-233A-B5C09DE69864}"/>
              </a:ext>
            </a:extLst>
          </p:cNvPr>
          <p:cNvSpPr txBox="1"/>
          <p:nvPr/>
        </p:nvSpPr>
        <p:spPr>
          <a:xfrm>
            <a:off x="535384" y="1543134"/>
            <a:ext cx="3501231" cy="312650"/>
          </a:xfrm>
          <a:prstGeom prst="rect">
            <a:avLst/>
          </a:prstGeom>
          <a:noFill/>
        </p:spPr>
        <p:txBody>
          <a:bodyPr wrap="square">
            <a:spAutoFit/>
          </a:bodyPr>
          <a:lstStyle/>
          <a:p>
            <a:pPr algn="ctr">
              <a:lnSpc>
                <a:spcPct val="107000"/>
              </a:lnSpc>
            </a:pPr>
            <a:r>
              <a:rPr lang="en-US" sz="1400" dirty="0">
                <a:latin typeface="Times New Roman" panose="02020603050405020304" pitchFamily="18" charset="0"/>
                <a:cs typeface="Times New Roman" panose="02020603050405020304" pitchFamily="18" charset="0"/>
              </a:rPr>
              <a:t>AIM 6-3-2</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0190215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18E873D-5618-3EB5-B07E-23C301EF4B1E}"/>
              </a:ext>
            </a:extLst>
          </p:cNvPr>
          <p:cNvSpPr txBox="1"/>
          <p:nvPr/>
        </p:nvSpPr>
        <p:spPr>
          <a:xfrm>
            <a:off x="508000" y="769956"/>
            <a:ext cx="3555999" cy="1003031"/>
          </a:xfrm>
          <a:prstGeom prst="rect">
            <a:avLst/>
          </a:prstGeom>
          <a:noFill/>
        </p:spPr>
        <p:txBody>
          <a:bodyPr wrap="square">
            <a:spAutoFit/>
          </a:bodyPr>
          <a:lstStyle/>
          <a:p>
            <a:pPr marL="0" marR="0" algn="ctr">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 Squawk 7500 for </a:t>
            </a:r>
            <a:r>
              <a:rPr lang="en-US" sz="1400" dirty="0">
                <a:latin typeface="Times New Roman" panose="02020603050405020304" pitchFamily="18" charset="0"/>
                <a:ea typeface="Times New Roman" panose="02020603050405020304" pitchFamily="18" charset="0"/>
                <a:cs typeface="Times New Roman" panose="02020603050405020304" pitchFamily="18" charset="0"/>
              </a:rPr>
              <a:t>h</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ijacking.</a:t>
            </a:r>
          </a:p>
          <a:p>
            <a:pPr marL="0" marR="0" algn="ctr">
              <a:lnSpc>
                <a:spcPct val="107000"/>
              </a:lnSpc>
              <a:spcBef>
                <a:spcPts val="0"/>
              </a:spcBef>
              <a:spcAft>
                <a:spcPts val="0"/>
              </a:spcAft>
            </a:pPr>
            <a:endParaRPr lang="en-US" sz="1400" dirty="0">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However, if you are a big fan of Mexican food and margaritas, do nothing.</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792A37CB-3643-DBCD-22B9-D14E354DFD58}"/>
              </a:ext>
            </a:extLst>
          </p:cNvPr>
          <p:cNvSpPr txBox="1"/>
          <p:nvPr/>
        </p:nvSpPr>
        <p:spPr>
          <a:xfrm>
            <a:off x="44450" y="5715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Tree>
    <p:extLst>
      <p:ext uri="{BB962C8B-B14F-4D97-AF65-F5344CB8AC3E}">
        <p14:creationId xmlns:p14="http://schemas.microsoft.com/office/powerpoint/2010/main" val="71926913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1421674-A93A-B8C3-FCF2-B9FD2360D7AD}"/>
              </a:ext>
            </a:extLst>
          </p:cNvPr>
          <p:cNvSpPr txBox="1"/>
          <p:nvPr/>
        </p:nvSpPr>
        <p:spPr>
          <a:xfrm>
            <a:off x="554805" y="985340"/>
            <a:ext cx="3462390" cy="772519"/>
          </a:xfrm>
          <a:prstGeom prst="rect">
            <a:avLst/>
          </a:prstGeom>
          <a:noFill/>
        </p:spPr>
        <p:txBody>
          <a:bodyPr wrap="square">
            <a:spAutoFit/>
          </a:bodyPr>
          <a:lstStyle/>
          <a:p>
            <a:pPr marL="0" marR="0" algn="ctr">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When is a VFR flight plan always required?</a:t>
            </a:r>
          </a:p>
          <a:p>
            <a:pPr marL="0" marR="0" algn="just">
              <a:lnSpc>
                <a:spcPct val="107000"/>
              </a:lnSpc>
              <a:spcBef>
                <a:spcPts val="0"/>
              </a:spcBef>
              <a:spcAft>
                <a:spcPts val="0"/>
              </a:spcAft>
            </a:pP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ctr">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99.11(a)</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87ED3525-A526-E548-220D-0489EC1F2E38}"/>
              </a:ext>
            </a:extLst>
          </p:cNvPr>
          <p:cNvSpPr txBox="1"/>
          <p:nvPr/>
        </p:nvSpPr>
        <p:spPr>
          <a:xfrm>
            <a:off x="44450" y="5715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2" name="Rectangle 1">
            <a:extLst>
              <a:ext uri="{FF2B5EF4-FFF2-40B4-BE49-F238E27FC236}">
                <a16:creationId xmlns:a16="http://schemas.microsoft.com/office/drawing/2014/main" id="{F76DFFE7-156C-585E-DFC0-BE36EEC7789A}"/>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1C976E40-4871-B6F9-235A-948686EEAB05}"/>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185280042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E30B7F0-C16C-68F9-FA8E-3406B68106C4}"/>
              </a:ext>
            </a:extLst>
          </p:cNvPr>
          <p:cNvSpPr txBox="1"/>
          <p:nvPr/>
        </p:nvSpPr>
        <p:spPr>
          <a:xfrm>
            <a:off x="665634" y="311066"/>
            <a:ext cx="3240731" cy="477888"/>
          </a:xfrm>
          <a:prstGeom prst="rect">
            <a:avLst/>
          </a:prstGeom>
          <a:noFill/>
        </p:spPr>
        <p:txBody>
          <a:bodyPr wrap="square">
            <a:spAutoFit/>
          </a:bodyPr>
          <a:lstStyle/>
          <a:p>
            <a:pPr marL="0" marR="0" algn="just">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When crossing or originating within the ADIZ (aerial defense identification zone).</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2619F62C-EA10-043C-4B08-55924184D084}"/>
              </a:ext>
            </a:extLst>
          </p:cNvPr>
          <p:cNvPicPr>
            <a:picLocks noChangeAspect="1"/>
          </p:cNvPicPr>
          <p:nvPr/>
        </p:nvPicPr>
        <p:blipFill>
          <a:blip r:embed="rId2">
            <a:duotone>
              <a:prstClr val="black"/>
              <a:srgbClr val="D9C3A5">
                <a:tint val="50000"/>
                <a:satMod val="180000"/>
              </a:srgbClr>
            </a:duotone>
          </a:blip>
          <a:stretch>
            <a:fillRect/>
          </a:stretch>
        </p:blipFill>
        <p:spPr>
          <a:xfrm>
            <a:off x="928045" y="788954"/>
            <a:ext cx="2715911" cy="1004887"/>
          </a:xfrm>
          <a:prstGeom prst="rect">
            <a:avLst/>
          </a:prstGeom>
        </p:spPr>
      </p:pic>
      <p:sp>
        <p:nvSpPr>
          <p:cNvPr id="6" name="TextBox 5">
            <a:extLst>
              <a:ext uri="{FF2B5EF4-FFF2-40B4-BE49-F238E27FC236}">
                <a16:creationId xmlns:a16="http://schemas.microsoft.com/office/drawing/2014/main" id="{7E9426B9-D90E-ECF1-55AC-7D23E4FB6A72}"/>
              </a:ext>
            </a:extLst>
          </p:cNvPr>
          <p:cNvSpPr txBox="1"/>
          <p:nvPr/>
        </p:nvSpPr>
        <p:spPr>
          <a:xfrm>
            <a:off x="44450" y="5715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2" name="TextBox 1">
            <a:extLst>
              <a:ext uri="{FF2B5EF4-FFF2-40B4-BE49-F238E27FC236}">
                <a16:creationId xmlns:a16="http://schemas.microsoft.com/office/drawing/2014/main" id="{1EACB83B-9F2A-795C-3C82-14FB3A905A44}"/>
              </a:ext>
            </a:extLst>
          </p:cNvPr>
          <p:cNvSpPr txBox="1"/>
          <p:nvPr/>
        </p:nvSpPr>
        <p:spPr>
          <a:xfrm>
            <a:off x="570941" y="1898566"/>
            <a:ext cx="3430116" cy="477888"/>
          </a:xfrm>
          <a:prstGeom prst="rect">
            <a:avLst/>
          </a:prstGeom>
          <a:noFill/>
        </p:spPr>
        <p:txBody>
          <a:bodyPr wrap="square">
            <a:spAutoFit/>
          </a:bodyPr>
          <a:lstStyle/>
          <a:p>
            <a:pPr marL="0" marR="0" algn="just">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I earned a living writing software for the radar systems that kept an eye on our ADIZ and beyond.</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2669244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4C387D0-4A46-B73E-7AE5-6ADFADAB5324}"/>
              </a:ext>
            </a:extLst>
          </p:cNvPr>
          <p:cNvSpPr txBox="1"/>
          <p:nvPr/>
        </p:nvSpPr>
        <p:spPr>
          <a:xfrm>
            <a:off x="466476" y="1100596"/>
            <a:ext cx="3639047" cy="542008"/>
          </a:xfrm>
          <a:prstGeom prst="rect">
            <a:avLst/>
          </a:prstGeom>
          <a:noFill/>
        </p:spPr>
        <p:txBody>
          <a:bodyPr wrap="square">
            <a:spAutoFit/>
          </a:bodyPr>
          <a:lstStyle/>
          <a:p>
            <a:pPr marL="0" marR="0" algn="just">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What inspections are required to maintain an airplane in an airworthy condition?</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60BF0EB2-C8AC-A6B6-36E7-6D8D8D0F6623}"/>
              </a:ext>
            </a:extLst>
          </p:cNvPr>
          <p:cNvSpPr txBox="1"/>
          <p:nvPr/>
        </p:nvSpPr>
        <p:spPr>
          <a:xfrm>
            <a:off x="44450" y="5715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2" name="Rectangle 1">
            <a:extLst>
              <a:ext uri="{FF2B5EF4-FFF2-40B4-BE49-F238E27FC236}">
                <a16:creationId xmlns:a16="http://schemas.microsoft.com/office/drawing/2014/main" id="{3076CBB5-0DA1-0C5A-BD1A-8AB6C2E46763}"/>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04F3B476-D249-51B3-A93A-BE503AA6F465}"/>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277522377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7F61A2-7CA4-E714-96B4-DAC3309652D8}"/>
              </a:ext>
            </a:extLst>
          </p:cNvPr>
          <p:cNvSpPr txBox="1"/>
          <p:nvPr/>
        </p:nvSpPr>
        <p:spPr>
          <a:xfrm>
            <a:off x="171979" y="335258"/>
            <a:ext cx="4202641" cy="2072683"/>
          </a:xfrm>
          <a:prstGeom prst="rect">
            <a:avLst/>
          </a:prstGeom>
          <a:noFill/>
        </p:spPr>
        <p:txBody>
          <a:bodyPr wrap="square">
            <a:spAutoFit/>
          </a:bodyPr>
          <a:lstStyle/>
          <a:p>
            <a:pPr marL="285750" marR="0" indent="-228600">
              <a:lnSpc>
                <a:spcPct val="107000"/>
              </a:lnSpc>
              <a:spcBef>
                <a:spcPts val="0"/>
              </a:spcBef>
              <a:spcAft>
                <a:spcPts val="0"/>
              </a:spcAft>
            </a:pPr>
            <a:r>
              <a:rPr lang="en-US" sz="1100" b="1"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A</a:t>
            </a:r>
            <a:r>
              <a:rPr lang="en-US" sz="11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	- Annual inspection and applicable ADs complied with, every 12 calendar months 91.409.</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marR="0" indent="-228600">
              <a:lnSpc>
                <a:spcPct val="107000"/>
              </a:lnSpc>
              <a:spcBef>
                <a:spcPts val="0"/>
              </a:spcBef>
              <a:spcAft>
                <a:spcPts val="0"/>
              </a:spcAft>
            </a:pPr>
            <a:r>
              <a:rPr lang="en-US" sz="1100" b="1"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V</a:t>
            </a:r>
            <a:r>
              <a:rPr lang="en-US" sz="11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	- VOR check, if used for IFR, every 30 days 91.171.</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marR="0" indent="-228600">
              <a:lnSpc>
                <a:spcPct val="107000"/>
              </a:lnSpc>
              <a:spcBef>
                <a:spcPts val="0"/>
              </a:spcBef>
              <a:spcAft>
                <a:spcPts val="0"/>
              </a:spcAft>
            </a:pPr>
            <a:r>
              <a:rPr lang="en-US" sz="500" b="1"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100" b="1"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1</a:t>
            </a:r>
            <a:r>
              <a:rPr lang="en-US" sz="11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	- 100-hour inspection, if used for hire or flight instruction 91.409.</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marR="0" indent="-228600">
              <a:lnSpc>
                <a:spcPct val="107000"/>
              </a:lnSpc>
              <a:spcBef>
                <a:spcPts val="0"/>
              </a:spcBef>
              <a:spcAft>
                <a:spcPts val="0"/>
              </a:spcAft>
            </a:pPr>
            <a:r>
              <a:rPr lang="en-US" sz="1100" b="1"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A</a:t>
            </a:r>
            <a:r>
              <a:rPr lang="en-US" sz="11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	- Altimeter, altitude reporting equipment, and static pressure systems tested and inspected (for IFR ops), every 24 calendar months 91.411.</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marR="0" indent="-228600">
              <a:lnSpc>
                <a:spcPct val="107000"/>
              </a:lnSpc>
              <a:spcBef>
                <a:spcPts val="0"/>
              </a:spcBef>
              <a:spcAft>
                <a:spcPts val="0"/>
              </a:spcAft>
            </a:pPr>
            <a:r>
              <a:rPr lang="en-US" sz="1100" b="1"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T</a:t>
            </a:r>
            <a:r>
              <a:rPr lang="en-US" sz="11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	- Transponder tests and inspections, every 24 calendar months (for IFR ops) 91.413.</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marR="0" indent="-228600">
              <a:lnSpc>
                <a:spcPct val="107000"/>
              </a:lnSpc>
              <a:spcBef>
                <a:spcPts val="0"/>
              </a:spcBef>
              <a:spcAft>
                <a:spcPts val="0"/>
              </a:spcAft>
            </a:pPr>
            <a:r>
              <a:rPr lang="en-US" sz="1100" b="1"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E</a:t>
            </a:r>
            <a:r>
              <a:rPr lang="en-US" sz="11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	- Emergency locator transmitter, proper installation, operation and battery condition inspected every 12 calendar months 91.207.</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1DF09516-6DCA-1FAF-87D7-66C95E40314A}"/>
              </a:ext>
            </a:extLst>
          </p:cNvPr>
          <p:cNvSpPr txBox="1"/>
          <p:nvPr/>
        </p:nvSpPr>
        <p:spPr>
          <a:xfrm>
            <a:off x="44450" y="5715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Tree>
    <p:extLst>
      <p:ext uri="{BB962C8B-B14F-4D97-AF65-F5344CB8AC3E}">
        <p14:creationId xmlns:p14="http://schemas.microsoft.com/office/powerpoint/2010/main" val="147193908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A9A0627-C582-781D-2FEF-C2E8F6A75E3A}"/>
              </a:ext>
            </a:extLst>
          </p:cNvPr>
          <p:cNvSpPr txBox="1"/>
          <p:nvPr/>
        </p:nvSpPr>
        <p:spPr>
          <a:xfrm>
            <a:off x="516231" y="1100596"/>
            <a:ext cx="3539537" cy="542008"/>
          </a:xfrm>
          <a:prstGeom prst="rect">
            <a:avLst/>
          </a:prstGeom>
          <a:noFill/>
        </p:spPr>
        <p:txBody>
          <a:bodyPr wrap="square">
            <a:spAutoFit/>
          </a:bodyPr>
          <a:lstStyle/>
          <a:p>
            <a:pPr marL="0" marR="0" algn="just">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Can you fly an aircraft if its annual inspection is </a:t>
            </a:r>
            <a:r>
              <a:rPr lang="en-US" sz="1400" dirty="0">
                <a:latin typeface="Times New Roman" panose="02020603050405020304" pitchFamily="18" charset="0"/>
                <a:ea typeface="Calibri" panose="020F0502020204030204" pitchFamily="34" charset="0"/>
                <a:cs typeface="Times New Roman" panose="02020603050405020304" pitchFamily="18" charset="0"/>
              </a:rPr>
              <a:t>overdue?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7494BDFE-84C8-D716-87B1-560B20551B93}"/>
              </a:ext>
            </a:extLst>
          </p:cNvPr>
          <p:cNvSpPr txBox="1"/>
          <p:nvPr/>
        </p:nvSpPr>
        <p:spPr>
          <a:xfrm>
            <a:off x="44450" y="5715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2" name="Rectangle 1">
            <a:extLst>
              <a:ext uri="{FF2B5EF4-FFF2-40B4-BE49-F238E27FC236}">
                <a16:creationId xmlns:a16="http://schemas.microsoft.com/office/drawing/2014/main" id="{6DCD07EF-6AB2-2D21-4F34-BE7E27544160}"/>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2554B31E-0539-B47D-3581-E2DC362A850F}"/>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234791432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EAAC458-18F4-5BA2-9CBF-2A74498EE502}"/>
              </a:ext>
            </a:extLst>
          </p:cNvPr>
          <p:cNvSpPr txBox="1"/>
          <p:nvPr/>
        </p:nvSpPr>
        <p:spPr>
          <a:xfrm>
            <a:off x="397669" y="737419"/>
            <a:ext cx="3776662" cy="1268361"/>
          </a:xfrm>
          <a:prstGeom prst="rect">
            <a:avLst/>
          </a:prstGeom>
          <a:noFill/>
        </p:spPr>
        <p:txBody>
          <a:bodyPr wrap="square">
            <a:spAutoFit/>
          </a:bodyPr>
          <a:lstStyle/>
          <a:p>
            <a:pPr marL="0" marR="0" algn="ctr">
              <a:lnSpc>
                <a:spcPct val="107000"/>
              </a:lnSpc>
              <a:spcBef>
                <a:spcPts val="0"/>
              </a:spcBef>
              <a:spcAft>
                <a:spcPts val="0"/>
              </a:spcAft>
            </a:pP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Yes.</a:t>
            </a:r>
          </a:p>
          <a:p>
            <a:pPr marL="0" marR="0">
              <a:lnSpc>
                <a:spcPct val="107000"/>
              </a:lnSpc>
              <a:spcBef>
                <a:spcPts val="0"/>
              </a:spcBef>
              <a:spcAft>
                <a:spcPts val="0"/>
              </a:spcAft>
            </a:pPr>
            <a:endParaRPr lang="en-US" sz="1200" dirty="0">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An A/P must inspect it and declare it safe to fly. You must receive a special flight permit from the local FSDO</a:t>
            </a:r>
            <a:r>
              <a:rPr lang="en-US" sz="1200" dirty="0">
                <a:latin typeface="Times New Roman" panose="02020603050405020304" pitchFamily="18" charset="0"/>
                <a:ea typeface="Calibri" panose="020F0502020204030204" pitchFamily="34" charset="0"/>
                <a:cs typeface="Times New Roman" panose="02020603050405020304" pitchFamily="18" charset="0"/>
              </a:rPr>
              <a:t> a</a:t>
            </a: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nd the flight must be made to the location in which the annual inspection will be performed.</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9D3DBD1D-8B95-C767-804B-A7E52BDCA80D}"/>
              </a:ext>
            </a:extLst>
          </p:cNvPr>
          <p:cNvSpPr txBox="1"/>
          <p:nvPr/>
        </p:nvSpPr>
        <p:spPr>
          <a:xfrm>
            <a:off x="44450" y="5715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Tree>
    <p:extLst>
      <p:ext uri="{BB962C8B-B14F-4D97-AF65-F5344CB8AC3E}">
        <p14:creationId xmlns:p14="http://schemas.microsoft.com/office/powerpoint/2010/main" val="9175452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8388FC0-62D6-4D66-3081-B3DDB856D266}"/>
              </a:ext>
            </a:extLst>
          </p:cNvPr>
          <p:cNvSpPr txBox="1"/>
          <p:nvPr/>
        </p:nvSpPr>
        <p:spPr>
          <a:xfrm>
            <a:off x="362300" y="726727"/>
            <a:ext cx="3847399" cy="1200329"/>
          </a:xfrm>
          <a:prstGeom prst="rect">
            <a:avLst/>
          </a:prstGeom>
          <a:noFill/>
        </p:spPr>
        <p:txBody>
          <a:bodyPr wrap="square">
            <a:spAutoFit/>
          </a:bodyPr>
          <a:lstStyle/>
          <a:p>
            <a:pPr algn="just"/>
            <a:r>
              <a:rPr lang="en-US" sz="1200" dirty="0">
                <a:latin typeface="Times New Roman" panose="02020603050405020304" pitchFamily="18" charset="0"/>
              </a:rPr>
              <a:t>You are performing your preflight while on an VFR cross country stopover. You notice two cotter keys are missing. A mechanic on site says he has two cotter keys you can use. Can you install these yourself? Hurry up, the weather is rolling in fast!</a:t>
            </a:r>
          </a:p>
          <a:p>
            <a:pPr algn="ctr"/>
            <a:r>
              <a:rPr lang="en-US" sz="1200" dirty="0">
                <a:latin typeface="Times New Roman" panose="02020603050405020304" pitchFamily="18" charset="0"/>
              </a:rPr>
              <a:t>Appendix A, Part 43.</a:t>
            </a:r>
            <a:endParaRPr lang="en-US" sz="1200" dirty="0"/>
          </a:p>
        </p:txBody>
      </p:sp>
      <p:sp>
        <p:nvSpPr>
          <p:cNvPr id="4" name="TextBox 3">
            <a:extLst>
              <a:ext uri="{FF2B5EF4-FFF2-40B4-BE49-F238E27FC236}">
                <a16:creationId xmlns:a16="http://schemas.microsoft.com/office/drawing/2014/main" id="{73008D3F-1A8E-76C7-B5C3-F9193B8D43F2}"/>
              </a:ext>
            </a:extLst>
          </p:cNvPr>
          <p:cNvSpPr txBox="1"/>
          <p:nvPr/>
        </p:nvSpPr>
        <p:spPr>
          <a:xfrm>
            <a:off x="44450" y="5715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2" name="Rectangle 1">
            <a:extLst>
              <a:ext uri="{FF2B5EF4-FFF2-40B4-BE49-F238E27FC236}">
                <a16:creationId xmlns:a16="http://schemas.microsoft.com/office/drawing/2014/main" id="{C5598AA0-9A1A-87A4-2FAF-FC986638F4F5}"/>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D165CA0F-1AEC-74E3-88DB-ADBA30EFC56E}"/>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390934624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C5A8FE9A-5769-F38C-7C94-5178235F235F}"/>
              </a:ext>
            </a:extLst>
          </p:cNvPr>
          <p:cNvSpPr txBox="1"/>
          <p:nvPr/>
        </p:nvSpPr>
        <p:spPr>
          <a:xfrm>
            <a:off x="282427" y="1002268"/>
            <a:ext cx="4007145" cy="738664"/>
          </a:xfrm>
          <a:prstGeom prst="rect">
            <a:avLst/>
          </a:prstGeom>
          <a:noFill/>
        </p:spPr>
        <p:txBody>
          <a:bodyPr wrap="square">
            <a:spAutoFit/>
          </a:bodyPr>
          <a:lstStyle/>
          <a:p>
            <a:pPr algn="ctr"/>
            <a:r>
              <a:rPr lang="en-US" sz="1400" dirty="0">
                <a:latin typeface="Times New Roman" panose="02020603050405020304" pitchFamily="18" charset="0"/>
              </a:rPr>
              <a:t>Yes.</a:t>
            </a:r>
          </a:p>
          <a:p>
            <a:pPr algn="ctr"/>
            <a:endParaRPr lang="en-US" sz="1400" dirty="0">
              <a:latin typeface="Times New Roman" panose="02020603050405020304" pitchFamily="18" charset="0"/>
            </a:endParaRPr>
          </a:p>
          <a:p>
            <a:pPr algn="ctr"/>
            <a:r>
              <a:rPr lang="en-US" sz="1400" dirty="0">
                <a:latin typeface="Times New Roman" panose="02020603050405020304" pitchFamily="18" charset="0"/>
              </a:rPr>
              <a:t>You can change/replace cotter keys.</a:t>
            </a:r>
            <a:endParaRPr lang="en-US" sz="1400" dirty="0"/>
          </a:p>
        </p:txBody>
      </p:sp>
      <p:sp>
        <p:nvSpPr>
          <p:cNvPr id="9" name="TextBox 8">
            <a:extLst>
              <a:ext uri="{FF2B5EF4-FFF2-40B4-BE49-F238E27FC236}">
                <a16:creationId xmlns:a16="http://schemas.microsoft.com/office/drawing/2014/main" id="{4FB151C5-D7C8-4D81-AAE1-C01BDAA67773}"/>
              </a:ext>
            </a:extLst>
          </p:cNvPr>
          <p:cNvSpPr txBox="1"/>
          <p:nvPr/>
        </p:nvSpPr>
        <p:spPr>
          <a:xfrm>
            <a:off x="44450" y="5715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Tree>
    <p:extLst>
      <p:ext uri="{BB962C8B-B14F-4D97-AF65-F5344CB8AC3E}">
        <p14:creationId xmlns:p14="http://schemas.microsoft.com/office/powerpoint/2010/main" val="220186612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0AE2578-6CF5-8CA2-DA54-956087CA4718}"/>
              </a:ext>
            </a:extLst>
          </p:cNvPr>
          <p:cNvSpPr txBox="1"/>
          <p:nvPr/>
        </p:nvSpPr>
        <p:spPr>
          <a:xfrm>
            <a:off x="532943" y="1002268"/>
            <a:ext cx="3506114" cy="1046440"/>
          </a:xfrm>
          <a:prstGeom prst="rect">
            <a:avLst/>
          </a:prstGeom>
          <a:noFill/>
        </p:spPr>
        <p:txBody>
          <a:bodyPr wrap="square">
            <a:spAutoFit/>
          </a:bodyPr>
          <a:lstStyle/>
          <a:p>
            <a:pPr algn="just"/>
            <a:r>
              <a:rPr lang="en-US" sz="1400" dirty="0">
                <a:solidFill>
                  <a:srgbClr val="000000"/>
                </a:solidFill>
                <a:latin typeface="Times New Roman" panose="02020603050405020304" pitchFamily="18" charset="0"/>
              </a:rPr>
              <a:t>You are at 11,500 MSL feet in Class B airspace. What are your VFR visibility and cloud clearance requirements?</a:t>
            </a:r>
          </a:p>
          <a:p>
            <a:pPr algn="just"/>
            <a:endParaRPr lang="en-US" sz="600" dirty="0">
              <a:solidFill>
                <a:srgbClr val="000000"/>
              </a:solidFill>
              <a:latin typeface="Times New Roman" panose="02020603050405020304" pitchFamily="18" charset="0"/>
            </a:endParaRPr>
          </a:p>
          <a:p>
            <a:pPr algn="ctr"/>
            <a:r>
              <a:rPr lang="en-US" sz="1400" dirty="0">
                <a:solidFill>
                  <a:srgbClr val="000000"/>
                </a:solidFill>
                <a:latin typeface="Times New Roman" panose="02020603050405020304" pitchFamily="18" charset="0"/>
              </a:rPr>
              <a:t>91.155</a:t>
            </a:r>
            <a:endParaRPr lang="en-US" sz="1400" dirty="0"/>
          </a:p>
        </p:txBody>
      </p:sp>
      <p:sp>
        <p:nvSpPr>
          <p:cNvPr id="3" name="TextBox 2">
            <a:extLst>
              <a:ext uri="{FF2B5EF4-FFF2-40B4-BE49-F238E27FC236}">
                <a16:creationId xmlns:a16="http://schemas.microsoft.com/office/drawing/2014/main" id="{58F4F377-AA41-BC1E-DE42-8C1A28B5AF9E}"/>
              </a:ext>
            </a:extLst>
          </p:cNvPr>
          <p:cNvSpPr txBox="1"/>
          <p:nvPr/>
        </p:nvSpPr>
        <p:spPr>
          <a:xfrm>
            <a:off x="44450" y="5715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4" name="Rectangle 3">
            <a:extLst>
              <a:ext uri="{FF2B5EF4-FFF2-40B4-BE49-F238E27FC236}">
                <a16:creationId xmlns:a16="http://schemas.microsoft.com/office/drawing/2014/main" id="{8E557FCD-E02A-2F60-138D-4B9C3B284578}"/>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559DC883-B139-5502-9FCD-6C629FEF3533}"/>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397362865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75277C4-F025-E73E-6D33-A885A77238E0}"/>
              </a:ext>
            </a:extLst>
          </p:cNvPr>
          <p:cNvSpPr txBox="1"/>
          <p:nvPr/>
        </p:nvSpPr>
        <p:spPr>
          <a:xfrm>
            <a:off x="538382" y="862053"/>
            <a:ext cx="3495235" cy="954107"/>
          </a:xfrm>
          <a:prstGeom prst="rect">
            <a:avLst/>
          </a:prstGeom>
          <a:noFill/>
        </p:spPr>
        <p:txBody>
          <a:bodyPr wrap="square">
            <a:spAutoFit/>
          </a:bodyPr>
          <a:lstStyle/>
          <a:p>
            <a:pPr algn="ctr"/>
            <a:r>
              <a:rPr lang="en-US" sz="1400" dirty="0">
                <a:solidFill>
                  <a:srgbClr val="000000"/>
                </a:solidFill>
                <a:latin typeface="Times New Roman" panose="02020603050405020304" pitchFamily="18" charset="0"/>
              </a:rPr>
              <a:t>Three miles visibility and clear of clouds.</a:t>
            </a:r>
          </a:p>
          <a:p>
            <a:endParaRPr lang="en-US" sz="1400" dirty="0">
              <a:solidFill>
                <a:srgbClr val="000000"/>
              </a:solidFill>
              <a:latin typeface="Times New Roman" panose="02020603050405020304" pitchFamily="18" charset="0"/>
            </a:endParaRPr>
          </a:p>
          <a:p>
            <a:r>
              <a:rPr lang="en-US" sz="1400" dirty="0">
                <a:solidFill>
                  <a:srgbClr val="000000"/>
                </a:solidFill>
                <a:latin typeface="Times New Roman" panose="02020603050405020304" pitchFamily="18" charset="0"/>
              </a:rPr>
              <a:t>Even though you are above 10,000 MSL, you are in Class B so Class B criteria applies.</a:t>
            </a:r>
            <a:endParaRPr lang="en-US" sz="1400" dirty="0"/>
          </a:p>
        </p:txBody>
      </p:sp>
      <p:sp>
        <p:nvSpPr>
          <p:cNvPr id="3" name="TextBox 2">
            <a:extLst>
              <a:ext uri="{FF2B5EF4-FFF2-40B4-BE49-F238E27FC236}">
                <a16:creationId xmlns:a16="http://schemas.microsoft.com/office/drawing/2014/main" id="{AC43F791-E099-55EF-282C-2CEB83A11864}"/>
              </a:ext>
            </a:extLst>
          </p:cNvPr>
          <p:cNvSpPr txBox="1"/>
          <p:nvPr/>
        </p:nvSpPr>
        <p:spPr>
          <a:xfrm>
            <a:off x="44450" y="5715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Tree>
    <p:extLst>
      <p:ext uri="{BB962C8B-B14F-4D97-AF65-F5344CB8AC3E}">
        <p14:creationId xmlns:p14="http://schemas.microsoft.com/office/powerpoint/2010/main" val="17436169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F12D812-CC41-E3B4-195D-8DAB7C5D9710}"/>
              </a:ext>
            </a:extLst>
          </p:cNvPr>
          <p:cNvSpPr txBox="1"/>
          <p:nvPr/>
        </p:nvSpPr>
        <p:spPr>
          <a:xfrm>
            <a:off x="299206" y="355937"/>
            <a:ext cx="3973587" cy="2031325"/>
          </a:xfrm>
          <a:prstGeom prst="rect">
            <a:avLst/>
          </a:prstGeom>
          <a:noFill/>
        </p:spPr>
        <p:txBody>
          <a:bodyPr wrap="square">
            <a:spAutoFit/>
          </a:bodyPr>
          <a:lstStyle/>
          <a:p>
            <a:pPr algn="just"/>
            <a:r>
              <a:rPr lang="en-US" sz="1400" dirty="0">
                <a:solidFill>
                  <a:srgbClr val="000000"/>
                </a:solidFill>
                <a:latin typeface="Times New Roman" panose="02020603050405020304" pitchFamily="18" charset="0"/>
              </a:rPr>
              <a:t>You are participating in your school’s mountain flying course. Local time is about noon. You cross a ridgeline at 1,000 feet AGL and note your altimeter reads 13,000 MSL.</a:t>
            </a:r>
          </a:p>
          <a:p>
            <a:endParaRPr lang="en-US" sz="1400" dirty="0">
              <a:solidFill>
                <a:srgbClr val="000000"/>
              </a:solidFill>
              <a:latin typeface="Times New Roman" panose="02020603050405020304" pitchFamily="18" charset="0"/>
            </a:endParaRPr>
          </a:p>
          <a:p>
            <a:pPr algn="just"/>
            <a:r>
              <a:rPr lang="en-US" sz="1400" dirty="0">
                <a:solidFill>
                  <a:srgbClr val="000000"/>
                </a:solidFill>
                <a:latin typeface="Times New Roman" panose="02020603050405020304" pitchFamily="18" charset="0"/>
              </a:rPr>
              <a:t>What are your VFR visibility and cloud clearance requirements?</a:t>
            </a:r>
          </a:p>
          <a:p>
            <a:pPr algn="just"/>
            <a:endParaRPr lang="en-US" sz="1400" dirty="0">
              <a:solidFill>
                <a:srgbClr val="000000"/>
              </a:solidFill>
              <a:latin typeface="Times New Roman" panose="02020603050405020304" pitchFamily="18" charset="0"/>
            </a:endParaRPr>
          </a:p>
          <a:p>
            <a:pPr algn="ctr"/>
            <a:r>
              <a:rPr lang="en-US" sz="1400" dirty="0">
                <a:solidFill>
                  <a:srgbClr val="000000"/>
                </a:solidFill>
                <a:latin typeface="Times New Roman" panose="02020603050405020304" pitchFamily="18" charset="0"/>
              </a:rPr>
              <a:t>91.155</a:t>
            </a:r>
            <a:endParaRPr lang="en-US" sz="1400" dirty="0"/>
          </a:p>
        </p:txBody>
      </p:sp>
      <p:sp>
        <p:nvSpPr>
          <p:cNvPr id="3" name="TextBox 2">
            <a:extLst>
              <a:ext uri="{FF2B5EF4-FFF2-40B4-BE49-F238E27FC236}">
                <a16:creationId xmlns:a16="http://schemas.microsoft.com/office/drawing/2014/main" id="{B637D2FE-3881-D2AE-6041-957773B7EA70}"/>
              </a:ext>
            </a:extLst>
          </p:cNvPr>
          <p:cNvSpPr txBox="1"/>
          <p:nvPr/>
        </p:nvSpPr>
        <p:spPr>
          <a:xfrm>
            <a:off x="44450" y="5715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4" name="Rectangle 3">
            <a:extLst>
              <a:ext uri="{FF2B5EF4-FFF2-40B4-BE49-F238E27FC236}">
                <a16:creationId xmlns:a16="http://schemas.microsoft.com/office/drawing/2014/main" id="{CBDAFF69-2FA3-00B3-E6C0-1F7826EF6809}"/>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0F2E47EA-67D1-A84B-FA47-8F1E56779BF2}"/>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413347313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39F9A7-864E-BB13-9563-62EFE2C6DB0B}"/>
              </a:ext>
            </a:extLst>
          </p:cNvPr>
          <p:cNvSpPr txBox="1"/>
          <p:nvPr/>
        </p:nvSpPr>
        <p:spPr>
          <a:xfrm>
            <a:off x="425469" y="613609"/>
            <a:ext cx="3721062" cy="1384995"/>
          </a:xfrm>
          <a:prstGeom prst="rect">
            <a:avLst/>
          </a:prstGeom>
          <a:noFill/>
        </p:spPr>
        <p:txBody>
          <a:bodyPr wrap="square">
            <a:spAutoFit/>
          </a:bodyPr>
          <a:lstStyle/>
          <a:p>
            <a:r>
              <a:rPr lang="en-US" sz="1400" dirty="0">
                <a:solidFill>
                  <a:srgbClr val="000000"/>
                </a:solidFill>
                <a:latin typeface="Times New Roman" panose="02020603050405020304" pitchFamily="18" charset="0"/>
              </a:rPr>
              <a:t>Even though you are at 13,000 MSL, you are in Class G airspace (below 1,200 AGL). It is daytime. </a:t>
            </a:r>
          </a:p>
          <a:p>
            <a:endParaRPr lang="en-US" sz="1400" dirty="0">
              <a:solidFill>
                <a:srgbClr val="000000"/>
              </a:solidFill>
              <a:latin typeface="Times New Roman" panose="02020603050405020304" pitchFamily="18" charset="0"/>
            </a:endParaRPr>
          </a:p>
          <a:p>
            <a:r>
              <a:rPr lang="en-US" sz="1400" dirty="0">
                <a:solidFill>
                  <a:srgbClr val="000000"/>
                </a:solidFill>
                <a:latin typeface="Times New Roman" panose="02020603050405020304" pitchFamily="18" charset="0"/>
              </a:rPr>
              <a:t>Therefore, the requirements are 1 mile visibility and clear of clouds.</a:t>
            </a:r>
            <a:endParaRPr lang="en-US" sz="1400" dirty="0"/>
          </a:p>
        </p:txBody>
      </p:sp>
      <p:sp>
        <p:nvSpPr>
          <p:cNvPr id="3" name="TextBox 2">
            <a:extLst>
              <a:ext uri="{FF2B5EF4-FFF2-40B4-BE49-F238E27FC236}">
                <a16:creationId xmlns:a16="http://schemas.microsoft.com/office/drawing/2014/main" id="{A8EC49A6-9F4F-4DCD-0B9F-6EFA78D18D8B}"/>
              </a:ext>
            </a:extLst>
          </p:cNvPr>
          <p:cNvSpPr txBox="1"/>
          <p:nvPr/>
        </p:nvSpPr>
        <p:spPr>
          <a:xfrm>
            <a:off x="44450" y="5715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Tree>
    <p:extLst>
      <p:ext uri="{BB962C8B-B14F-4D97-AF65-F5344CB8AC3E}">
        <p14:creationId xmlns:p14="http://schemas.microsoft.com/office/powerpoint/2010/main" val="149525430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22C4CA3-BA48-67ED-483B-7C745764EBD9}"/>
              </a:ext>
            </a:extLst>
          </p:cNvPr>
          <p:cNvSpPr txBox="1"/>
          <p:nvPr/>
        </p:nvSpPr>
        <p:spPr>
          <a:xfrm>
            <a:off x="425469" y="679102"/>
            <a:ext cx="3721062" cy="1384995"/>
          </a:xfrm>
          <a:prstGeom prst="rect">
            <a:avLst/>
          </a:prstGeom>
          <a:noFill/>
        </p:spPr>
        <p:txBody>
          <a:bodyPr wrap="square">
            <a:spAutoFit/>
          </a:bodyPr>
          <a:lstStyle/>
          <a:p>
            <a:pPr algn="just"/>
            <a:r>
              <a:rPr lang="en-US" sz="1400" dirty="0">
                <a:solidFill>
                  <a:srgbClr val="000000"/>
                </a:solidFill>
                <a:latin typeface="Times New Roman" panose="02020603050405020304" pitchFamily="18" charset="0"/>
              </a:rPr>
              <a:t>You are five miles from KLHX on a daytime cross country and descend to 1,000 AGL. What are your VFR visibility and cloud clearance requirements?</a:t>
            </a:r>
          </a:p>
          <a:p>
            <a:pPr algn="just"/>
            <a:endParaRPr lang="en-US" sz="1400" dirty="0">
              <a:solidFill>
                <a:srgbClr val="000000"/>
              </a:solidFill>
              <a:latin typeface="Times New Roman" panose="02020603050405020304" pitchFamily="18" charset="0"/>
            </a:endParaRPr>
          </a:p>
          <a:p>
            <a:pPr algn="ctr"/>
            <a:r>
              <a:rPr lang="en-US" sz="1400" dirty="0">
                <a:solidFill>
                  <a:srgbClr val="000000"/>
                </a:solidFill>
                <a:latin typeface="Times New Roman" panose="02020603050405020304" pitchFamily="18" charset="0"/>
              </a:rPr>
              <a:t>91.155</a:t>
            </a:r>
            <a:endParaRPr lang="en-US" sz="1400" dirty="0"/>
          </a:p>
        </p:txBody>
      </p:sp>
      <p:sp>
        <p:nvSpPr>
          <p:cNvPr id="5" name="TextBox 4">
            <a:extLst>
              <a:ext uri="{FF2B5EF4-FFF2-40B4-BE49-F238E27FC236}">
                <a16:creationId xmlns:a16="http://schemas.microsoft.com/office/drawing/2014/main" id="{EFC19C6E-EF5B-7C63-CD26-1DBCC156E66A}"/>
              </a:ext>
            </a:extLst>
          </p:cNvPr>
          <p:cNvSpPr txBox="1"/>
          <p:nvPr/>
        </p:nvSpPr>
        <p:spPr>
          <a:xfrm>
            <a:off x="44450" y="5715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2" name="Rectangle 1">
            <a:extLst>
              <a:ext uri="{FF2B5EF4-FFF2-40B4-BE49-F238E27FC236}">
                <a16:creationId xmlns:a16="http://schemas.microsoft.com/office/drawing/2014/main" id="{6AE84259-345A-B33A-68C7-F970A4E4907F}"/>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277B41F3-67C3-B8E6-A9DA-A4049BF790BA}"/>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137413563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B778676-BDFE-07D6-143E-8EB0DC1854BE}"/>
              </a:ext>
            </a:extLst>
          </p:cNvPr>
          <p:cNvSpPr txBox="1"/>
          <p:nvPr/>
        </p:nvSpPr>
        <p:spPr>
          <a:xfrm>
            <a:off x="238134" y="571381"/>
            <a:ext cx="4095731" cy="1600438"/>
          </a:xfrm>
          <a:prstGeom prst="rect">
            <a:avLst/>
          </a:prstGeom>
          <a:noFill/>
        </p:spPr>
        <p:txBody>
          <a:bodyPr wrap="square">
            <a:spAutoFit/>
          </a:bodyPr>
          <a:lstStyle/>
          <a:p>
            <a:pPr algn="just"/>
            <a:r>
              <a:rPr lang="en-US" sz="1400" dirty="0">
                <a:solidFill>
                  <a:srgbClr val="000000"/>
                </a:solidFill>
                <a:latin typeface="Times New Roman" panose="02020603050405020304" pitchFamily="18" charset="0"/>
              </a:rPr>
              <a:t>Looking at KLHX, it appears the Class E extends down to 700 AGL well outside five miles. Therefore, you are currently in Class E airspace.</a:t>
            </a:r>
          </a:p>
          <a:p>
            <a:pPr algn="just"/>
            <a:endParaRPr lang="en-US" sz="1400" dirty="0">
              <a:solidFill>
                <a:srgbClr val="000000"/>
              </a:solidFill>
              <a:latin typeface="Times New Roman" panose="02020603050405020304" pitchFamily="18" charset="0"/>
            </a:endParaRPr>
          </a:p>
          <a:p>
            <a:pPr algn="just"/>
            <a:r>
              <a:rPr lang="en-US" sz="1400" dirty="0">
                <a:solidFill>
                  <a:srgbClr val="000000"/>
                </a:solidFill>
                <a:latin typeface="Times New Roman" panose="02020603050405020304" pitchFamily="18" charset="0"/>
              </a:rPr>
              <a:t>Class E airspace below 10,000 MSL requires 3 miles visibility, 500 ft below, 1,000 ft above, and 2,000 ft lateral clearance from clouds.</a:t>
            </a:r>
            <a:endParaRPr lang="en-US" sz="1400" dirty="0"/>
          </a:p>
        </p:txBody>
      </p:sp>
      <p:sp>
        <p:nvSpPr>
          <p:cNvPr id="3" name="TextBox 2">
            <a:extLst>
              <a:ext uri="{FF2B5EF4-FFF2-40B4-BE49-F238E27FC236}">
                <a16:creationId xmlns:a16="http://schemas.microsoft.com/office/drawing/2014/main" id="{6E08BEB8-44D7-C9B5-352A-80CEE834C1B3}"/>
              </a:ext>
            </a:extLst>
          </p:cNvPr>
          <p:cNvSpPr txBox="1"/>
          <p:nvPr/>
        </p:nvSpPr>
        <p:spPr>
          <a:xfrm>
            <a:off x="44450" y="5715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Tree>
    <p:extLst>
      <p:ext uri="{BB962C8B-B14F-4D97-AF65-F5344CB8AC3E}">
        <p14:creationId xmlns:p14="http://schemas.microsoft.com/office/powerpoint/2010/main" val="188919118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4E0A1C4-2D3C-3EF1-4F49-14D9CFE07C92}"/>
              </a:ext>
            </a:extLst>
          </p:cNvPr>
          <p:cNvSpPr txBox="1"/>
          <p:nvPr/>
        </p:nvSpPr>
        <p:spPr>
          <a:xfrm>
            <a:off x="478871" y="1002268"/>
            <a:ext cx="3614257" cy="954107"/>
          </a:xfrm>
          <a:prstGeom prst="rect">
            <a:avLst/>
          </a:prstGeom>
          <a:noFill/>
        </p:spPr>
        <p:txBody>
          <a:bodyPr wrap="square">
            <a:spAutoFit/>
          </a:bodyPr>
          <a:lstStyle/>
          <a:p>
            <a:pPr algn="just"/>
            <a:r>
              <a:rPr lang="en-US" sz="1400" dirty="0">
                <a:latin typeface="Times New Roman" panose="02020603050405020304" pitchFamily="18" charset="0"/>
              </a:rPr>
              <a:t>What is the only set of circumstances in which the allowed VFR visibility is 1 mile?</a:t>
            </a:r>
          </a:p>
          <a:p>
            <a:pPr algn="just"/>
            <a:endParaRPr lang="en-US" sz="1400" dirty="0">
              <a:latin typeface="Times New Roman" panose="02020603050405020304" pitchFamily="18" charset="0"/>
            </a:endParaRPr>
          </a:p>
          <a:p>
            <a:pPr algn="ctr"/>
            <a:r>
              <a:rPr lang="en-US" sz="1400" dirty="0">
                <a:solidFill>
                  <a:srgbClr val="000000"/>
                </a:solidFill>
                <a:latin typeface="Times New Roman" panose="02020603050405020304" pitchFamily="18" charset="0"/>
              </a:rPr>
              <a:t>91.155</a:t>
            </a:r>
            <a:endParaRPr lang="en-US" sz="1400" dirty="0"/>
          </a:p>
        </p:txBody>
      </p:sp>
      <p:sp>
        <p:nvSpPr>
          <p:cNvPr id="3" name="TextBox 2">
            <a:extLst>
              <a:ext uri="{FF2B5EF4-FFF2-40B4-BE49-F238E27FC236}">
                <a16:creationId xmlns:a16="http://schemas.microsoft.com/office/drawing/2014/main" id="{ED823BE0-CB3E-193D-0F87-2FD106016A9E}"/>
              </a:ext>
            </a:extLst>
          </p:cNvPr>
          <p:cNvSpPr txBox="1"/>
          <p:nvPr/>
        </p:nvSpPr>
        <p:spPr>
          <a:xfrm>
            <a:off x="44450" y="5715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4" name="Rectangle 3">
            <a:extLst>
              <a:ext uri="{FF2B5EF4-FFF2-40B4-BE49-F238E27FC236}">
                <a16:creationId xmlns:a16="http://schemas.microsoft.com/office/drawing/2014/main" id="{41C2FDDF-22EF-6BEA-2C0F-B7A61F52F55F}"/>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132A9F2E-6ACA-5E4D-B40F-91D0BBCDEB64}"/>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408274393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5B19A8A-63FA-F116-B9FA-26FC3A6CD262}"/>
              </a:ext>
            </a:extLst>
          </p:cNvPr>
          <p:cNvSpPr txBox="1"/>
          <p:nvPr/>
        </p:nvSpPr>
        <p:spPr>
          <a:xfrm>
            <a:off x="405260" y="1063823"/>
            <a:ext cx="3761479" cy="307777"/>
          </a:xfrm>
          <a:prstGeom prst="rect">
            <a:avLst/>
          </a:prstGeom>
          <a:noFill/>
        </p:spPr>
        <p:txBody>
          <a:bodyPr wrap="square">
            <a:spAutoFit/>
          </a:bodyPr>
          <a:lstStyle/>
          <a:p>
            <a:pPr algn="ctr"/>
            <a:r>
              <a:rPr lang="en-US" sz="1400" dirty="0">
                <a:latin typeface="Times New Roman" panose="02020603050405020304" pitchFamily="18" charset="0"/>
              </a:rPr>
              <a:t>Class G, daytime, below 1,200 AGL.</a:t>
            </a:r>
            <a:endParaRPr lang="en-US" sz="1400" dirty="0"/>
          </a:p>
        </p:txBody>
      </p:sp>
      <p:sp>
        <p:nvSpPr>
          <p:cNvPr id="3" name="TextBox 2">
            <a:extLst>
              <a:ext uri="{FF2B5EF4-FFF2-40B4-BE49-F238E27FC236}">
                <a16:creationId xmlns:a16="http://schemas.microsoft.com/office/drawing/2014/main" id="{E2DE98FC-572C-83E5-FBD4-D19EE1E5AD95}"/>
              </a:ext>
            </a:extLst>
          </p:cNvPr>
          <p:cNvSpPr txBox="1"/>
          <p:nvPr/>
        </p:nvSpPr>
        <p:spPr>
          <a:xfrm>
            <a:off x="44450" y="5715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Tree>
    <p:extLst>
      <p:ext uri="{BB962C8B-B14F-4D97-AF65-F5344CB8AC3E}">
        <p14:creationId xmlns:p14="http://schemas.microsoft.com/office/powerpoint/2010/main" val="138978554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CE8903-34D5-E24E-6BB0-A86B59A761EF}"/>
              </a:ext>
            </a:extLst>
          </p:cNvPr>
          <p:cNvSpPr txBox="1"/>
          <p:nvPr/>
        </p:nvSpPr>
        <p:spPr>
          <a:xfrm>
            <a:off x="47477" y="5641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2" name="TextBox 1">
            <a:extLst>
              <a:ext uri="{FF2B5EF4-FFF2-40B4-BE49-F238E27FC236}">
                <a16:creationId xmlns:a16="http://schemas.microsoft.com/office/drawing/2014/main" id="{294214AF-A976-7898-B8A7-0D82A9C89F68}"/>
              </a:ext>
            </a:extLst>
          </p:cNvPr>
          <p:cNvSpPr txBox="1"/>
          <p:nvPr/>
        </p:nvSpPr>
        <p:spPr>
          <a:xfrm>
            <a:off x="488950" y="641624"/>
            <a:ext cx="3594100" cy="1459951"/>
          </a:xfrm>
          <a:prstGeom prst="rect">
            <a:avLst/>
          </a:prstGeom>
          <a:noFill/>
        </p:spPr>
        <p:txBody>
          <a:bodyPr wrap="square">
            <a:spAutoFit/>
          </a:bodyPr>
          <a:lstStyle/>
          <a:p>
            <a:pPr marL="0" marR="0" algn="just">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As part of your preflight, what documents must be in the aircraft?</a:t>
            </a:r>
          </a:p>
          <a:p>
            <a:pPr algn="ctr">
              <a:lnSpc>
                <a:spcPct val="107000"/>
              </a:lnSpc>
            </a:pPr>
            <a:r>
              <a:rPr lang="en-US" sz="1400" dirty="0">
                <a:latin typeface="Times New Roman" panose="02020603050405020304" pitchFamily="18" charset="0"/>
                <a:ea typeface="Calibri" panose="020F0502020204030204" pitchFamily="34" charset="0"/>
                <a:cs typeface="Times New Roman" panose="02020603050405020304" pitchFamily="18" charset="0"/>
              </a:rPr>
              <a:t>91.203</a:t>
            </a:r>
          </a:p>
          <a:p>
            <a:pPr algn="ctr">
              <a:lnSpc>
                <a:spcPct val="107000"/>
              </a:lnSpc>
            </a:pPr>
            <a:r>
              <a:rPr lang="en-US" sz="1400" dirty="0">
                <a:latin typeface="Times New Roman" panose="02020603050405020304" pitchFamily="18" charset="0"/>
                <a:ea typeface="Calibri" panose="020F0502020204030204" pitchFamily="34" charset="0"/>
                <a:cs typeface="Times New Roman" panose="02020603050405020304" pitchFamily="18" charset="0"/>
              </a:rPr>
              <a:t>91.9</a:t>
            </a:r>
          </a:p>
          <a:p>
            <a:pPr algn="ctr">
              <a:lnSpc>
                <a:spcPct val="107000"/>
              </a:lnSpc>
            </a:pPr>
            <a:r>
              <a:rPr lang="en-US" sz="1400" dirty="0">
                <a:latin typeface="Times New Roman" panose="02020603050405020304" pitchFamily="18" charset="0"/>
                <a:ea typeface="Calibri" panose="020F0502020204030204" pitchFamily="34" charset="0"/>
                <a:cs typeface="Times New Roman" panose="02020603050405020304" pitchFamily="18" charset="0"/>
              </a:rPr>
              <a:t>91.103</a:t>
            </a:r>
          </a:p>
          <a:p>
            <a:pPr algn="ctr">
              <a:lnSpc>
                <a:spcPct val="107000"/>
              </a:lnSpc>
            </a:pPr>
            <a:r>
              <a:rPr lang="en-US" sz="1400" dirty="0">
                <a:latin typeface="Times New Roman" panose="02020603050405020304" pitchFamily="18" charset="0"/>
                <a:ea typeface="Calibri" panose="020F0502020204030204" pitchFamily="34" charset="0"/>
                <a:cs typeface="Times New Roman" panose="02020603050405020304" pitchFamily="18" charset="0"/>
              </a:rPr>
              <a:t>47.40</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Rectangle 2">
            <a:extLst>
              <a:ext uri="{FF2B5EF4-FFF2-40B4-BE49-F238E27FC236}">
                <a16:creationId xmlns:a16="http://schemas.microsoft.com/office/drawing/2014/main" id="{97CACA0D-3FF1-7B31-7CE5-F405B35F20FB}"/>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FD8BD92C-66C2-05DD-4A90-61053A651F36}"/>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178983917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CE8903-34D5-E24E-6BB0-A86B59A761EF}"/>
              </a:ext>
            </a:extLst>
          </p:cNvPr>
          <p:cNvSpPr txBox="1"/>
          <p:nvPr/>
        </p:nvSpPr>
        <p:spPr>
          <a:xfrm>
            <a:off x="47477" y="5641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2" name="TextBox 1">
            <a:extLst>
              <a:ext uri="{FF2B5EF4-FFF2-40B4-BE49-F238E27FC236}">
                <a16:creationId xmlns:a16="http://schemas.microsoft.com/office/drawing/2014/main" id="{FBF51664-41BD-9BF9-4F0B-FBB892B652BF}"/>
              </a:ext>
            </a:extLst>
          </p:cNvPr>
          <p:cNvSpPr txBox="1"/>
          <p:nvPr/>
        </p:nvSpPr>
        <p:spPr>
          <a:xfrm>
            <a:off x="516726" y="786824"/>
            <a:ext cx="3598073" cy="1169551"/>
          </a:xfrm>
          <a:prstGeom prst="rect">
            <a:avLst/>
          </a:prstGeom>
          <a:noFill/>
        </p:spPr>
        <p:txBody>
          <a:bodyPr wrap="square">
            <a:spAutoFit/>
          </a:bodyPr>
          <a:lstStyle/>
          <a:p>
            <a:pPr marL="0" marR="0">
              <a:spcBef>
                <a:spcPts val="0"/>
              </a:spcBef>
              <a:spcAft>
                <a:spcPts val="0"/>
              </a:spcAft>
            </a:pPr>
            <a:r>
              <a:rPr lang="en-US" sz="1400" b="1" dirty="0">
                <a:effectLst/>
                <a:latin typeface="Times New Roman" panose="02020603050405020304" pitchFamily="18" charset="0"/>
                <a:ea typeface="Calibri" panose="020F0502020204030204" pitchFamily="34" charset="0"/>
              </a:rPr>
              <a:t>A</a:t>
            </a:r>
            <a:r>
              <a:rPr lang="en-US" sz="1400" dirty="0">
                <a:effectLst/>
                <a:latin typeface="Times New Roman" panose="02020603050405020304" pitchFamily="18" charset="0"/>
                <a:ea typeface="Calibri" panose="020F0502020204030204" pitchFamily="34" charset="0"/>
              </a:rPr>
              <a:t>irworthiness Certificate </a:t>
            </a:r>
          </a:p>
          <a:p>
            <a:pPr marL="0" marR="0">
              <a:spcBef>
                <a:spcPts val="0"/>
              </a:spcBef>
              <a:spcAft>
                <a:spcPts val="0"/>
              </a:spcAft>
            </a:pPr>
            <a:r>
              <a:rPr lang="en-US" sz="1400" b="1" dirty="0">
                <a:effectLst/>
                <a:latin typeface="Times New Roman" panose="02020603050405020304" pitchFamily="18" charset="0"/>
                <a:ea typeface="Calibri" panose="020F0502020204030204" pitchFamily="34" charset="0"/>
              </a:rPr>
              <a:t>R</a:t>
            </a:r>
            <a:r>
              <a:rPr lang="en-US" sz="1400" dirty="0">
                <a:effectLst/>
                <a:latin typeface="Times New Roman" panose="02020603050405020304" pitchFamily="18" charset="0"/>
                <a:ea typeface="Calibri" panose="020F0502020204030204" pitchFamily="34" charset="0"/>
              </a:rPr>
              <a:t>egistration </a:t>
            </a:r>
          </a:p>
          <a:p>
            <a:pPr marL="0" marR="0">
              <a:spcBef>
                <a:spcPts val="0"/>
              </a:spcBef>
              <a:spcAft>
                <a:spcPts val="0"/>
              </a:spcAft>
            </a:pPr>
            <a:r>
              <a:rPr lang="en-US" sz="1400" b="1" dirty="0">
                <a:effectLst/>
                <a:latin typeface="Times New Roman" panose="02020603050405020304" pitchFamily="18" charset="0"/>
                <a:ea typeface="Calibri" panose="020F0502020204030204" pitchFamily="34" charset="0"/>
              </a:rPr>
              <a:t>R</a:t>
            </a:r>
            <a:r>
              <a:rPr lang="en-US" sz="1400" dirty="0">
                <a:effectLst/>
                <a:latin typeface="Times New Roman" panose="02020603050405020304" pitchFamily="18" charset="0"/>
                <a:ea typeface="Calibri" panose="020F0502020204030204" pitchFamily="34" charset="0"/>
              </a:rPr>
              <a:t>adio License (required for international flight) </a:t>
            </a:r>
          </a:p>
          <a:p>
            <a:pPr marL="0" marR="0">
              <a:spcBef>
                <a:spcPts val="0"/>
              </a:spcBef>
              <a:spcAft>
                <a:spcPts val="0"/>
              </a:spcAft>
            </a:pPr>
            <a:r>
              <a:rPr lang="en-US" sz="1400" b="1" dirty="0">
                <a:effectLst/>
                <a:latin typeface="Times New Roman" panose="02020603050405020304" pitchFamily="18" charset="0"/>
                <a:ea typeface="Calibri" panose="020F0502020204030204" pitchFamily="34" charset="0"/>
              </a:rPr>
              <a:t>O</a:t>
            </a:r>
            <a:r>
              <a:rPr lang="en-US" sz="1400" dirty="0">
                <a:effectLst/>
                <a:latin typeface="Times New Roman" panose="02020603050405020304" pitchFamily="18" charset="0"/>
                <a:ea typeface="Calibri" panose="020F0502020204030204" pitchFamily="34" charset="0"/>
              </a:rPr>
              <a:t>perating Limitations (found in the POH) </a:t>
            </a:r>
          </a:p>
          <a:p>
            <a:pPr marL="0" marR="0">
              <a:spcBef>
                <a:spcPts val="0"/>
              </a:spcBef>
              <a:spcAft>
                <a:spcPts val="0"/>
              </a:spcAft>
            </a:pPr>
            <a:r>
              <a:rPr lang="en-US" sz="1400" b="1" dirty="0">
                <a:effectLst/>
                <a:latin typeface="Times New Roman" panose="02020603050405020304" pitchFamily="18" charset="0"/>
                <a:ea typeface="Calibri" panose="020F0502020204030204" pitchFamily="34" charset="0"/>
              </a:rPr>
              <a:t>W</a:t>
            </a:r>
            <a:r>
              <a:rPr lang="en-US" sz="1400" dirty="0">
                <a:effectLst/>
                <a:latin typeface="Times New Roman" panose="02020603050405020304" pitchFamily="18" charset="0"/>
                <a:ea typeface="Calibri" panose="020F0502020204030204" pitchFamily="34" charset="0"/>
              </a:rPr>
              <a:t>eight and Balance equipment list </a:t>
            </a:r>
          </a:p>
        </p:txBody>
      </p:sp>
    </p:spTree>
    <p:extLst>
      <p:ext uri="{BB962C8B-B14F-4D97-AF65-F5344CB8AC3E}">
        <p14:creationId xmlns:p14="http://schemas.microsoft.com/office/powerpoint/2010/main" val="292815708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CE8903-34D5-E24E-6BB0-A86B59A761EF}"/>
              </a:ext>
            </a:extLst>
          </p:cNvPr>
          <p:cNvSpPr txBox="1"/>
          <p:nvPr/>
        </p:nvSpPr>
        <p:spPr>
          <a:xfrm>
            <a:off x="47477" y="5641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2" name="TextBox 1">
            <a:extLst>
              <a:ext uri="{FF2B5EF4-FFF2-40B4-BE49-F238E27FC236}">
                <a16:creationId xmlns:a16="http://schemas.microsoft.com/office/drawing/2014/main" id="{96E22237-BF66-AE01-6B58-3D0EA01B4D63}"/>
              </a:ext>
            </a:extLst>
          </p:cNvPr>
          <p:cNvSpPr txBox="1"/>
          <p:nvPr/>
        </p:nvSpPr>
        <p:spPr>
          <a:xfrm>
            <a:off x="365125" y="1002268"/>
            <a:ext cx="3841750" cy="738664"/>
          </a:xfrm>
          <a:prstGeom prst="rect">
            <a:avLst/>
          </a:prstGeom>
          <a:noFill/>
        </p:spPr>
        <p:txBody>
          <a:bodyPr wrap="square">
            <a:spAutoFit/>
          </a:bodyPr>
          <a:lstStyle/>
          <a:p>
            <a:pPr marL="0" marR="0" algn="ctr">
              <a:spcBef>
                <a:spcPts val="0"/>
              </a:spcBef>
              <a:spcAft>
                <a:spcPts val="0"/>
              </a:spcAft>
            </a:pPr>
            <a:r>
              <a:rPr lang="en-US" sz="1400" dirty="0">
                <a:solidFill>
                  <a:srgbClr val="000000"/>
                </a:solidFill>
                <a:effectLst/>
                <a:latin typeface="Times New Roman" panose="02020603050405020304" pitchFamily="18" charset="0"/>
                <a:ea typeface="Calibri" panose="020F0502020204030204" pitchFamily="34" charset="0"/>
              </a:rPr>
              <a:t>Does an Airworthiness Certificate ever expire?</a:t>
            </a:r>
          </a:p>
          <a:p>
            <a:pPr marL="0" marR="0" algn="ctr">
              <a:spcBef>
                <a:spcPts val="0"/>
              </a:spcBef>
              <a:spcAft>
                <a:spcPts val="0"/>
              </a:spcAft>
            </a:pPr>
            <a:endParaRPr lang="en-US" sz="1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algn="ctr"/>
            <a:r>
              <a:rPr lang="en-US" sz="1400" dirty="0">
                <a:latin typeface="Times New Roman" panose="02020603050405020304" pitchFamily="18" charset="0"/>
                <a:cs typeface="Times New Roman" panose="02020603050405020304" pitchFamily="18" charset="0"/>
              </a:rPr>
              <a:t>21.181(a)(1)</a:t>
            </a:r>
            <a:r>
              <a:rPr lang="en-US" sz="1400" dirty="0">
                <a:solidFill>
                  <a:srgbClr val="000000"/>
                </a:solidFill>
                <a:effectLst/>
                <a:latin typeface="Times New Roman" panose="02020603050405020304" pitchFamily="18" charset="0"/>
                <a:ea typeface="Calibri" panose="020F0502020204030204" pitchFamily="34" charset="0"/>
              </a:rPr>
              <a:t> </a:t>
            </a:r>
          </a:p>
        </p:txBody>
      </p:sp>
      <p:sp>
        <p:nvSpPr>
          <p:cNvPr id="3" name="Rectangle 2">
            <a:extLst>
              <a:ext uri="{FF2B5EF4-FFF2-40B4-BE49-F238E27FC236}">
                <a16:creationId xmlns:a16="http://schemas.microsoft.com/office/drawing/2014/main" id="{2C1CB491-E0DD-DAF7-B1E7-8830475E5A1B}"/>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F9E698D5-095B-D8F7-D612-D82F77443481}"/>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340485806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CE8903-34D5-E24E-6BB0-A86B59A761EF}"/>
              </a:ext>
            </a:extLst>
          </p:cNvPr>
          <p:cNvSpPr txBox="1"/>
          <p:nvPr/>
        </p:nvSpPr>
        <p:spPr>
          <a:xfrm>
            <a:off x="47477" y="5641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2" name="TextBox 1">
            <a:extLst>
              <a:ext uri="{FF2B5EF4-FFF2-40B4-BE49-F238E27FC236}">
                <a16:creationId xmlns:a16="http://schemas.microsoft.com/office/drawing/2014/main" id="{02FF7C95-38AE-C396-F251-13A7FBD004BF}"/>
              </a:ext>
            </a:extLst>
          </p:cNvPr>
          <p:cNvSpPr txBox="1"/>
          <p:nvPr/>
        </p:nvSpPr>
        <p:spPr>
          <a:xfrm>
            <a:off x="640556" y="666174"/>
            <a:ext cx="3290888" cy="1169551"/>
          </a:xfrm>
          <a:prstGeom prst="rect">
            <a:avLst/>
          </a:prstGeom>
          <a:noFill/>
        </p:spPr>
        <p:txBody>
          <a:bodyPr wrap="square">
            <a:spAutoFit/>
          </a:bodyPr>
          <a:lstStyle/>
          <a:p>
            <a:pPr marL="0" marR="0" algn="ctr">
              <a:spcBef>
                <a:spcPts val="0"/>
              </a:spcBef>
              <a:spcAft>
                <a:spcPts val="0"/>
              </a:spcAft>
            </a:pPr>
            <a:r>
              <a:rPr lang="en-US" sz="1400" dirty="0">
                <a:solidFill>
                  <a:srgbClr val="000000"/>
                </a:solidFill>
                <a:effectLst/>
                <a:latin typeface="Times New Roman" panose="02020603050405020304" pitchFamily="18" charset="0"/>
                <a:ea typeface="Calibri" panose="020F0502020204030204" pitchFamily="34" charset="0"/>
              </a:rPr>
              <a:t>No.</a:t>
            </a:r>
          </a:p>
          <a:p>
            <a:pPr marL="0" marR="0" algn="just">
              <a:spcBef>
                <a:spcPts val="0"/>
              </a:spcBef>
              <a:spcAft>
                <a:spcPts val="0"/>
              </a:spcAft>
            </a:pPr>
            <a:endParaRPr lang="en-US" sz="1400" dirty="0">
              <a:solidFill>
                <a:srgbClr val="000000"/>
              </a:solidFill>
              <a:latin typeface="Times New Roman" panose="02020603050405020304" pitchFamily="18" charset="0"/>
              <a:ea typeface="Calibri" panose="020F0502020204030204" pitchFamily="34" charset="0"/>
            </a:endParaRPr>
          </a:p>
          <a:p>
            <a:pPr marL="0" marR="0" algn="just">
              <a:spcBef>
                <a:spcPts val="0"/>
              </a:spcBef>
              <a:spcAft>
                <a:spcPts val="0"/>
              </a:spcAft>
            </a:pPr>
            <a:r>
              <a:rPr lang="en-US" sz="1400" dirty="0">
                <a:solidFill>
                  <a:srgbClr val="000000"/>
                </a:solidFill>
                <a:latin typeface="Times New Roman" panose="02020603050405020304" pitchFamily="18" charset="0"/>
                <a:ea typeface="Calibri" panose="020F0502020204030204" pitchFamily="34" charset="0"/>
              </a:rPr>
              <a:t>A</a:t>
            </a:r>
            <a:r>
              <a:rPr lang="en-US" sz="1400" dirty="0">
                <a:solidFill>
                  <a:srgbClr val="000000"/>
                </a:solidFill>
                <a:effectLst/>
                <a:latin typeface="Times New Roman" panose="02020603050405020304" pitchFamily="18" charset="0"/>
                <a:ea typeface="Calibri" panose="020F0502020204030204" pitchFamily="34" charset="0"/>
              </a:rPr>
              <a:t>s long as inspections/ADs are kept up to date and the manufacturer's original design is adhered to.</a:t>
            </a:r>
          </a:p>
        </p:txBody>
      </p:sp>
    </p:spTree>
    <p:extLst>
      <p:ext uri="{BB962C8B-B14F-4D97-AF65-F5344CB8AC3E}">
        <p14:creationId xmlns:p14="http://schemas.microsoft.com/office/powerpoint/2010/main" val="122035493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CE8903-34D5-E24E-6BB0-A86B59A761EF}"/>
              </a:ext>
            </a:extLst>
          </p:cNvPr>
          <p:cNvSpPr txBox="1"/>
          <p:nvPr/>
        </p:nvSpPr>
        <p:spPr>
          <a:xfrm>
            <a:off x="47477" y="5641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2" name="TextBox 1">
            <a:extLst>
              <a:ext uri="{FF2B5EF4-FFF2-40B4-BE49-F238E27FC236}">
                <a16:creationId xmlns:a16="http://schemas.microsoft.com/office/drawing/2014/main" id="{8F52C3D6-69CC-264F-FF61-7026B8B72D31}"/>
              </a:ext>
            </a:extLst>
          </p:cNvPr>
          <p:cNvSpPr txBox="1"/>
          <p:nvPr/>
        </p:nvSpPr>
        <p:spPr>
          <a:xfrm>
            <a:off x="288815" y="572405"/>
            <a:ext cx="4005263" cy="1462323"/>
          </a:xfrm>
          <a:prstGeom prst="rect">
            <a:avLst/>
          </a:prstGeom>
          <a:noFill/>
        </p:spPr>
        <p:txBody>
          <a:bodyPr wrap="square">
            <a:spAutoFit/>
          </a:bodyPr>
          <a:lstStyle/>
          <a:p>
            <a:pPr marL="0" marR="0" algn="just">
              <a:lnSpc>
                <a:spcPct val="107000"/>
              </a:lnSpc>
              <a:spcBef>
                <a:spcPts val="0"/>
              </a:spcBef>
              <a:spcAft>
                <a:spcPts val="0"/>
              </a:spcAft>
            </a:pP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You are a member of a local flying club and a holder of a Private Pilot Certificate.</a:t>
            </a:r>
            <a:r>
              <a:rPr lang="en-US" sz="1200" dirty="0">
                <a:latin typeface="Times New Roman" panose="02020603050405020304" pitchFamily="18" charset="0"/>
                <a:ea typeface="Calibri" panose="020F0502020204030204" pitchFamily="34" charset="0"/>
                <a:cs typeface="Times New Roman" panose="02020603050405020304" pitchFamily="18" charset="0"/>
              </a:rPr>
              <a:t> </a:t>
            </a: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During a cross country, you overfly the 100-hour inspection by 8 hours.</a:t>
            </a:r>
          </a:p>
          <a:p>
            <a:pPr marL="0" marR="0" algn="just">
              <a:lnSpc>
                <a:spcPct val="107000"/>
              </a:lnSpc>
              <a:spcBef>
                <a:spcPts val="0"/>
              </a:spcBef>
              <a:spcAft>
                <a:spcPts val="0"/>
              </a:spcAft>
            </a:pPr>
            <a:endParaRPr lang="en-US" sz="1200" dirty="0">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You land and the FAA is waiting on you for a ramp check. Are you in trouble?</a:t>
            </a:r>
            <a:endParaRPr lang="en-US" sz="1200" dirty="0">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7000"/>
              </a:lnSpc>
              <a:spcBef>
                <a:spcPts val="0"/>
              </a:spcBef>
              <a:spcAft>
                <a:spcPts val="0"/>
              </a:spcAft>
            </a:pP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91.409(b)</a:t>
            </a:r>
          </a:p>
        </p:txBody>
      </p:sp>
      <p:sp>
        <p:nvSpPr>
          <p:cNvPr id="3" name="Rectangle 2">
            <a:extLst>
              <a:ext uri="{FF2B5EF4-FFF2-40B4-BE49-F238E27FC236}">
                <a16:creationId xmlns:a16="http://schemas.microsoft.com/office/drawing/2014/main" id="{B7DE5FA1-BC83-33F5-248A-DBC32A71BFA6}"/>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9F26890B-BBE0-22DD-9BD5-79F9A3C0F981}"/>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41619817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CE8903-34D5-E24E-6BB0-A86B59A761EF}"/>
              </a:ext>
            </a:extLst>
          </p:cNvPr>
          <p:cNvSpPr txBox="1"/>
          <p:nvPr/>
        </p:nvSpPr>
        <p:spPr>
          <a:xfrm>
            <a:off x="47477" y="5641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3" name="TextBox 2">
            <a:extLst>
              <a:ext uri="{FF2B5EF4-FFF2-40B4-BE49-F238E27FC236}">
                <a16:creationId xmlns:a16="http://schemas.microsoft.com/office/drawing/2014/main" id="{AACC701C-87F5-1D8D-0434-4FBB42B2F395}"/>
              </a:ext>
            </a:extLst>
          </p:cNvPr>
          <p:cNvSpPr txBox="1"/>
          <p:nvPr/>
        </p:nvSpPr>
        <p:spPr>
          <a:xfrm>
            <a:off x="352425" y="442820"/>
            <a:ext cx="3867149" cy="1857560"/>
          </a:xfrm>
          <a:prstGeom prst="rect">
            <a:avLst/>
          </a:prstGeom>
          <a:noFill/>
        </p:spPr>
        <p:txBody>
          <a:bodyPr wrap="square">
            <a:spAutoFit/>
          </a:bodyPr>
          <a:lstStyle/>
          <a:p>
            <a:pPr marL="0" marR="0" algn="ctr">
              <a:lnSpc>
                <a:spcPct val="107000"/>
              </a:lnSpc>
              <a:spcBef>
                <a:spcPts val="0"/>
              </a:spcBef>
              <a:spcAft>
                <a:spcPts val="0"/>
              </a:spcAft>
            </a:pP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No, you are not in trouble.</a:t>
            </a:r>
          </a:p>
          <a:p>
            <a:pPr marL="0" marR="0" algn="ctr">
              <a:lnSpc>
                <a:spcPct val="107000"/>
              </a:lnSpc>
              <a:spcBef>
                <a:spcPts val="0"/>
              </a:spcBef>
              <a:spcAft>
                <a:spcPts val="0"/>
              </a:spcAft>
            </a:pPr>
            <a:endParaRPr lang="en-US" sz="1200" dirty="0">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200" dirty="0">
                <a:latin typeface="Times New Roman" panose="02020603050405020304" pitchFamily="18" charset="0"/>
                <a:ea typeface="Calibri" panose="020F0502020204030204" pitchFamily="34" charset="0"/>
                <a:cs typeface="Times New Roman" panose="02020603050405020304" pitchFamily="18" charset="0"/>
              </a:rPr>
              <a:t>Since you were not doing any training or flying for hire, the 100-hour inspection is not applicable. In fact, the plane can be flown forever more as long as it is not used for training or for hire.</a:t>
            </a:r>
          </a:p>
          <a:p>
            <a:pPr marL="0" marR="0" algn="just">
              <a:lnSpc>
                <a:spcPct val="107000"/>
              </a:lnSpc>
              <a:spcBef>
                <a:spcPts val="0"/>
              </a:spcBef>
              <a:spcAft>
                <a:spcPts val="0"/>
              </a:spcAft>
            </a:pPr>
            <a:endParaRPr lang="en-US" sz="1200" dirty="0">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200" dirty="0">
                <a:latin typeface="Times New Roman" panose="02020603050405020304" pitchFamily="18" charset="0"/>
                <a:ea typeface="Calibri" panose="020F0502020204030204" pitchFamily="34" charset="0"/>
                <a:cs typeface="Times New Roman" panose="02020603050405020304" pitchFamily="18" charset="0"/>
              </a:rPr>
              <a:t>But, before it can be used for training or for hire again, the 100-hour inspection must be completed.</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8875252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2" name="TextBox 1">
            <a:extLst>
              <a:ext uri="{FF2B5EF4-FFF2-40B4-BE49-F238E27FC236}">
                <a16:creationId xmlns:a16="http://schemas.microsoft.com/office/drawing/2014/main" id="{EA346E4F-C443-C434-8EAD-9C3F925B5B66}"/>
              </a:ext>
            </a:extLst>
          </p:cNvPr>
          <p:cNvSpPr txBox="1"/>
          <p:nvPr/>
        </p:nvSpPr>
        <p:spPr>
          <a:xfrm>
            <a:off x="441424" y="492696"/>
            <a:ext cx="3689152" cy="815801"/>
          </a:xfrm>
          <a:prstGeom prst="rect">
            <a:avLst/>
          </a:prstGeom>
          <a:noFill/>
        </p:spPr>
        <p:txBody>
          <a:bodyPr wrap="square">
            <a:spAutoFit/>
          </a:bodyPr>
          <a:lstStyle/>
          <a:p>
            <a:pPr marL="0" marR="0" algn="just">
              <a:lnSpc>
                <a:spcPct val="115000"/>
              </a:lnSpc>
              <a:spcBef>
                <a:spcPts val="0"/>
              </a:spcBef>
              <a:spcAft>
                <a:spcPts val="0"/>
              </a:spcAft>
            </a:pPr>
            <a:r>
              <a:rPr lang="en-US" sz="14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These two aircraft </a:t>
            </a:r>
            <a:r>
              <a:rPr lang="en-US" sz="1400"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are on a collision course. </a:t>
            </a:r>
            <a:r>
              <a:rPr lang="en-US" sz="14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Which aircraft has the right of way?</a:t>
            </a:r>
          </a:p>
          <a:p>
            <a:pPr marL="0" marR="0" algn="ctr">
              <a:lnSpc>
                <a:spcPct val="115000"/>
              </a:lnSpc>
              <a:spcBef>
                <a:spcPts val="0"/>
              </a:spcBef>
              <a:spcAft>
                <a:spcPts val="0"/>
              </a:spcAft>
            </a:pPr>
            <a:r>
              <a:rPr lang="en-US" sz="14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91.113(d)</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p:txBody>
      </p:sp>
      <p:grpSp>
        <p:nvGrpSpPr>
          <p:cNvPr id="30" name="Group 29">
            <a:extLst>
              <a:ext uri="{FF2B5EF4-FFF2-40B4-BE49-F238E27FC236}">
                <a16:creationId xmlns:a16="http://schemas.microsoft.com/office/drawing/2014/main" id="{FC8E7B94-DB99-03C8-D900-EF0FC7B16BDB}"/>
              </a:ext>
            </a:extLst>
          </p:cNvPr>
          <p:cNvGrpSpPr/>
          <p:nvPr/>
        </p:nvGrpSpPr>
        <p:grpSpPr>
          <a:xfrm>
            <a:off x="1845678" y="1490867"/>
            <a:ext cx="880643" cy="783212"/>
            <a:chOff x="2143911" y="1188397"/>
            <a:chExt cx="1336930" cy="1189017"/>
          </a:xfrm>
        </p:grpSpPr>
        <p:grpSp>
          <p:nvGrpSpPr>
            <p:cNvPr id="3" name="Group 2">
              <a:extLst>
                <a:ext uri="{FF2B5EF4-FFF2-40B4-BE49-F238E27FC236}">
                  <a16:creationId xmlns:a16="http://schemas.microsoft.com/office/drawing/2014/main" id="{02450EEA-DF00-6677-4EF8-F8D6F1E69F00}"/>
                </a:ext>
              </a:extLst>
            </p:cNvPr>
            <p:cNvGrpSpPr/>
            <p:nvPr/>
          </p:nvGrpSpPr>
          <p:grpSpPr>
            <a:xfrm rot="18900000">
              <a:off x="3166073" y="1923194"/>
              <a:ext cx="314768" cy="218274"/>
              <a:chOff x="4098130" y="2042011"/>
              <a:chExt cx="5104134" cy="3368189"/>
            </a:xfrm>
          </p:grpSpPr>
          <p:sp>
            <p:nvSpPr>
              <p:cNvPr id="5" name="Freeform: Shape 4">
                <a:extLst>
                  <a:ext uri="{FF2B5EF4-FFF2-40B4-BE49-F238E27FC236}">
                    <a16:creationId xmlns:a16="http://schemas.microsoft.com/office/drawing/2014/main" id="{0B3D2578-2E01-7F9E-291A-CB34ED6CC6B2}"/>
                  </a:ext>
                </a:extLst>
              </p:cNvPr>
              <p:cNvSpPr/>
              <p:nvPr/>
            </p:nvSpPr>
            <p:spPr>
              <a:xfrm>
                <a:off x="4198620" y="2750820"/>
                <a:ext cx="4892040" cy="777240"/>
              </a:xfrm>
              <a:custGeom>
                <a:avLst/>
                <a:gdLst>
                  <a:gd name="connsiteX0" fmla="*/ 15240 w 4892040"/>
                  <a:gd name="connsiteY0" fmla="*/ 83820 h 777240"/>
                  <a:gd name="connsiteX1" fmla="*/ 1272540 w 4892040"/>
                  <a:gd name="connsiteY1" fmla="*/ 0 h 777240"/>
                  <a:gd name="connsiteX2" fmla="*/ 3665220 w 4892040"/>
                  <a:gd name="connsiteY2" fmla="*/ 0 h 777240"/>
                  <a:gd name="connsiteX3" fmla="*/ 4892040 w 4892040"/>
                  <a:gd name="connsiteY3" fmla="*/ 91440 h 777240"/>
                  <a:gd name="connsiteX4" fmla="*/ 4892040 w 4892040"/>
                  <a:gd name="connsiteY4" fmla="*/ 601980 h 777240"/>
                  <a:gd name="connsiteX5" fmla="*/ 3634740 w 4892040"/>
                  <a:gd name="connsiteY5" fmla="*/ 777240 h 777240"/>
                  <a:gd name="connsiteX6" fmla="*/ 1264920 w 4892040"/>
                  <a:gd name="connsiteY6" fmla="*/ 777240 h 777240"/>
                  <a:gd name="connsiteX7" fmla="*/ 0 w 4892040"/>
                  <a:gd name="connsiteY7" fmla="*/ 594360 h 777240"/>
                  <a:gd name="connsiteX8" fmla="*/ 15240 w 4892040"/>
                  <a:gd name="connsiteY8" fmla="*/ 83820 h 777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92040" h="777240">
                    <a:moveTo>
                      <a:pt x="15240" y="83820"/>
                    </a:moveTo>
                    <a:lnTo>
                      <a:pt x="1272540" y="0"/>
                    </a:lnTo>
                    <a:lnTo>
                      <a:pt x="3665220" y="0"/>
                    </a:lnTo>
                    <a:lnTo>
                      <a:pt x="4892040" y="91440"/>
                    </a:lnTo>
                    <a:lnTo>
                      <a:pt x="4892040" y="601980"/>
                    </a:lnTo>
                    <a:lnTo>
                      <a:pt x="3634740" y="777240"/>
                    </a:lnTo>
                    <a:lnTo>
                      <a:pt x="1264920" y="777240"/>
                    </a:lnTo>
                    <a:lnTo>
                      <a:pt x="0" y="594360"/>
                    </a:lnTo>
                    <a:lnTo>
                      <a:pt x="15240" y="83820"/>
                    </a:lnTo>
                    <a:close/>
                  </a:path>
                </a:pathLst>
              </a:cu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reeform: Shape 5">
                <a:extLst>
                  <a:ext uri="{FF2B5EF4-FFF2-40B4-BE49-F238E27FC236}">
                    <a16:creationId xmlns:a16="http://schemas.microsoft.com/office/drawing/2014/main" id="{486EBE1D-EDE2-BFD2-7306-51CB46A5C500}"/>
                  </a:ext>
                </a:extLst>
              </p:cNvPr>
              <p:cNvSpPr/>
              <p:nvPr/>
            </p:nvSpPr>
            <p:spPr>
              <a:xfrm>
                <a:off x="9089231" y="2840832"/>
                <a:ext cx="113033" cy="511968"/>
              </a:xfrm>
              <a:custGeom>
                <a:avLst/>
                <a:gdLst>
                  <a:gd name="connsiteX0" fmla="*/ 0 w 113033"/>
                  <a:gd name="connsiteY0" fmla="*/ 5388 h 510213"/>
                  <a:gd name="connsiteX1" fmla="*/ 104775 w 113033"/>
                  <a:gd name="connsiteY1" fmla="*/ 60156 h 510213"/>
                  <a:gd name="connsiteX2" fmla="*/ 95250 w 113033"/>
                  <a:gd name="connsiteY2" fmla="*/ 434013 h 510213"/>
                  <a:gd name="connsiteX3" fmla="*/ 7144 w 113033"/>
                  <a:gd name="connsiteY3" fmla="*/ 510213 h 510213"/>
                  <a:gd name="connsiteX0" fmla="*/ 0 w 113033"/>
                  <a:gd name="connsiteY0" fmla="*/ 1642 h 506467"/>
                  <a:gd name="connsiteX1" fmla="*/ 104775 w 113033"/>
                  <a:gd name="connsiteY1" fmla="*/ 87367 h 506467"/>
                  <a:gd name="connsiteX2" fmla="*/ 95250 w 113033"/>
                  <a:gd name="connsiteY2" fmla="*/ 430267 h 506467"/>
                  <a:gd name="connsiteX3" fmla="*/ 7144 w 113033"/>
                  <a:gd name="connsiteY3" fmla="*/ 506467 h 506467"/>
                  <a:gd name="connsiteX0" fmla="*/ 0 w 113033"/>
                  <a:gd name="connsiteY0" fmla="*/ 0 h 504825"/>
                  <a:gd name="connsiteX1" fmla="*/ 104775 w 113033"/>
                  <a:gd name="connsiteY1" fmla="*/ 85725 h 504825"/>
                  <a:gd name="connsiteX2" fmla="*/ 95250 w 113033"/>
                  <a:gd name="connsiteY2" fmla="*/ 428625 h 504825"/>
                  <a:gd name="connsiteX3" fmla="*/ 7144 w 113033"/>
                  <a:gd name="connsiteY3" fmla="*/ 504825 h 504825"/>
                  <a:gd name="connsiteX0" fmla="*/ 0 w 113033"/>
                  <a:gd name="connsiteY0" fmla="*/ 0 h 504825"/>
                  <a:gd name="connsiteX1" fmla="*/ 104775 w 113033"/>
                  <a:gd name="connsiteY1" fmla="*/ 85725 h 504825"/>
                  <a:gd name="connsiteX2" fmla="*/ 95250 w 113033"/>
                  <a:gd name="connsiteY2" fmla="*/ 428625 h 504825"/>
                  <a:gd name="connsiteX3" fmla="*/ 7144 w 113033"/>
                  <a:gd name="connsiteY3" fmla="*/ 504825 h 504825"/>
                </a:gdLst>
                <a:ahLst/>
                <a:cxnLst>
                  <a:cxn ang="0">
                    <a:pos x="connsiteX0" y="connsiteY0"/>
                  </a:cxn>
                  <a:cxn ang="0">
                    <a:pos x="connsiteX1" y="connsiteY1"/>
                  </a:cxn>
                  <a:cxn ang="0">
                    <a:pos x="connsiteX2" y="connsiteY2"/>
                  </a:cxn>
                  <a:cxn ang="0">
                    <a:pos x="connsiteX3" y="connsiteY3"/>
                  </a:cxn>
                </a:cxnLst>
                <a:rect l="l" t="t" r="r" b="b"/>
                <a:pathLst>
                  <a:path w="113033" h="504825">
                    <a:moveTo>
                      <a:pt x="0" y="0"/>
                    </a:moveTo>
                    <a:cubicBezTo>
                      <a:pt x="58737" y="8334"/>
                      <a:pt x="88900" y="14288"/>
                      <a:pt x="104775" y="85725"/>
                    </a:cubicBezTo>
                    <a:cubicBezTo>
                      <a:pt x="120650" y="157162"/>
                      <a:pt x="111522" y="358775"/>
                      <a:pt x="95250" y="428625"/>
                    </a:cubicBezTo>
                    <a:cubicBezTo>
                      <a:pt x="78978" y="498475"/>
                      <a:pt x="43061" y="492490"/>
                      <a:pt x="7144" y="504825"/>
                    </a:cubicBezTo>
                  </a:path>
                </a:pathLst>
              </a:cu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Freeform: Shape 6">
                <a:extLst>
                  <a:ext uri="{FF2B5EF4-FFF2-40B4-BE49-F238E27FC236}">
                    <a16:creationId xmlns:a16="http://schemas.microsoft.com/office/drawing/2014/main" id="{4087A4D0-7541-D526-4133-18A9B619649B}"/>
                  </a:ext>
                </a:extLst>
              </p:cNvPr>
              <p:cNvSpPr/>
              <p:nvPr/>
            </p:nvSpPr>
            <p:spPr>
              <a:xfrm flipH="1">
                <a:off x="4098130" y="2833688"/>
                <a:ext cx="113033" cy="511968"/>
              </a:xfrm>
              <a:custGeom>
                <a:avLst/>
                <a:gdLst>
                  <a:gd name="connsiteX0" fmla="*/ 0 w 113033"/>
                  <a:gd name="connsiteY0" fmla="*/ 5388 h 510213"/>
                  <a:gd name="connsiteX1" fmla="*/ 104775 w 113033"/>
                  <a:gd name="connsiteY1" fmla="*/ 60156 h 510213"/>
                  <a:gd name="connsiteX2" fmla="*/ 95250 w 113033"/>
                  <a:gd name="connsiteY2" fmla="*/ 434013 h 510213"/>
                  <a:gd name="connsiteX3" fmla="*/ 7144 w 113033"/>
                  <a:gd name="connsiteY3" fmla="*/ 510213 h 510213"/>
                  <a:gd name="connsiteX0" fmla="*/ 0 w 113033"/>
                  <a:gd name="connsiteY0" fmla="*/ 1642 h 506467"/>
                  <a:gd name="connsiteX1" fmla="*/ 104775 w 113033"/>
                  <a:gd name="connsiteY1" fmla="*/ 87367 h 506467"/>
                  <a:gd name="connsiteX2" fmla="*/ 95250 w 113033"/>
                  <a:gd name="connsiteY2" fmla="*/ 430267 h 506467"/>
                  <a:gd name="connsiteX3" fmla="*/ 7144 w 113033"/>
                  <a:gd name="connsiteY3" fmla="*/ 506467 h 506467"/>
                  <a:gd name="connsiteX0" fmla="*/ 0 w 113033"/>
                  <a:gd name="connsiteY0" fmla="*/ 0 h 504825"/>
                  <a:gd name="connsiteX1" fmla="*/ 104775 w 113033"/>
                  <a:gd name="connsiteY1" fmla="*/ 85725 h 504825"/>
                  <a:gd name="connsiteX2" fmla="*/ 95250 w 113033"/>
                  <a:gd name="connsiteY2" fmla="*/ 428625 h 504825"/>
                  <a:gd name="connsiteX3" fmla="*/ 7144 w 113033"/>
                  <a:gd name="connsiteY3" fmla="*/ 504825 h 504825"/>
                  <a:gd name="connsiteX0" fmla="*/ 0 w 113033"/>
                  <a:gd name="connsiteY0" fmla="*/ 0 h 504825"/>
                  <a:gd name="connsiteX1" fmla="*/ 104775 w 113033"/>
                  <a:gd name="connsiteY1" fmla="*/ 85725 h 504825"/>
                  <a:gd name="connsiteX2" fmla="*/ 95250 w 113033"/>
                  <a:gd name="connsiteY2" fmla="*/ 428625 h 504825"/>
                  <a:gd name="connsiteX3" fmla="*/ 7144 w 113033"/>
                  <a:gd name="connsiteY3" fmla="*/ 504825 h 504825"/>
                </a:gdLst>
                <a:ahLst/>
                <a:cxnLst>
                  <a:cxn ang="0">
                    <a:pos x="connsiteX0" y="connsiteY0"/>
                  </a:cxn>
                  <a:cxn ang="0">
                    <a:pos x="connsiteX1" y="connsiteY1"/>
                  </a:cxn>
                  <a:cxn ang="0">
                    <a:pos x="connsiteX2" y="connsiteY2"/>
                  </a:cxn>
                  <a:cxn ang="0">
                    <a:pos x="connsiteX3" y="connsiteY3"/>
                  </a:cxn>
                </a:cxnLst>
                <a:rect l="l" t="t" r="r" b="b"/>
                <a:pathLst>
                  <a:path w="113033" h="504825">
                    <a:moveTo>
                      <a:pt x="0" y="0"/>
                    </a:moveTo>
                    <a:cubicBezTo>
                      <a:pt x="58737" y="8334"/>
                      <a:pt x="88900" y="14288"/>
                      <a:pt x="104775" y="85725"/>
                    </a:cubicBezTo>
                    <a:cubicBezTo>
                      <a:pt x="120650" y="157162"/>
                      <a:pt x="111522" y="358775"/>
                      <a:pt x="95250" y="428625"/>
                    </a:cubicBezTo>
                    <a:cubicBezTo>
                      <a:pt x="78978" y="498475"/>
                      <a:pt x="43061" y="492490"/>
                      <a:pt x="7144" y="504825"/>
                    </a:cubicBezTo>
                  </a:path>
                </a:pathLst>
              </a:cu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Freeform: Shape 7">
                <a:extLst>
                  <a:ext uri="{FF2B5EF4-FFF2-40B4-BE49-F238E27FC236}">
                    <a16:creationId xmlns:a16="http://schemas.microsoft.com/office/drawing/2014/main" id="{7A17D7AD-140B-94FF-0481-34F3965ED541}"/>
                  </a:ext>
                </a:extLst>
              </p:cNvPr>
              <p:cNvSpPr/>
              <p:nvPr/>
            </p:nvSpPr>
            <p:spPr>
              <a:xfrm>
                <a:off x="5838825" y="4810125"/>
                <a:ext cx="844550" cy="600075"/>
              </a:xfrm>
              <a:custGeom>
                <a:avLst/>
                <a:gdLst>
                  <a:gd name="connsiteX0" fmla="*/ 806450 w 825500"/>
                  <a:gd name="connsiteY0" fmla="*/ 0 h 600075"/>
                  <a:gd name="connsiteX1" fmla="*/ 0 w 825500"/>
                  <a:gd name="connsiteY1" fmla="*/ 130175 h 600075"/>
                  <a:gd name="connsiteX2" fmla="*/ 9525 w 825500"/>
                  <a:gd name="connsiteY2" fmla="*/ 441325 h 600075"/>
                  <a:gd name="connsiteX3" fmla="*/ 695325 w 825500"/>
                  <a:gd name="connsiteY3" fmla="*/ 600075 h 600075"/>
                  <a:gd name="connsiteX4" fmla="*/ 765175 w 825500"/>
                  <a:gd name="connsiteY4" fmla="*/ 400050 h 600075"/>
                  <a:gd name="connsiteX5" fmla="*/ 825500 w 825500"/>
                  <a:gd name="connsiteY5" fmla="*/ 396875 h 600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5500" h="600075">
                    <a:moveTo>
                      <a:pt x="806450" y="0"/>
                    </a:moveTo>
                    <a:lnTo>
                      <a:pt x="0" y="130175"/>
                    </a:lnTo>
                    <a:lnTo>
                      <a:pt x="9525" y="441325"/>
                    </a:lnTo>
                    <a:lnTo>
                      <a:pt x="695325" y="600075"/>
                    </a:lnTo>
                    <a:lnTo>
                      <a:pt x="765175" y="400050"/>
                    </a:lnTo>
                    <a:lnTo>
                      <a:pt x="825500" y="396875"/>
                    </a:lnTo>
                  </a:path>
                </a:pathLst>
              </a:cu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8">
                <a:extLst>
                  <a:ext uri="{FF2B5EF4-FFF2-40B4-BE49-F238E27FC236}">
                    <a16:creationId xmlns:a16="http://schemas.microsoft.com/office/drawing/2014/main" id="{D138FA76-B85E-EFF5-F211-90A348EF7944}"/>
                  </a:ext>
                </a:extLst>
              </p:cNvPr>
              <p:cNvSpPr/>
              <p:nvPr/>
            </p:nvSpPr>
            <p:spPr>
              <a:xfrm flipH="1">
                <a:off x="6638925" y="4810125"/>
                <a:ext cx="844550" cy="600075"/>
              </a:xfrm>
              <a:custGeom>
                <a:avLst/>
                <a:gdLst>
                  <a:gd name="connsiteX0" fmla="*/ 806450 w 825500"/>
                  <a:gd name="connsiteY0" fmla="*/ 0 h 600075"/>
                  <a:gd name="connsiteX1" fmla="*/ 0 w 825500"/>
                  <a:gd name="connsiteY1" fmla="*/ 130175 h 600075"/>
                  <a:gd name="connsiteX2" fmla="*/ 9525 w 825500"/>
                  <a:gd name="connsiteY2" fmla="*/ 441325 h 600075"/>
                  <a:gd name="connsiteX3" fmla="*/ 695325 w 825500"/>
                  <a:gd name="connsiteY3" fmla="*/ 600075 h 600075"/>
                  <a:gd name="connsiteX4" fmla="*/ 765175 w 825500"/>
                  <a:gd name="connsiteY4" fmla="*/ 400050 h 600075"/>
                  <a:gd name="connsiteX5" fmla="*/ 825500 w 825500"/>
                  <a:gd name="connsiteY5" fmla="*/ 396875 h 600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5500" h="600075">
                    <a:moveTo>
                      <a:pt x="806450" y="0"/>
                    </a:moveTo>
                    <a:lnTo>
                      <a:pt x="0" y="130175"/>
                    </a:lnTo>
                    <a:lnTo>
                      <a:pt x="9525" y="441325"/>
                    </a:lnTo>
                    <a:lnTo>
                      <a:pt x="695325" y="600075"/>
                    </a:lnTo>
                    <a:lnTo>
                      <a:pt x="765175" y="400050"/>
                    </a:lnTo>
                    <a:lnTo>
                      <a:pt x="825500" y="396875"/>
                    </a:lnTo>
                  </a:path>
                </a:pathLst>
              </a:cu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B25CE093-9502-52B5-13E3-125F0AA15067}"/>
                  </a:ext>
                </a:extLst>
              </p:cNvPr>
              <p:cNvGrpSpPr/>
              <p:nvPr/>
            </p:nvGrpSpPr>
            <p:grpSpPr>
              <a:xfrm>
                <a:off x="6362085" y="2042011"/>
                <a:ext cx="581640" cy="3185309"/>
                <a:chOff x="6390660" y="2042011"/>
                <a:chExt cx="516395" cy="3185309"/>
              </a:xfrm>
            </p:grpSpPr>
            <p:sp>
              <p:nvSpPr>
                <p:cNvPr id="11" name="Freeform: Shape 10">
                  <a:extLst>
                    <a:ext uri="{FF2B5EF4-FFF2-40B4-BE49-F238E27FC236}">
                      <a16:creationId xmlns:a16="http://schemas.microsoft.com/office/drawing/2014/main" id="{3630D2CA-063C-1955-E4BB-8904DEF0649C}"/>
                    </a:ext>
                  </a:extLst>
                </p:cNvPr>
                <p:cNvSpPr/>
                <p:nvPr/>
              </p:nvSpPr>
              <p:spPr>
                <a:xfrm>
                  <a:off x="6390660" y="2042011"/>
                  <a:ext cx="271126" cy="3185309"/>
                </a:xfrm>
                <a:custGeom>
                  <a:avLst/>
                  <a:gdLst>
                    <a:gd name="connsiteX0" fmla="*/ 303373 w 303373"/>
                    <a:gd name="connsiteY0" fmla="*/ 74102 h 3259262"/>
                    <a:gd name="connsiteX1" fmla="*/ 112873 w 303373"/>
                    <a:gd name="connsiteY1" fmla="*/ 66482 h 3259262"/>
                    <a:gd name="connsiteX2" fmla="*/ 13813 w 303373"/>
                    <a:gd name="connsiteY2" fmla="*/ 782762 h 3259262"/>
                    <a:gd name="connsiteX3" fmla="*/ 29053 w 303373"/>
                    <a:gd name="connsiteY3" fmla="*/ 1712402 h 3259262"/>
                    <a:gd name="connsiteX4" fmla="*/ 272893 w 303373"/>
                    <a:gd name="connsiteY4" fmla="*/ 3259262 h 3259262"/>
                    <a:gd name="connsiteX0" fmla="*/ 300896 w 300896"/>
                    <a:gd name="connsiteY0" fmla="*/ 56236 h 3241396"/>
                    <a:gd name="connsiteX1" fmla="*/ 69915 w 300896"/>
                    <a:gd name="connsiteY1" fmla="*/ 79572 h 3241396"/>
                    <a:gd name="connsiteX2" fmla="*/ 11336 w 300896"/>
                    <a:gd name="connsiteY2" fmla="*/ 764896 h 3241396"/>
                    <a:gd name="connsiteX3" fmla="*/ 26576 w 300896"/>
                    <a:gd name="connsiteY3" fmla="*/ 1694536 h 3241396"/>
                    <a:gd name="connsiteX4" fmla="*/ 270416 w 300896"/>
                    <a:gd name="connsiteY4" fmla="*/ 3241396 h 3241396"/>
                    <a:gd name="connsiteX0" fmla="*/ 300896 w 300896"/>
                    <a:gd name="connsiteY0" fmla="*/ 22805 h 3207965"/>
                    <a:gd name="connsiteX1" fmla="*/ 69915 w 300896"/>
                    <a:gd name="connsiteY1" fmla="*/ 46141 h 3207965"/>
                    <a:gd name="connsiteX2" fmla="*/ 11336 w 300896"/>
                    <a:gd name="connsiteY2" fmla="*/ 731465 h 3207965"/>
                    <a:gd name="connsiteX3" fmla="*/ 26576 w 300896"/>
                    <a:gd name="connsiteY3" fmla="*/ 1661105 h 3207965"/>
                    <a:gd name="connsiteX4" fmla="*/ 270416 w 300896"/>
                    <a:gd name="connsiteY4" fmla="*/ 3207965 h 3207965"/>
                    <a:gd name="connsiteX0" fmla="*/ 301178 w 301178"/>
                    <a:gd name="connsiteY0" fmla="*/ 26120 h 3211280"/>
                    <a:gd name="connsiteX1" fmla="*/ 74959 w 301178"/>
                    <a:gd name="connsiteY1" fmla="*/ 32787 h 3211280"/>
                    <a:gd name="connsiteX2" fmla="*/ 11618 w 301178"/>
                    <a:gd name="connsiteY2" fmla="*/ 734780 h 3211280"/>
                    <a:gd name="connsiteX3" fmla="*/ 26858 w 301178"/>
                    <a:gd name="connsiteY3" fmla="*/ 1664420 h 3211280"/>
                    <a:gd name="connsiteX4" fmla="*/ 270698 w 301178"/>
                    <a:gd name="connsiteY4" fmla="*/ 3211280 h 3211280"/>
                    <a:gd name="connsiteX0" fmla="*/ 301178 w 301178"/>
                    <a:gd name="connsiteY0" fmla="*/ 75 h 3185235"/>
                    <a:gd name="connsiteX1" fmla="*/ 74959 w 301178"/>
                    <a:gd name="connsiteY1" fmla="*/ 6742 h 3185235"/>
                    <a:gd name="connsiteX2" fmla="*/ 11618 w 301178"/>
                    <a:gd name="connsiteY2" fmla="*/ 708735 h 3185235"/>
                    <a:gd name="connsiteX3" fmla="*/ 26858 w 301178"/>
                    <a:gd name="connsiteY3" fmla="*/ 1638375 h 3185235"/>
                    <a:gd name="connsiteX4" fmla="*/ 270698 w 301178"/>
                    <a:gd name="connsiteY4" fmla="*/ 3185235 h 3185235"/>
                    <a:gd name="connsiteX0" fmla="*/ 270221 w 270698"/>
                    <a:gd name="connsiteY0" fmla="*/ 47837 h 3232997"/>
                    <a:gd name="connsiteX1" fmla="*/ 74959 w 270698"/>
                    <a:gd name="connsiteY1" fmla="*/ 54504 h 3232997"/>
                    <a:gd name="connsiteX2" fmla="*/ 11618 w 270698"/>
                    <a:gd name="connsiteY2" fmla="*/ 756497 h 3232997"/>
                    <a:gd name="connsiteX3" fmla="*/ 26858 w 270698"/>
                    <a:gd name="connsiteY3" fmla="*/ 1686137 h 3232997"/>
                    <a:gd name="connsiteX4" fmla="*/ 270698 w 270698"/>
                    <a:gd name="connsiteY4" fmla="*/ 3232997 h 3232997"/>
                    <a:gd name="connsiteX0" fmla="*/ 270221 w 270698"/>
                    <a:gd name="connsiteY0" fmla="*/ 149 h 3185309"/>
                    <a:gd name="connsiteX1" fmla="*/ 74959 w 270698"/>
                    <a:gd name="connsiteY1" fmla="*/ 6816 h 3185309"/>
                    <a:gd name="connsiteX2" fmla="*/ 11618 w 270698"/>
                    <a:gd name="connsiteY2" fmla="*/ 708809 h 3185309"/>
                    <a:gd name="connsiteX3" fmla="*/ 26858 w 270698"/>
                    <a:gd name="connsiteY3" fmla="*/ 1638449 h 3185309"/>
                    <a:gd name="connsiteX4" fmla="*/ 270698 w 270698"/>
                    <a:gd name="connsiteY4" fmla="*/ 3185309 h 3185309"/>
                    <a:gd name="connsiteX0" fmla="*/ 270221 w 270698"/>
                    <a:gd name="connsiteY0" fmla="*/ 149 h 3185309"/>
                    <a:gd name="connsiteX1" fmla="*/ 74959 w 270698"/>
                    <a:gd name="connsiteY1" fmla="*/ 6816 h 3185309"/>
                    <a:gd name="connsiteX2" fmla="*/ 11618 w 270698"/>
                    <a:gd name="connsiteY2" fmla="*/ 708809 h 3185309"/>
                    <a:gd name="connsiteX3" fmla="*/ 26858 w 270698"/>
                    <a:gd name="connsiteY3" fmla="*/ 1638449 h 3185309"/>
                    <a:gd name="connsiteX4" fmla="*/ 270698 w 270698"/>
                    <a:gd name="connsiteY4" fmla="*/ 3185309 h 3185309"/>
                    <a:gd name="connsiteX0" fmla="*/ 270649 w 271126"/>
                    <a:gd name="connsiteY0" fmla="*/ 149 h 3185309"/>
                    <a:gd name="connsiteX1" fmla="*/ 82531 w 271126"/>
                    <a:gd name="connsiteY1" fmla="*/ 6816 h 3185309"/>
                    <a:gd name="connsiteX2" fmla="*/ 12046 w 271126"/>
                    <a:gd name="connsiteY2" fmla="*/ 708809 h 3185309"/>
                    <a:gd name="connsiteX3" fmla="*/ 27286 w 271126"/>
                    <a:gd name="connsiteY3" fmla="*/ 1638449 h 3185309"/>
                    <a:gd name="connsiteX4" fmla="*/ 271126 w 271126"/>
                    <a:gd name="connsiteY4" fmla="*/ 3185309 h 31853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1126" h="3185309">
                      <a:moveTo>
                        <a:pt x="270649" y="149"/>
                      </a:moveTo>
                      <a:cubicBezTo>
                        <a:pt x="170954" y="-804"/>
                        <a:pt x="123250" y="3006"/>
                        <a:pt x="82531" y="6816"/>
                      </a:cubicBezTo>
                      <a:cubicBezTo>
                        <a:pt x="41812" y="10626"/>
                        <a:pt x="21253" y="436870"/>
                        <a:pt x="12046" y="708809"/>
                      </a:cubicBezTo>
                      <a:cubicBezTo>
                        <a:pt x="2839" y="980748"/>
                        <a:pt x="-15894" y="1225699"/>
                        <a:pt x="27286" y="1638449"/>
                      </a:cubicBezTo>
                      <a:cubicBezTo>
                        <a:pt x="70466" y="2051199"/>
                        <a:pt x="170796" y="2618254"/>
                        <a:pt x="271126" y="3185309"/>
                      </a:cubicBezTo>
                    </a:path>
                  </a:pathLst>
                </a:cu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24E2CE38-220B-749E-6F9B-538A03B8F218}"/>
                    </a:ext>
                  </a:extLst>
                </p:cNvPr>
                <p:cNvSpPr/>
                <p:nvPr/>
              </p:nvSpPr>
              <p:spPr>
                <a:xfrm flipH="1">
                  <a:off x="6635929" y="2042011"/>
                  <a:ext cx="271126" cy="3185309"/>
                </a:xfrm>
                <a:custGeom>
                  <a:avLst/>
                  <a:gdLst>
                    <a:gd name="connsiteX0" fmla="*/ 303373 w 303373"/>
                    <a:gd name="connsiteY0" fmla="*/ 74102 h 3259262"/>
                    <a:gd name="connsiteX1" fmla="*/ 112873 w 303373"/>
                    <a:gd name="connsiteY1" fmla="*/ 66482 h 3259262"/>
                    <a:gd name="connsiteX2" fmla="*/ 13813 w 303373"/>
                    <a:gd name="connsiteY2" fmla="*/ 782762 h 3259262"/>
                    <a:gd name="connsiteX3" fmla="*/ 29053 w 303373"/>
                    <a:gd name="connsiteY3" fmla="*/ 1712402 h 3259262"/>
                    <a:gd name="connsiteX4" fmla="*/ 272893 w 303373"/>
                    <a:gd name="connsiteY4" fmla="*/ 3259262 h 3259262"/>
                    <a:gd name="connsiteX0" fmla="*/ 300896 w 300896"/>
                    <a:gd name="connsiteY0" fmla="*/ 56236 h 3241396"/>
                    <a:gd name="connsiteX1" fmla="*/ 69915 w 300896"/>
                    <a:gd name="connsiteY1" fmla="*/ 79572 h 3241396"/>
                    <a:gd name="connsiteX2" fmla="*/ 11336 w 300896"/>
                    <a:gd name="connsiteY2" fmla="*/ 764896 h 3241396"/>
                    <a:gd name="connsiteX3" fmla="*/ 26576 w 300896"/>
                    <a:gd name="connsiteY3" fmla="*/ 1694536 h 3241396"/>
                    <a:gd name="connsiteX4" fmla="*/ 270416 w 300896"/>
                    <a:gd name="connsiteY4" fmla="*/ 3241396 h 3241396"/>
                    <a:gd name="connsiteX0" fmla="*/ 300896 w 300896"/>
                    <a:gd name="connsiteY0" fmla="*/ 22805 h 3207965"/>
                    <a:gd name="connsiteX1" fmla="*/ 69915 w 300896"/>
                    <a:gd name="connsiteY1" fmla="*/ 46141 h 3207965"/>
                    <a:gd name="connsiteX2" fmla="*/ 11336 w 300896"/>
                    <a:gd name="connsiteY2" fmla="*/ 731465 h 3207965"/>
                    <a:gd name="connsiteX3" fmla="*/ 26576 w 300896"/>
                    <a:gd name="connsiteY3" fmla="*/ 1661105 h 3207965"/>
                    <a:gd name="connsiteX4" fmla="*/ 270416 w 300896"/>
                    <a:gd name="connsiteY4" fmla="*/ 3207965 h 3207965"/>
                    <a:gd name="connsiteX0" fmla="*/ 301178 w 301178"/>
                    <a:gd name="connsiteY0" fmla="*/ 26120 h 3211280"/>
                    <a:gd name="connsiteX1" fmla="*/ 74959 w 301178"/>
                    <a:gd name="connsiteY1" fmla="*/ 32787 h 3211280"/>
                    <a:gd name="connsiteX2" fmla="*/ 11618 w 301178"/>
                    <a:gd name="connsiteY2" fmla="*/ 734780 h 3211280"/>
                    <a:gd name="connsiteX3" fmla="*/ 26858 w 301178"/>
                    <a:gd name="connsiteY3" fmla="*/ 1664420 h 3211280"/>
                    <a:gd name="connsiteX4" fmla="*/ 270698 w 301178"/>
                    <a:gd name="connsiteY4" fmla="*/ 3211280 h 3211280"/>
                    <a:gd name="connsiteX0" fmla="*/ 301178 w 301178"/>
                    <a:gd name="connsiteY0" fmla="*/ 75 h 3185235"/>
                    <a:gd name="connsiteX1" fmla="*/ 74959 w 301178"/>
                    <a:gd name="connsiteY1" fmla="*/ 6742 h 3185235"/>
                    <a:gd name="connsiteX2" fmla="*/ 11618 w 301178"/>
                    <a:gd name="connsiteY2" fmla="*/ 708735 h 3185235"/>
                    <a:gd name="connsiteX3" fmla="*/ 26858 w 301178"/>
                    <a:gd name="connsiteY3" fmla="*/ 1638375 h 3185235"/>
                    <a:gd name="connsiteX4" fmla="*/ 270698 w 301178"/>
                    <a:gd name="connsiteY4" fmla="*/ 3185235 h 3185235"/>
                    <a:gd name="connsiteX0" fmla="*/ 270221 w 270698"/>
                    <a:gd name="connsiteY0" fmla="*/ 47837 h 3232997"/>
                    <a:gd name="connsiteX1" fmla="*/ 74959 w 270698"/>
                    <a:gd name="connsiteY1" fmla="*/ 54504 h 3232997"/>
                    <a:gd name="connsiteX2" fmla="*/ 11618 w 270698"/>
                    <a:gd name="connsiteY2" fmla="*/ 756497 h 3232997"/>
                    <a:gd name="connsiteX3" fmla="*/ 26858 w 270698"/>
                    <a:gd name="connsiteY3" fmla="*/ 1686137 h 3232997"/>
                    <a:gd name="connsiteX4" fmla="*/ 270698 w 270698"/>
                    <a:gd name="connsiteY4" fmla="*/ 3232997 h 3232997"/>
                    <a:gd name="connsiteX0" fmla="*/ 270221 w 270698"/>
                    <a:gd name="connsiteY0" fmla="*/ 149 h 3185309"/>
                    <a:gd name="connsiteX1" fmla="*/ 74959 w 270698"/>
                    <a:gd name="connsiteY1" fmla="*/ 6816 h 3185309"/>
                    <a:gd name="connsiteX2" fmla="*/ 11618 w 270698"/>
                    <a:gd name="connsiteY2" fmla="*/ 708809 h 3185309"/>
                    <a:gd name="connsiteX3" fmla="*/ 26858 w 270698"/>
                    <a:gd name="connsiteY3" fmla="*/ 1638449 h 3185309"/>
                    <a:gd name="connsiteX4" fmla="*/ 270698 w 270698"/>
                    <a:gd name="connsiteY4" fmla="*/ 3185309 h 3185309"/>
                    <a:gd name="connsiteX0" fmla="*/ 270221 w 270698"/>
                    <a:gd name="connsiteY0" fmla="*/ 149 h 3185309"/>
                    <a:gd name="connsiteX1" fmla="*/ 74959 w 270698"/>
                    <a:gd name="connsiteY1" fmla="*/ 6816 h 3185309"/>
                    <a:gd name="connsiteX2" fmla="*/ 11618 w 270698"/>
                    <a:gd name="connsiteY2" fmla="*/ 708809 h 3185309"/>
                    <a:gd name="connsiteX3" fmla="*/ 26858 w 270698"/>
                    <a:gd name="connsiteY3" fmla="*/ 1638449 h 3185309"/>
                    <a:gd name="connsiteX4" fmla="*/ 270698 w 270698"/>
                    <a:gd name="connsiteY4" fmla="*/ 3185309 h 3185309"/>
                    <a:gd name="connsiteX0" fmla="*/ 270649 w 271126"/>
                    <a:gd name="connsiteY0" fmla="*/ 149 h 3185309"/>
                    <a:gd name="connsiteX1" fmla="*/ 82531 w 271126"/>
                    <a:gd name="connsiteY1" fmla="*/ 6816 h 3185309"/>
                    <a:gd name="connsiteX2" fmla="*/ 12046 w 271126"/>
                    <a:gd name="connsiteY2" fmla="*/ 708809 h 3185309"/>
                    <a:gd name="connsiteX3" fmla="*/ 27286 w 271126"/>
                    <a:gd name="connsiteY3" fmla="*/ 1638449 h 3185309"/>
                    <a:gd name="connsiteX4" fmla="*/ 271126 w 271126"/>
                    <a:gd name="connsiteY4" fmla="*/ 3185309 h 31853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1126" h="3185309">
                      <a:moveTo>
                        <a:pt x="270649" y="149"/>
                      </a:moveTo>
                      <a:cubicBezTo>
                        <a:pt x="170954" y="-804"/>
                        <a:pt x="123250" y="3006"/>
                        <a:pt x="82531" y="6816"/>
                      </a:cubicBezTo>
                      <a:cubicBezTo>
                        <a:pt x="41812" y="10626"/>
                        <a:pt x="21253" y="436870"/>
                        <a:pt x="12046" y="708809"/>
                      </a:cubicBezTo>
                      <a:cubicBezTo>
                        <a:pt x="2839" y="980748"/>
                        <a:pt x="-15894" y="1225699"/>
                        <a:pt x="27286" y="1638449"/>
                      </a:cubicBezTo>
                      <a:cubicBezTo>
                        <a:pt x="70466" y="2051199"/>
                        <a:pt x="170796" y="2618254"/>
                        <a:pt x="271126" y="3185309"/>
                      </a:cubicBezTo>
                    </a:path>
                  </a:pathLst>
                </a:cu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cxnSp>
          <p:nvCxnSpPr>
            <p:cNvPr id="14" name="Straight Arrow Connector 13">
              <a:extLst>
                <a:ext uri="{FF2B5EF4-FFF2-40B4-BE49-F238E27FC236}">
                  <a16:creationId xmlns:a16="http://schemas.microsoft.com/office/drawing/2014/main" id="{7E3A1B1F-7BD6-2036-B829-5CEF8564D76B}"/>
                </a:ext>
              </a:extLst>
            </p:cNvPr>
            <p:cNvCxnSpPr>
              <a:cxnSpLocks/>
            </p:cNvCxnSpPr>
            <p:nvPr/>
          </p:nvCxnSpPr>
          <p:spPr>
            <a:xfrm flipH="1" flipV="1">
              <a:off x="2486967" y="1188397"/>
              <a:ext cx="742637" cy="75036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9" name="Group 28">
              <a:extLst>
                <a:ext uri="{FF2B5EF4-FFF2-40B4-BE49-F238E27FC236}">
                  <a16:creationId xmlns:a16="http://schemas.microsoft.com/office/drawing/2014/main" id="{814C1D96-D930-799E-9CC3-010729E53B32}"/>
                </a:ext>
              </a:extLst>
            </p:cNvPr>
            <p:cNvGrpSpPr/>
            <p:nvPr/>
          </p:nvGrpSpPr>
          <p:grpSpPr>
            <a:xfrm rot="4000404">
              <a:off x="2123510" y="1403941"/>
              <a:ext cx="993874" cy="953071"/>
              <a:chOff x="1637970" y="1371601"/>
              <a:chExt cx="993874" cy="953071"/>
            </a:xfrm>
          </p:grpSpPr>
          <p:grpSp>
            <p:nvGrpSpPr>
              <p:cNvPr id="19" name="Group 18">
                <a:extLst>
                  <a:ext uri="{FF2B5EF4-FFF2-40B4-BE49-F238E27FC236}">
                    <a16:creationId xmlns:a16="http://schemas.microsoft.com/office/drawing/2014/main" id="{44DB8419-172B-8F94-768F-E16C3099B025}"/>
                  </a:ext>
                </a:extLst>
              </p:cNvPr>
              <p:cNvGrpSpPr/>
              <p:nvPr/>
            </p:nvGrpSpPr>
            <p:grpSpPr>
              <a:xfrm rot="18900000">
                <a:off x="2317076" y="2106398"/>
                <a:ext cx="314768" cy="218274"/>
                <a:chOff x="4098130" y="2042011"/>
                <a:chExt cx="5104134" cy="3368189"/>
              </a:xfrm>
            </p:grpSpPr>
            <p:sp>
              <p:nvSpPr>
                <p:cNvPr id="20" name="Freeform: Shape 19">
                  <a:extLst>
                    <a:ext uri="{FF2B5EF4-FFF2-40B4-BE49-F238E27FC236}">
                      <a16:creationId xmlns:a16="http://schemas.microsoft.com/office/drawing/2014/main" id="{314DF9D3-CDE9-2A97-C20A-5A6D1D603204}"/>
                    </a:ext>
                  </a:extLst>
                </p:cNvPr>
                <p:cNvSpPr/>
                <p:nvPr/>
              </p:nvSpPr>
              <p:spPr>
                <a:xfrm>
                  <a:off x="4198620" y="2750820"/>
                  <a:ext cx="4892040" cy="777240"/>
                </a:xfrm>
                <a:custGeom>
                  <a:avLst/>
                  <a:gdLst>
                    <a:gd name="connsiteX0" fmla="*/ 15240 w 4892040"/>
                    <a:gd name="connsiteY0" fmla="*/ 83820 h 777240"/>
                    <a:gd name="connsiteX1" fmla="*/ 1272540 w 4892040"/>
                    <a:gd name="connsiteY1" fmla="*/ 0 h 777240"/>
                    <a:gd name="connsiteX2" fmla="*/ 3665220 w 4892040"/>
                    <a:gd name="connsiteY2" fmla="*/ 0 h 777240"/>
                    <a:gd name="connsiteX3" fmla="*/ 4892040 w 4892040"/>
                    <a:gd name="connsiteY3" fmla="*/ 91440 h 777240"/>
                    <a:gd name="connsiteX4" fmla="*/ 4892040 w 4892040"/>
                    <a:gd name="connsiteY4" fmla="*/ 601980 h 777240"/>
                    <a:gd name="connsiteX5" fmla="*/ 3634740 w 4892040"/>
                    <a:gd name="connsiteY5" fmla="*/ 777240 h 777240"/>
                    <a:gd name="connsiteX6" fmla="*/ 1264920 w 4892040"/>
                    <a:gd name="connsiteY6" fmla="*/ 777240 h 777240"/>
                    <a:gd name="connsiteX7" fmla="*/ 0 w 4892040"/>
                    <a:gd name="connsiteY7" fmla="*/ 594360 h 777240"/>
                    <a:gd name="connsiteX8" fmla="*/ 15240 w 4892040"/>
                    <a:gd name="connsiteY8" fmla="*/ 83820 h 777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92040" h="777240">
                      <a:moveTo>
                        <a:pt x="15240" y="83820"/>
                      </a:moveTo>
                      <a:lnTo>
                        <a:pt x="1272540" y="0"/>
                      </a:lnTo>
                      <a:lnTo>
                        <a:pt x="3665220" y="0"/>
                      </a:lnTo>
                      <a:lnTo>
                        <a:pt x="4892040" y="91440"/>
                      </a:lnTo>
                      <a:lnTo>
                        <a:pt x="4892040" y="601980"/>
                      </a:lnTo>
                      <a:lnTo>
                        <a:pt x="3634740" y="777240"/>
                      </a:lnTo>
                      <a:lnTo>
                        <a:pt x="1264920" y="777240"/>
                      </a:lnTo>
                      <a:lnTo>
                        <a:pt x="0" y="594360"/>
                      </a:lnTo>
                      <a:lnTo>
                        <a:pt x="15240" y="83820"/>
                      </a:lnTo>
                      <a:close/>
                    </a:path>
                  </a:pathLst>
                </a:cu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Freeform: Shape 20">
                  <a:extLst>
                    <a:ext uri="{FF2B5EF4-FFF2-40B4-BE49-F238E27FC236}">
                      <a16:creationId xmlns:a16="http://schemas.microsoft.com/office/drawing/2014/main" id="{95C0F983-CF14-4580-E92E-98FB5832C95B}"/>
                    </a:ext>
                  </a:extLst>
                </p:cNvPr>
                <p:cNvSpPr/>
                <p:nvPr/>
              </p:nvSpPr>
              <p:spPr>
                <a:xfrm>
                  <a:off x="9089231" y="2840832"/>
                  <a:ext cx="113033" cy="511968"/>
                </a:xfrm>
                <a:custGeom>
                  <a:avLst/>
                  <a:gdLst>
                    <a:gd name="connsiteX0" fmla="*/ 0 w 113033"/>
                    <a:gd name="connsiteY0" fmla="*/ 5388 h 510213"/>
                    <a:gd name="connsiteX1" fmla="*/ 104775 w 113033"/>
                    <a:gd name="connsiteY1" fmla="*/ 60156 h 510213"/>
                    <a:gd name="connsiteX2" fmla="*/ 95250 w 113033"/>
                    <a:gd name="connsiteY2" fmla="*/ 434013 h 510213"/>
                    <a:gd name="connsiteX3" fmla="*/ 7144 w 113033"/>
                    <a:gd name="connsiteY3" fmla="*/ 510213 h 510213"/>
                    <a:gd name="connsiteX0" fmla="*/ 0 w 113033"/>
                    <a:gd name="connsiteY0" fmla="*/ 1642 h 506467"/>
                    <a:gd name="connsiteX1" fmla="*/ 104775 w 113033"/>
                    <a:gd name="connsiteY1" fmla="*/ 87367 h 506467"/>
                    <a:gd name="connsiteX2" fmla="*/ 95250 w 113033"/>
                    <a:gd name="connsiteY2" fmla="*/ 430267 h 506467"/>
                    <a:gd name="connsiteX3" fmla="*/ 7144 w 113033"/>
                    <a:gd name="connsiteY3" fmla="*/ 506467 h 506467"/>
                    <a:gd name="connsiteX0" fmla="*/ 0 w 113033"/>
                    <a:gd name="connsiteY0" fmla="*/ 0 h 504825"/>
                    <a:gd name="connsiteX1" fmla="*/ 104775 w 113033"/>
                    <a:gd name="connsiteY1" fmla="*/ 85725 h 504825"/>
                    <a:gd name="connsiteX2" fmla="*/ 95250 w 113033"/>
                    <a:gd name="connsiteY2" fmla="*/ 428625 h 504825"/>
                    <a:gd name="connsiteX3" fmla="*/ 7144 w 113033"/>
                    <a:gd name="connsiteY3" fmla="*/ 504825 h 504825"/>
                    <a:gd name="connsiteX0" fmla="*/ 0 w 113033"/>
                    <a:gd name="connsiteY0" fmla="*/ 0 h 504825"/>
                    <a:gd name="connsiteX1" fmla="*/ 104775 w 113033"/>
                    <a:gd name="connsiteY1" fmla="*/ 85725 h 504825"/>
                    <a:gd name="connsiteX2" fmla="*/ 95250 w 113033"/>
                    <a:gd name="connsiteY2" fmla="*/ 428625 h 504825"/>
                    <a:gd name="connsiteX3" fmla="*/ 7144 w 113033"/>
                    <a:gd name="connsiteY3" fmla="*/ 504825 h 504825"/>
                  </a:gdLst>
                  <a:ahLst/>
                  <a:cxnLst>
                    <a:cxn ang="0">
                      <a:pos x="connsiteX0" y="connsiteY0"/>
                    </a:cxn>
                    <a:cxn ang="0">
                      <a:pos x="connsiteX1" y="connsiteY1"/>
                    </a:cxn>
                    <a:cxn ang="0">
                      <a:pos x="connsiteX2" y="connsiteY2"/>
                    </a:cxn>
                    <a:cxn ang="0">
                      <a:pos x="connsiteX3" y="connsiteY3"/>
                    </a:cxn>
                  </a:cxnLst>
                  <a:rect l="l" t="t" r="r" b="b"/>
                  <a:pathLst>
                    <a:path w="113033" h="504825">
                      <a:moveTo>
                        <a:pt x="0" y="0"/>
                      </a:moveTo>
                      <a:cubicBezTo>
                        <a:pt x="58737" y="8334"/>
                        <a:pt x="88900" y="14288"/>
                        <a:pt x="104775" y="85725"/>
                      </a:cubicBezTo>
                      <a:cubicBezTo>
                        <a:pt x="120650" y="157162"/>
                        <a:pt x="111522" y="358775"/>
                        <a:pt x="95250" y="428625"/>
                      </a:cubicBezTo>
                      <a:cubicBezTo>
                        <a:pt x="78978" y="498475"/>
                        <a:pt x="43061" y="492490"/>
                        <a:pt x="7144" y="504825"/>
                      </a:cubicBezTo>
                    </a:path>
                  </a:pathLst>
                </a:cu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Freeform: Shape 21">
                  <a:extLst>
                    <a:ext uri="{FF2B5EF4-FFF2-40B4-BE49-F238E27FC236}">
                      <a16:creationId xmlns:a16="http://schemas.microsoft.com/office/drawing/2014/main" id="{7255ED52-602E-EC1E-10DC-1916C14705F0}"/>
                    </a:ext>
                  </a:extLst>
                </p:cNvPr>
                <p:cNvSpPr/>
                <p:nvPr/>
              </p:nvSpPr>
              <p:spPr>
                <a:xfrm flipH="1">
                  <a:off x="4098130" y="2833688"/>
                  <a:ext cx="113033" cy="511968"/>
                </a:xfrm>
                <a:custGeom>
                  <a:avLst/>
                  <a:gdLst>
                    <a:gd name="connsiteX0" fmla="*/ 0 w 113033"/>
                    <a:gd name="connsiteY0" fmla="*/ 5388 h 510213"/>
                    <a:gd name="connsiteX1" fmla="*/ 104775 w 113033"/>
                    <a:gd name="connsiteY1" fmla="*/ 60156 h 510213"/>
                    <a:gd name="connsiteX2" fmla="*/ 95250 w 113033"/>
                    <a:gd name="connsiteY2" fmla="*/ 434013 h 510213"/>
                    <a:gd name="connsiteX3" fmla="*/ 7144 w 113033"/>
                    <a:gd name="connsiteY3" fmla="*/ 510213 h 510213"/>
                    <a:gd name="connsiteX0" fmla="*/ 0 w 113033"/>
                    <a:gd name="connsiteY0" fmla="*/ 1642 h 506467"/>
                    <a:gd name="connsiteX1" fmla="*/ 104775 w 113033"/>
                    <a:gd name="connsiteY1" fmla="*/ 87367 h 506467"/>
                    <a:gd name="connsiteX2" fmla="*/ 95250 w 113033"/>
                    <a:gd name="connsiteY2" fmla="*/ 430267 h 506467"/>
                    <a:gd name="connsiteX3" fmla="*/ 7144 w 113033"/>
                    <a:gd name="connsiteY3" fmla="*/ 506467 h 506467"/>
                    <a:gd name="connsiteX0" fmla="*/ 0 w 113033"/>
                    <a:gd name="connsiteY0" fmla="*/ 0 h 504825"/>
                    <a:gd name="connsiteX1" fmla="*/ 104775 w 113033"/>
                    <a:gd name="connsiteY1" fmla="*/ 85725 h 504825"/>
                    <a:gd name="connsiteX2" fmla="*/ 95250 w 113033"/>
                    <a:gd name="connsiteY2" fmla="*/ 428625 h 504825"/>
                    <a:gd name="connsiteX3" fmla="*/ 7144 w 113033"/>
                    <a:gd name="connsiteY3" fmla="*/ 504825 h 504825"/>
                    <a:gd name="connsiteX0" fmla="*/ 0 w 113033"/>
                    <a:gd name="connsiteY0" fmla="*/ 0 h 504825"/>
                    <a:gd name="connsiteX1" fmla="*/ 104775 w 113033"/>
                    <a:gd name="connsiteY1" fmla="*/ 85725 h 504825"/>
                    <a:gd name="connsiteX2" fmla="*/ 95250 w 113033"/>
                    <a:gd name="connsiteY2" fmla="*/ 428625 h 504825"/>
                    <a:gd name="connsiteX3" fmla="*/ 7144 w 113033"/>
                    <a:gd name="connsiteY3" fmla="*/ 504825 h 504825"/>
                  </a:gdLst>
                  <a:ahLst/>
                  <a:cxnLst>
                    <a:cxn ang="0">
                      <a:pos x="connsiteX0" y="connsiteY0"/>
                    </a:cxn>
                    <a:cxn ang="0">
                      <a:pos x="connsiteX1" y="connsiteY1"/>
                    </a:cxn>
                    <a:cxn ang="0">
                      <a:pos x="connsiteX2" y="connsiteY2"/>
                    </a:cxn>
                    <a:cxn ang="0">
                      <a:pos x="connsiteX3" y="connsiteY3"/>
                    </a:cxn>
                  </a:cxnLst>
                  <a:rect l="l" t="t" r="r" b="b"/>
                  <a:pathLst>
                    <a:path w="113033" h="504825">
                      <a:moveTo>
                        <a:pt x="0" y="0"/>
                      </a:moveTo>
                      <a:cubicBezTo>
                        <a:pt x="58737" y="8334"/>
                        <a:pt x="88900" y="14288"/>
                        <a:pt x="104775" y="85725"/>
                      </a:cubicBezTo>
                      <a:cubicBezTo>
                        <a:pt x="120650" y="157162"/>
                        <a:pt x="111522" y="358775"/>
                        <a:pt x="95250" y="428625"/>
                      </a:cubicBezTo>
                      <a:cubicBezTo>
                        <a:pt x="78978" y="498475"/>
                        <a:pt x="43061" y="492490"/>
                        <a:pt x="7144" y="504825"/>
                      </a:cubicBezTo>
                    </a:path>
                  </a:pathLst>
                </a:cu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Freeform: Shape 22">
                  <a:extLst>
                    <a:ext uri="{FF2B5EF4-FFF2-40B4-BE49-F238E27FC236}">
                      <a16:creationId xmlns:a16="http://schemas.microsoft.com/office/drawing/2014/main" id="{3CEC2D02-F2F9-20C1-A022-FD29C7AF7C18}"/>
                    </a:ext>
                  </a:extLst>
                </p:cNvPr>
                <p:cNvSpPr/>
                <p:nvPr/>
              </p:nvSpPr>
              <p:spPr>
                <a:xfrm>
                  <a:off x="5838825" y="4810125"/>
                  <a:ext cx="844550" cy="600075"/>
                </a:xfrm>
                <a:custGeom>
                  <a:avLst/>
                  <a:gdLst>
                    <a:gd name="connsiteX0" fmla="*/ 806450 w 825500"/>
                    <a:gd name="connsiteY0" fmla="*/ 0 h 600075"/>
                    <a:gd name="connsiteX1" fmla="*/ 0 w 825500"/>
                    <a:gd name="connsiteY1" fmla="*/ 130175 h 600075"/>
                    <a:gd name="connsiteX2" fmla="*/ 9525 w 825500"/>
                    <a:gd name="connsiteY2" fmla="*/ 441325 h 600075"/>
                    <a:gd name="connsiteX3" fmla="*/ 695325 w 825500"/>
                    <a:gd name="connsiteY3" fmla="*/ 600075 h 600075"/>
                    <a:gd name="connsiteX4" fmla="*/ 765175 w 825500"/>
                    <a:gd name="connsiteY4" fmla="*/ 400050 h 600075"/>
                    <a:gd name="connsiteX5" fmla="*/ 825500 w 825500"/>
                    <a:gd name="connsiteY5" fmla="*/ 396875 h 600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5500" h="600075">
                      <a:moveTo>
                        <a:pt x="806450" y="0"/>
                      </a:moveTo>
                      <a:lnTo>
                        <a:pt x="0" y="130175"/>
                      </a:lnTo>
                      <a:lnTo>
                        <a:pt x="9525" y="441325"/>
                      </a:lnTo>
                      <a:lnTo>
                        <a:pt x="695325" y="600075"/>
                      </a:lnTo>
                      <a:lnTo>
                        <a:pt x="765175" y="400050"/>
                      </a:lnTo>
                      <a:lnTo>
                        <a:pt x="825500" y="396875"/>
                      </a:lnTo>
                    </a:path>
                  </a:pathLst>
                </a:cu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4C2CF64B-F7F5-5372-9E35-1E6FFE713E3F}"/>
                    </a:ext>
                  </a:extLst>
                </p:cNvPr>
                <p:cNvSpPr/>
                <p:nvPr/>
              </p:nvSpPr>
              <p:spPr>
                <a:xfrm flipH="1">
                  <a:off x="6638925" y="4810125"/>
                  <a:ext cx="844550" cy="600075"/>
                </a:xfrm>
                <a:custGeom>
                  <a:avLst/>
                  <a:gdLst>
                    <a:gd name="connsiteX0" fmla="*/ 806450 w 825500"/>
                    <a:gd name="connsiteY0" fmla="*/ 0 h 600075"/>
                    <a:gd name="connsiteX1" fmla="*/ 0 w 825500"/>
                    <a:gd name="connsiteY1" fmla="*/ 130175 h 600075"/>
                    <a:gd name="connsiteX2" fmla="*/ 9525 w 825500"/>
                    <a:gd name="connsiteY2" fmla="*/ 441325 h 600075"/>
                    <a:gd name="connsiteX3" fmla="*/ 695325 w 825500"/>
                    <a:gd name="connsiteY3" fmla="*/ 600075 h 600075"/>
                    <a:gd name="connsiteX4" fmla="*/ 765175 w 825500"/>
                    <a:gd name="connsiteY4" fmla="*/ 400050 h 600075"/>
                    <a:gd name="connsiteX5" fmla="*/ 825500 w 825500"/>
                    <a:gd name="connsiteY5" fmla="*/ 396875 h 600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5500" h="600075">
                      <a:moveTo>
                        <a:pt x="806450" y="0"/>
                      </a:moveTo>
                      <a:lnTo>
                        <a:pt x="0" y="130175"/>
                      </a:lnTo>
                      <a:lnTo>
                        <a:pt x="9525" y="441325"/>
                      </a:lnTo>
                      <a:lnTo>
                        <a:pt x="695325" y="600075"/>
                      </a:lnTo>
                      <a:lnTo>
                        <a:pt x="765175" y="400050"/>
                      </a:lnTo>
                      <a:lnTo>
                        <a:pt x="825500" y="396875"/>
                      </a:lnTo>
                    </a:path>
                  </a:pathLst>
                </a:cu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5" name="Group 24">
                  <a:extLst>
                    <a:ext uri="{FF2B5EF4-FFF2-40B4-BE49-F238E27FC236}">
                      <a16:creationId xmlns:a16="http://schemas.microsoft.com/office/drawing/2014/main" id="{BC2D0954-88A5-3F77-1854-A5151F63DFE4}"/>
                    </a:ext>
                  </a:extLst>
                </p:cNvPr>
                <p:cNvGrpSpPr/>
                <p:nvPr/>
              </p:nvGrpSpPr>
              <p:grpSpPr>
                <a:xfrm>
                  <a:off x="6362085" y="2042011"/>
                  <a:ext cx="581640" cy="3185309"/>
                  <a:chOff x="6390660" y="2042011"/>
                  <a:chExt cx="516395" cy="3185309"/>
                </a:xfrm>
              </p:grpSpPr>
              <p:sp>
                <p:nvSpPr>
                  <p:cNvPr id="26" name="Freeform: Shape 25">
                    <a:extLst>
                      <a:ext uri="{FF2B5EF4-FFF2-40B4-BE49-F238E27FC236}">
                        <a16:creationId xmlns:a16="http://schemas.microsoft.com/office/drawing/2014/main" id="{C6A99BC0-A130-CCC1-2100-73AB4183DB35}"/>
                      </a:ext>
                    </a:extLst>
                  </p:cNvPr>
                  <p:cNvSpPr/>
                  <p:nvPr/>
                </p:nvSpPr>
                <p:spPr>
                  <a:xfrm>
                    <a:off x="6390660" y="2042011"/>
                    <a:ext cx="271126" cy="3185309"/>
                  </a:xfrm>
                  <a:custGeom>
                    <a:avLst/>
                    <a:gdLst>
                      <a:gd name="connsiteX0" fmla="*/ 303373 w 303373"/>
                      <a:gd name="connsiteY0" fmla="*/ 74102 h 3259262"/>
                      <a:gd name="connsiteX1" fmla="*/ 112873 w 303373"/>
                      <a:gd name="connsiteY1" fmla="*/ 66482 h 3259262"/>
                      <a:gd name="connsiteX2" fmla="*/ 13813 w 303373"/>
                      <a:gd name="connsiteY2" fmla="*/ 782762 h 3259262"/>
                      <a:gd name="connsiteX3" fmla="*/ 29053 w 303373"/>
                      <a:gd name="connsiteY3" fmla="*/ 1712402 h 3259262"/>
                      <a:gd name="connsiteX4" fmla="*/ 272893 w 303373"/>
                      <a:gd name="connsiteY4" fmla="*/ 3259262 h 3259262"/>
                      <a:gd name="connsiteX0" fmla="*/ 300896 w 300896"/>
                      <a:gd name="connsiteY0" fmla="*/ 56236 h 3241396"/>
                      <a:gd name="connsiteX1" fmla="*/ 69915 w 300896"/>
                      <a:gd name="connsiteY1" fmla="*/ 79572 h 3241396"/>
                      <a:gd name="connsiteX2" fmla="*/ 11336 w 300896"/>
                      <a:gd name="connsiteY2" fmla="*/ 764896 h 3241396"/>
                      <a:gd name="connsiteX3" fmla="*/ 26576 w 300896"/>
                      <a:gd name="connsiteY3" fmla="*/ 1694536 h 3241396"/>
                      <a:gd name="connsiteX4" fmla="*/ 270416 w 300896"/>
                      <a:gd name="connsiteY4" fmla="*/ 3241396 h 3241396"/>
                      <a:gd name="connsiteX0" fmla="*/ 300896 w 300896"/>
                      <a:gd name="connsiteY0" fmla="*/ 22805 h 3207965"/>
                      <a:gd name="connsiteX1" fmla="*/ 69915 w 300896"/>
                      <a:gd name="connsiteY1" fmla="*/ 46141 h 3207965"/>
                      <a:gd name="connsiteX2" fmla="*/ 11336 w 300896"/>
                      <a:gd name="connsiteY2" fmla="*/ 731465 h 3207965"/>
                      <a:gd name="connsiteX3" fmla="*/ 26576 w 300896"/>
                      <a:gd name="connsiteY3" fmla="*/ 1661105 h 3207965"/>
                      <a:gd name="connsiteX4" fmla="*/ 270416 w 300896"/>
                      <a:gd name="connsiteY4" fmla="*/ 3207965 h 3207965"/>
                      <a:gd name="connsiteX0" fmla="*/ 301178 w 301178"/>
                      <a:gd name="connsiteY0" fmla="*/ 26120 h 3211280"/>
                      <a:gd name="connsiteX1" fmla="*/ 74959 w 301178"/>
                      <a:gd name="connsiteY1" fmla="*/ 32787 h 3211280"/>
                      <a:gd name="connsiteX2" fmla="*/ 11618 w 301178"/>
                      <a:gd name="connsiteY2" fmla="*/ 734780 h 3211280"/>
                      <a:gd name="connsiteX3" fmla="*/ 26858 w 301178"/>
                      <a:gd name="connsiteY3" fmla="*/ 1664420 h 3211280"/>
                      <a:gd name="connsiteX4" fmla="*/ 270698 w 301178"/>
                      <a:gd name="connsiteY4" fmla="*/ 3211280 h 3211280"/>
                      <a:gd name="connsiteX0" fmla="*/ 301178 w 301178"/>
                      <a:gd name="connsiteY0" fmla="*/ 75 h 3185235"/>
                      <a:gd name="connsiteX1" fmla="*/ 74959 w 301178"/>
                      <a:gd name="connsiteY1" fmla="*/ 6742 h 3185235"/>
                      <a:gd name="connsiteX2" fmla="*/ 11618 w 301178"/>
                      <a:gd name="connsiteY2" fmla="*/ 708735 h 3185235"/>
                      <a:gd name="connsiteX3" fmla="*/ 26858 w 301178"/>
                      <a:gd name="connsiteY3" fmla="*/ 1638375 h 3185235"/>
                      <a:gd name="connsiteX4" fmla="*/ 270698 w 301178"/>
                      <a:gd name="connsiteY4" fmla="*/ 3185235 h 3185235"/>
                      <a:gd name="connsiteX0" fmla="*/ 270221 w 270698"/>
                      <a:gd name="connsiteY0" fmla="*/ 47837 h 3232997"/>
                      <a:gd name="connsiteX1" fmla="*/ 74959 w 270698"/>
                      <a:gd name="connsiteY1" fmla="*/ 54504 h 3232997"/>
                      <a:gd name="connsiteX2" fmla="*/ 11618 w 270698"/>
                      <a:gd name="connsiteY2" fmla="*/ 756497 h 3232997"/>
                      <a:gd name="connsiteX3" fmla="*/ 26858 w 270698"/>
                      <a:gd name="connsiteY3" fmla="*/ 1686137 h 3232997"/>
                      <a:gd name="connsiteX4" fmla="*/ 270698 w 270698"/>
                      <a:gd name="connsiteY4" fmla="*/ 3232997 h 3232997"/>
                      <a:gd name="connsiteX0" fmla="*/ 270221 w 270698"/>
                      <a:gd name="connsiteY0" fmla="*/ 149 h 3185309"/>
                      <a:gd name="connsiteX1" fmla="*/ 74959 w 270698"/>
                      <a:gd name="connsiteY1" fmla="*/ 6816 h 3185309"/>
                      <a:gd name="connsiteX2" fmla="*/ 11618 w 270698"/>
                      <a:gd name="connsiteY2" fmla="*/ 708809 h 3185309"/>
                      <a:gd name="connsiteX3" fmla="*/ 26858 w 270698"/>
                      <a:gd name="connsiteY3" fmla="*/ 1638449 h 3185309"/>
                      <a:gd name="connsiteX4" fmla="*/ 270698 w 270698"/>
                      <a:gd name="connsiteY4" fmla="*/ 3185309 h 3185309"/>
                      <a:gd name="connsiteX0" fmla="*/ 270221 w 270698"/>
                      <a:gd name="connsiteY0" fmla="*/ 149 h 3185309"/>
                      <a:gd name="connsiteX1" fmla="*/ 74959 w 270698"/>
                      <a:gd name="connsiteY1" fmla="*/ 6816 h 3185309"/>
                      <a:gd name="connsiteX2" fmla="*/ 11618 w 270698"/>
                      <a:gd name="connsiteY2" fmla="*/ 708809 h 3185309"/>
                      <a:gd name="connsiteX3" fmla="*/ 26858 w 270698"/>
                      <a:gd name="connsiteY3" fmla="*/ 1638449 h 3185309"/>
                      <a:gd name="connsiteX4" fmla="*/ 270698 w 270698"/>
                      <a:gd name="connsiteY4" fmla="*/ 3185309 h 3185309"/>
                      <a:gd name="connsiteX0" fmla="*/ 270649 w 271126"/>
                      <a:gd name="connsiteY0" fmla="*/ 149 h 3185309"/>
                      <a:gd name="connsiteX1" fmla="*/ 82531 w 271126"/>
                      <a:gd name="connsiteY1" fmla="*/ 6816 h 3185309"/>
                      <a:gd name="connsiteX2" fmla="*/ 12046 w 271126"/>
                      <a:gd name="connsiteY2" fmla="*/ 708809 h 3185309"/>
                      <a:gd name="connsiteX3" fmla="*/ 27286 w 271126"/>
                      <a:gd name="connsiteY3" fmla="*/ 1638449 h 3185309"/>
                      <a:gd name="connsiteX4" fmla="*/ 271126 w 271126"/>
                      <a:gd name="connsiteY4" fmla="*/ 3185309 h 31853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1126" h="3185309">
                        <a:moveTo>
                          <a:pt x="270649" y="149"/>
                        </a:moveTo>
                        <a:cubicBezTo>
                          <a:pt x="170954" y="-804"/>
                          <a:pt x="123250" y="3006"/>
                          <a:pt x="82531" y="6816"/>
                        </a:cubicBezTo>
                        <a:cubicBezTo>
                          <a:pt x="41812" y="10626"/>
                          <a:pt x="21253" y="436870"/>
                          <a:pt x="12046" y="708809"/>
                        </a:cubicBezTo>
                        <a:cubicBezTo>
                          <a:pt x="2839" y="980748"/>
                          <a:pt x="-15894" y="1225699"/>
                          <a:pt x="27286" y="1638449"/>
                        </a:cubicBezTo>
                        <a:cubicBezTo>
                          <a:pt x="70466" y="2051199"/>
                          <a:pt x="170796" y="2618254"/>
                          <a:pt x="271126" y="3185309"/>
                        </a:cubicBezTo>
                      </a:path>
                    </a:pathLst>
                  </a:cu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Freeform: Shape 26">
                    <a:extLst>
                      <a:ext uri="{FF2B5EF4-FFF2-40B4-BE49-F238E27FC236}">
                        <a16:creationId xmlns:a16="http://schemas.microsoft.com/office/drawing/2014/main" id="{6FD1D9E3-9870-CC34-F842-C584064C0495}"/>
                      </a:ext>
                    </a:extLst>
                  </p:cNvPr>
                  <p:cNvSpPr/>
                  <p:nvPr/>
                </p:nvSpPr>
                <p:spPr>
                  <a:xfrm flipH="1">
                    <a:off x="6635929" y="2042011"/>
                    <a:ext cx="271126" cy="3185309"/>
                  </a:xfrm>
                  <a:custGeom>
                    <a:avLst/>
                    <a:gdLst>
                      <a:gd name="connsiteX0" fmla="*/ 303373 w 303373"/>
                      <a:gd name="connsiteY0" fmla="*/ 74102 h 3259262"/>
                      <a:gd name="connsiteX1" fmla="*/ 112873 w 303373"/>
                      <a:gd name="connsiteY1" fmla="*/ 66482 h 3259262"/>
                      <a:gd name="connsiteX2" fmla="*/ 13813 w 303373"/>
                      <a:gd name="connsiteY2" fmla="*/ 782762 h 3259262"/>
                      <a:gd name="connsiteX3" fmla="*/ 29053 w 303373"/>
                      <a:gd name="connsiteY3" fmla="*/ 1712402 h 3259262"/>
                      <a:gd name="connsiteX4" fmla="*/ 272893 w 303373"/>
                      <a:gd name="connsiteY4" fmla="*/ 3259262 h 3259262"/>
                      <a:gd name="connsiteX0" fmla="*/ 300896 w 300896"/>
                      <a:gd name="connsiteY0" fmla="*/ 56236 h 3241396"/>
                      <a:gd name="connsiteX1" fmla="*/ 69915 w 300896"/>
                      <a:gd name="connsiteY1" fmla="*/ 79572 h 3241396"/>
                      <a:gd name="connsiteX2" fmla="*/ 11336 w 300896"/>
                      <a:gd name="connsiteY2" fmla="*/ 764896 h 3241396"/>
                      <a:gd name="connsiteX3" fmla="*/ 26576 w 300896"/>
                      <a:gd name="connsiteY3" fmla="*/ 1694536 h 3241396"/>
                      <a:gd name="connsiteX4" fmla="*/ 270416 w 300896"/>
                      <a:gd name="connsiteY4" fmla="*/ 3241396 h 3241396"/>
                      <a:gd name="connsiteX0" fmla="*/ 300896 w 300896"/>
                      <a:gd name="connsiteY0" fmla="*/ 22805 h 3207965"/>
                      <a:gd name="connsiteX1" fmla="*/ 69915 w 300896"/>
                      <a:gd name="connsiteY1" fmla="*/ 46141 h 3207965"/>
                      <a:gd name="connsiteX2" fmla="*/ 11336 w 300896"/>
                      <a:gd name="connsiteY2" fmla="*/ 731465 h 3207965"/>
                      <a:gd name="connsiteX3" fmla="*/ 26576 w 300896"/>
                      <a:gd name="connsiteY3" fmla="*/ 1661105 h 3207965"/>
                      <a:gd name="connsiteX4" fmla="*/ 270416 w 300896"/>
                      <a:gd name="connsiteY4" fmla="*/ 3207965 h 3207965"/>
                      <a:gd name="connsiteX0" fmla="*/ 301178 w 301178"/>
                      <a:gd name="connsiteY0" fmla="*/ 26120 h 3211280"/>
                      <a:gd name="connsiteX1" fmla="*/ 74959 w 301178"/>
                      <a:gd name="connsiteY1" fmla="*/ 32787 h 3211280"/>
                      <a:gd name="connsiteX2" fmla="*/ 11618 w 301178"/>
                      <a:gd name="connsiteY2" fmla="*/ 734780 h 3211280"/>
                      <a:gd name="connsiteX3" fmla="*/ 26858 w 301178"/>
                      <a:gd name="connsiteY3" fmla="*/ 1664420 h 3211280"/>
                      <a:gd name="connsiteX4" fmla="*/ 270698 w 301178"/>
                      <a:gd name="connsiteY4" fmla="*/ 3211280 h 3211280"/>
                      <a:gd name="connsiteX0" fmla="*/ 301178 w 301178"/>
                      <a:gd name="connsiteY0" fmla="*/ 75 h 3185235"/>
                      <a:gd name="connsiteX1" fmla="*/ 74959 w 301178"/>
                      <a:gd name="connsiteY1" fmla="*/ 6742 h 3185235"/>
                      <a:gd name="connsiteX2" fmla="*/ 11618 w 301178"/>
                      <a:gd name="connsiteY2" fmla="*/ 708735 h 3185235"/>
                      <a:gd name="connsiteX3" fmla="*/ 26858 w 301178"/>
                      <a:gd name="connsiteY3" fmla="*/ 1638375 h 3185235"/>
                      <a:gd name="connsiteX4" fmla="*/ 270698 w 301178"/>
                      <a:gd name="connsiteY4" fmla="*/ 3185235 h 3185235"/>
                      <a:gd name="connsiteX0" fmla="*/ 270221 w 270698"/>
                      <a:gd name="connsiteY0" fmla="*/ 47837 h 3232997"/>
                      <a:gd name="connsiteX1" fmla="*/ 74959 w 270698"/>
                      <a:gd name="connsiteY1" fmla="*/ 54504 h 3232997"/>
                      <a:gd name="connsiteX2" fmla="*/ 11618 w 270698"/>
                      <a:gd name="connsiteY2" fmla="*/ 756497 h 3232997"/>
                      <a:gd name="connsiteX3" fmla="*/ 26858 w 270698"/>
                      <a:gd name="connsiteY3" fmla="*/ 1686137 h 3232997"/>
                      <a:gd name="connsiteX4" fmla="*/ 270698 w 270698"/>
                      <a:gd name="connsiteY4" fmla="*/ 3232997 h 3232997"/>
                      <a:gd name="connsiteX0" fmla="*/ 270221 w 270698"/>
                      <a:gd name="connsiteY0" fmla="*/ 149 h 3185309"/>
                      <a:gd name="connsiteX1" fmla="*/ 74959 w 270698"/>
                      <a:gd name="connsiteY1" fmla="*/ 6816 h 3185309"/>
                      <a:gd name="connsiteX2" fmla="*/ 11618 w 270698"/>
                      <a:gd name="connsiteY2" fmla="*/ 708809 h 3185309"/>
                      <a:gd name="connsiteX3" fmla="*/ 26858 w 270698"/>
                      <a:gd name="connsiteY3" fmla="*/ 1638449 h 3185309"/>
                      <a:gd name="connsiteX4" fmla="*/ 270698 w 270698"/>
                      <a:gd name="connsiteY4" fmla="*/ 3185309 h 3185309"/>
                      <a:gd name="connsiteX0" fmla="*/ 270221 w 270698"/>
                      <a:gd name="connsiteY0" fmla="*/ 149 h 3185309"/>
                      <a:gd name="connsiteX1" fmla="*/ 74959 w 270698"/>
                      <a:gd name="connsiteY1" fmla="*/ 6816 h 3185309"/>
                      <a:gd name="connsiteX2" fmla="*/ 11618 w 270698"/>
                      <a:gd name="connsiteY2" fmla="*/ 708809 h 3185309"/>
                      <a:gd name="connsiteX3" fmla="*/ 26858 w 270698"/>
                      <a:gd name="connsiteY3" fmla="*/ 1638449 h 3185309"/>
                      <a:gd name="connsiteX4" fmla="*/ 270698 w 270698"/>
                      <a:gd name="connsiteY4" fmla="*/ 3185309 h 3185309"/>
                      <a:gd name="connsiteX0" fmla="*/ 270649 w 271126"/>
                      <a:gd name="connsiteY0" fmla="*/ 149 h 3185309"/>
                      <a:gd name="connsiteX1" fmla="*/ 82531 w 271126"/>
                      <a:gd name="connsiteY1" fmla="*/ 6816 h 3185309"/>
                      <a:gd name="connsiteX2" fmla="*/ 12046 w 271126"/>
                      <a:gd name="connsiteY2" fmla="*/ 708809 h 3185309"/>
                      <a:gd name="connsiteX3" fmla="*/ 27286 w 271126"/>
                      <a:gd name="connsiteY3" fmla="*/ 1638449 h 3185309"/>
                      <a:gd name="connsiteX4" fmla="*/ 271126 w 271126"/>
                      <a:gd name="connsiteY4" fmla="*/ 3185309 h 31853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1126" h="3185309">
                        <a:moveTo>
                          <a:pt x="270649" y="149"/>
                        </a:moveTo>
                        <a:cubicBezTo>
                          <a:pt x="170954" y="-804"/>
                          <a:pt x="123250" y="3006"/>
                          <a:pt x="82531" y="6816"/>
                        </a:cubicBezTo>
                        <a:cubicBezTo>
                          <a:pt x="41812" y="10626"/>
                          <a:pt x="21253" y="436870"/>
                          <a:pt x="12046" y="708809"/>
                        </a:cubicBezTo>
                        <a:cubicBezTo>
                          <a:pt x="2839" y="980748"/>
                          <a:pt x="-15894" y="1225699"/>
                          <a:pt x="27286" y="1638449"/>
                        </a:cubicBezTo>
                        <a:cubicBezTo>
                          <a:pt x="70466" y="2051199"/>
                          <a:pt x="170796" y="2618254"/>
                          <a:pt x="271126" y="3185309"/>
                        </a:cubicBezTo>
                      </a:path>
                    </a:pathLst>
                  </a:cu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cxnSp>
            <p:nvCxnSpPr>
              <p:cNvPr id="28" name="Straight Arrow Connector 27">
                <a:extLst>
                  <a:ext uri="{FF2B5EF4-FFF2-40B4-BE49-F238E27FC236}">
                    <a16:creationId xmlns:a16="http://schemas.microsoft.com/office/drawing/2014/main" id="{5CB5CAD3-1992-7640-4D62-9723BD102CD4}"/>
                  </a:ext>
                </a:extLst>
              </p:cNvPr>
              <p:cNvCxnSpPr>
                <a:cxnSpLocks/>
              </p:cNvCxnSpPr>
              <p:nvPr/>
            </p:nvCxnSpPr>
            <p:spPr>
              <a:xfrm flipH="1" flipV="1">
                <a:off x="1637970" y="1371601"/>
                <a:ext cx="742637" cy="75036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sp>
        <p:nvSpPr>
          <p:cNvPr id="13" name="Rectangle 12">
            <a:extLst>
              <a:ext uri="{FF2B5EF4-FFF2-40B4-BE49-F238E27FC236}">
                <a16:creationId xmlns:a16="http://schemas.microsoft.com/office/drawing/2014/main" id="{E0A0B0A3-1F3F-6297-2A2E-4A21649700A5}"/>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659252A8-A612-13D2-5F35-0C233069EE5B}"/>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30413068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2" name="TextBox 1">
            <a:extLst>
              <a:ext uri="{FF2B5EF4-FFF2-40B4-BE49-F238E27FC236}">
                <a16:creationId xmlns:a16="http://schemas.microsoft.com/office/drawing/2014/main" id="{EA346E4F-C443-C434-8EAD-9C3F925B5B66}"/>
              </a:ext>
            </a:extLst>
          </p:cNvPr>
          <p:cNvSpPr txBox="1"/>
          <p:nvPr/>
        </p:nvSpPr>
        <p:spPr>
          <a:xfrm>
            <a:off x="464033" y="469355"/>
            <a:ext cx="3643934" cy="568041"/>
          </a:xfrm>
          <a:prstGeom prst="rect">
            <a:avLst/>
          </a:prstGeom>
          <a:noFill/>
        </p:spPr>
        <p:txBody>
          <a:bodyPr wrap="square">
            <a:spAutoFit/>
          </a:bodyPr>
          <a:lstStyle/>
          <a:p>
            <a:pPr marL="0" marR="0" algn="just">
              <a:lnSpc>
                <a:spcPct val="115000"/>
              </a:lnSpc>
              <a:spcBef>
                <a:spcPts val="0"/>
              </a:spcBef>
              <a:spcAft>
                <a:spcPts val="0"/>
              </a:spcAft>
            </a:pPr>
            <a:r>
              <a:rPr lang="en-US" sz="14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The aircraft on the right has the right of way. The one on the left should yield.</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p:txBody>
      </p:sp>
      <p:grpSp>
        <p:nvGrpSpPr>
          <p:cNvPr id="15" name="Group 14">
            <a:extLst>
              <a:ext uri="{FF2B5EF4-FFF2-40B4-BE49-F238E27FC236}">
                <a16:creationId xmlns:a16="http://schemas.microsoft.com/office/drawing/2014/main" id="{A26DE6A8-603B-F217-1307-F732E8283D6A}"/>
              </a:ext>
            </a:extLst>
          </p:cNvPr>
          <p:cNvGrpSpPr/>
          <p:nvPr/>
        </p:nvGrpSpPr>
        <p:grpSpPr>
          <a:xfrm>
            <a:off x="1504795" y="1173385"/>
            <a:ext cx="1562409" cy="1064839"/>
            <a:chOff x="1199841" y="996415"/>
            <a:chExt cx="1858970" cy="1266956"/>
          </a:xfrm>
        </p:grpSpPr>
        <p:grpSp>
          <p:nvGrpSpPr>
            <p:cNvPr id="3" name="Group 2">
              <a:extLst>
                <a:ext uri="{FF2B5EF4-FFF2-40B4-BE49-F238E27FC236}">
                  <a16:creationId xmlns:a16="http://schemas.microsoft.com/office/drawing/2014/main" id="{02450EEA-DF00-6677-4EF8-F8D6F1E69F00}"/>
                </a:ext>
              </a:extLst>
            </p:cNvPr>
            <p:cNvGrpSpPr/>
            <p:nvPr/>
          </p:nvGrpSpPr>
          <p:grpSpPr>
            <a:xfrm rot="18900000">
              <a:off x="2744043" y="1731212"/>
              <a:ext cx="314768" cy="218274"/>
              <a:chOff x="4098130" y="2042011"/>
              <a:chExt cx="5104134" cy="3368189"/>
            </a:xfrm>
          </p:grpSpPr>
          <p:sp>
            <p:nvSpPr>
              <p:cNvPr id="5" name="Freeform: Shape 4">
                <a:extLst>
                  <a:ext uri="{FF2B5EF4-FFF2-40B4-BE49-F238E27FC236}">
                    <a16:creationId xmlns:a16="http://schemas.microsoft.com/office/drawing/2014/main" id="{0B3D2578-2E01-7F9E-291A-CB34ED6CC6B2}"/>
                  </a:ext>
                </a:extLst>
              </p:cNvPr>
              <p:cNvSpPr/>
              <p:nvPr/>
            </p:nvSpPr>
            <p:spPr>
              <a:xfrm>
                <a:off x="4198620" y="2750820"/>
                <a:ext cx="4892040" cy="777240"/>
              </a:xfrm>
              <a:custGeom>
                <a:avLst/>
                <a:gdLst>
                  <a:gd name="connsiteX0" fmla="*/ 15240 w 4892040"/>
                  <a:gd name="connsiteY0" fmla="*/ 83820 h 777240"/>
                  <a:gd name="connsiteX1" fmla="*/ 1272540 w 4892040"/>
                  <a:gd name="connsiteY1" fmla="*/ 0 h 777240"/>
                  <a:gd name="connsiteX2" fmla="*/ 3665220 w 4892040"/>
                  <a:gd name="connsiteY2" fmla="*/ 0 h 777240"/>
                  <a:gd name="connsiteX3" fmla="*/ 4892040 w 4892040"/>
                  <a:gd name="connsiteY3" fmla="*/ 91440 h 777240"/>
                  <a:gd name="connsiteX4" fmla="*/ 4892040 w 4892040"/>
                  <a:gd name="connsiteY4" fmla="*/ 601980 h 777240"/>
                  <a:gd name="connsiteX5" fmla="*/ 3634740 w 4892040"/>
                  <a:gd name="connsiteY5" fmla="*/ 777240 h 777240"/>
                  <a:gd name="connsiteX6" fmla="*/ 1264920 w 4892040"/>
                  <a:gd name="connsiteY6" fmla="*/ 777240 h 777240"/>
                  <a:gd name="connsiteX7" fmla="*/ 0 w 4892040"/>
                  <a:gd name="connsiteY7" fmla="*/ 594360 h 777240"/>
                  <a:gd name="connsiteX8" fmla="*/ 15240 w 4892040"/>
                  <a:gd name="connsiteY8" fmla="*/ 83820 h 777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92040" h="777240">
                    <a:moveTo>
                      <a:pt x="15240" y="83820"/>
                    </a:moveTo>
                    <a:lnTo>
                      <a:pt x="1272540" y="0"/>
                    </a:lnTo>
                    <a:lnTo>
                      <a:pt x="3665220" y="0"/>
                    </a:lnTo>
                    <a:lnTo>
                      <a:pt x="4892040" y="91440"/>
                    </a:lnTo>
                    <a:lnTo>
                      <a:pt x="4892040" y="601980"/>
                    </a:lnTo>
                    <a:lnTo>
                      <a:pt x="3634740" y="777240"/>
                    </a:lnTo>
                    <a:lnTo>
                      <a:pt x="1264920" y="777240"/>
                    </a:lnTo>
                    <a:lnTo>
                      <a:pt x="0" y="594360"/>
                    </a:lnTo>
                    <a:lnTo>
                      <a:pt x="15240" y="83820"/>
                    </a:lnTo>
                    <a:close/>
                  </a:path>
                </a:pathLst>
              </a:cu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reeform: Shape 5">
                <a:extLst>
                  <a:ext uri="{FF2B5EF4-FFF2-40B4-BE49-F238E27FC236}">
                    <a16:creationId xmlns:a16="http://schemas.microsoft.com/office/drawing/2014/main" id="{486EBE1D-EDE2-BFD2-7306-51CB46A5C500}"/>
                  </a:ext>
                </a:extLst>
              </p:cNvPr>
              <p:cNvSpPr/>
              <p:nvPr/>
            </p:nvSpPr>
            <p:spPr>
              <a:xfrm>
                <a:off x="9089231" y="2840832"/>
                <a:ext cx="113033" cy="511968"/>
              </a:xfrm>
              <a:custGeom>
                <a:avLst/>
                <a:gdLst>
                  <a:gd name="connsiteX0" fmla="*/ 0 w 113033"/>
                  <a:gd name="connsiteY0" fmla="*/ 5388 h 510213"/>
                  <a:gd name="connsiteX1" fmla="*/ 104775 w 113033"/>
                  <a:gd name="connsiteY1" fmla="*/ 60156 h 510213"/>
                  <a:gd name="connsiteX2" fmla="*/ 95250 w 113033"/>
                  <a:gd name="connsiteY2" fmla="*/ 434013 h 510213"/>
                  <a:gd name="connsiteX3" fmla="*/ 7144 w 113033"/>
                  <a:gd name="connsiteY3" fmla="*/ 510213 h 510213"/>
                  <a:gd name="connsiteX0" fmla="*/ 0 w 113033"/>
                  <a:gd name="connsiteY0" fmla="*/ 1642 h 506467"/>
                  <a:gd name="connsiteX1" fmla="*/ 104775 w 113033"/>
                  <a:gd name="connsiteY1" fmla="*/ 87367 h 506467"/>
                  <a:gd name="connsiteX2" fmla="*/ 95250 w 113033"/>
                  <a:gd name="connsiteY2" fmla="*/ 430267 h 506467"/>
                  <a:gd name="connsiteX3" fmla="*/ 7144 w 113033"/>
                  <a:gd name="connsiteY3" fmla="*/ 506467 h 506467"/>
                  <a:gd name="connsiteX0" fmla="*/ 0 w 113033"/>
                  <a:gd name="connsiteY0" fmla="*/ 0 h 504825"/>
                  <a:gd name="connsiteX1" fmla="*/ 104775 w 113033"/>
                  <a:gd name="connsiteY1" fmla="*/ 85725 h 504825"/>
                  <a:gd name="connsiteX2" fmla="*/ 95250 w 113033"/>
                  <a:gd name="connsiteY2" fmla="*/ 428625 h 504825"/>
                  <a:gd name="connsiteX3" fmla="*/ 7144 w 113033"/>
                  <a:gd name="connsiteY3" fmla="*/ 504825 h 504825"/>
                  <a:gd name="connsiteX0" fmla="*/ 0 w 113033"/>
                  <a:gd name="connsiteY0" fmla="*/ 0 h 504825"/>
                  <a:gd name="connsiteX1" fmla="*/ 104775 w 113033"/>
                  <a:gd name="connsiteY1" fmla="*/ 85725 h 504825"/>
                  <a:gd name="connsiteX2" fmla="*/ 95250 w 113033"/>
                  <a:gd name="connsiteY2" fmla="*/ 428625 h 504825"/>
                  <a:gd name="connsiteX3" fmla="*/ 7144 w 113033"/>
                  <a:gd name="connsiteY3" fmla="*/ 504825 h 504825"/>
                </a:gdLst>
                <a:ahLst/>
                <a:cxnLst>
                  <a:cxn ang="0">
                    <a:pos x="connsiteX0" y="connsiteY0"/>
                  </a:cxn>
                  <a:cxn ang="0">
                    <a:pos x="connsiteX1" y="connsiteY1"/>
                  </a:cxn>
                  <a:cxn ang="0">
                    <a:pos x="connsiteX2" y="connsiteY2"/>
                  </a:cxn>
                  <a:cxn ang="0">
                    <a:pos x="connsiteX3" y="connsiteY3"/>
                  </a:cxn>
                </a:cxnLst>
                <a:rect l="l" t="t" r="r" b="b"/>
                <a:pathLst>
                  <a:path w="113033" h="504825">
                    <a:moveTo>
                      <a:pt x="0" y="0"/>
                    </a:moveTo>
                    <a:cubicBezTo>
                      <a:pt x="58737" y="8334"/>
                      <a:pt x="88900" y="14288"/>
                      <a:pt x="104775" y="85725"/>
                    </a:cubicBezTo>
                    <a:cubicBezTo>
                      <a:pt x="120650" y="157162"/>
                      <a:pt x="111522" y="358775"/>
                      <a:pt x="95250" y="428625"/>
                    </a:cubicBezTo>
                    <a:cubicBezTo>
                      <a:pt x="78978" y="498475"/>
                      <a:pt x="43061" y="492490"/>
                      <a:pt x="7144" y="504825"/>
                    </a:cubicBezTo>
                  </a:path>
                </a:pathLst>
              </a:cu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Freeform: Shape 6">
                <a:extLst>
                  <a:ext uri="{FF2B5EF4-FFF2-40B4-BE49-F238E27FC236}">
                    <a16:creationId xmlns:a16="http://schemas.microsoft.com/office/drawing/2014/main" id="{4087A4D0-7541-D526-4133-18A9B619649B}"/>
                  </a:ext>
                </a:extLst>
              </p:cNvPr>
              <p:cNvSpPr/>
              <p:nvPr/>
            </p:nvSpPr>
            <p:spPr>
              <a:xfrm flipH="1">
                <a:off x="4098130" y="2833688"/>
                <a:ext cx="113033" cy="511968"/>
              </a:xfrm>
              <a:custGeom>
                <a:avLst/>
                <a:gdLst>
                  <a:gd name="connsiteX0" fmla="*/ 0 w 113033"/>
                  <a:gd name="connsiteY0" fmla="*/ 5388 h 510213"/>
                  <a:gd name="connsiteX1" fmla="*/ 104775 w 113033"/>
                  <a:gd name="connsiteY1" fmla="*/ 60156 h 510213"/>
                  <a:gd name="connsiteX2" fmla="*/ 95250 w 113033"/>
                  <a:gd name="connsiteY2" fmla="*/ 434013 h 510213"/>
                  <a:gd name="connsiteX3" fmla="*/ 7144 w 113033"/>
                  <a:gd name="connsiteY3" fmla="*/ 510213 h 510213"/>
                  <a:gd name="connsiteX0" fmla="*/ 0 w 113033"/>
                  <a:gd name="connsiteY0" fmla="*/ 1642 h 506467"/>
                  <a:gd name="connsiteX1" fmla="*/ 104775 w 113033"/>
                  <a:gd name="connsiteY1" fmla="*/ 87367 h 506467"/>
                  <a:gd name="connsiteX2" fmla="*/ 95250 w 113033"/>
                  <a:gd name="connsiteY2" fmla="*/ 430267 h 506467"/>
                  <a:gd name="connsiteX3" fmla="*/ 7144 w 113033"/>
                  <a:gd name="connsiteY3" fmla="*/ 506467 h 506467"/>
                  <a:gd name="connsiteX0" fmla="*/ 0 w 113033"/>
                  <a:gd name="connsiteY0" fmla="*/ 0 h 504825"/>
                  <a:gd name="connsiteX1" fmla="*/ 104775 w 113033"/>
                  <a:gd name="connsiteY1" fmla="*/ 85725 h 504825"/>
                  <a:gd name="connsiteX2" fmla="*/ 95250 w 113033"/>
                  <a:gd name="connsiteY2" fmla="*/ 428625 h 504825"/>
                  <a:gd name="connsiteX3" fmla="*/ 7144 w 113033"/>
                  <a:gd name="connsiteY3" fmla="*/ 504825 h 504825"/>
                  <a:gd name="connsiteX0" fmla="*/ 0 w 113033"/>
                  <a:gd name="connsiteY0" fmla="*/ 0 h 504825"/>
                  <a:gd name="connsiteX1" fmla="*/ 104775 w 113033"/>
                  <a:gd name="connsiteY1" fmla="*/ 85725 h 504825"/>
                  <a:gd name="connsiteX2" fmla="*/ 95250 w 113033"/>
                  <a:gd name="connsiteY2" fmla="*/ 428625 h 504825"/>
                  <a:gd name="connsiteX3" fmla="*/ 7144 w 113033"/>
                  <a:gd name="connsiteY3" fmla="*/ 504825 h 504825"/>
                </a:gdLst>
                <a:ahLst/>
                <a:cxnLst>
                  <a:cxn ang="0">
                    <a:pos x="connsiteX0" y="connsiteY0"/>
                  </a:cxn>
                  <a:cxn ang="0">
                    <a:pos x="connsiteX1" y="connsiteY1"/>
                  </a:cxn>
                  <a:cxn ang="0">
                    <a:pos x="connsiteX2" y="connsiteY2"/>
                  </a:cxn>
                  <a:cxn ang="0">
                    <a:pos x="connsiteX3" y="connsiteY3"/>
                  </a:cxn>
                </a:cxnLst>
                <a:rect l="l" t="t" r="r" b="b"/>
                <a:pathLst>
                  <a:path w="113033" h="504825">
                    <a:moveTo>
                      <a:pt x="0" y="0"/>
                    </a:moveTo>
                    <a:cubicBezTo>
                      <a:pt x="58737" y="8334"/>
                      <a:pt x="88900" y="14288"/>
                      <a:pt x="104775" y="85725"/>
                    </a:cubicBezTo>
                    <a:cubicBezTo>
                      <a:pt x="120650" y="157162"/>
                      <a:pt x="111522" y="358775"/>
                      <a:pt x="95250" y="428625"/>
                    </a:cubicBezTo>
                    <a:cubicBezTo>
                      <a:pt x="78978" y="498475"/>
                      <a:pt x="43061" y="492490"/>
                      <a:pt x="7144" y="504825"/>
                    </a:cubicBezTo>
                  </a:path>
                </a:pathLst>
              </a:cu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Freeform: Shape 7">
                <a:extLst>
                  <a:ext uri="{FF2B5EF4-FFF2-40B4-BE49-F238E27FC236}">
                    <a16:creationId xmlns:a16="http://schemas.microsoft.com/office/drawing/2014/main" id="{7A17D7AD-140B-94FF-0481-34F3965ED541}"/>
                  </a:ext>
                </a:extLst>
              </p:cNvPr>
              <p:cNvSpPr/>
              <p:nvPr/>
            </p:nvSpPr>
            <p:spPr>
              <a:xfrm>
                <a:off x="5838825" y="4810125"/>
                <a:ext cx="844550" cy="600075"/>
              </a:xfrm>
              <a:custGeom>
                <a:avLst/>
                <a:gdLst>
                  <a:gd name="connsiteX0" fmla="*/ 806450 w 825500"/>
                  <a:gd name="connsiteY0" fmla="*/ 0 h 600075"/>
                  <a:gd name="connsiteX1" fmla="*/ 0 w 825500"/>
                  <a:gd name="connsiteY1" fmla="*/ 130175 h 600075"/>
                  <a:gd name="connsiteX2" fmla="*/ 9525 w 825500"/>
                  <a:gd name="connsiteY2" fmla="*/ 441325 h 600075"/>
                  <a:gd name="connsiteX3" fmla="*/ 695325 w 825500"/>
                  <a:gd name="connsiteY3" fmla="*/ 600075 h 600075"/>
                  <a:gd name="connsiteX4" fmla="*/ 765175 w 825500"/>
                  <a:gd name="connsiteY4" fmla="*/ 400050 h 600075"/>
                  <a:gd name="connsiteX5" fmla="*/ 825500 w 825500"/>
                  <a:gd name="connsiteY5" fmla="*/ 396875 h 600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5500" h="600075">
                    <a:moveTo>
                      <a:pt x="806450" y="0"/>
                    </a:moveTo>
                    <a:lnTo>
                      <a:pt x="0" y="130175"/>
                    </a:lnTo>
                    <a:lnTo>
                      <a:pt x="9525" y="441325"/>
                    </a:lnTo>
                    <a:lnTo>
                      <a:pt x="695325" y="600075"/>
                    </a:lnTo>
                    <a:lnTo>
                      <a:pt x="765175" y="400050"/>
                    </a:lnTo>
                    <a:lnTo>
                      <a:pt x="825500" y="396875"/>
                    </a:lnTo>
                  </a:path>
                </a:pathLst>
              </a:cu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8">
                <a:extLst>
                  <a:ext uri="{FF2B5EF4-FFF2-40B4-BE49-F238E27FC236}">
                    <a16:creationId xmlns:a16="http://schemas.microsoft.com/office/drawing/2014/main" id="{D138FA76-B85E-EFF5-F211-90A348EF7944}"/>
                  </a:ext>
                </a:extLst>
              </p:cNvPr>
              <p:cNvSpPr/>
              <p:nvPr/>
            </p:nvSpPr>
            <p:spPr>
              <a:xfrm flipH="1">
                <a:off x="6638925" y="4810125"/>
                <a:ext cx="844550" cy="600075"/>
              </a:xfrm>
              <a:custGeom>
                <a:avLst/>
                <a:gdLst>
                  <a:gd name="connsiteX0" fmla="*/ 806450 w 825500"/>
                  <a:gd name="connsiteY0" fmla="*/ 0 h 600075"/>
                  <a:gd name="connsiteX1" fmla="*/ 0 w 825500"/>
                  <a:gd name="connsiteY1" fmla="*/ 130175 h 600075"/>
                  <a:gd name="connsiteX2" fmla="*/ 9525 w 825500"/>
                  <a:gd name="connsiteY2" fmla="*/ 441325 h 600075"/>
                  <a:gd name="connsiteX3" fmla="*/ 695325 w 825500"/>
                  <a:gd name="connsiteY3" fmla="*/ 600075 h 600075"/>
                  <a:gd name="connsiteX4" fmla="*/ 765175 w 825500"/>
                  <a:gd name="connsiteY4" fmla="*/ 400050 h 600075"/>
                  <a:gd name="connsiteX5" fmla="*/ 825500 w 825500"/>
                  <a:gd name="connsiteY5" fmla="*/ 396875 h 600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5500" h="600075">
                    <a:moveTo>
                      <a:pt x="806450" y="0"/>
                    </a:moveTo>
                    <a:lnTo>
                      <a:pt x="0" y="130175"/>
                    </a:lnTo>
                    <a:lnTo>
                      <a:pt x="9525" y="441325"/>
                    </a:lnTo>
                    <a:lnTo>
                      <a:pt x="695325" y="600075"/>
                    </a:lnTo>
                    <a:lnTo>
                      <a:pt x="765175" y="400050"/>
                    </a:lnTo>
                    <a:lnTo>
                      <a:pt x="825500" y="396875"/>
                    </a:lnTo>
                  </a:path>
                </a:pathLst>
              </a:cu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B25CE093-9502-52B5-13E3-125F0AA15067}"/>
                  </a:ext>
                </a:extLst>
              </p:cNvPr>
              <p:cNvGrpSpPr/>
              <p:nvPr/>
            </p:nvGrpSpPr>
            <p:grpSpPr>
              <a:xfrm>
                <a:off x="6362085" y="2042011"/>
                <a:ext cx="581640" cy="3185309"/>
                <a:chOff x="6390660" y="2042011"/>
                <a:chExt cx="516395" cy="3185309"/>
              </a:xfrm>
            </p:grpSpPr>
            <p:sp>
              <p:nvSpPr>
                <p:cNvPr id="11" name="Freeform: Shape 10">
                  <a:extLst>
                    <a:ext uri="{FF2B5EF4-FFF2-40B4-BE49-F238E27FC236}">
                      <a16:creationId xmlns:a16="http://schemas.microsoft.com/office/drawing/2014/main" id="{3630D2CA-063C-1955-E4BB-8904DEF0649C}"/>
                    </a:ext>
                  </a:extLst>
                </p:cNvPr>
                <p:cNvSpPr/>
                <p:nvPr/>
              </p:nvSpPr>
              <p:spPr>
                <a:xfrm>
                  <a:off x="6390660" y="2042011"/>
                  <a:ext cx="271126" cy="3185309"/>
                </a:xfrm>
                <a:custGeom>
                  <a:avLst/>
                  <a:gdLst>
                    <a:gd name="connsiteX0" fmla="*/ 303373 w 303373"/>
                    <a:gd name="connsiteY0" fmla="*/ 74102 h 3259262"/>
                    <a:gd name="connsiteX1" fmla="*/ 112873 w 303373"/>
                    <a:gd name="connsiteY1" fmla="*/ 66482 h 3259262"/>
                    <a:gd name="connsiteX2" fmla="*/ 13813 w 303373"/>
                    <a:gd name="connsiteY2" fmla="*/ 782762 h 3259262"/>
                    <a:gd name="connsiteX3" fmla="*/ 29053 w 303373"/>
                    <a:gd name="connsiteY3" fmla="*/ 1712402 h 3259262"/>
                    <a:gd name="connsiteX4" fmla="*/ 272893 w 303373"/>
                    <a:gd name="connsiteY4" fmla="*/ 3259262 h 3259262"/>
                    <a:gd name="connsiteX0" fmla="*/ 300896 w 300896"/>
                    <a:gd name="connsiteY0" fmla="*/ 56236 h 3241396"/>
                    <a:gd name="connsiteX1" fmla="*/ 69915 w 300896"/>
                    <a:gd name="connsiteY1" fmla="*/ 79572 h 3241396"/>
                    <a:gd name="connsiteX2" fmla="*/ 11336 w 300896"/>
                    <a:gd name="connsiteY2" fmla="*/ 764896 h 3241396"/>
                    <a:gd name="connsiteX3" fmla="*/ 26576 w 300896"/>
                    <a:gd name="connsiteY3" fmla="*/ 1694536 h 3241396"/>
                    <a:gd name="connsiteX4" fmla="*/ 270416 w 300896"/>
                    <a:gd name="connsiteY4" fmla="*/ 3241396 h 3241396"/>
                    <a:gd name="connsiteX0" fmla="*/ 300896 w 300896"/>
                    <a:gd name="connsiteY0" fmla="*/ 22805 h 3207965"/>
                    <a:gd name="connsiteX1" fmla="*/ 69915 w 300896"/>
                    <a:gd name="connsiteY1" fmla="*/ 46141 h 3207965"/>
                    <a:gd name="connsiteX2" fmla="*/ 11336 w 300896"/>
                    <a:gd name="connsiteY2" fmla="*/ 731465 h 3207965"/>
                    <a:gd name="connsiteX3" fmla="*/ 26576 w 300896"/>
                    <a:gd name="connsiteY3" fmla="*/ 1661105 h 3207965"/>
                    <a:gd name="connsiteX4" fmla="*/ 270416 w 300896"/>
                    <a:gd name="connsiteY4" fmla="*/ 3207965 h 3207965"/>
                    <a:gd name="connsiteX0" fmla="*/ 301178 w 301178"/>
                    <a:gd name="connsiteY0" fmla="*/ 26120 h 3211280"/>
                    <a:gd name="connsiteX1" fmla="*/ 74959 w 301178"/>
                    <a:gd name="connsiteY1" fmla="*/ 32787 h 3211280"/>
                    <a:gd name="connsiteX2" fmla="*/ 11618 w 301178"/>
                    <a:gd name="connsiteY2" fmla="*/ 734780 h 3211280"/>
                    <a:gd name="connsiteX3" fmla="*/ 26858 w 301178"/>
                    <a:gd name="connsiteY3" fmla="*/ 1664420 h 3211280"/>
                    <a:gd name="connsiteX4" fmla="*/ 270698 w 301178"/>
                    <a:gd name="connsiteY4" fmla="*/ 3211280 h 3211280"/>
                    <a:gd name="connsiteX0" fmla="*/ 301178 w 301178"/>
                    <a:gd name="connsiteY0" fmla="*/ 75 h 3185235"/>
                    <a:gd name="connsiteX1" fmla="*/ 74959 w 301178"/>
                    <a:gd name="connsiteY1" fmla="*/ 6742 h 3185235"/>
                    <a:gd name="connsiteX2" fmla="*/ 11618 w 301178"/>
                    <a:gd name="connsiteY2" fmla="*/ 708735 h 3185235"/>
                    <a:gd name="connsiteX3" fmla="*/ 26858 w 301178"/>
                    <a:gd name="connsiteY3" fmla="*/ 1638375 h 3185235"/>
                    <a:gd name="connsiteX4" fmla="*/ 270698 w 301178"/>
                    <a:gd name="connsiteY4" fmla="*/ 3185235 h 3185235"/>
                    <a:gd name="connsiteX0" fmla="*/ 270221 w 270698"/>
                    <a:gd name="connsiteY0" fmla="*/ 47837 h 3232997"/>
                    <a:gd name="connsiteX1" fmla="*/ 74959 w 270698"/>
                    <a:gd name="connsiteY1" fmla="*/ 54504 h 3232997"/>
                    <a:gd name="connsiteX2" fmla="*/ 11618 w 270698"/>
                    <a:gd name="connsiteY2" fmla="*/ 756497 h 3232997"/>
                    <a:gd name="connsiteX3" fmla="*/ 26858 w 270698"/>
                    <a:gd name="connsiteY3" fmla="*/ 1686137 h 3232997"/>
                    <a:gd name="connsiteX4" fmla="*/ 270698 w 270698"/>
                    <a:gd name="connsiteY4" fmla="*/ 3232997 h 3232997"/>
                    <a:gd name="connsiteX0" fmla="*/ 270221 w 270698"/>
                    <a:gd name="connsiteY0" fmla="*/ 149 h 3185309"/>
                    <a:gd name="connsiteX1" fmla="*/ 74959 w 270698"/>
                    <a:gd name="connsiteY1" fmla="*/ 6816 h 3185309"/>
                    <a:gd name="connsiteX2" fmla="*/ 11618 w 270698"/>
                    <a:gd name="connsiteY2" fmla="*/ 708809 h 3185309"/>
                    <a:gd name="connsiteX3" fmla="*/ 26858 w 270698"/>
                    <a:gd name="connsiteY3" fmla="*/ 1638449 h 3185309"/>
                    <a:gd name="connsiteX4" fmla="*/ 270698 w 270698"/>
                    <a:gd name="connsiteY4" fmla="*/ 3185309 h 3185309"/>
                    <a:gd name="connsiteX0" fmla="*/ 270221 w 270698"/>
                    <a:gd name="connsiteY0" fmla="*/ 149 h 3185309"/>
                    <a:gd name="connsiteX1" fmla="*/ 74959 w 270698"/>
                    <a:gd name="connsiteY1" fmla="*/ 6816 h 3185309"/>
                    <a:gd name="connsiteX2" fmla="*/ 11618 w 270698"/>
                    <a:gd name="connsiteY2" fmla="*/ 708809 h 3185309"/>
                    <a:gd name="connsiteX3" fmla="*/ 26858 w 270698"/>
                    <a:gd name="connsiteY3" fmla="*/ 1638449 h 3185309"/>
                    <a:gd name="connsiteX4" fmla="*/ 270698 w 270698"/>
                    <a:gd name="connsiteY4" fmla="*/ 3185309 h 3185309"/>
                    <a:gd name="connsiteX0" fmla="*/ 270649 w 271126"/>
                    <a:gd name="connsiteY0" fmla="*/ 149 h 3185309"/>
                    <a:gd name="connsiteX1" fmla="*/ 82531 w 271126"/>
                    <a:gd name="connsiteY1" fmla="*/ 6816 h 3185309"/>
                    <a:gd name="connsiteX2" fmla="*/ 12046 w 271126"/>
                    <a:gd name="connsiteY2" fmla="*/ 708809 h 3185309"/>
                    <a:gd name="connsiteX3" fmla="*/ 27286 w 271126"/>
                    <a:gd name="connsiteY3" fmla="*/ 1638449 h 3185309"/>
                    <a:gd name="connsiteX4" fmla="*/ 271126 w 271126"/>
                    <a:gd name="connsiteY4" fmla="*/ 3185309 h 31853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1126" h="3185309">
                      <a:moveTo>
                        <a:pt x="270649" y="149"/>
                      </a:moveTo>
                      <a:cubicBezTo>
                        <a:pt x="170954" y="-804"/>
                        <a:pt x="123250" y="3006"/>
                        <a:pt x="82531" y="6816"/>
                      </a:cubicBezTo>
                      <a:cubicBezTo>
                        <a:pt x="41812" y="10626"/>
                        <a:pt x="21253" y="436870"/>
                        <a:pt x="12046" y="708809"/>
                      </a:cubicBezTo>
                      <a:cubicBezTo>
                        <a:pt x="2839" y="980748"/>
                        <a:pt x="-15894" y="1225699"/>
                        <a:pt x="27286" y="1638449"/>
                      </a:cubicBezTo>
                      <a:cubicBezTo>
                        <a:pt x="70466" y="2051199"/>
                        <a:pt x="170796" y="2618254"/>
                        <a:pt x="271126" y="3185309"/>
                      </a:cubicBezTo>
                    </a:path>
                  </a:pathLst>
                </a:cu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24E2CE38-220B-749E-6F9B-538A03B8F218}"/>
                    </a:ext>
                  </a:extLst>
                </p:cNvPr>
                <p:cNvSpPr/>
                <p:nvPr/>
              </p:nvSpPr>
              <p:spPr>
                <a:xfrm flipH="1">
                  <a:off x="6635929" y="2042011"/>
                  <a:ext cx="271126" cy="3185309"/>
                </a:xfrm>
                <a:custGeom>
                  <a:avLst/>
                  <a:gdLst>
                    <a:gd name="connsiteX0" fmla="*/ 303373 w 303373"/>
                    <a:gd name="connsiteY0" fmla="*/ 74102 h 3259262"/>
                    <a:gd name="connsiteX1" fmla="*/ 112873 w 303373"/>
                    <a:gd name="connsiteY1" fmla="*/ 66482 h 3259262"/>
                    <a:gd name="connsiteX2" fmla="*/ 13813 w 303373"/>
                    <a:gd name="connsiteY2" fmla="*/ 782762 h 3259262"/>
                    <a:gd name="connsiteX3" fmla="*/ 29053 w 303373"/>
                    <a:gd name="connsiteY3" fmla="*/ 1712402 h 3259262"/>
                    <a:gd name="connsiteX4" fmla="*/ 272893 w 303373"/>
                    <a:gd name="connsiteY4" fmla="*/ 3259262 h 3259262"/>
                    <a:gd name="connsiteX0" fmla="*/ 300896 w 300896"/>
                    <a:gd name="connsiteY0" fmla="*/ 56236 h 3241396"/>
                    <a:gd name="connsiteX1" fmla="*/ 69915 w 300896"/>
                    <a:gd name="connsiteY1" fmla="*/ 79572 h 3241396"/>
                    <a:gd name="connsiteX2" fmla="*/ 11336 w 300896"/>
                    <a:gd name="connsiteY2" fmla="*/ 764896 h 3241396"/>
                    <a:gd name="connsiteX3" fmla="*/ 26576 w 300896"/>
                    <a:gd name="connsiteY3" fmla="*/ 1694536 h 3241396"/>
                    <a:gd name="connsiteX4" fmla="*/ 270416 w 300896"/>
                    <a:gd name="connsiteY4" fmla="*/ 3241396 h 3241396"/>
                    <a:gd name="connsiteX0" fmla="*/ 300896 w 300896"/>
                    <a:gd name="connsiteY0" fmla="*/ 22805 h 3207965"/>
                    <a:gd name="connsiteX1" fmla="*/ 69915 w 300896"/>
                    <a:gd name="connsiteY1" fmla="*/ 46141 h 3207965"/>
                    <a:gd name="connsiteX2" fmla="*/ 11336 w 300896"/>
                    <a:gd name="connsiteY2" fmla="*/ 731465 h 3207965"/>
                    <a:gd name="connsiteX3" fmla="*/ 26576 w 300896"/>
                    <a:gd name="connsiteY3" fmla="*/ 1661105 h 3207965"/>
                    <a:gd name="connsiteX4" fmla="*/ 270416 w 300896"/>
                    <a:gd name="connsiteY4" fmla="*/ 3207965 h 3207965"/>
                    <a:gd name="connsiteX0" fmla="*/ 301178 w 301178"/>
                    <a:gd name="connsiteY0" fmla="*/ 26120 h 3211280"/>
                    <a:gd name="connsiteX1" fmla="*/ 74959 w 301178"/>
                    <a:gd name="connsiteY1" fmla="*/ 32787 h 3211280"/>
                    <a:gd name="connsiteX2" fmla="*/ 11618 w 301178"/>
                    <a:gd name="connsiteY2" fmla="*/ 734780 h 3211280"/>
                    <a:gd name="connsiteX3" fmla="*/ 26858 w 301178"/>
                    <a:gd name="connsiteY3" fmla="*/ 1664420 h 3211280"/>
                    <a:gd name="connsiteX4" fmla="*/ 270698 w 301178"/>
                    <a:gd name="connsiteY4" fmla="*/ 3211280 h 3211280"/>
                    <a:gd name="connsiteX0" fmla="*/ 301178 w 301178"/>
                    <a:gd name="connsiteY0" fmla="*/ 75 h 3185235"/>
                    <a:gd name="connsiteX1" fmla="*/ 74959 w 301178"/>
                    <a:gd name="connsiteY1" fmla="*/ 6742 h 3185235"/>
                    <a:gd name="connsiteX2" fmla="*/ 11618 w 301178"/>
                    <a:gd name="connsiteY2" fmla="*/ 708735 h 3185235"/>
                    <a:gd name="connsiteX3" fmla="*/ 26858 w 301178"/>
                    <a:gd name="connsiteY3" fmla="*/ 1638375 h 3185235"/>
                    <a:gd name="connsiteX4" fmla="*/ 270698 w 301178"/>
                    <a:gd name="connsiteY4" fmla="*/ 3185235 h 3185235"/>
                    <a:gd name="connsiteX0" fmla="*/ 270221 w 270698"/>
                    <a:gd name="connsiteY0" fmla="*/ 47837 h 3232997"/>
                    <a:gd name="connsiteX1" fmla="*/ 74959 w 270698"/>
                    <a:gd name="connsiteY1" fmla="*/ 54504 h 3232997"/>
                    <a:gd name="connsiteX2" fmla="*/ 11618 w 270698"/>
                    <a:gd name="connsiteY2" fmla="*/ 756497 h 3232997"/>
                    <a:gd name="connsiteX3" fmla="*/ 26858 w 270698"/>
                    <a:gd name="connsiteY3" fmla="*/ 1686137 h 3232997"/>
                    <a:gd name="connsiteX4" fmla="*/ 270698 w 270698"/>
                    <a:gd name="connsiteY4" fmla="*/ 3232997 h 3232997"/>
                    <a:gd name="connsiteX0" fmla="*/ 270221 w 270698"/>
                    <a:gd name="connsiteY0" fmla="*/ 149 h 3185309"/>
                    <a:gd name="connsiteX1" fmla="*/ 74959 w 270698"/>
                    <a:gd name="connsiteY1" fmla="*/ 6816 h 3185309"/>
                    <a:gd name="connsiteX2" fmla="*/ 11618 w 270698"/>
                    <a:gd name="connsiteY2" fmla="*/ 708809 h 3185309"/>
                    <a:gd name="connsiteX3" fmla="*/ 26858 w 270698"/>
                    <a:gd name="connsiteY3" fmla="*/ 1638449 h 3185309"/>
                    <a:gd name="connsiteX4" fmla="*/ 270698 w 270698"/>
                    <a:gd name="connsiteY4" fmla="*/ 3185309 h 3185309"/>
                    <a:gd name="connsiteX0" fmla="*/ 270221 w 270698"/>
                    <a:gd name="connsiteY0" fmla="*/ 149 h 3185309"/>
                    <a:gd name="connsiteX1" fmla="*/ 74959 w 270698"/>
                    <a:gd name="connsiteY1" fmla="*/ 6816 h 3185309"/>
                    <a:gd name="connsiteX2" fmla="*/ 11618 w 270698"/>
                    <a:gd name="connsiteY2" fmla="*/ 708809 h 3185309"/>
                    <a:gd name="connsiteX3" fmla="*/ 26858 w 270698"/>
                    <a:gd name="connsiteY3" fmla="*/ 1638449 h 3185309"/>
                    <a:gd name="connsiteX4" fmla="*/ 270698 w 270698"/>
                    <a:gd name="connsiteY4" fmla="*/ 3185309 h 3185309"/>
                    <a:gd name="connsiteX0" fmla="*/ 270649 w 271126"/>
                    <a:gd name="connsiteY0" fmla="*/ 149 h 3185309"/>
                    <a:gd name="connsiteX1" fmla="*/ 82531 w 271126"/>
                    <a:gd name="connsiteY1" fmla="*/ 6816 h 3185309"/>
                    <a:gd name="connsiteX2" fmla="*/ 12046 w 271126"/>
                    <a:gd name="connsiteY2" fmla="*/ 708809 h 3185309"/>
                    <a:gd name="connsiteX3" fmla="*/ 27286 w 271126"/>
                    <a:gd name="connsiteY3" fmla="*/ 1638449 h 3185309"/>
                    <a:gd name="connsiteX4" fmla="*/ 271126 w 271126"/>
                    <a:gd name="connsiteY4" fmla="*/ 3185309 h 31853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1126" h="3185309">
                      <a:moveTo>
                        <a:pt x="270649" y="149"/>
                      </a:moveTo>
                      <a:cubicBezTo>
                        <a:pt x="170954" y="-804"/>
                        <a:pt x="123250" y="3006"/>
                        <a:pt x="82531" y="6816"/>
                      </a:cubicBezTo>
                      <a:cubicBezTo>
                        <a:pt x="41812" y="10626"/>
                        <a:pt x="21253" y="436870"/>
                        <a:pt x="12046" y="708809"/>
                      </a:cubicBezTo>
                      <a:cubicBezTo>
                        <a:pt x="2839" y="980748"/>
                        <a:pt x="-15894" y="1225699"/>
                        <a:pt x="27286" y="1638449"/>
                      </a:cubicBezTo>
                      <a:cubicBezTo>
                        <a:pt x="70466" y="2051199"/>
                        <a:pt x="170796" y="2618254"/>
                        <a:pt x="271126" y="3185309"/>
                      </a:cubicBezTo>
                    </a:path>
                  </a:pathLst>
                </a:cu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cxnSp>
          <p:nvCxnSpPr>
            <p:cNvPr id="14" name="Straight Arrow Connector 13">
              <a:extLst>
                <a:ext uri="{FF2B5EF4-FFF2-40B4-BE49-F238E27FC236}">
                  <a16:creationId xmlns:a16="http://schemas.microsoft.com/office/drawing/2014/main" id="{7E3A1B1F-7BD6-2036-B829-5CEF8564D76B}"/>
                </a:ext>
              </a:extLst>
            </p:cNvPr>
            <p:cNvCxnSpPr>
              <a:cxnSpLocks/>
            </p:cNvCxnSpPr>
            <p:nvPr/>
          </p:nvCxnSpPr>
          <p:spPr>
            <a:xfrm flipH="1" flipV="1">
              <a:off x="2064937" y="996415"/>
              <a:ext cx="742637" cy="75036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44DB8419-172B-8F94-768F-E16C3099B025}"/>
                </a:ext>
              </a:extLst>
            </p:cNvPr>
            <p:cNvGrpSpPr/>
            <p:nvPr/>
          </p:nvGrpSpPr>
          <p:grpSpPr>
            <a:xfrm rot="1300404">
              <a:off x="1838118" y="2036636"/>
              <a:ext cx="314768" cy="218274"/>
              <a:chOff x="4098130" y="2042011"/>
              <a:chExt cx="5104134" cy="3368189"/>
            </a:xfrm>
          </p:grpSpPr>
          <p:sp>
            <p:nvSpPr>
              <p:cNvPr id="20" name="Freeform: Shape 19">
                <a:extLst>
                  <a:ext uri="{FF2B5EF4-FFF2-40B4-BE49-F238E27FC236}">
                    <a16:creationId xmlns:a16="http://schemas.microsoft.com/office/drawing/2014/main" id="{314DF9D3-CDE9-2A97-C20A-5A6D1D603204}"/>
                  </a:ext>
                </a:extLst>
              </p:cNvPr>
              <p:cNvSpPr/>
              <p:nvPr/>
            </p:nvSpPr>
            <p:spPr>
              <a:xfrm>
                <a:off x="4198620" y="2750820"/>
                <a:ext cx="4892040" cy="777240"/>
              </a:xfrm>
              <a:custGeom>
                <a:avLst/>
                <a:gdLst>
                  <a:gd name="connsiteX0" fmla="*/ 15240 w 4892040"/>
                  <a:gd name="connsiteY0" fmla="*/ 83820 h 777240"/>
                  <a:gd name="connsiteX1" fmla="*/ 1272540 w 4892040"/>
                  <a:gd name="connsiteY1" fmla="*/ 0 h 777240"/>
                  <a:gd name="connsiteX2" fmla="*/ 3665220 w 4892040"/>
                  <a:gd name="connsiteY2" fmla="*/ 0 h 777240"/>
                  <a:gd name="connsiteX3" fmla="*/ 4892040 w 4892040"/>
                  <a:gd name="connsiteY3" fmla="*/ 91440 h 777240"/>
                  <a:gd name="connsiteX4" fmla="*/ 4892040 w 4892040"/>
                  <a:gd name="connsiteY4" fmla="*/ 601980 h 777240"/>
                  <a:gd name="connsiteX5" fmla="*/ 3634740 w 4892040"/>
                  <a:gd name="connsiteY5" fmla="*/ 777240 h 777240"/>
                  <a:gd name="connsiteX6" fmla="*/ 1264920 w 4892040"/>
                  <a:gd name="connsiteY6" fmla="*/ 777240 h 777240"/>
                  <a:gd name="connsiteX7" fmla="*/ 0 w 4892040"/>
                  <a:gd name="connsiteY7" fmla="*/ 594360 h 777240"/>
                  <a:gd name="connsiteX8" fmla="*/ 15240 w 4892040"/>
                  <a:gd name="connsiteY8" fmla="*/ 83820 h 777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92040" h="777240">
                    <a:moveTo>
                      <a:pt x="15240" y="83820"/>
                    </a:moveTo>
                    <a:lnTo>
                      <a:pt x="1272540" y="0"/>
                    </a:lnTo>
                    <a:lnTo>
                      <a:pt x="3665220" y="0"/>
                    </a:lnTo>
                    <a:lnTo>
                      <a:pt x="4892040" y="91440"/>
                    </a:lnTo>
                    <a:lnTo>
                      <a:pt x="4892040" y="601980"/>
                    </a:lnTo>
                    <a:lnTo>
                      <a:pt x="3634740" y="777240"/>
                    </a:lnTo>
                    <a:lnTo>
                      <a:pt x="1264920" y="777240"/>
                    </a:lnTo>
                    <a:lnTo>
                      <a:pt x="0" y="594360"/>
                    </a:lnTo>
                    <a:lnTo>
                      <a:pt x="15240" y="83820"/>
                    </a:lnTo>
                    <a:close/>
                  </a:path>
                </a:pathLst>
              </a:cu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Freeform: Shape 20">
                <a:extLst>
                  <a:ext uri="{FF2B5EF4-FFF2-40B4-BE49-F238E27FC236}">
                    <a16:creationId xmlns:a16="http://schemas.microsoft.com/office/drawing/2014/main" id="{95C0F983-CF14-4580-E92E-98FB5832C95B}"/>
                  </a:ext>
                </a:extLst>
              </p:cNvPr>
              <p:cNvSpPr/>
              <p:nvPr/>
            </p:nvSpPr>
            <p:spPr>
              <a:xfrm>
                <a:off x="9089231" y="2840832"/>
                <a:ext cx="113033" cy="511968"/>
              </a:xfrm>
              <a:custGeom>
                <a:avLst/>
                <a:gdLst>
                  <a:gd name="connsiteX0" fmla="*/ 0 w 113033"/>
                  <a:gd name="connsiteY0" fmla="*/ 5388 h 510213"/>
                  <a:gd name="connsiteX1" fmla="*/ 104775 w 113033"/>
                  <a:gd name="connsiteY1" fmla="*/ 60156 h 510213"/>
                  <a:gd name="connsiteX2" fmla="*/ 95250 w 113033"/>
                  <a:gd name="connsiteY2" fmla="*/ 434013 h 510213"/>
                  <a:gd name="connsiteX3" fmla="*/ 7144 w 113033"/>
                  <a:gd name="connsiteY3" fmla="*/ 510213 h 510213"/>
                  <a:gd name="connsiteX0" fmla="*/ 0 w 113033"/>
                  <a:gd name="connsiteY0" fmla="*/ 1642 h 506467"/>
                  <a:gd name="connsiteX1" fmla="*/ 104775 w 113033"/>
                  <a:gd name="connsiteY1" fmla="*/ 87367 h 506467"/>
                  <a:gd name="connsiteX2" fmla="*/ 95250 w 113033"/>
                  <a:gd name="connsiteY2" fmla="*/ 430267 h 506467"/>
                  <a:gd name="connsiteX3" fmla="*/ 7144 w 113033"/>
                  <a:gd name="connsiteY3" fmla="*/ 506467 h 506467"/>
                  <a:gd name="connsiteX0" fmla="*/ 0 w 113033"/>
                  <a:gd name="connsiteY0" fmla="*/ 0 h 504825"/>
                  <a:gd name="connsiteX1" fmla="*/ 104775 w 113033"/>
                  <a:gd name="connsiteY1" fmla="*/ 85725 h 504825"/>
                  <a:gd name="connsiteX2" fmla="*/ 95250 w 113033"/>
                  <a:gd name="connsiteY2" fmla="*/ 428625 h 504825"/>
                  <a:gd name="connsiteX3" fmla="*/ 7144 w 113033"/>
                  <a:gd name="connsiteY3" fmla="*/ 504825 h 504825"/>
                  <a:gd name="connsiteX0" fmla="*/ 0 w 113033"/>
                  <a:gd name="connsiteY0" fmla="*/ 0 h 504825"/>
                  <a:gd name="connsiteX1" fmla="*/ 104775 w 113033"/>
                  <a:gd name="connsiteY1" fmla="*/ 85725 h 504825"/>
                  <a:gd name="connsiteX2" fmla="*/ 95250 w 113033"/>
                  <a:gd name="connsiteY2" fmla="*/ 428625 h 504825"/>
                  <a:gd name="connsiteX3" fmla="*/ 7144 w 113033"/>
                  <a:gd name="connsiteY3" fmla="*/ 504825 h 504825"/>
                </a:gdLst>
                <a:ahLst/>
                <a:cxnLst>
                  <a:cxn ang="0">
                    <a:pos x="connsiteX0" y="connsiteY0"/>
                  </a:cxn>
                  <a:cxn ang="0">
                    <a:pos x="connsiteX1" y="connsiteY1"/>
                  </a:cxn>
                  <a:cxn ang="0">
                    <a:pos x="connsiteX2" y="connsiteY2"/>
                  </a:cxn>
                  <a:cxn ang="0">
                    <a:pos x="connsiteX3" y="connsiteY3"/>
                  </a:cxn>
                </a:cxnLst>
                <a:rect l="l" t="t" r="r" b="b"/>
                <a:pathLst>
                  <a:path w="113033" h="504825">
                    <a:moveTo>
                      <a:pt x="0" y="0"/>
                    </a:moveTo>
                    <a:cubicBezTo>
                      <a:pt x="58737" y="8334"/>
                      <a:pt x="88900" y="14288"/>
                      <a:pt x="104775" y="85725"/>
                    </a:cubicBezTo>
                    <a:cubicBezTo>
                      <a:pt x="120650" y="157162"/>
                      <a:pt x="111522" y="358775"/>
                      <a:pt x="95250" y="428625"/>
                    </a:cubicBezTo>
                    <a:cubicBezTo>
                      <a:pt x="78978" y="498475"/>
                      <a:pt x="43061" y="492490"/>
                      <a:pt x="7144" y="504825"/>
                    </a:cubicBezTo>
                  </a:path>
                </a:pathLst>
              </a:cu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Freeform: Shape 21">
                <a:extLst>
                  <a:ext uri="{FF2B5EF4-FFF2-40B4-BE49-F238E27FC236}">
                    <a16:creationId xmlns:a16="http://schemas.microsoft.com/office/drawing/2014/main" id="{7255ED52-602E-EC1E-10DC-1916C14705F0}"/>
                  </a:ext>
                </a:extLst>
              </p:cNvPr>
              <p:cNvSpPr/>
              <p:nvPr/>
            </p:nvSpPr>
            <p:spPr>
              <a:xfrm flipH="1">
                <a:off x="4098130" y="2833688"/>
                <a:ext cx="113033" cy="511968"/>
              </a:xfrm>
              <a:custGeom>
                <a:avLst/>
                <a:gdLst>
                  <a:gd name="connsiteX0" fmla="*/ 0 w 113033"/>
                  <a:gd name="connsiteY0" fmla="*/ 5388 h 510213"/>
                  <a:gd name="connsiteX1" fmla="*/ 104775 w 113033"/>
                  <a:gd name="connsiteY1" fmla="*/ 60156 h 510213"/>
                  <a:gd name="connsiteX2" fmla="*/ 95250 w 113033"/>
                  <a:gd name="connsiteY2" fmla="*/ 434013 h 510213"/>
                  <a:gd name="connsiteX3" fmla="*/ 7144 w 113033"/>
                  <a:gd name="connsiteY3" fmla="*/ 510213 h 510213"/>
                  <a:gd name="connsiteX0" fmla="*/ 0 w 113033"/>
                  <a:gd name="connsiteY0" fmla="*/ 1642 h 506467"/>
                  <a:gd name="connsiteX1" fmla="*/ 104775 w 113033"/>
                  <a:gd name="connsiteY1" fmla="*/ 87367 h 506467"/>
                  <a:gd name="connsiteX2" fmla="*/ 95250 w 113033"/>
                  <a:gd name="connsiteY2" fmla="*/ 430267 h 506467"/>
                  <a:gd name="connsiteX3" fmla="*/ 7144 w 113033"/>
                  <a:gd name="connsiteY3" fmla="*/ 506467 h 506467"/>
                  <a:gd name="connsiteX0" fmla="*/ 0 w 113033"/>
                  <a:gd name="connsiteY0" fmla="*/ 0 h 504825"/>
                  <a:gd name="connsiteX1" fmla="*/ 104775 w 113033"/>
                  <a:gd name="connsiteY1" fmla="*/ 85725 h 504825"/>
                  <a:gd name="connsiteX2" fmla="*/ 95250 w 113033"/>
                  <a:gd name="connsiteY2" fmla="*/ 428625 h 504825"/>
                  <a:gd name="connsiteX3" fmla="*/ 7144 w 113033"/>
                  <a:gd name="connsiteY3" fmla="*/ 504825 h 504825"/>
                  <a:gd name="connsiteX0" fmla="*/ 0 w 113033"/>
                  <a:gd name="connsiteY0" fmla="*/ 0 h 504825"/>
                  <a:gd name="connsiteX1" fmla="*/ 104775 w 113033"/>
                  <a:gd name="connsiteY1" fmla="*/ 85725 h 504825"/>
                  <a:gd name="connsiteX2" fmla="*/ 95250 w 113033"/>
                  <a:gd name="connsiteY2" fmla="*/ 428625 h 504825"/>
                  <a:gd name="connsiteX3" fmla="*/ 7144 w 113033"/>
                  <a:gd name="connsiteY3" fmla="*/ 504825 h 504825"/>
                </a:gdLst>
                <a:ahLst/>
                <a:cxnLst>
                  <a:cxn ang="0">
                    <a:pos x="connsiteX0" y="connsiteY0"/>
                  </a:cxn>
                  <a:cxn ang="0">
                    <a:pos x="connsiteX1" y="connsiteY1"/>
                  </a:cxn>
                  <a:cxn ang="0">
                    <a:pos x="connsiteX2" y="connsiteY2"/>
                  </a:cxn>
                  <a:cxn ang="0">
                    <a:pos x="connsiteX3" y="connsiteY3"/>
                  </a:cxn>
                </a:cxnLst>
                <a:rect l="l" t="t" r="r" b="b"/>
                <a:pathLst>
                  <a:path w="113033" h="504825">
                    <a:moveTo>
                      <a:pt x="0" y="0"/>
                    </a:moveTo>
                    <a:cubicBezTo>
                      <a:pt x="58737" y="8334"/>
                      <a:pt x="88900" y="14288"/>
                      <a:pt x="104775" y="85725"/>
                    </a:cubicBezTo>
                    <a:cubicBezTo>
                      <a:pt x="120650" y="157162"/>
                      <a:pt x="111522" y="358775"/>
                      <a:pt x="95250" y="428625"/>
                    </a:cubicBezTo>
                    <a:cubicBezTo>
                      <a:pt x="78978" y="498475"/>
                      <a:pt x="43061" y="492490"/>
                      <a:pt x="7144" y="504825"/>
                    </a:cubicBezTo>
                  </a:path>
                </a:pathLst>
              </a:cu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Freeform: Shape 22">
                <a:extLst>
                  <a:ext uri="{FF2B5EF4-FFF2-40B4-BE49-F238E27FC236}">
                    <a16:creationId xmlns:a16="http://schemas.microsoft.com/office/drawing/2014/main" id="{3CEC2D02-F2F9-20C1-A022-FD29C7AF7C18}"/>
                  </a:ext>
                </a:extLst>
              </p:cNvPr>
              <p:cNvSpPr/>
              <p:nvPr/>
            </p:nvSpPr>
            <p:spPr>
              <a:xfrm>
                <a:off x="5838825" y="4810125"/>
                <a:ext cx="844550" cy="600075"/>
              </a:xfrm>
              <a:custGeom>
                <a:avLst/>
                <a:gdLst>
                  <a:gd name="connsiteX0" fmla="*/ 806450 w 825500"/>
                  <a:gd name="connsiteY0" fmla="*/ 0 h 600075"/>
                  <a:gd name="connsiteX1" fmla="*/ 0 w 825500"/>
                  <a:gd name="connsiteY1" fmla="*/ 130175 h 600075"/>
                  <a:gd name="connsiteX2" fmla="*/ 9525 w 825500"/>
                  <a:gd name="connsiteY2" fmla="*/ 441325 h 600075"/>
                  <a:gd name="connsiteX3" fmla="*/ 695325 w 825500"/>
                  <a:gd name="connsiteY3" fmla="*/ 600075 h 600075"/>
                  <a:gd name="connsiteX4" fmla="*/ 765175 w 825500"/>
                  <a:gd name="connsiteY4" fmla="*/ 400050 h 600075"/>
                  <a:gd name="connsiteX5" fmla="*/ 825500 w 825500"/>
                  <a:gd name="connsiteY5" fmla="*/ 396875 h 600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5500" h="600075">
                    <a:moveTo>
                      <a:pt x="806450" y="0"/>
                    </a:moveTo>
                    <a:lnTo>
                      <a:pt x="0" y="130175"/>
                    </a:lnTo>
                    <a:lnTo>
                      <a:pt x="9525" y="441325"/>
                    </a:lnTo>
                    <a:lnTo>
                      <a:pt x="695325" y="600075"/>
                    </a:lnTo>
                    <a:lnTo>
                      <a:pt x="765175" y="400050"/>
                    </a:lnTo>
                    <a:lnTo>
                      <a:pt x="825500" y="396875"/>
                    </a:lnTo>
                  </a:path>
                </a:pathLst>
              </a:cu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4C2CF64B-F7F5-5372-9E35-1E6FFE713E3F}"/>
                  </a:ext>
                </a:extLst>
              </p:cNvPr>
              <p:cNvSpPr/>
              <p:nvPr/>
            </p:nvSpPr>
            <p:spPr>
              <a:xfrm flipH="1">
                <a:off x="6638925" y="4810125"/>
                <a:ext cx="844550" cy="600075"/>
              </a:xfrm>
              <a:custGeom>
                <a:avLst/>
                <a:gdLst>
                  <a:gd name="connsiteX0" fmla="*/ 806450 w 825500"/>
                  <a:gd name="connsiteY0" fmla="*/ 0 h 600075"/>
                  <a:gd name="connsiteX1" fmla="*/ 0 w 825500"/>
                  <a:gd name="connsiteY1" fmla="*/ 130175 h 600075"/>
                  <a:gd name="connsiteX2" fmla="*/ 9525 w 825500"/>
                  <a:gd name="connsiteY2" fmla="*/ 441325 h 600075"/>
                  <a:gd name="connsiteX3" fmla="*/ 695325 w 825500"/>
                  <a:gd name="connsiteY3" fmla="*/ 600075 h 600075"/>
                  <a:gd name="connsiteX4" fmla="*/ 765175 w 825500"/>
                  <a:gd name="connsiteY4" fmla="*/ 400050 h 600075"/>
                  <a:gd name="connsiteX5" fmla="*/ 825500 w 825500"/>
                  <a:gd name="connsiteY5" fmla="*/ 396875 h 600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5500" h="600075">
                    <a:moveTo>
                      <a:pt x="806450" y="0"/>
                    </a:moveTo>
                    <a:lnTo>
                      <a:pt x="0" y="130175"/>
                    </a:lnTo>
                    <a:lnTo>
                      <a:pt x="9525" y="441325"/>
                    </a:lnTo>
                    <a:lnTo>
                      <a:pt x="695325" y="600075"/>
                    </a:lnTo>
                    <a:lnTo>
                      <a:pt x="765175" y="400050"/>
                    </a:lnTo>
                    <a:lnTo>
                      <a:pt x="825500" y="396875"/>
                    </a:lnTo>
                  </a:path>
                </a:pathLst>
              </a:cu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5" name="Group 24">
                <a:extLst>
                  <a:ext uri="{FF2B5EF4-FFF2-40B4-BE49-F238E27FC236}">
                    <a16:creationId xmlns:a16="http://schemas.microsoft.com/office/drawing/2014/main" id="{BC2D0954-88A5-3F77-1854-A5151F63DFE4}"/>
                  </a:ext>
                </a:extLst>
              </p:cNvPr>
              <p:cNvGrpSpPr/>
              <p:nvPr/>
            </p:nvGrpSpPr>
            <p:grpSpPr>
              <a:xfrm>
                <a:off x="6362085" y="2042011"/>
                <a:ext cx="581640" cy="3185309"/>
                <a:chOff x="6390660" y="2042011"/>
                <a:chExt cx="516395" cy="3185309"/>
              </a:xfrm>
            </p:grpSpPr>
            <p:sp>
              <p:nvSpPr>
                <p:cNvPr id="26" name="Freeform: Shape 25">
                  <a:extLst>
                    <a:ext uri="{FF2B5EF4-FFF2-40B4-BE49-F238E27FC236}">
                      <a16:creationId xmlns:a16="http://schemas.microsoft.com/office/drawing/2014/main" id="{C6A99BC0-A130-CCC1-2100-73AB4183DB35}"/>
                    </a:ext>
                  </a:extLst>
                </p:cNvPr>
                <p:cNvSpPr/>
                <p:nvPr/>
              </p:nvSpPr>
              <p:spPr>
                <a:xfrm>
                  <a:off x="6390660" y="2042011"/>
                  <a:ext cx="271126" cy="3185309"/>
                </a:xfrm>
                <a:custGeom>
                  <a:avLst/>
                  <a:gdLst>
                    <a:gd name="connsiteX0" fmla="*/ 303373 w 303373"/>
                    <a:gd name="connsiteY0" fmla="*/ 74102 h 3259262"/>
                    <a:gd name="connsiteX1" fmla="*/ 112873 w 303373"/>
                    <a:gd name="connsiteY1" fmla="*/ 66482 h 3259262"/>
                    <a:gd name="connsiteX2" fmla="*/ 13813 w 303373"/>
                    <a:gd name="connsiteY2" fmla="*/ 782762 h 3259262"/>
                    <a:gd name="connsiteX3" fmla="*/ 29053 w 303373"/>
                    <a:gd name="connsiteY3" fmla="*/ 1712402 h 3259262"/>
                    <a:gd name="connsiteX4" fmla="*/ 272893 w 303373"/>
                    <a:gd name="connsiteY4" fmla="*/ 3259262 h 3259262"/>
                    <a:gd name="connsiteX0" fmla="*/ 300896 w 300896"/>
                    <a:gd name="connsiteY0" fmla="*/ 56236 h 3241396"/>
                    <a:gd name="connsiteX1" fmla="*/ 69915 w 300896"/>
                    <a:gd name="connsiteY1" fmla="*/ 79572 h 3241396"/>
                    <a:gd name="connsiteX2" fmla="*/ 11336 w 300896"/>
                    <a:gd name="connsiteY2" fmla="*/ 764896 h 3241396"/>
                    <a:gd name="connsiteX3" fmla="*/ 26576 w 300896"/>
                    <a:gd name="connsiteY3" fmla="*/ 1694536 h 3241396"/>
                    <a:gd name="connsiteX4" fmla="*/ 270416 w 300896"/>
                    <a:gd name="connsiteY4" fmla="*/ 3241396 h 3241396"/>
                    <a:gd name="connsiteX0" fmla="*/ 300896 w 300896"/>
                    <a:gd name="connsiteY0" fmla="*/ 22805 h 3207965"/>
                    <a:gd name="connsiteX1" fmla="*/ 69915 w 300896"/>
                    <a:gd name="connsiteY1" fmla="*/ 46141 h 3207965"/>
                    <a:gd name="connsiteX2" fmla="*/ 11336 w 300896"/>
                    <a:gd name="connsiteY2" fmla="*/ 731465 h 3207965"/>
                    <a:gd name="connsiteX3" fmla="*/ 26576 w 300896"/>
                    <a:gd name="connsiteY3" fmla="*/ 1661105 h 3207965"/>
                    <a:gd name="connsiteX4" fmla="*/ 270416 w 300896"/>
                    <a:gd name="connsiteY4" fmla="*/ 3207965 h 3207965"/>
                    <a:gd name="connsiteX0" fmla="*/ 301178 w 301178"/>
                    <a:gd name="connsiteY0" fmla="*/ 26120 h 3211280"/>
                    <a:gd name="connsiteX1" fmla="*/ 74959 w 301178"/>
                    <a:gd name="connsiteY1" fmla="*/ 32787 h 3211280"/>
                    <a:gd name="connsiteX2" fmla="*/ 11618 w 301178"/>
                    <a:gd name="connsiteY2" fmla="*/ 734780 h 3211280"/>
                    <a:gd name="connsiteX3" fmla="*/ 26858 w 301178"/>
                    <a:gd name="connsiteY3" fmla="*/ 1664420 h 3211280"/>
                    <a:gd name="connsiteX4" fmla="*/ 270698 w 301178"/>
                    <a:gd name="connsiteY4" fmla="*/ 3211280 h 3211280"/>
                    <a:gd name="connsiteX0" fmla="*/ 301178 w 301178"/>
                    <a:gd name="connsiteY0" fmla="*/ 75 h 3185235"/>
                    <a:gd name="connsiteX1" fmla="*/ 74959 w 301178"/>
                    <a:gd name="connsiteY1" fmla="*/ 6742 h 3185235"/>
                    <a:gd name="connsiteX2" fmla="*/ 11618 w 301178"/>
                    <a:gd name="connsiteY2" fmla="*/ 708735 h 3185235"/>
                    <a:gd name="connsiteX3" fmla="*/ 26858 w 301178"/>
                    <a:gd name="connsiteY3" fmla="*/ 1638375 h 3185235"/>
                    <a:gd name="connsiteX4" fmla="*/ 270698 w 301178"/>
                    <a:gd name="connsiteY4" fmla="*/ 3185235 h 3185235"/>
                    <a:gd name="connsiteX0" fmla="*/ 270221 w 270698"/>
                    <a:gd name="connsiteY0" fmla="*/ 47837 h 3232997"/>
                    <a:gd name="connsiteX1" fmla="*/ 74959 w 270698"/>
                    <a:gd name="connsiteY1" fmla="*/ 54504 h 3232997"/>
                    <a:gd name="connsiteX2" fmla="*/ 11618 w 270698"/>
                    <a:gd name="connsiteY2" fmla="*/ 756497 h 3232997"/>
                    <a:gd name="connsiteX3" fmla="*/ 26858 w 270698"/>
                    <a:gd name="connsiteY3" fmla="*/ 1686137 h 3232997"/>
                    <a:gd name="connsiteX4" fmla="*/ 270698 w 270698"/>
                    <a:gd name="connsiteY4" fmla="*/ 3232997 h 3232997"/>
                    <a:gd name="connsiteX0" fmla="*/ 270221 w 270698"/>
                    <a:gd name="connsiteY0" fmla="*/ 149 h 3185309"/>
                    <a:gd name="connsiteX1" fmla="*/ 74959 w 270698"/>
                    <a:gd name="connsiteY1" fmla="*/ 6816 h 3185309"/>
                    <a:gd name="connsiteX2" fmla="*/ 11618 w 270698"/>
                    <a:gd name="connsiteY2" fmla="*/ 708809 h 3185309"/>
                    <a:gd name="connsiteX3" fmla="*/ 26858 w 270698"/>
                    <a:gd name="connsiteY3" fmla="*/ 1638449 h 3185309"/>
                    <a:gd name="connsiteX4" fmla="*/ 270698 w 270698"/>
                    <a:gd name="connsiteY4" fmla="*/ 3185309 h 3185309"/>
                    <a:gd name="connsiteX0" fmla="*/ 270221 w 270698"/>
                    <a:gd name="connsiteY0" fmla="*/ 149 h 3185309"/>
                    <a:gd name="connsiteX1" fmla="*/ 74959 w 270698"/>
                    <a:gd name="connsiteY1" fmla="*/ 6816 h 3185309"/>
                    <a:gd name="connsiteX2" fmla="*/ 11618 w 270698"/>
                    <a:gd name="connsiteY2" fmla="*/ 708809 h 3185309"/>
                    <a:gd name="connsiteX3" fmla="*/ 26858 w 270698"/>
                    <a:gd name="connsiteY3" fmla="*/ 1638449 h 3185309"/>
                    <a:gd name="connsiteX4" fmla="*/ 270698 w 270698"/>
                    <a:gd name="connsiteY4" fmla="*/ 3185309 h 3185309"/>
                    <a:gd name="connsiteX0" fmla="*/ 270649 w 271126"/>
                    <a:gd name="connsiteY0" fmla="*/ 149 h 3185309"/>
                    <a:gd name="connsiteX1" fmla="*/ 82531 w 271126"/>
                    <a:gd name="connsiteY1" fmla="*/ 6816 h 3185309"/>
                    <a:gd name="connsiteX2" fmla="*/ 12046 w 271126"/>
                    <a:gd name="connsiteY2" fmla="*/ 708809 h 3185309"/>
                    <a:gd name="connsiteX3" fmla="*/ 27286 w 271126"/>
                    <a:gd name="connsiteY3" fmla="*/ 1638449 h 3185309"/>
                    <a:gd name="connsiteX4" fmla="*/ 271126 w 271126"/>
                    <a:gd name="connsiteY4" fmla="*/ 3185309 h 31853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1126" h="3185309">
                      <a:moveTo>
                        <a:pt x="270649" y="149"/>
                      </a:moveTo>
                      <a:cubicBezTo>
                        <a:pt x="170954" y="-804"/>
                        <a:pt x="123250" y="3006"/>
                        <a:pt x="82531" y="6816"/>
                      </a:cubicBezTo>
                      <a:cubicBezTo>
                        <a:pt x="41812" y="10626"/>
                        <a:pt x="21253" y="436870"/>
                        <a:pt x="12046" y="708809"/>
                      </a:cubicBezTo>
                      <a:cubicBezTo>
                        <a:pt x="2839" y="980748"/>
                        <a:pt x="-15894" y="1225699"/>
                        <a:pt x="27286" y="1638449"/>
                      </a:cubicBezTo>
                      <a:cubicBezTo>
                        <a:pt x="70466" y="2051199"/>
                        <a:pt x="170796" y="2618254"/>
                        <a:pt x="271126" y="3185309"/>
                      </a:cubicBezTo>
                    </a:path>
                  </a:pathLst>
                </a:cu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Freeform: Shape 26">
                  <a:extLst>
                    <a:ext uri="{FF2B5EF4-FFF2-40B4-BE49-F238E27FC236}">
                      <a16:creationId xmlns:a16="http://schemas.microsoft.com/office/drawing/2014/main" id="{6FD1D9E3-9870-CC34-F842-C584064C0495}"/>
                    </a:ext>
                  </a:extLst>
                </p:cNvPr>
                <p:cNvSpPr/>
                <p:nvPr/>
              </p:nvSpPr>
              <p:spPr>
                <a:xfrm flipH="1">
                  <a:off x="6635929" y="2042011"/>
                  <a:ext cx="271126" cy="3185309"/>
                </a:xfrm>
                <a:custGeom>
                  <a:avLst/>
                  <a:gdLst>
                    <a:gd name="connsiteX0" fmla="*/ 303373 w 303373"/>
                    <a:gd name="connsiteY0" fmla="*/ 74102 h 3259262"/>
                    <a:gd name="connsiteX1" fmla="*/ 112873 w 303373"/>
                    <a:gd name="connsiteY1" fmla="*/ 66482 h 3259262"/>
                    <a:gd name="connsiteX2" fmla="*/ 13813 w 303373"/>
                    <a:gd name="connsiteY2" fmla="*/ 782762 h 3259262"/>
                    <a:gd name="connsiteX3" fmla="*/ 29053 w 303373"/>
                    <a:gd name="connsiteY3" fmla="*/ 1712402 h 3259262"/>
                    <a:gd name="connsiteX4" fmla="*/ 272893 w 303373"/>
                    <a:gd name="connsiteY4" fmla="*/ 3259262 h 3259262"/>
                    <a:gd name="connsiteX0" fmla="*/ 300896 w 300896"/>
                    <a:gd name="connsiteY0" fmla="*/ 56236 h 3241396"/>
                    <a:gd name="connsiteX1" fmla="*/ 69915 w 300896"/>
                    <a:gd name="connsiteY1" fmla="*/ 79572 h 3241396"/>
                    <a:gd name="connsiteX2" fmla="*/ 11336 w 300896"/>
                    <a:gd name="connsiteY2" fmla="*/ 764896 h 3241396"/>
                    <a:gd name="connsiteX3" fmla="*/ 26576 w 300896"/>
                    <a:gd name="connsiteY3" fmla="*/ 1694536 h 3241396"/>
                    <a:gd name="connsiteX4" fmla="*/ 270416 w 300896"/>
                    <a:gd name="connsiteY4" fmla="*/ 3241396 h 3241396"/>
                    <a:gd name="connsiteX0" fmla="*/ 300896 w 300896"/>
                    <a:gd name="connsiteY0" fmla="*/ 22805 h 3207965"/>
                    <a:gd name="connsiteX1" fmla="*/ 69915 w 300896"/>
                    <a:gd name="connsiteY1" fmla="*/ 46141 h 3207965"/>
                    <a:gd name="connsiteX2" fmla="*/ 11336 w 300896"/>
                    <a:gd name="connsiteY2" fmla="*/ 731465 h 3207965"/>
                    <a:gd name="connsiteX3" fmla="*/ 26576 w 300896"/>
                    <a:gd name="connsiteY3" fmla="*/ 1661105 h 3207965"/>
                    <a:gd name="connsiteX4" fmla="*/ 270416 w 300896"/>
                    <a:gd name="connsiteY4" fmla="*/ 3207965 h 3207965"/>
                    <a:gd name="connsiteX0" fmla="*/ 301178 w 301178"/>
                    <a:gd name="connsiteY0" fmla="*/ 26120 h 3211280"/>
                    <a:gd name="connsiteX1" fmla="*/ 74959 w 301178"/>
                    <a:gd name="connsiteY1" fmla="*/ 32787 h 3211280"/>
                    <a:gd name="connsiteX2" fmla="*/ 11618 w 301178"/>
                    <a:gd name="connsiteY2" fmla="*/ 734780 h 3211280"/>
                    <a:gd name="connsiteX3" fmla="*/ 26858 w 301178"/>
                    <a:gd name="connsiteY3" fmla="*/ 1664420 h 3211280"/>
                    <a:gd name="connsiteX4" fmla="*/ 270698 w 301178"/>
                    <a:gd name="connsiteY4" fmla="*/ 3211280 h 3211280"/>
                    <a:gd name="connsiteX0" fmla="*/ 301178 w 301178"/>
                    <a:gd name="connsiteY0" fmla="*/ 75 h 3185235"/>
                    <a:gd name="connsiteX1" fmla="*/ 74959 w 301178"/>
                    <a:gd name="connsiteY1" fmla="*/ 6742 h 3185235"/>
                    <a:gd name="connsiteX2" fmla="*/ 11618 w 301178"/>
                    <a:gd name="connsiteY2" fmla="*/ 708735 h 3185235"/>
                    <a:gd name="connsiteX3" fmla="*/ 26858 w 301178"/>
                    <a:gd name="connsiteY3" fmla="*/ 1638375 h 3185235"/>
                    <a:gd name="connsiteX4" fmla="*/ 270698 w 301178"/>
                    <a:gd name="connsiteY4" fmla="*/ 3185235 h 3185235"/>
                    <a:gd name="connsiteX0" fmla="*/ 270221 w 270698"/>
                    <a:gd name="connsiteY0" fmla="*/ 47837 h 3232997"/>
                    <a:gd name="connsiteX1" fmla="*/ 74959 w 270698"/>
                    <a:gd name="connsiteY1" fmla="*/ 54504 h 3232997"/>
                    <a:gd name="connsiteX2" fmla="*/ 11618 w 270698"/>
                    <a:gd name="connsiteY2" fmla="*/ 756497 h 3232997"/>
                    <a:gd name="connsiteX3" fmla="*/ 26858 w 270698"/>
                    <a:gd name="connsiteY3" fmla="*/ 1686137 h 3232997"/>
                    <a:gd name="connsiteX4" fmla="*/ 270698 w 270698"/>
                    <a:gd name="connsiteY4" fmla="*/ 3232997 h 3232997"/>
                    <a:gd name="connsiteX0" fmla="*/ 270221 w 270698"/>
                    <a:gd name="connsiteY0" fmla="*/ 149 h 3185309"/>
                    <a:gd name="connsiteX1" fmla="*/ 74959 w 270698"/>
                    <a:gd name="connsiteY1" fmla="*/ 6816 h 3185309"/>
                    <a:gd name="connsiteX2" fmla="*/ 11618 w 270698"/>
                    <a:gd name="connsiteY2" fmla="*/ 708809 h 3185309"/>
                    <a:gd name="connsiteX3" fmla="*/ 26858 w 270698"/>
                    <a:gd name="connsiteY3" fmla="*/ 1638449 h 3185309"/>
                    <a:gd name="connsiteX4" fmla="*/ 270698 w 270698"/>
                    <a:gd name="connsiteY4" fmla="*/ 3185309 h 3185309"/>
                    <a:gd name="connsiteX0" fmla="*/ 270221 w 270698"/>
                    <a:gd name="connsiteY0" fmla="*/ 149 h 3185309"/>
                    <a:gd name="connsiteX1" fmla="*/ 74959 w 270698"/>
                    <a:gd name="connsiteY1" fmla="*/ 6816 h 3185309"/>
                    <a:gd name="connsiteX2" fmla="*/ 11618 w 270698"/>
                    <a:gd name="connsiteY2" fmla="*/ 708809 h 3185309"/>
                    <a:gd name="connsiteX3" fmla="*/ 26858 w 270698"/>
                    <a:gd name="connsiteY3" fmla="*/ 1638449 h 3185309"/>
                    <a:gd name="connsiteX4" fmla="*/ 270698 w 270698"/>
                    <a:gd name="connsiteY4" fmla="*/ 3185309 h 3185309"/>
                    <a:gd name="connsiteX0" fmla="*/ 270649 w 271126"/>
                    <a:gd name="connsiteY0" fmla="*/ 149 h 3185309"/>
                    <a:gd name="connsiteX1" fmla="*/ 82531 w 271126"/>
                    <a:gd name="connsiteY1" fmla="*/ 6816 h 3185309"/>
                    <a:gd name="connsiteX2" fmla="*/ 12046 w 271126"/>
                    <a:gd name="connsiteY2" fmla="*/ 708809 h 3185309"/>
                    <a:gd name="connsiteX3" fmla="*/ 27286 w 271126"/>
                    <a:gd name="connsiteY3" fmla="*/ 1638449 h 3185309"/>
                    <a:gd name="connsiteX4" fmla="*/ 271126 w 271126"/>
                    <a:gd name="connsiteY4" fmla="*/ 3185309 h 31853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1126" h="3185309">
                      <a:moveTo>
                        <a:pt x="270649" y="149"/>
                      </a:moveTo>
                      <a:cubicBezTo>
                        <a:pt x="170954" y="-804"/>
                        <a:pt x="123250" y="3006"/>
                        <a:pt x="82531" y="6816"/>
                      </a:cubicBezTo>
                      <a:cubicBezTo>
                        <a:pt x="41812" y="10626"/>
                        <a:pt x="21253" y="436870"/>
                        <a:pt x="12046" y="708809"/>
                      </a:cubicBezTo>
                      <a:cubicBezTo>
                        <a:pt x="2839" y="980748"/>
                        <a:pt x="-15894" y="1225699"/>
                        <a:pt x="27286" y="1638449"/>
                      </a:cubicBezTo>
                      <a:cubicBezTo>
                        <a:pt x="70466" y="2051199"/>
                        <a:pt x="170796" y="2618254"/>
                        <a:pt x="271126" y="3185309"/>
                      </a:cubicBezTo>
                    </a:path>
                  </a:pathLst>
                </a:cu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13" name="Arc 12">
              <a:extLst>
                <a:ext uri="{FF2B5EF4-FFF2-40B4-BE49-F238E27FC236}">
                  <a16:creationId xmlns:a16="http://schemas.microsoft.com/office/drawing/2014/main" id="{44CEB27E-34DB-4719-C456-52C1FC157CAD}"/>
                </a:ext>
              </a:extLst>
            </p:cNvPr>
            <p:cNvSpPr/>
            <p:nvPr/>
          </p:nvSpPr>
          <p:spPr>
            <a:xfrm rot="21016654">
              <a:off x="1199841" y="1364043"/>
              <a:ext cx="899328" cy="899328"/>
            </a:xfrm>
            <a:prstGeom prst="arc">
              <a:avLst>
                <a:gd name="adj1" fmla="val 16200000"/>
                <a:gd name="adj2" fmla="val 2021404"/>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spTree>
    <p:extLst>
      <p:ext uri="{BB962C8B-B14F-4D97-AF65-F5344CB8AC3E}">
        <p14:creationId xmlns:p14="http://schemas.microsoft.com/office/powerpoint/2010/main" val="318179271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2" name="TextBox 1">
            <a:extLst>
              <a:ext uri="{FF2B5EF4-FFF2-40B4-BE49-F238E27FC236}">
                <a16:creationId xmlns:a16="http://schemas.microsoft.com/office/drawing/2014/main" id="{EB9A233B-8B89-9930-FFF7-76FBA62CAEA5}"/>
              </a:ext>
            </a:extLst>
          </p:cNvPr>
          <p:cNvSpPr txBox="1"/>
          <p:nvPr/>
        </p:nvSpPr>
        <p:spPr>
          <a:xfrm>
            <a:off x="564649" y="786824"/>
            <a:ext cx="3442701" cy="1169551"/>
          </a:xfrm>
          <a:prstGeom prst="rect">
            <a:avLst/>
          </a:prstGeom>
          <a:noFill/>
        </p:spPr>
        <p:txBody>
          <a:bodyPr wrap="square">
            <a:spAutoFit/>
          </a:bodyPr>
          <a:lstStyle/>
          <a:p>
            <a:pPr algn="just"/>
            <a:r>
              <a:rPr lang="en-US" sz="1400" dirty="0">
                <a:solidFill>
                  <a:srgbClr val="222222"/>
                </a:solidFill>
                <a:effectLst/>
                <a:latin typeface="Times New Roman" panose="02020603050405020304" pitchFamily="18" charset="0"/>
                <a:ea typeface="Times New Roman" panose="02020603050405020304" pitchFamily="18" charset="0"/>
              </a:rPr>
              <a:t>True or False.  If you declare an emergency and deviate from any rule in Part 91, you must provide a written explanation to the FAA within 72 hours.</a:t>
            </a:r>
          </a:p>
          <a:p>
            <a:pPr algn="ctr"/>
            <a:r>
              <a:rPr lang="en-US" sz="1400" dirty="0">
                <a:solidFill>
                  <a:srgbClr val="222222"/>
                </a:solidFill>
                <a:effectLst/>
                <a:latin typeface="Times New Roman" panose="02020603050405020304" pitchFamily="18" charset="0"/>
                <a:ea typeface="Times New Roman" panose="02020603050405020304" pitchFamily="18" charset="0"/>
              </a:rPr>
              <a:t>91.3</a:t>
            </a:r>
            <a:endParaRPr lang="en-US" sz="1400" dirty="0"/>
          </a:p>
        </p:txBody>
      </p:sp>
      <p:sp>
        <p:nvSpPr>
          <p:cNvPr id="3" name="Rectangle 2">
            <a:extLst>
              <a:ext uri="{FF2B5EF4-FFF2-40B4-BE49-F238E27FC236}">
                <a16:creationId xmlns:a16="http://schemas.microsoft.com/office/drawing/2014/main" id="{1AB536EA-6E06-3299-1138-B46D112D9AF1}"/>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88ECC0AC-A5B3-8EB2-8A1A-90EE9D3BF041}"/>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77802885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2" name="TextBox 1">
            <a:extLst>
              <a:ext uri="{FF2B5EF4-FFF2-40B4-BE49-F238E27FC236}">
                <a16:creationId xmlns:a16="http://schemas.microsoft.com/office/drawing/2014/main" id="{0FB9FA50-54B1-A6E7-8800-F960A6803B81}"/>
              </a:ext>
            </a:extLst>
          </p:cNvPr>
          <p:cNvSpPr txBox="1"/>
          <p:nvPr/>
        </p:nvSpPr>
        <p:spPr>
          <a:xfrm>
            <a:off x="414954" y="556725"/>
            <a:ext cx="3742092" cy="1315425"/>
          </a:xfrm>
          <a:prstGeom prst="rect">
            <a:avLst/>
          </a:prstGeom>
          <a:noFill/>
        </p:spPr>
        <p:txBody>
          <a:bodyPr wrap="square">
            <a:spAutoFit/>
          </a:bodyPr>
          <a:lstStyle/>
          <a:p>
            <a:pPr marL="0" marR="0" algn="ctr">
              <a:lnSpc>
                <a:spcPct val="115000"/>
              </a:lnSpc>
              <a:spcBef>
                <a:spcPts val="0"/>
              </a:spcBef>
              <a:spcAft>
                <a:spcPts val="0"/>
              </a:spcAft>
            </a:pPr>
            <a:r>
              <a:rPr lang="en-US" sz="14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False.</a:t>
            </a:r>
          </a:p>
          <a:p>
            <a:pPr marL="0" marR="0" algn="just">
              <a:lnSpc>
                <a:spcPct val="115000"/>
              </a:lnSpc>
              <a:spcBef>
                <a:spcPts val="0"/>
              </a:spcBef>
              <a:spcAft>
                <a:spcPts val="0"/>
              </a:spcAft>
            </a:pPr>
            <a:endParaRPr lang="en-US" sz="1400"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lnSpc>
                <a:spcPct val="115000"/>
              </a:lnSpc>
              <a:spcBef>
                <a:spcPts val="0"/>
              </a:spcBef>
              <a:spcAft>
                <a:spcPts val="0"/>
              </a:spcAft>
            </a:pPr>
            <a:r>
              <a:rPr lang="en-US" sz="14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You must provide a </a:t>
            </a:r>
            <a:r>
              <a:rPr lang="en-US" sz="1400" dirty="0">
                <a:solidFill>
                  <a:srgbClr val="222222"/>
                </a:solidFill>
                <a:effectLst/>
                <a:latin typeface="Times New Roman" panose="02020603050405020304" pitchFamily="18" charset="0"/>
                <a:ea typeface="Times New Roman" panose="02020603050405020304" pitchFamily="18" charset="0"/>
              </a:rPr>
              <a:t>written explanation</a:t>
            </a:r>
            <a:r>
              <a:rPr lang="en-US" sz="14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 if one is </a:t>
            </a:r>
            <a:r>
              <a:rPr lang="en-US" sz="1400" i="1"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requested</a:t>
            </a:r>
            <a:r>
              <a:rPr lang="en-US" sz="14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 It’s not automatic. Note: rest assured, you will be asked for one.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3628716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2" name="TextBox 1">
            <a:extLst>
              <a:ext uri="{FF2B5EF4-FFF2-40B4-BE49-F238E27FC236}">
                <a16:creationId xmlns:a16="http://schemas.microsoft.com/office/drawing/2014/main" id="{0B970143-7AE6-51C6-7FA2-75847844B716}"/>
              </a:ext>
            </a:extLst>
          </p:cNvPr>
          <p:cNvSpPr txBox="1"/>
          <p:nvPr/>
        </p:nvSpPr>
        <p:spPr>
          <a:xfrm>
            <a:off x="304800" y="660037"/>
            <a:ext cx="3962400" cy="1315425"/>
          </a:xfrm>
          <a:prstGeom prst="rect">
            <a:avLst/>
          </a:prstGeom>
          <a:noFill/>
        </p:spPr>
        <p:txBody>
          <a:bodyPr wrap="square">
            <a:spAutoFit/>
          </a:bodyPr>
          <a:lstStyle/>
          <a:p>
            <a:pPr marL="0" marR="0" algn="just">
              <a:lnSpc>
                <a:spcPct val="115000"/>
              </a:lnSpc>
              <a:spcBef>
                <a:spcPts val="0"/>
              </a:spcBef>
              <a:spcAft>
                <a:spcPts val="0"/>
              </a:spcAft>
            </a:pPr>
            <a:r>
              <a:rPr lang="en-US" sz="14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You and three friends fly an overnight cross country. The next morning, one of them appears to have a hangover. Can you let him join you and your friends on the return home?</a:t>
            </a:r>
          </a:p>
          <a:p>
            <a:pPr marL="0" marR="0" algn="ctr">
              <a:lnSpc>
                <a:spcPct val="115000"/>
              </a:lnSpc>
              <a:spcBef>
                <a:spcPts val="0"/>
              </a:spcBef>
              <a:spcAft>
                <a:spcPts val="0"/>
              </a:spcAft>
            </a:pPr>
            <a:r>
              <a:rPr lang="en-US" sz="14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91.17(a)</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a:extLst>
              <a:ext uri="{FF2B5EF4-FFF2-40B4-BE49-F238E27FC236}">
                <a16:creationId xmlns:a16="http://schemas.microsoft.com/office/drawing/2014/main" id="{CCFAC0DA-3813-5614-AA2E-19271D6387D6}"/>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A1276724-A948-D620-0F69-A68C7EE53981}"/>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49772989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3" name="TextBox 2">
            <a:extLst>
              <a:ext uri="{FF2B5EF4-FFF2-40B4-BE49-F238E27FC236}">
                <a16:creationId xmlns:a16="http://schemas.microsoft.com/office/drawing/2014/main" id="{82E8E8C6-151D-1E37-9831-20AF752B4BBC}"/>
              </a:ext>
            </a:extLst>
          </p:cNvPr>
          <p:cNvSpPr txBox="1"/>
          <p:nvPr/>
        </p:nvSpPr>
        <p:spPr>
          <a:xfrm>
            <a:off x="468312" y="1085528"/>
            <a:ext cx="3635375" cy="572144"/>
          </a:xfrm>
          <a:prstGeom prst="rect">
            <a:avLst/>
          </a:prstGeom>
          <a:noFill/>
        </p:spPr>
        <p:txBody>
          <a:bodyPr wrap="square">
            <a:spAutoFit/>
          </a:bodyPr>
          <a:lstStyle/>
          <a:p>
            <a:pPr marL="0" marR="0" algn="ctr">
              <a:lnSpc>
                <a:spcPct val="115000"/>
              </a:lnSpc>
              <a:spcBef>
                <a:spcPts val="0"/>
              </a:spcBef>
              <a:spcAft>
                <a:spcPts val="0"/>
              </a:spcAft>
            </a:pPr>
            <a:r>
              <a:rPr lang="en-US" sz="14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Nope.</a:t>
            </a:r>
          </a:p>
          <a:p>
            <a:pPr marL="0" marR="0" algn="ctr">
              <a:lnSpc>
                <a:spcPct val="115000"/>
              </a:lnSpc>
              <a:spcBef>
                <a:spcPts val="0"/>
              </a:spcBef>
              <a:spcAft>
                <a:spcPts val="0"/>
              </a:spcAft>
            </a:pPr>
            <a:r>
              <a:rPr lang="en-US" sz="14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Tell him to call Uber.</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1967215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2" name="TextBox 1">
            <a:extLst>
              <a:ext uri="{FF2B5EF4-FFF2-40B4-BE49-F238E27FC236}">
                <a16:creationId xmlns:a16="http://schemas.microsoft.com/office/drawing/2014/main" id="{50B8B994-A87E-B31A-C8B0-F8CEFEAF772A}"/>
              </a:ext>
            </a:extLst>
          </p:cNvPr>
          <p:cNvSpPr txBox="1"/>
          <p:nvPr/>
        </p:nvSpPr>
        <p:spPr>
          <a:xfrm>
            <a:off x="320675" y="466127"/>
            <a:ext cx="3930650" cy="1810945"/>
          </a:xfrm>
          <a:prstGeom prst="rect">
            <a:avLst/>
          </a:prstGeom>
          <a:noFill/>
        </p:spPr>
        <p:txBody>
          <a:bodyPr wrap="square">
            <a:spAutoFit/>
          </a:bodyPr>
          <a:lstStyle/>
          <a:p>
            <a:pPr marL="0" marR="0" algn="just">
              <a:lnSpc>
                <a:spcPct val="115000"/>
              </a:lnSpc>
              <a:spcBef>
                <a:spcPts val="0"/>
              </a:spcBef>
              <a:spcAft>
                <a:spcPts val="0"/>
              </a:spcAft>
            </a:pPr>
            <a:r>
              <a:rPr lang="en-US" sz="14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Your little brother is in Cub Scouts and this year they want to do an egg dropping contest. </a:t>
            </a:r>
            <a:r>
              <a:rPr lang="en-US" sz="1400"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The intent is to design and build an apparatus that can hold an egg and survive a fall from an airplane. Can you volunteer to be the PIC of the aircraft that drops these things?</a:t>
            </a:r>
          </a:p>
          <a:p>
            <a:pPr marL="0" marR="0" algn="ctr">
              <a:lnSpc>
                <a:spcPct val="115000"/>
              </a:lnSpc>
              <a:spcBef>
                <a:spcPts val="0"/>
              </a:spcBef>
              <a:spcAft>
                <a:spcPts val="0"/>
              </a:spcAft>
            </a:pPr>
            <a:r>
              <a:rPr lang="en-US" sz="1400"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91.15</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a:extLst>
              <a:ext uri="{FF2B5EF4-FFF2-40B4-BE49-F238E27FC236}">
                <a16:creationId xmlns:a16="http://schemas.microsoft.com/office/drawing/2014/main" id="{677BDE63-A97A-FE89-7869-D06A60153540}"/>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EA881CA3-49A6-BF9C-C429-1D637145D893}"/>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235092217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2" name="TextBox 1">
            <a:extLst>
              <a:ext uri="{FF2B5EF4-FFF2-40B4-BE49-F238E27FC236}">
                <a16:creationId xmlns:a16="http://schemas.microsoft.com/office/drawing/2014/main" id="{A35BB67B-0E76-1BBA-681D-66172074B1A3}"/>
              </a:ext>
            </a:extLst>
          </p:cNvPr>
          <p:cNvSpPr txBox="1"/>
          <p:nvPr/>
        </p:nvSpPr>
        <p:spPr>
          <a:xfrm>
            <a:off x="289623" y="310326"/>
            <a:ext cx="3992754" cy="1962525"/>
          </a:xfrm>
          <a:prstGeom prst="rect">
            <a:avLst/>
          </a:prstGeom>
          <a:noFill/>
        </p:spPr>
        <p:txBody>
          <a:bodyPr wrap="square">
            <a:spAutoFit/>
          </a:bodyPr>
          <a:lstStyle/>
          <a:p>
            <a:pPr marL="0" marR="0" algn="ctr">
              <a:lnSpc>
                <a:spcPct val="115000"/>
              </a:lnSpc>
              <a:spcBef>
                <a:spcPts val="0"/>
              </a:spcBef>
              <a:spcAft>
                <a:spcPts val="0"/>
              </a:spcAft>
            </a:pPr>
            <a:r>
              <a:rPr lang="en-US" sz="12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Yes. If you follow the rules…</a:t>
            </a:r>
          </a:p>
          <a:p>
            <a:pPr marL="0" marR="0">
              <a:lnSpc>
                <a:spcPct val="115000"/>
              </a:lnSpc>
              <a:spcBef>
                <a:spcPts val="0"/>
              </a:spcBef>
              <a:spcAft>
                <a:spcPts val="0"/>
              </a:spcAft>
            </a:pPr>
            <a:endParaRPr lang="en-US" sz="12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lnSpc>
                <a:spcPct val="115000"/>
              </a:lnSpc>
              <a:spcBef>
                <a:spcPts val="0"/>
              </a:spcBef>
              <a:spcAft>
                <a:spcPts val="0"/>
              </a:spcAft>
            </a:pPr>
            <a:r>
              <a:rPr lang="en-US" sz="12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No PIC of a civil aircraft may allow any object to be dropped from that aircraft in flight if it creates a hazard to persons or property.</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spcBef>
                <a:spcPts val="0"/>
              </a:spcBef>
              <a:spcAft>
                <a:spcPts val="0"/>
              </a:spcAft>
            </a:pPr>
            <a:r>
              <a:rPr lang="en-US" sz="12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0"/>
              </a:spcAft>
            </a:pPr>
            <a:r>
              <a:rPr lang="en-US" sz="12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However, this section does not prohibit the dropping of any object if reasonable precautions are taken to avoid injury or damage to persons or property.</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0206862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3" name="TextBox 2">
            <a:extLst>
              <a:ext uri="{FF2B5EF4-FFF2-40B4-BE49-F238E27FC236}">
                <a16:creationId xmlns:a16="http://schemas.microsoft.com/office/drawing/2014/main" id="{65AA8648-BC23-B290-ED97-A12E77F648A6}"/>
              </a:ext>
            </a:extLst>
          </p:cNvPr>
          <p:cNvSpPr txBox="1"/>
          <p:nvPr/>
        </p:nvSpPr>
        <p:spPr>
          <a:xfrm>
            <a:off x="336550" y="588853"/>
            <a:ext cx="3911600" cy="1565493"/>
          </a:xfrm>
          <a:prstGeom prst="rect">
            <a:avLst/>
          </a:prstGeom>
          <a:noFill/>
        </p:spPr>
        <p:txBody>
          <a:bodyPr wrap="square">
            <a:spAutoFit/>
          </a:bodyPr>
          <a:lstStyle/>
          <a:p>
            <a:pPr marL="0" marR="0" algn="just">
              <a:lnSpc>
                <a:spcPct val="115000"/>
              </a:lnSpc>
              <a:spcBef>
                <a:spcPts val="0"/>
              </a:spcBef>
              <a:spcAft>
                <a:spcPts val="0"/>
              </a:spcAft>
            </a:pPr>
            <a:r>
              <a:rPr lang="en-US" sz="12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You are flying your sister and her 3-year-old son to Grandma’s for a weekend visit. Your sister insists on holding her son in her lap. You allow it. After you land at your destination, an FAA inspector watches you taxi in and shut down. He begins walking towards your plane. Should you be nervous?</a:t>
            </a:r>
          </a:p>
          <a:p>
            <a:pPr marL="0" marR="0" algn="ctr">
              <a:lnSpc>
                <a:spcPct val="115000"/>
              </a:lnSpc>
              <a:spcBef>
                <a:spcPts val="0"/>
              </a:spcBef>
              <a:spcAft>
                <a:spcPts val="0"/>
              </a:spcAft>
            </a:pPr>
            <a:r>
              <a:rPr lang="en-US" sz="12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91.107</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B295E2CA-8F3A-85AB-E90D-FC1900E53CE6}"/>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FA451F26-9B94-AE04-1C0A-37FEB0E3ACDF}"/>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132493089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2" name="TextBox 1">
            <a:extLst>
              <a:ext uri="{FF2B5EF4-FFF2-40B4-BE49-F238E27FC236}">
                <a16:creationId xmlns:a16="http://schemas.microsoft.com/office/drawing/2014/main" id="{EE4796D1-DD49-6CF1-7AE8-1F0ADADEBA5C}"/>
              </a:ext>
            </a:extLst>
          </p:cNvPr>
          <p:cNvSpPr txBox="1"/>
          <p:nvPr/>
        </p:nvSpPr>
        <p:spPr>
          <a:xfrm>
            <a:off x="336550" y="753594"/>
            <a:ext cx="3898900" cy="1140762"/>
          </a:xfrm>
          <a:prstGeom prst="rect">
            <a:avLst/>
          </a:prstGeom>
          <a:noFill/>
        </p:spPr>
        <p:txBody>
          <a:bodyPr wrap="square">
            <a:spAutoFit/>
          </a:bodyPr>
          <a:lstStyle/>
          <a:p>
            <a:pPr marL="0" marR="0" algn="just">
              <a:lnSpc>
                <a:spcPct val="115000"/>
              </a:lnSpc>
              <a:spcBef>
                <a:spcPts val="0"/>
              </a:spcBef>
              <a:spcAft>
                <a:spcPts val="0"/>
              </a:spcAft>
            </a:pPr>
            <a:r>
              <a:rPr lang="en-US" sz="12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You should be nervous. Your sister</a:t>
            </a:r>
            <a:r>
              <a:rPr lang="en-US" sz="1200"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’s son is too old to ride in her lap. Any child 2 years old or under may ride in the lap of an adult who is properly seated and restrained (seatbelt, etc.) but if they are over 2 years old, they require their own seat and the proper restraining devices.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237742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2" name="TextBox 1">
            <a:extLst>
              <a:ext uri="{FF2B5EF4-FFF2-40B4-BE49-F238E27FC236}">
                <a16:creationId xmlns:a16="http://schemas.microsoft.com/office/drawing/2014/main" id="{B5C67D52-9A7F-4133-81FE-2A09D85B59E0}"/>
              </a:ext>
            </a:extLst>
          </p:cNvPr>
          <p:cNvSpPr txBox="1"/>
          <p:nvPr/>
        </p:nvSpPr>
        <p:spPr>
          <a:xfrm>
            <a:off x="476425" y="713887"/>
            <a:ext cx="3619149" cy="1315425"/>
          </a:xfrm>
          <a:prstGeom prst="rect">
            <a:avLst/>
          </a:prstGeom>
          <a:noFill/>
        </p:spPr>
        <p:txBody>
          <a:bodyPr wrap="square">
            <a:spAutoFit/>
          </a:bodyPr>
          <a:lstStyle/>
          <a:p>
            <a:pPr marL="0" marR="0" algn="just">
              <a:lnSpc>
                <a:spcPct val="115000"/>
              </a:lnSpc>
              <a:spcBef>
                <a:spcPts val="0"/>
              </a:spcBef>
              <a:spcAft>
                <a:spcPts val="0"/>
              </a:spcAft>
            </a:pPr>
            <a:r>
              <a:rPr lang="en-US" sz="14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You are turning base at an uncontrolled airfield. As you clear final, you see an aircraft on a short final underneath you. Which aircraft has the right of way?</a:t>
            </a:r>
          </a:p>
          <a:p>
            <a:pPr marL="0" marR="0" algn="ctr">
              <a:lnSpc>
                <a:spcPct val="115000"/>
              </a:lnSpc>
              <a:spcBef>
                <a:spcPts val="0"/>
              </a:spcBef>
              <a:spcAft>
                <a:spcPts val="0"/>
              </a:spcAft>
            </a:pPr>
            <a:r>
              <a:rPr lang="en-US" sz="14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91.113(g)</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a:extLst>
              <a:ext uri="{FF2B5EF4-FFF2-40B4-BE49-F238E27FC236}">
                <a16:creationId xmlns:a16="http://schemas.microsoft.com/office/drawing/2014/main" id="{E37D305E-DBC4-0388-62DC-FFC8C0F31495}"/>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185B3D19-FEC9-39C0-45DD-1B6D2C47CABB}"/>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282088978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2" name="TextBox 1">
            <a:extLst>
              <a:ext uri="{FF2B5EF4-FFF2-40B4-BE49-F238E27FC236}">
                <a16:creationId xmlns:a16="http://schemas.microsoft.com/office/drawing/2014/main" id="{600648B1-AC70-CAEE-A461-3FB0DE893CAD}"/>
              </a:ext>
            </a:extLst>
          </p:cNvPr>
          <p:cNvSpPr txBox="1"/>
          <p:nvPr/>
        </p:nvSpPr>
        <p:spPr>
          <a:xfrm>
            <a:off x="398366" y="961648"/>
            <a:ext cx="3775267" cy="819904"/>
          </a:xfrm>
          <a:prstGeom prst="rect">
            <a:avLst/>
          </a:prstGeom>
          <a:noFill/>
        </p:spPr>
        <p:txBody>
          <a:bodyPr wrap="square">
            <a:spAutoFit/>
          </a:bodyPr>
          <a:lstStyle/>
          <a:p>
            <a:pPr marL="0" marR="0" algn="just">
              <a:lnSpc>
                <a:spcPct val="115000"/>
              </a:lnSpc>
              <a:spcBef>
                <a:spcPts val="0"/>
              </a:spcBef>
              <a:spcAft>
                <a:spcPts val="0"/>
              </a:spcAft>
            </a:pPr>
            <a:r>
              <a:rPr lang="en-US" sz="14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The other aircraft has priority. They are established on a landing approach and their altitude is lower than yours.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0195719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2" name="TextBox 1">
            <a:extLst>
              <a:ext uri="{FF2B5EF4-FFF2-40B4-BE49-F238E27FC236}">
                <a16:creationId xmlns:a16="http://schemas.microsoft.com/office/drawing/2014/main" id="{9C7BB2B3-5B07-98FF-911A-925B2AFC053F}"/>
              </a:ext>
            </a:extLst>
          </p:cNvPr>
          <p:cNvSpPr txBox="1"/>
          <p:nvPr/>
        </p:nvSpPr>
        <p:spPr>
          <a:xfrm>
            <a:off x="365672" y="443337"/>
            <a:ext cx="3840656" cy="815801"/>
          </a:xfrm>
          <a:prstGeom prst="rect">
            <a:avLst/>
          </a:prstGeom>
          <a:noFill/>
        </p:spPr>
        <p:txBody>
          <a:bodyPr wrap="square">
            <a:spAutoFit/>
          </a:bodyPr>
          <a:lstStyle/>
          <a:p>
            <a:pPr marL="0" marR="0" algn="just">
              <a:lnSpc>
                <a:spcPct val="115000"/>
              </a:lnSpc>
              <a:spcBef>
                <a:spcPts val="0"/>
              </a:spcBef>
              <a:spcAft>
                <a:spcPts val="0"/>
              </a:spcAft>
            </a:pPr>
            <a:r>
              <a:rPr lang="en-US" sz="14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What is the fastest airspeed allowed below 10,000 MSL?</a:t>
            </a:r>
          </a:p>
          <a:p>
            <a:pPr marL="0" marR="0" algn="ctr">
              <a:lnSpc>
                <a:spcPct val="115000"/>
              </a:lnSpc>
              <a:spcBef>
                <a:spcPts val="0"/>
              </a:spcBef>
              <a:spcAft>
                <a:spcPts val="0"/>
              </a:spcAft>
            </a:pPr>
            <a:r>
              <a:rPr lang="en-US" sz="14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91.117(a)</a:t>
            </a:r>
          </a:p>
        </p:txBody>
      </p:sp>
      <p:sp>
        <p:nvSpPr>
          <p:cNvPr id="3" name="TextBox 2">
            <a:extLst>
              <a:ext uri="{FF2B5EF4-FFF2-40B4-BE49-F238E27FC236}">
                <a16:creationId xmlns:a16="http://schemas.microsoft.com/office/drawing/2014/main" id="{DE16D7E9-C166-A3A3-F460-6C0EDDECB6BE}"/>
              </a:ext>
            </a:extLst>
          </p:cNvPr>
          <p:cNvSpPr txBox="1"/>
          <p:nvPr/>
        </p:nvSpPr>
        <p:spPr>
          <a:xfrm>
            <a:off x="365672" y="1371600"/>
            <a:ext cx="3840656" cy="815801"/>
          </a:xfrm>
          <a:prstGeom prst="rect">
            <a:avLst/>
          </a:prstGeom>
          <a:noFill/>
        </p:spPr>
        <p:txBody>
          <a:bodyPr wrap="square">
            <a:spAutoFit/>
          </a:bodyPr>
          <a:lstStyle/>
          <a:p>
            <a:pPr marL="0" marR="0" algn="just">
              <a:lnSpc>
                <a:spcPct val="115000"/>
              </a:lnSpc>
              <a:spcBef>
                <a:spcPts val="0"/>
              </a:spcBef>
              <a:spcAft>
                <a:spcPts val="0"/>
              </a:spcAft>
            </a:pPr>
            <a:r>
              <a:rPr lang="en-US" sz="14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Unless otherwise authorized, what is the fastest speed allowed in Class B?</a:t>
            </a:r>
            <a:endParaRPr lang="en-US" sz="900" dirty="0">
              <a:solidFill>
                <a:srgbClr val="222222"/>
              </a:solidFill>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15000"/>
              </a:lnSpc>
            </a:pPr>
            <a:r>
              <a:rPr lang="en-US" sz="1400"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91.117(b)</a:t>
            </a:r>
          </a:p>
        </p:txBody>
      </p:sp>
      <p:sp>
        <p:nvSpPr>
          <p:cNvPr id="5" name="Rectangle 4">
            <a:extLst>
              <a:ext uri="{FF2B5EF4-FFF2-40B4-BE49-F238E27FC236}">
                <a16:creationId xmlns:a16="http://schemas.microsoft.com/office/drawing/2014/main" id="{125610B8-EEDC-0418-411E-DB630B608F8E}"/>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A4B8B4C6-ECBF-152B-B40A-2F26D35EE85D}"/>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45361825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2" name="TextBox 1">
            <a:extLst>
              <a:ext uri="{FF2B5EF4-FFF2-40B4-BE49-F238E27FC236}">
                <a16:creationId xmlns:a16="http://schemas.microsoft.com/office/drawing/2014/main" id="{6834B6A1-6522-11A1-D13B-90C3386785A5}"/>
              </a:ext>
            </a:extLst>
          </p:cNvPr>
          <p:cNvSpPr txBox="1"/>
          <p:nvPr/>
        </p:nvSpPr>
        <p:spPr>
          <a:xfrm>
            <a:off x="819918" y="961070"/>
            <a:ext cx="2932164" cy="821059"/>
          </a:xfrm>
          <a:prstGeom prst="rect">
            <a:avLst/>
          </a:prstGeom>
          <a:noFill/>
        </p:spPr>
        <p:txBody>
          <a:bodyPr wrap="square">
            <a:spAutoFit/>
          </a:bodyPr>
          <a:lstStyle/>
          <a:p>
            <a:pPr marL="0" marR="0" algn="ctr">
              <a:lnSpc>
                <a:spcPct val="115000"/>
              </a:lnSpc>
              <a:spcBef>
                <a:spcPts val="0"/>
              </a:spcBef>
              <a:spcAft>
                <a:spcPts val="0"/>
              </a:spcAft>
            </a:pPr>
            <a:r>
              <a:rPr lang="en-US" sz="14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250 KIAS below 10,000 MSL.</a:t>
            </a:r>
          </a:p>
          <a:p>
            <a:pPr marL="0" marR="0" algn="ctr">
              <a:lnSpc>
                <a:spcPct val="115000"/>
              </a:lnSpc>
              <a:spcBef>
                <a:spcPts val="0"/>
              </a:spcBef>
              <a:spcAft>
                <a:spcPts val="0"/>
              </a:spcAft>
            </a:pPr>
            <a:endParaRPr lang="en-US" sz="1400" dirty="0">
              <a:solidFill>
                <a:srgbClr val="222222"/>
              </a:solidFill>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15000"/>
              </a:lnSpc>
              <a:spcBef>
                <a:spcPts val="0"/>
              </a:spcBef>
              <a:spcAft>
                <a:spcPts val="0"/>
              </a:spcAft>
            </a:pPr>
            <a:r>
              <a:rPr lang="en-US" sz="14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250 KIAS in Class B.</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36266357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2" name="TextBox 1">
            <a:extLst>
              <a:ext uri="{FF2B5EF4-FFF2-40B4-BE49-F238E27FC236}">
                <a16:creationId xmlns:a16="http://schemas.microsoft.com/office/drawing/2014/main" id="{5CF51EFD-94FD-80B1-CA8B-6E994CCE66C6}"/>
              </a:ext>
            </a:extLst>
          </p:cNvPr>
          <p:cNvSpPr txBox="1"/>
          <p:nvPr/>
        </p:nvSpPr>
        <p:spPr>
          <a:xfrm>
            <a:off x="460375" y="685423"/>
            <a:ext cx="3651249" cy="1067665"/>
          </a:xfrm>
          <a:prstGeom prst="rect">
            <a:avLst/>
          </a:prstGeom>
          <a:noFill/>
        </p:spPr>
        <p:txBody>
          <a:bodyPr wrap="square">
            <a:spAutoFit/>
          </a:bodyPr>
          <a:lstStyle/>
          <a:p>
            <a:pPr marL="0" marR="0" algn="just">
              <a:lnSpc>
                <a:spcPct val="115000"/>
              </a:lnSpc>
              <a:spcBef>
                <a:spcPts val="0"/>
              </a:spcBef>
              <a:spcAft>
                <a:spcPts val="0"/>
              </a:spcAft>
            </a:pPr>
            <a:r>
              <a:rPr lang="en-US" sz="14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You are performing an engine out exercise over the wheat fields of western Kansas. What is the lowest you can go?</a:t>
            </a:r>
          </a:p>
          <a:p>
            <a:pPr marL="0" marR="0" algn="ctr">
              <a:lnSpc>
                <a:spcPct val="115000"/>
              </a:lnSpc>
              <a:spcBef>
                <a:spcPts val="0"/>
              </a:spcBef>
              <a:spcAft>
                <a:spcPts val="0"/>
              </a:spcAft>
            </a:pPr>
            <a:r>
              <a:rPr lang="en-US" sz="14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91.119(c)</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a:extLst>
              <a:ext uri="{FF2B5EF4-FFF2-40B4-BE49-F238E27FC236}">
                <a16:creationId xmlns:a16="http://schemas.microsoft.com/office/drawing/2014/main" id="{E6C0646B-AA39-8A71-F3D6-3730EBD8BB22}"/>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C2C5320E-9F89-494B-E223-A56F631790BC}"/>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299627326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2" name="TextBox 1">
            <a:extLst>
              <a:ext uri="{FF2B5EF4-FFF2-40B4-BE49-F238E27FC236}">
                <a16:creationId xmlns:a16="http://schemas.microsoft.com/office/drawing/2014/main" id="{28688DF7-B9CA-C6EF-68F6-CEBF16958081}"/>
              </a:ext>
            </a:extLst>
          </p:cNvPr>
          <p:cNvSpPr txBox="1"/>
          <p:nvPr/>
        </p:nvSpPr>
        <p:spPr>
          <a:xfrm>
            <a:off x="496978" y="695036"/>
            <a:ext cx="3578044" cy="1353127"/>
          </a:xfrm>
          <a:prstGeom prst="rect">
            <a:avLst/>
          </a:prstGeom>
          <a:noFill/>
        </p:spPr>
        <p:txBody>
          <a:bodyPr wrap="square">
            <a:spAutoFit/>
          </a:bodyPr>
          <a:lstStyle/>
          <a:p>
            <a:pPr marL="0" marR="0" algn="just">
              <a:lnSpc>
                <a:spcPct val="115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Being a sparsely populated area and assuming there is nothing out there but you, the wheat, and a couple of scarecrows, you could go as low as you want but you must remain at least 500 feet away from any person, vessel, vehicle, or structure. With that being said, I just use 500 feet AGL minimum to be safe.</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699642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2" name="TextBox 1">
            <a:extLst>
              <a:ext uri="{FF2B5EF4-FFF2-40B4-BE49-F238E27FC236}">
                <a16:creationId xmlns:a16="http://schemas.microsoft.com/office/drawing/2014/main" id="{BA688749-6426-8ED4-5DDF-470818363A55}"/>
              </a:ext>
            </a:extLst>
          </p:cNvPr>
          <p:cNvSpPr txBox="1"/>
          <p:nvPr/>
        </p:nvSpPr>
        <p:spPr>
          <a:xfrm>
            <a:off x="395922" y="718334"/>
            <a:ext cx="3780155" cy="1169551"/>
          </a:xfrm>
          <a:prstGeom prst="rect">
            <a:avLst/>
          </a:prstGeom>
          <a:noFill/>
        </p:spPr>
        <p:txBody>
          <a:bodyPr wrap="square">
            <a:spAutoFit/>
          </a:bodyPr>
          <a:lstStyle/>
          <a:p>
            <a:pPr algn="just"/>
            <a:r>
              <a:rPr lang="en-US" sz="1400" dirty="0">
                <a:solidFill>
                  <a:srgbClr val="222222"/>
                </a:solidFill>
                <a:effectLst/>
                <a:latin typeface="Times New Roman" panose="02020603050405020304" pitchFamily="18" charset="0"/>
                <a:ea typeface="Times New Roman" panose="02020603050405020304" pitchFamily="18" charset="0"/>
              </a:rPr>
              <a:t>When operating in Class D airspace, what </a:t>
            </a:r>
            <a:r>
              <a:rPr lang="en-US" sz="1400" dirty="0">
                <a:solidFill>
                  <a:srgbClr val="222222"/>
                </a:solidFill>
                <a:latin typeface="Times New Roman" panose="02020603050405020304" pitchFamily="18" charset="0"/>
                <a:ea typeface="Times New Roman" panose="02020603050405020304" pitchFamily="18" charset="0"/>
              </a:rPr>
              <a:t>descent angle should you </a:t>
            </a:r>
            <a:r>
              <a:rPr lang="en-US" sz="1400" dirty="0">
                <a:solidFill>
                  <a:srgbClr val="222222"/>
                </a:solidFill>
                <a:effectLst/>
                <a:latin typeface="Times New Roman" panose="02020603050405020304" pitchFamily="18" charset="0"/>
                <a:ea typeface="Times New Roman" panose="02020603050405020304" pitchFamily="18" charset="0"/>
              </a:rPr>
              <a:t>use when approaching to land on a runway with a Visual Approach Slope Indicator?</a:t>
            </a:r>
          </a:p>
          <a:p>
            <a:pPr algn="ctr"/>
            <a:r>
              <a:rPr lang="en-US" sz="1400" dirty="0">
                <a:solidFill>
                  <a:srgbClr val="222222"/>
                </a:solidFill>
                <a:effectLst/>
                <a:latin typeface="Times New Roman" panose="02020603050405020304" pitchFamily="18" charset="0"/>
                <a:ea typeface="Times New Roman" panose="02020603050405020304" pitchFamily="18" charset="0"/>
              </a:rPr>
              <a:t>91.129</a:t>
            </a:r>
            <a:r>
              <a:rPr lang="en-US" sz="1400" dirty="0">
                <a:solidFill>
                  <a:srgbClr val="222222"/>
                </a:solidFill>
                <a:latin typeface="Times New Roman" panose="02020603050405020304" pitchFamily="18" charset="0"/>
                <a:ea typeface="Times New Roman" panose="02020603050405020304" pitchFamily="18" charset="0"/>
              </a:rPr>
              <a:t>(e)</a:t>
            </a:r>
            <a:r>
              <a:rPr lang="en-US" sz="1400" dirty="0">
                <a:solidFill>
                  <a:srgbClr val="222222"/>
                </a:solidFill>
                <a:effectLst/>
                <a:latin typeface="Times New Roman" panose="02020603050405020304" pitchFamily="18" charset="0"/>
                <a:ea typeface="Times New Roman" panose="02020603050405020304" pitchFamily="18" charset="0"/>
              </a:rPr>
              <a:t>(3)</a:t>
            </a:r>
            <a:endParaRPr lang="en-US" sz="1400" dirty="0"/>
          </a:p>
        </p:txBody>
      </p:sp>
      <p:sp>
        <p:nvSpPr>
          <p:cNvPr id="3" name="Rectangle 2">
            <a:extLst>
              <a:ext uri="{FF2B5EF4-FFF2-40B4-BE49-F238E27FC236}">
                <a16:creationId xmlns:a16="http://schemas.microsoft.com/office/drawing/2014/main" id="{39D98F4B-63E9-EF3D-46D6-91E7A1D022B3}"/>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4A612244-BC49-E5E4-AF35-CB4145EB46AF}"/>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173989763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2" name="TextBox 1">
            <a:extLst>
              <a:ext uri="{FF2B5EF4-FFF2-40B4-BE49-F238E27FC236}">
                <a16:creationId xmlns:a16="http://schemas.microsoft.com/office/drawing/2014/main" id="{6374C37F-A01A-A345-56F8-B0B32062BA24}"/>
              </a:ext>
            </a:extLst>
          </p:cNvPr>
          <p:cNvSpPr txBox="1"/>
          <p:nvPr/>
        </p:nvSpPr>
        <p:spPr>
          <a:xfrm>
            <a:off x="383876" y="718705"/>
            <a:ext cx="3804247" cy="1067665"/>
          </a:xfrm>
          <a:prstGeom prst="rect">
            <a:avLst/>
          </a:prstGeom>
          <a:noFill/>
        </p:spPr>
        <p:txBody>
          <a:bodyPr wrap="square">
            <a:spAutoFit/>
          </a:bodyPr>
          <a:lstStyle/>
          <a:p>
            <a:pPr marL="0" marR="0" algn="just">
              <a:lnSpc>
                <a:spcPct val="115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Aircraft approaching to land on a runway served by a VASI shall maintain an altitude at or above the glide slope until a lower altitude is necessary for a safe landing.</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3003420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4C354-0F50-C8F7-18E1-7CACF175347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F8EF9AD-E8F6-2777-F828-B2F184CDEC25}"/>
              </a:ext>
            </a:extLst>
          </p:cNvPr>
          <p:cNvSpPr txBox="1"/>
          <p:nvPr/>
        </p:nvSpPr>
        <p:spPr>
          <a:xfrm>
            <a:off x="47477" y="5641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2" name="TextBox 1">
            <a:extLst>
              <a:ext uri="{FF2B5EF4-FFF2-40B4-BE49-F238E27FC236}">
                <a16:creationId xmlns:a16="http://schemas.microsoft.com/office/drawing/2014/main" id="{C7B0DEAE-747D-3817-FB3E-F6CF7FEBE228}"/>
              </a:ext>
            </a:extLst>
          </p:cNvPr>
          <p:cNvSpPr txBox="1"/>
          <p:nvPr/>
        </p:nvSpPr>
        <p:spPr>
          <a:xfrm>
            <a:off x="819918" y="646745"/>
            <a:ext cx="2932164" cy="1316579"/>
          </a:xfrm>
          <a:prstGeom prst="rect">
            <a:avLst/>
          </a:prstGeom>
          <a:noFill/>
        </p:spPr>
        <p:txBody>
          <a:bodyPr wrap="square">
            <a:spAutoFit/>
          </a:bodyPr>
          <a:lstStyle/>
          <a:p>
            <a:pPr marL="0" marR="0" algn="just">
              <a:lnSpc>
                <a:spcPct val="115000"/>
              </a:lnSpc>
              <a:spcBef>
                <a:spcPts val="0"/>
              </a:spcBef>
              <a:spcAft>
                <a:spcPts val="0"/>
              </a:spcAft>
            </a:pPr>
            <a:r>
              <a:rPr lang="en-US" sz="14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You are on a cross-country flight underneath a Class B shelf. </a:t>
            </a:r>
            <a:r>
              <a:rPr lang="en-US" sz="1400" dirty="0">
                <a:solidFill>
                  <a:srgbClr val="222222"/>
                </a:solidFill>
                <a:latin typeface="Times New Roman" panose="02020603050405020304" pitchFamily="18" charset="0"/>
                <a:ea typeface="Calibri" panose="020F0502020204030204" pitchFamily="34" charset="0"/>
                <a:cs typeface="Times New Roman" panose="02020603050405020304" pitchFamily="18" charset="0"/>
              </a:rPr>
              <a:t>What is your speed limit?</a:t>
            </a:r>
          </a:p>
          <a:p>
            <a:pPr marL="0" marR="0" algn="ctr">
              <a:lnSpc>
                <a:spcPct val="115000"/>
              </a:lnSpc>
              <a:spcBef>
                <a:spcPts val="0"/>
              </a:spcBef>
              <a:spcAft>
                <a:spcPts val="0"/>
              </a:spcAft>
            </a:pPr>
            <a:endParaRPr lang="en-US" sz="14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15000"/>
              </a:lnSpc>
              <a:spcBef>
                <a:spcPts val="0"/>
              </a:spcBef>
              <a:spcAft>
                <a:spcPts val="0"/>
              </a:spcAft>
            </a:pPr>
            <a:r>
              <a:rPr lang="en-US" sz="1400" dirty="0">
                <a:solidFill>
                  <a:srgbClr val="222222"/>
                </a:solidFill>
                <a:latin typeface="Times New Roman" panose="02020603050405020304" pitchFamily="18" charset="0"/>
                <a:ea typeface="Calibri" panose="020F0502020204030204" pitchFamily="34" charset="0"/>
                <a:cs typeface="Times New Roman" panose="02020603050405020304" pitchFamily="18" charset="0"/>
              </a:rPr>
              <a:t>91.117(c)</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a:extLst>
              <a:ext uri="{FF2B5EF4-FFF2-40B4-BE49-F238E27FC236}">
                <a16:creationId xmlns:a16="http://schemas.microsoft.com/office/drawing/2014/main" id="{CF99E303-F246-AAA1-2C8C-3DDE89A58650}"/>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C28E11B7-4637-A6B2-8BDE-0EA1B16A0787}"/>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287157869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7B09B-2734-E054-77D8-9FBB26FD62B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C163AC9-D8BE-A375-995F-EAC9C80CCA8D}"/>
              </a:ext>
            </a:extLst>
          </p:cNvPr>
          <p:cNvSpPr txBox="1"/>
          <p:nvPr/>
        </p:nvSpPr>
        <p:spPr>
          <a:xfrm>
            <a:off x="47477" y="5641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2" name="TextBox 1">
            <a:extLst>
              <a:ext uri="{FF2B5EF4-FFF2-40B4-BE49-F238E27FC236}">
                <a16:creationId xmlns:a16="http://schemas.microsoft.com/office/drawing/2014/main" id="{583554CC-1A71-46EB-BCAE-BC380C5C3FAC}"/>
              </a:ext>
            </a:extLst>
          </p:cNvPr>
          <p:cNvSpPr txBox="1"/>
          <p:nvPr/>
        </p:nvSpPr>
        <p:spPr>
          <a:xfrm>
            <a:off x="383876" y="1104467"/>
            <a:ext cx="3804247" cy="324384"/>
          </a:xfrm>
          <a:prstGeom prst="rect">
            <a:avLst/>
          </a:prstGeom>
          <a:noFill/>
        </p:spPr>
        <p:txBody>
          <a:bodyPr wrap="square">
            <a:spAutoFit/>
          </a:bodyPr>
          <a:lstStyle/>
          <a:p>
            <a:pPr marL="0" marR="0" algn="ctr">
              <a:lnSpc>
                <a:spcPct val="115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200 kts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3222312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2" name="TextBox 1">
            <a:extLst>
              <a:ext uri="{FF2B5EF4-FFF2-40B4-BE49-F238E27FC236}">
                <a16:creationId xmlns:a16="http://schemas.microsoft.com/office/drawing/2014/main" id="{4B0C5EB8-4B12-835F-1F5D-E6E472EBE98B}"/>
              </a:ext>
            </a:extLst>
          </p:cNvPr>
          <p:cNvSpPr txBox="1"/>
          <p:nvPr/>
        </p:nvSpPr>
        <p:spPr>
          <a:xfrm>
            <a:off x="490670" y="963796"/>
            <a:ext cx="3590660" cy="815608"/>
          </a:xfrm>
          <a:prstGeom prst="rect">
            <a:avLst/>
          </a:prstGeom>
          <a:noFill/>
        </p:spPr>
        <p:txBody>
          <a:bodyPr wrap="square">
            <a:spAutoFit/>
          </a:bodyPr>
          <a:lstStyle/>
          <a:p>
            <a:pPr algn="just">
              <a:spcAft>
                <a:spcPts val="600"/>
              </a:spcAft>
            </a:pPr>
            <a:r>
              <a:rPr lang="en-US" sz="1400" dirty="0">
                <a:solidFill>
                  <a:srgbClr val="222222"/>
                </a:solidFill>
                <a:effectLst/>
                <a:latin typeface="Times New Roman" panose="02020603050405020304" pitchFamily="18" charset="0"/>
                <a:ea typeface="Times New Roman" panose="02020603050405020304" pitchFamily="18" charset="0"/>
              </a:rPr>
              <a:t>What is the maximum blood alcohol content you can have and still be the acting PIC?</a:t>
            </a:r>
          </a:p>
          <a:p>
            <a:pPr algn="ctr">
              <a:spcAft>
                <a:spcPts val="600"/>
              </a:spcAft>
            </a:pPr>
            <a:r>
              <a:rPr lang="en-US" sz="1400" dirty="0">
                <a:solidFill>
                  <a:srgbClr val="222222"/>
                </a:solidFill>
                <a:effectLst/>
                <a:latin typeface="Times New Roman" panose="02020603050405020304" pitchFamily="18" charset="0"/>
                <a:ea typeface="Times New Roman" panose="02020603050405020304" pitchFamily="18" charset="0"/>
              </a:rPr>
              <a:t>91.17(b)</a:t>
            </a:r>
            <a:endParaRPr lang="en-US" sz="1400" dirty="0"/>
          </a:p>
        </p:txBody>
      </p:sp>
      <p:sp>
        <p:nvSpPr>
          <p:cNvPr id="3" name="Rectangle 2">
            <a:extLst>
              <a:ext uri="{FF2B5EF4-FFF2-40B4-BE49-F238E27FC236}">
                <a16:creationId xmlns:a16="http://schemas.microsoft.com/office/drawing/2014/main" id="{74299051-7D83-284A-8FBE-BB34044E4BF3}"/>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E1BDD69C-6EFB-BED9-0BF5-CF45F75C15E4}"/>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310933506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2" name="TextBox 1">
            <a:extLst>
              <a:ext uri="{FF2B5EF4-FFF2-40B4-BE49-F238E27FC236}">
                <a16:creationId xmlns:a16="http://schemas.microsoft.com/office/drawing/2014/main" id="{EF4D2FA0-CE84-A31C-FE71-C77AE1DAD34F}"/>
              </a:ext>
            </a:extLst>
          </p:cNvPr>
          <p:cNvSpPr txBox="1"/>
          <p:nvPr/>
        </p:nvSpPr>
        <p:spPr>
          <a:xfrm>
            <a:off x="1110266" y="1163250"/>
            <a:ext cx="2351468" cy="307777"/>
          </a:xfrm>
          <a:prstGeom prst="rect">
            <a:avLst/>
          </a:prstGeom>
          <a:noFill/>
        </p:spPr>
        <p:txBody>
          <a:bodyPr wrap="square">
            <a:spAutoFit/>
          </a:bodyPr>
          <a:lstStyle/>
          <a:p>
            <a:pPr algn="ctr"/>
            <a:r>
              <a:rPr lang="en-US" sz="1400" dirty="0">
                <a:solidFill>
                  <a:srgbClr val="222222"/>
                </a:solidFill>
                <a:effectLst/>
                <a:latin typeface="Times New Roman" panose="02020603050405020304" pitchFamily="18" charset="0"/>
                <a:ea typeface="Times New Roman" panose="02020603050405020304" pitchFamily="18" charset="0"/>
              </a:rPr>
              <a:t>.04 BAC</a:t>
            </a:r>
            <a:endParaRPr lang="en-US" sz="1400" dirty="0"/>
          </a:p>
        </p:txBody>
      </p:sp>
    </p:spTree>
    <p:extLst>
      <p:ext uri="{BB962C8B-B14F-4D97-AF65-F5344CB8AC3E}">
        <p14:creationId xmlns:p14="http://schemas.microsoft.com/office/powerpoint/2010/main" val="180272748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2" name="TextBox 1">
            <a:extLst>
              <a:ext uri="{FF2B5EF4-FFF2-40B4-BE49-F238E27FC236}">
                <a16:creationId xmlns:a16="http://schemas.microsoft.com/office/drawing/2014/main" id="{7AA1BBF7-1D88-FA54-88B3-05A99C8C89BC}"/>
              </a:ext>
            </a:extLst>
          </p:cNvPr>
          <p:cNvSpPr txBox="1"/>
          <p:nvPr/>
        </p:nvSpPr>
        <p:spPr>
          <a:xfrm>
            <a:off x="457729" y="748352"/>
            <a:ext cx="3656541" cy="1246495"/>
          </a:xfrm>
          <a:prstGeom prst="rect">
            <a:avLst/>
          </a:prstGeom>
          <a:noFill/>
        </p:spPr>
        <p:txBody>
          <a:bodyPr wrap="square">
            <a:spAutoFit/>
          </a:bodyPr>
          <a:lstStyle/>
          <a:p>
            <a:pPr algn="just">
              <a:spcAft>
                <a:spcPts val="600"/>
              </a:spcAft>
            </a:pPr>
            <a:r>
              <a:rPr lang="en-US" sz="1400" dirty="0">
                <a:solidFill>
                  <a:srgbClr val="222222"/>
                </a:solidFill>
                <a:effectLst/>
                <a:latin typeface="Times New Roman" panose="02020603050405020304" pitchFamily="18" charset="0"/>
                <a:ea typeface="Times New Roman" panose="02020603050405020304" pitchFamily="18" charset="0"/>
              </a:rPr>
              <a:t>You are on your way to KTOL in your new twin cruising along at 230 Kts. Because of weather, you are at 2,000 feet AGL. How far out from KTOL do you need to slow down?</a:t>
            </a:r>
          </a:p>
          <a:p>
            <a:pPr algn="ctr">
              <a:spcAft>
                <a:spcPts val="600"/>
              </a:spcAft>
            </a:pPr>
            <a:r>
              <a:rPr lang="en-US" sz="1400" dirty="0">
                <a:solidFill>
                  <a:srgbClr val="222222"/>
                </a:solidFill>
                <a:effectLst/>
                <a:latin typeface="Times New Roman" panose="02020603050405020304" pitchFamily="18" charset="0"/>
                <a:ea typeface="Times New Roman" panose="02020603050405020304" pitchFamily="18" charset="0"/>
              </a:rPr>
              <a:t>91.117(d)</a:t>
            </a:r>
            <a:endParaRPr lang="en-US" sz="1400" dirty="0"/>
          </a:p>
        </p:txBody>
      </p:sp>
      <p:sp>
        <p:nvSpPr>
          <p:cNvPr id="3" name="Rectangle 2">
            <a:extLst>
              <a:ext uri="{FF2B5EF4-FFF2-40B4-BE49-F238E27FC236}">
                <a16:creationId xmlns:a16="http://schemas.microsoft.com/office/drawing/2014/main" id="{68AA64F8-3A85-AF2E-5123-AF4E5E8CC649}"/>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990D4671-7AFB-18A9-BE94-EC5B20131D46}"/>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89887087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2" name="TextBox 1">
            <a:extLst>
              <a:ext uri="{FF2B5EF4-FFF2-40B4-BE49-F238E27FC236}">
                <a16:creationId xmlns:a16="http://schemas.microsoft.com/office/drawing/2014/main" id="{E69696C3-AF6B-2602-F5F0-7D33AE398DFC}"/>
              </a:ext>
            </a:extLst>
          </p:cNvPr>
          <p:cNvSpPr txBox="1"/>
          <p:nvPr/>
        </p:nvSpPr>
        <p:spPr>
          <a:xfrm>
            <a:off x="323404" y="555992"/>
            <a:ext cx="3925191" cy="1631216"/>
          </a:xfrm>
          <a:prstGeom prst="rect">
            <a:avLst/>
          </a:prstGeom>
          <a:noFill/>
        </p:spPr>
        <p:txBody>
          <a:bodyPr wrap="square">
            <a:spAutoFit/>
          </a:bodyPr>
          <a:lstStyle/>
          <a:p>
            <a:pPr algn="just"/>
            <a:r>
              <a:rPr lang="en-US" sz="10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You must be under 200 </a:t>
            </a:r>
            <a:r>
              <a:rPr lang="en-US" sz="1000"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k</a:t>
            </a:r>
            <a:r>
              <a:rPr lang="en-US" sz="10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ts within 4 nm of a Class C or Class D airport.</a:t>
            </a:r>
          </a:p>
          <a:p>
            <a:pPr algn="just"/>
            <a:endParaRPr lang="en-US" sz="1000" dirty="0">
              <a:solidFill>
                <a:srgbClr val="222222"/>
              </a:solidFill>
              <a:latin typeface="Times New Roman" panose="02020603050405020304" pitchFamily="18" charset="0"/>
              <a:cs typeface="Times New Roman" panose="02020603050405020304" pitchFamily="18" charset="0"/>
            </a:endParaRPr>
          </a:p>
          <a:p>
            <a:pPr algn="just"/>
            <a:r>
              <a:rPr lang="en-US" sz="1000" dirty="0">
                <a:solidFill>
                  <a:srgbClr val="222222"/>
                </a:solidFill>
                <a:latin typeface="Times New Roman" panose="02020603050405020304" pitchFamily="18" charset="0"/>
                <a:cs typeface="Times New Roman" panose="02020603050405020304" pitchFamily="18" charset="0"/>
              </a:rPr>
              <a:t>You probably noticed that there is a four-mile buffer and yet the lower shelf of a Class C and Class D airspaces are 5nm radius. The FAA wanted to be sure they were not defining airspace dimensions when they wrote this rule. They just wanted air traffic to slow down in more congested area. The 4nm rule is a hold over from the days before airspace was reclassified into what it is today (1993) when we still had </a:t>
            </a:r>
            <a:r>
              <a:rPr lang="en-US" sz="1000" dirty="0">
                <a:latin typeface="Times New Roman" panose="02020603050405020304" pitchFamily="18" charset="0"/>
                <a:cs typeface="Times New Roman" panose="02020603050405020304" pitchFamily="18" charset="0"/>
              </a:rPr>
              <a:t>Terminal Control Areas (TCA) and Airport Radar Service Areas (ARSA).</a:t>
            </a:r>
          </a:p>
        </p:txBody>
      </p:sp>
    </p:spTree>
    <p:extLst>
      <p:ext uri="{BB962C8B-B14F-4D97-AF65-F5344CB8AC3E}">
        <p14:creationId xmlns:p14="http://schemas.microsoft.com/office/powerpoint/2010/main" val="5518360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20C1B1-C9A3-E9CD-AF91-3553CE37EC01}"/>
              </a:ext>
            </a:extLst>
          </p:cNvPr>
          <p:cNvSpPr txBox="1"/>
          <p:nvPr/>
        </p:nvSpPr>
        <p:spPr>
          <a:xfrm>
            <a:off x="47477" y="5641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3" name="TextBox 2">
            <a:extLst>
              <a:ext uri="{FF2B5EF4-FFF2-40B4-BE49-F238E27FC236}">
                <a16:creationId xmlns:a16="http://schemas.microsoft.com/office/drawing/2014/main" id="{59684D4B-8C62-42BA-EDB2-06C34406D6BB}"/>
              </a:ext>
            </a:extLst>
          </p:cNvPr>
          <p:cNvSpPr txBox="1"/>
          <p:nvPr/>
        </p:nvSpPr>
        <p:spPr>
          <a:xfrm>
            <a:off x="568693" y="900497"/>
            <a:ext cx="3434613" cy="772519"/>
          </a:xfrm>
          <a:prstGeom prst="rect">
            <a:avLst/>
          </a:prstGeom>
          <a:noFill/>
        </p:spPr>
        <p:txBody>
          <a:bodyPr wrap="square">
            <a:spAutoFit/>
          </a:bodyPr>
          <a:lstStyle/>
          <a:p>
            <a:pPr marL="0" marR="0" algn="just">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What if you haven’t performed three landings in 90 days, can you be the PIC of an aircraft requiring two pilots?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3">
            <a:extLst>
              <a:ext uri="{FF2B5EF4-FFF2-40B4-BE49-F238E27FC236}">
                <a16:creationId xmlns:a16="http://schemas.microsoft.com/office/drawing/2014/main" id="{26DB358F-4611-B5A8-EC30-4E7A543EBAC1}"/>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2A3FEE79-25E9-465B-068C-567B826F60E5}"/>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129797848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D62F91-9514-22D3-E4F1-9D919A4E89A2}"/>
              </a:ext>
            </a:extLst>
          </p:cNvPr>
          <p:cNvSpPr txBox="1"/>
          <p:nvPr/>
        </p:nvSpPr>
        <p:spPr>
          <a:xfrm>
            <a:off x="47477" y="5641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3" name="TextBox 2">
            <a:extLst>
              <a:ext uri="{FF2B5EF4-FFF2-40B4-BE49-F238E27FC236}">
                <a16:creationId xmlns:a16="http://schemas.microsoft.com/office/drawing/2014/main" id="{B17A1AC9-E5A7-4CC4-E1F6-66DE7B454D47}"/>
              </a:ext>
            </a:extLst>
          </p:cNvPr>
          <p:cNvSpPr txBox="1"/>
          <p:nvPr/>
        </p:nvSpPr>
        <p:spPr>
          <a:xfrm>
            <a:off x="807187" y="1215852"/>
            <a:ext cx="2957626" cy="311496"/>
          </a:xfrm>
          <a:prstGeom prst="rect">
            <a:avLst/>
          </a:prstGeom>
          <a:noFill/>
        </p:spPr>
        <p:txBody>
          <a:bodyPr wrap="square">
            <a:spAutoFit/>
          </a:bodyPr>
          <a:lstStyle/>
          <a:p>
            <a:pPr marL="0" marR="0" algn="ctr">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Nope.</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7937792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2" name="TextBox 1">
            <a:extLst>
              <a:ext uri="{FF2B5EF4-FFF2-40B4-BE49-F238E27FC236}">
                <a16:creationId xmlns:a16="http://schemas.microsoft.com/office/drawing/2014/main" id="{B62F9BD3-31FA-0D7F-F70D-96A904504F55}"/>
              </a:ext>
            </a:extLst>
          </p:cNvPr>
          <p:cNvSpPr txBox="1"/>
          <p:nvPr/>
        </p:nvSpPr>
        <p:spPr>
          <a:xfrm>
            <a:off x="394229" y="732879"/>
            <a:ext cx="3783541" cy="1384995"/>
          </a:xfrm>
          <a:prstGeom prst="rect">
            <a:avLst/>
          </a:prstGeom>
          <a:noFill/>
        </p:spPr>
        <p:txBody>
          <a:bodyPr wrap="square">
            <a:spAutoFit/>
          </a:bodyPr>
          <a:lstStyle/>
          <a:p>
            <a:pPr algn="just"/>
            <a:r>
              <a:rPr lang="en-US" sz="1400" dirty="0">
                <a:effectLst/>
                <a:latin typeface="Times New Roman" panose="02020603050405020304" pitchFamily="18" charset="0"/>
                <a:ea typeface="Times New Roman" panose="02020603050405020304" pitchFamily="18" charset="0"/>
              </a:rPr>
              <a:t>You just purchased a four-seat older aircraft. The ELT is inoperative. You plan on flying it to your home airfield where maintenance can be performed. Your non-pilot friend wants to ride with you. Is this ok?</a:t>
            </a:r>
          </a:p>
          <a:p>
            <a:pPr algn="ctr"/>
            <a:r>
              <a:rPr lang="en-US" sz="1400" dirty="0">
                <a:effectLst/>
                <a:latin typeface="Times New Roman" panose="02020603050405020304" pitchFamily="18" charset="0"/>
                <a:ea typeface="Times New Roman" panose="02020603050405020304" pitchFamily="18" charset="0"/>
              </a:rPr>
              <a:t>91.207(f)</a:t>
            </a:r>
            <a:endParaRPr lang="en-US" sz="1400" dirty="0"/>
          </a:p>
        </p:txBody>
      </p:sp>
      <p:sp>
        <p:nvSpPr>
          <p:cNvPr id="3" name="Rectangle 2">
            <a:extLst>
              <a:ext uri="{FF2B5EF4-FFF2-40B4-BE49-F238E27FC236}">
                <a16:creationId xmlns:a16="http://schemas.microsoft.com/office/drawing/2014/main" id="{430F0E2B-6170-8CA0-410B-3DA7D11179D4}"/>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BE69387C-5E68-A9C8-3095-05342A8998C8}"/>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21897153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2" name="TextBox 1">
            <a:extLst>
              <a:ext uri="{FF2B5EF4-FFF2-40B4-BE49-F238E27FC236}">
                <a16:creationId xmlns:a16="http://schemas.microsoft.com/office/drawing/2014/main" id="{01AB5A9D-F796-0E80-3139-D40AF8928D9D}"/>
              </a:ext>
            </a:extLst>
          </p:cNvPr>
          <p:cNvSpPr txBox="1"/>
          <p:nvPr/>
        </p:nvSpPr>
        <p:spPr>
          <a:xfrm>
            <a:off x="394229" y="402104"/>
            <a:ext cx="3783541" cy="1785104"/>
          </a:xfrm>
          <a:prstGeom prst="rect">
            <a:avLst/>
          </a:prstGeom>
          <a:noFill/>
        </p:spPr>
        <p:txBody>
          <a:bodyPr wrap="square">
            <a:spAutoFit/>
          </a:bodyPr>
          <a:lstStyle/>
          <a:p>
            <a:pPr algn="just"/>
            <a:r>
              <a:rPr lang="en-US" sz="1100" dirty="0">
                <a:effectLst/>
                <a:latin typeface="Times New Roman" panose="02020603050405020304" pitchFamily="18" charset="0"/>
                <a:ea typeface="Times New Roman" panose="02020603050405020304" pitchFamily="18" charset="0"/>
              </a:rPr>
              <a:t>No. Passengers cannot be carried on a ferry flight when the ELT is inoperative.</a:t>
            </a:r>
          </a:p>
          <a:p>
            <a:endParaRPr lang="en-US" sz="1100" dirty="0">
              <a:latin typeface="Times New Roman" panose="02020603050405020304" pitchFamily="18" charset="0"/>
            </a:endParaRPr>
          </a:p>
          <a:p>
            <a:pPr algn="just"/>
            <a:r>
              <a:rPr lang="en-US" sz="1100" dirty="0">
                <a:latin typeface="Times New Roman" panose="02020603050405020304" pitchFamily="18" charset="0"/>
              </a:rPr>
              <a:t>Varsity Level: You may have noticed an ongoing theme with regards to FAA rules and risks to others. If you want to kill yourself, the FAA doesn’t care (no landing currency required, no night currency required, no ELT required, can ferry a plane with expired annual, don’t need a parachute for acro, etc.) But you want to carry passengers? Then the rules tighten down substantially.</a:t>
            </a:r>
            <a:endParaRPr lang="en-US" sz="1100" dirty="0"/>
          </a:p>
        </p:txBody>
      </p:sp>
    </p:spTree>
    <p:extLst>
      <p:ext uri="{BB962C8B-B14F-4D97-AF65-F5344CB8AC3E}">
        <p14:creationId xmlns:p14="http://schemas.microsoft.com/office/powerpoint/2010/main" val="77136438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2" name="TextBox 1">
            <a:extLst>
              <a:ext uri="{FF2B5EF4-FFF2-40B4-BE49-F238E27FC236}">
                <a16:creationId xmlns:a16="http://schemas.microsoft.com/office/drawing/2014/main" id="{741E45A5-BD30-C971-7A28-0FA869F233A0}"/>
              </a:ext>
            </a:extLst>
          </p:cNvPr>
          <p:cNvSpPr txBox="1"/>
          <p:nvPr/>
        </p:nvSpPr>
        <p:spPr>
          <a:xfrm>
            <a:off x="496372" y="695036"/>
            <a:ext cx="3579256" cy="1353127"/>
          </a:xfrm>
          <a:prstGeom prst="rect">
            <a:avLst/>
          </a:prstGeom>
          <a:noFill/>
        </p:spPr>
        <p:txBody>
          <a:bodyPr wrap="square">
            <a:spAutoFit/>
          </a:bodyPr>
          <a:lstStyle/>
          <a:p>
            <a:pPr marL="0" marR="0" algn="just">
              <a:lnSpc>
                <a:spcPct val="115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You fle</a:t>
            </a:r>
            <a:r>
              <a:rPr lang="en-US" sz="1200" dirty="0">
                <a:latin typeface="Times New Roman" panose="02020603050405020304" pitchFamily="18" charset="0"/>
                <a:ea typeface="Times New Roman" panose="02020603050405020304" pitchFamily="18" charset="0"/>
                <a:cs typeface="Times New Roman" panose="02020603050405020304" pitchFamily="18" charset="0"/>
              </a:rPr>
              <a:t>w cross country to watch your brother’s football game. You can get back home with 40 min of fuel remaining. After the game, your friends invite you over for a BBQ. You leave their house for the airport 1 hour after sunset. Any issues?</a:t>
            </a:r>
          </a:p>
          <a:p>
            <a:pPr marL="0" marR="0" algn="ctr">
              <a:lnSpc>
                <a:spcPct val="115000"/>
              </a:lnSpc>
              <a:spcBef>
                <a:spcPts val="0"/>
              </a:spcBef>
              <a:spcAft>
                <a:spcPts val="0"/>
              </a:spcAft>
            </a:pPr>
            <a:r>
              <a:rPr lang="en-US" sz="1200" dirty="0">
                <a:latin typeface="Times New Roman" panose="02020603050405020304" pitchFamily="18" charset="0"/>
                <a:ea typeface="Times New Roman" panose="02020603050405020304" pitchFamily="18" charset="0"/>
                <a:cs typeface="Times New Roman" panose="02020603050405020304" pitchFamily="18" charset="0"/>
              </a:rPr>
              <a:t>91.151(a)(1)(2)</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a:extLst>
              <a:ext uri="{FF2B5EF4-FFF2-40B4-BE49-F238E27FC236}">
                <a16:creationId xmlns:a16="http://schemas.microsoft.com/office/drawing/2014/main" id="{8BAB69EE-05F5-4235-4669-F83A15FCDE01}"/>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8FF11FD4-5E30-452C-F2A0-EE9BDB0E03AD}"/>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83665464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2" name="TextBox 1">
            <a:extLst>
              <a:ext uri="{FF2B5EF4-FFF2-40B4-BE49-F238E27FC236}">
                <a16:creationId xmlns:a16="http://schemas.microsoft.com/office/drawing/2014/main" id="{B6F4F4F5-75DF-6FE2-625B-1E4FC78D4C80}"/>
              </a:ext>
            </a:extLst>
          </p:cNvPr>
          <p:cNvSpPr txBox="1"/>
          <p:nvPr/>
        </p:nvSpPr>
        <p:spPr>
          <a:xfrm>
            <a:off x="314325" y="633279"/>
            <a:ext cx="3943350" cy="1349472"/>
          </a:xfrm>
          <a:prstGeom prst="rect">
            <a:avLst/>
          </a:prstGeom>
          <a:noFill/>
        </p:spPr>
        <p:txBody>
          <a:bodyPr wrap="square">
            <a:spAutoFit/>
          </a:bodyPr>
          <a:lstStyle/>
          <a:p>
            <a:pPr marL="0" marR="0" algn="just">
              <a:lnSpc>
                <a:spcPct val="115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Yes. You had daytime VFR cross country fuel reserves (30 min) but since you decided to stay late, you are clearly getting home at night, you need 45 minutes of fuel reserves minimum.</a:t>
            </a:r>
            <a:r>
              <a:rPr lang="en-US" sz="1200" dirty="0">
                <a:latin typeface="Times New Roman" panose="02020603050405020304" pitchFamily="18" charset="0"/>
                <a:ea typeface="Times New Roman" panose="02020603050405020304" pitchFamily="18" charset="0"/>
                <a:cs typeface="Times New Roman" panose="02020603050405020304" pitchFamily="18" charset="0"/>
              </a:rPr>
              <a:t> Your options: fuel up there where you are or fly to a nearby airport and fuel up…assuming you arrive at the refueling point with 45 minutes of reserve fuel.</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177666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2" name="TextBox 1">
            <a:extLst>
              <a:ext uri="{FF2B5EF4-FFF2-40B4-BE49-F238E27FC236}">
                <a16:creationId xmlns:a16="http://schemas.microsoft.com/office/drawing/2014/main" id="{C252A562-EA67-4ADB-6940-CD46A0186160}"/>
              </a:ext>
            </a:extLst>
          </p:cNvPr>
          <p:cNvSpPr txBox="1"/>
          <p:nvPr/>
        </p:nvSpPr>
        <p:spPr>
          <a:xfrm>
            <a:off x="358574" y="837767"/>
            <a:ext cx="3854852" cy="1315425"/>
          </a:xfrm>
          <a:prstGeom prst="rect">
            <a:avLst/>
          </a:prstGeom>
          <a:noFill/>
        </p:spPr>
        <p:txBody>
          <a:bodyPr wrap="square">
            <a:spAutoFit/>
          </a:bodyPr>
          <a:lstStyle/>
          <a:p>
            <a:pPr marL="0" marR="0" algn="just">
              <a:lnSpc>
                <a:spcPct val="115000"/>
              </a:lnSpc>
              <a:spcBef>
                <a:spcPts val="0"/>
              </a:spcBef>
              <a:spcAft>
                <a:spcPts val="0"/>
              </a:spcAft>
            </a:pPr>
            <a:r>
              <a:rPr lang="en-US" sz="14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Your flight school just bought a Super Decathlon. You are flying </a:t>
            </a:r>
            <a:r>
              <a:rPr lang="en-US" sz="1400"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3</a:t>
            </a:r>
            <a:r>
              <a:rPr lang="en-US" sz="14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 miles </a:t>
            </a:r>
            <a:r>
              <a:rPr lang="en-US" sz="1400"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SE</a:t>
            </a:r>
            <a:r>
              <a:rPr lang="en-US" sz="14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 of KGLD, about 1 mile West of SUGR NDB. Can you perform acrobatic maneuvers</a:t>
            </a:r>
            <a:r>
              <a:rPr lang="en-US" sz="1400"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a:t>
            </a:r>
          </a:p>
          <a:p>
            <a:pPr marL="0" marR="0" algn="ctr">
              <a:lnSpc>
                <a:spcPct val="115000"/>
              </a:lnSpc>
              <a:spcBef>
                <a:spcPts val="0"/>
              </a:spcBef>
              <a:spcAft>
                <a:spcPts val="0"/>
              </a:spcAft>
            </a:pPr>
            <a:r>
              <a:rPr lang="en-US" sz="1400"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91.303</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a:extLst>
              <a:ext uri="{FF2B5EF4-FFF2-40B4-BE49-F238E27FC236}">
                <a16:creationId xmlns:a16="http://schemas.microsoft.com/office/drawing/2014/main" id="{2883136F-EE59-E844-C8D4-A477D6F0DEF8}"/>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9622E4BE-E957-0EC3-7EEF-8F2B04B4350C}"/>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157709635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2" name="TextBox 1">
            <a:extLst>
              <a:ext uri="{FF2B5EF4-FFF2-40B4-BE49-F238E27FC236}">
                <a16:creationId xmlns:a16="http://schemas.microsoft.com/office/drawing/2014/main" id="{215BFD74-B82C-5FBE-7DDD-5330C8D74991}"/>
              </a:ext>
            </a:extLst>
          </p:cNvPr>
          <p:cNvSpPr txBox="1"/>
          <p:nvPr/>
        </p:nvSpPr>
        <p:spPr>
          <a:xfrm>
            <a:off x="378069" y="611776"/>
            <a:ext cx="3815862" cy="1519647"/>
          </a:xfrm>
          <a:prstGeom prst="rect">
            <a:avLst/>
          </a:prstGeom>
          <a:noFill/>
        </p:spPr>
        <p:txBody>
          <a:bodyPr wrap="square">
            <a:spAutoFit/>
          </a:bodyPr>
          <a:lstStyle/>
          <a:p>
            <a:pPr marL="0" marR="0" algn="ctr">
              <a:lnSpc>
                <a:spcPct val="115000"/>
              </a:lnSpc>
              <a:spcBef>
                <a:spcPts val="0"/>
              </a:spcBef>
              <a:spcAft>
                <a:spcPts val="0"/>
              </a:spcAft>
            </a:pPr>
            <a:r>
              <a:rPr lang="en-US" sz="1100" dirty="0">
                <a:effectLst/>
                <a:latin typeface="Times New Roman" panose="02020603050405020304" pitchFamily="18" charset="0"/>
                <a:ea typeface="Times New Roman" panose="02020603050405020304" pitchFamily="18" charset="0"/>
                <a:cs typeface="Times New Roman" panose="02020603050405020304" pitchFamily="18" charset="0"/>
              </a:rPr>
              <a:t>No.</a:t>
            </a:r>
          </a:p>
          <a:p>
            <a:pPr marL="0" marR="0" algn="just">
              <a:lnSpc>
                <a:spcPct val="115000"/>
              </a:lnSpc>
              <a:spcBef>
                <a:spcPts val="0"/>
              </a:spcBef>
              <a:spcAft>
                <a:spcPts val="600"/>
              </a:spcAft>
            </a:pPr>
            <a:r>
              <a:rPr lang="en-US" sz="1100" dirty="0">
                <a:latin typeface="Times New Roman" panose="02020603050405020304" pitchFamily="18" charset="0"/>
                <a:ea typeface="Times New Roman" panose="02020603050405020304" pitchFamily="18" charset="0"/>
                <a:cs typeface="Times New Roman" panose="02020603050405020304" pitchFamily="18" charset="0"/>
              </a:rPr>
              <a:t>Y</a:t>
            </a:r>
            <a:r>
              <a:rPr lang="en-US" sz="1100" dirty="0">
                <a:effectLst/>
                <a:latin typeface="Times New Roman" panose="02020603050405020304" pitchFamily="18" charset="0"/>
                <a:ea typeface="Times New Roman" panose="02020603050405020304" pitchFamily="18" charset="0"/>
                <a:cs typeface="Times New Roman" panose="02020603050405020304" pitchFamily="18" charset="0"/>
              </a:rPr>
              <a:t>ou are inside the lateral boundaries of Class E airspace designated for KGLD. You cannot fly acro inside any Class C, D, or E airspace designated for an airport tha</a:t>
            </a:r>
            <a:r>
              <a:rPr lang="en-US" sz="1100" dirty="0">
                <a:latin typeface="Times New Roman" panose="02020603050405020304" pitchFamily="18" charset="0"/>
                <a:ea typeface="Times New Roman" panose="02020603050405020304" pitchFamily="18" charset="0"/>
                <a:cs typeface="Times New Roman" panose="02020603050405020304" pitchFamily="18" charset="0"/>
              </a:rPr>
              <a:t>t extends to the surface. KGLD’s Class E goes down to the surface.</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600"/>
              </a:spcAft>
            </a:pPr>
            <a:r>
              <a:rPr lang="en-US" sz="1100" dirty="0">
                <a:latin typeface="Times New Roman" panose="02020603050405020304" pitchFamily="18" charset="0"/>
                <a:ea typeface="Calibri" panose="020F0502020204030204" pitchFamily="34" charset="0"/>
                <a:cs typeface="Times New Roman" panose="02020603050405020304" pitchFamily="18" charset="0"/>
              </a:rPr>
              <a:t>It goes without saying, acro is a no-no in Class D as well…Class D also extends to the surface.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6939426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3" name="TextBox 2">
            <a:extLst>
              <a:ext uri="{FF2B5EF4-FFF2-40B4-BE49-F238E27FC236}">
                <a16:creationId xmlns:a16="http://schemas.microsoft.com/office/drawing/2014/main" id="{186CA314-E302-B48F-D28F-C3D8B7B02C47}"/>
              </a:ext>
            </a:extLst>
          </p:cNvPr>
          <p:cNvSpPr txBox="1"/>
          <p:nvPr/>
        </p:nvSpPr>
        <p:spPr>
          <a:xfrm>
            <a:off x="513187" y="652029"/>
            <a:ext cx="3545625" cy="1315425"/>
          </a:xfrm>
          <a:prstGeom prst="rect">
            <a:avLst/>
          </a:prstGeom>
          <a:noFill/>
        </p:spPr>
        <p:txBody>
          <a:bodyPr wrap="square">
            <a:spAutoFit/>
          </a:bodyPr>
          <a:lstStyle/>
          <a:p>
            <a:pPr marL="0" marR="0" algn="just">
              <a:lnSpc>
                <a:spcPct val="115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You experienced an in-flight engine fire but were able to extinguish it in less than 3 minutes. Is NTSB notification required?</a:t>
            </a:r>
          </a:p>
          <a:p>
            <a:pPr marL="0" marR="0" algn="just">
              <a:lnSpc>
                <a:spcPct val="115000"/>
              </a:lnSpc>
              <a:spcBef>
                <a:spcPts val="0"/>
              </a:spcBef>
              <a:spcAft>
                <a:spcPts val="0"/>
              </a:spcAft>
            </a:pP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ctr">
              <a:lnSpc>
                <a:spcPct val="115000"/>
              </a:lnSpc>
              <a:spcBef>
                <a:spcPts val="0"/>
              </a:spcBef>
              <a:spcAft>
                <a:spcPts val="0"/>
              </a:spcAft>
            </a:pPr>
            <a:r>
              <a:rPr lang="en-US" sz="1400" dirty="0">
                <a:effectLst/>
                <a:latin typeface="Times New Roman" panose="02020603050405020304" pitchFamily="18" charset="0"/>
                <a:ea typeface="Times New Roman" panose="02020603050405020304" pitchFamily="18" charset="0"/>
              </a:rPr>
              <a:t>NTSB Part 830.5</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F90AAABE-872C-EDA9-9315-AA6990AE63BF}"/>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A63AD92F-FAA7-9309-9C1E-A772B9C500D7}"/>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12282473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2" name="TextBox 1">
            <a:extLst>
              <a:ext uri="{FF2B5EF4-FFF2-40B4-BE49-F238E27FC236}">
                <a16:creationId xmlns:a16="http://schemas.microsoft.com/office/drawing/2014/main" id="{C95195E5-20BF-7642-9A68-E8A4A10D4DB9}"/>
              </a:ext>
            </a:extLst>
          </p:cNvPr>
          <p:cNvSpPr txBox="1"/>
          <p:nvPr/>
        </p:nvSpPr>
        <p:spPr>
          <a:xfrm>
            <a:off x="256886" y="402200"/>
            <a:ext cx="4058227" cy="1850828"/>
          </a:xfrm>
          <a:prstGeom prst="rect">
            <a:avLst/>
          </a:prstGeom>
          <a:noFill/>
        </p:spPr>
        <p:txBody>
          <a:bodyPr wrap="square">
            <a:spAutoFit/>
          </a:bodyPr>
          <a:lstStyle/>
          <a:p>
            <a:pPr marL="0" marR="0" algn="just">
              <a:lnSpc>
                <a:spcPct val="115000"/>
              </a:lnSpc>
              <a:spcBef>
                <a:spcPts val="0"/>
              </a:spcBef>
              <a:spcAft>
                <a:spcPts val="0"/>
              </a:spcAft>
            </a:pPr>
            <a:r>
              <a:rPr lang="en-US" sz="1000" dirty="0">
                <a:effectLst/>
                <a:latin typeface="Times New Roman" panose="02020603050405020304" pitchFamily="18" charset="0"/>
                <a:ea typeface="Times New Roman" panose="02020603050405020304" pitchFamily="18" charset="0"/>
                <a:cs typeface="Times New Roman" panose="02020603050405020304" pitchFamily="18" charset="0"/>
              </a:rPr>
              <a:t>Yes. The operator of an aircraft shall immediately</a:t>
            </a:r>
            <a:r>
              <a:rPr lang="en-US" sz="100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000" dirty="0">
                <a:effectLst/>
                <a:latin typeface="Times New Roman" panose="02020603050405020304" pitchFamily="18" charset="0"/>
                <a:ea typeface="Times New Roman" panose="02020603050405020304" pitchFamily="18" charset="0"/>
                <a:cs typeface="Times New Roman" panose="02020603050405020304" pitchFamily="18" charset="0"/>
              </a:rPr>
              <a:t>notify the NTSB when an aircraft accident or any of the following listed serious incidents occur:</a:t>
            </a:r>
          </a:p>
          <a:p>
            <a:pPr marL="0" marR="0" algn="just">
              <a:lnSpc>
                <a:spcPct val="115000"/>
              </a:lnSpc>
              <a:spcBef>
                <a:spcPts val="0"/>
              </a:spcBef>
              <a:spcAft>
                <a:spcPts val="0"/>
              </a:spcAft>
            </a:pP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0"/>
              </a:spcAft>
            </a:pPr>
            <a:r>
              <a:rPr lang="en-US" sz="1000" dirty="0">
                <a:effectLst/>
                <a:latin typeface="Times New Roman" panose="02020603050405020304" pitchFamily="18" charset="0"/>
                <a:ea typeface="Times New Roman" panose="02020603050405020304" pitchFamily="18" charset="0"/>
                <a:cs typeface="Times New Roman" panose="02020603050405020304" pitchFamily="18" charset="0"/>
              </a:rPr>
              <a:t>a. Flight control system malfunction  b. Crewmember unable to perform normal duties c. Inflight fire d. Aircraft collision inflight  e. Property damage, other than aircraft, estimated to exceed $25,000  f. Overdue aircraft (believed to be in accident)  g. Release of all or a portion of a propeller blade from an aircraft   </a:t>
            </a:r>
            <a:r>
              <a:rPr lang="en-US" sz="1000" dirty="0">
                <a:effectLst/>
                <a:latin typeface="Times New Roman" panose="02020603050405020304" pitchFamily="18" charset="0"/>
                <a:ea typeface="Times New Roman" panose="02020603050405020304" pitchFamily="18" charset="0"/>
              </a:rPr>
              <a:t>h. Complete loss of information (excluding flickering), from more than 50% of an aircraft's EFIS cockpit displays.</a:t>
            </a:r>
            <a:endParaRPr lang="en-US" sz="1000" dirty="0"/>
          </a:p>
        </p:txBody>
      </p:sp>
    </p:spTree>
    <p:extLst>
      <p:ext uri="{BB962C8B-B14F-4D97-AF65-F5344CB8AC3E}">
        <p14:creationId xmlns:p14="http://schemas.microsoft.com/office/powerpoint/2010/main" val="174490733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2" name="TextBox 1">
            <a:extLst>
              <a:ext uri="{FF2B5EF4-FFF2-40B4-BE49-F238E27FC236}">
                <a16:creationId xmlns:a16="http://schemas.microsoft.com/office/drawing/2014/main" id="{220E0088-C611-7707-D17F-57F6CC6761B2}"/>
              </a:ext>
            </a:extLst>
          </p:cNvPr>
          <p:cNvSpPr txBox="1"/>
          <p:nvPr/>
        </p:nvSpPr>
        <p:spPr>
          <a:xfrm>
            <a:off x="484795" y="499630"/>
            <a:ext cx="3602409" cy="1559081"/>
          </a:xfrm>
          <a:prstGeom prst="rect">
            <a:avLst/>
          </a:prstGeom>
          <a:noFill/>
        </p:spPr>
        <p:txBody>
          <a:bodyPr wrap="square">
            <a:spAutoFit/>
          </a:bodyPr>
          <a:lstStyle/>
          <a:p>
            <a:pPr marL="0" marR="0" algn="just">
              <a:lnSpc>
                <a:spcPct val="115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You walk out to your aircraft for a day VFR flight out of your local Class D airport. The </a:t>
            </a:r>
            <a:r>
              <a:rPr lang="en-US" sz="1400" dirty="0">
                <a:latin typeface="Times New Roman" panose="02020603050405020304" pitchFamily="18" charset="0"/>
                <a:ea typeface="Times New Roman" panose="02020603050405020304" pitchFamily="18" charset="0"/>
                <a:cs typeface="Times New Roman" panose="02020603050405020304" pitchFamily="18" charset="0"/>
              </a:rPr>
              <a:t>weather is questionable. </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You notice the airport beacon is on. What might this signify?</a:t>
            </a:r>
          </a:p>
          <a:p>
            <a:pPr marL="0" marR="0" algn="just">
              <a:lnSpc>
                <a:spcPct val="115000"/>
              </a:lnSpc>
              <a:spcBef>
                <a:spcPts val="0"/>
              </a:spcBef>
              <a:spcAft>
                <a:spcPts val="0"/>
              </a:spcAft>
            </a:pP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lnSpc>
                <a:spcPct val="115000"/>
              </a:lnSpc>
            </a:pPr>
            <a:r>
              <a:rPr lang="en-US" sz="1400" dirty="0">
                <a:latin typeface="Times New Roman" panose="02020603050405020304" pitchFamily="18" charset="0"/>
                <a:cs typeface="Times New Roman" panose="02020603050405020304" pitchFamily="18" charset="0"/>
              </a:rPr>
              <a:t>AIM 2-1-10(b)(2)</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Rectangle 2">
            <a:extLst>
              <a:ext uri="{FF2B5EF4-FFF2-40B4-BE49-F238E27FC236}">
                <a16:creationId xmlns:a16="http://schemas.microsoft.com/office/drawing/2014/main" id="{8A75C969-25AF-DDF1-1B75-E647AFCB8C86}"/>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A82E9453-E058-08FB-5B27-7DF2630A0272}"/>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294688093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2" name="TextBox 1">
            <a:extLst>
              <a:ext uri="{FF2B5EF4-FFF2-40B4-BE49-F238E27FC236}">
                <a16:creationId xmlns:a16="http://schemas.microsoft.com/office/drawing/2014/main" id="{9B1406A8-7AB3-9644-6A1A-10F03BA4EFCB}"/>
              </a:ext>
            </a:extLst>
          </p:cNvPr>
          <p:cNvSpPr txBox="1"/>
          <p:nvPr/>
        </p:nvSpPr>
        <p:spPr>
          <a:xfrm>
            <a:off x="348661" y="459202"/>
            <a:ext cx="3874678" cy="1647823"/>
          </a:xfrm>
          <a:prstGeom prst="rect">
            <a:avLst/>
          </a:prstGeom>
          <a:noFill/>
        </p:spPr>
        <p:txBody>
          <a:bodyPr wrap="square">
            <a:spAutoFit/>
          </a:bodyPr>
          <a:lstStyle/>
          <a:p>
            <a:pPr marL="0" marR="0" algn="just">
              <a:lnSpc>
                <a:spcPct val="115000"/>
              </a:lnSpc>
              <a:spcAft>
                <a:spcPts val="600"/>
              </a:spcAft>
            </a:pPr>
            <a:r>
              <a:rPr lang="en-US" sz="10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Visibility is less than 3 miles and the ceiling is less than 1,000 feet.</a:t>
            </a:r>
          </a:p>
          <a:p>
            <a:pPr algn="just">
              <a:lnSpc>
                <a:spcPct val="115000"/>
              </a:lnSpc>
              <a:spcAft>
                <a:spcPts val="600"/>
              </a:spcAft>
            </a:pPr>
            <a:r>
              <a:rPr lang="en-US" sz="1000" dirty="0">
                <a:latin typeface="Times New Roman" panose="02020603050405020304" pitchFamily="18" charset="0"/>
                <a:cs typeface="Times New Roman" panose="02020603050405020304" pitchFamily="18" charset="0"/>
              </a:rPr>
              <a:t>From the AIM: “</a:t>
            </a:r>
            <a:r>
              <a:rPr lang="en-US" sz="1000" i="1" dirty="0">
                <a:latin typeface="Times New Roman" panose="02020603050405020304" pitchFamily="18" charset="0"/>
                <a:cs typeface="Times New Roman" panose="02020603050405020304" pitchFamily="18" charset="0"/>
              </a:rPr>
              <a:t>At controlled airports, the airport beacon operates during the hours of darkness or during the day when the reported ceiling or visibility is below basic VFR minimums (less than 1,000 feet and/or less than 3 miles).</a:t>
            </a:r>
            <a:r>
              <a:rPr lang="en-US" sz="1000" dirty="0">
                <a:latin typeface="Times New Roman" panose="02020603050405020304" pitchFamily="18" charset="0"/>
                <a:cs typeface="Times New Roman" panose="02020603050405020304" pitchFamily="18" charset="0"/>
              </a:rPr>
              <a:t>”</a:t>
            </a:r>
            <a:endParaRPr lang="en-US" sz="1000" dirty="0">
              <a:solidFill>
                <a:srgbClr val="222222"/>
              </a:solidFill>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15000"/>
              </a:lnSpc>
              <a:spcAft>
                <a:spcPts val="600"/>
              </a:spcAft>
            </a:pPr>
            <a:r>
              <a:rPr lang="en-US" sz="1000" dirty="0">
                <a:solidFill>
                  <a:srgbClr val="222222"/>
                </a:solidFill>
                <a:latin typeface="Times New Roman" panose="02020603050405020304" pitchFamily="18" charset="0"/>
                <a:ea typeface="Calibri" panose="020F0502020204030204" pitchFamily="34" charset="0"/>
                <a:cs typeface="Times New Roman" panose="02020603050405020304" pitchFamily="18" charset="0"/>
              </a:rPr>
              <a:t>Varsity Level: Since Class D (controlled) airspace extends to the surface, you cannot fly with a ceiling less than 1,000 feet unless you obtain a special VFR clearance.</a:t>
            </a:r>
            <a:endParaRPr lang="en-US" sz="1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163611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D62F91-9514-22D3-E4F1-9D919A4E89A2}"/>
              </a:ext>
            </a:extLst>
          </p:cNvPr>
          <p:cNvSpPr txBox="1"/>
          <p:nvPr/>
        </p:nvSpPr>
        <p:spPr>
          <a:xfrm>
            <a:off x="47477" y="5641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3" name="TextBox 2">
            <a:extLst>
              <a:ext uri="{FF2B5EF4-FFF2-40B4-BE49-F238E27FC236}">
                <a16:creationId xmlns:a16="http://schemas.microsoft.com/office/drawing/2014/main" id="{BC04F5C7-1B6A-0780-BDC3-1A7DF2FA4191}"/>
              </a:ext>
            </a:extLst>
          </p:cNvPr>
          <p:cNvSpPr txBox="1"/>
          <p:nvPr/>
        </p:nvSpPr>
        <p:spPr>
          <a:xfrm>
            <a:off x="418594" y="987392"/>
            <a:ext cx="3734811" cy="768415"/>
          </a:xfrm>
          <a:prstGeom prst="rect">
            <a:avLst/>
          </a:prstGeom>
          <a:noFill/>
        </p:spPr>
        <p:txBody>
          <a:bodyPr wrap="square">
            <a:spAutoFit/>
          </a:bodyPr>
          <a:lstStyle/>
          <a:p>
            <a:pPr marL="0" marR="0" algn="just">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You changed your address 45 days ago and forgot to notify the FAA. Can you fly today?</a:t>
            </a:r>
          </a:p>
          <a:p>
            <a:pPr marL="0" marR="0" algn="ctr">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61.60</a:t>
            </a:r>
          </a:p>
        </p:txBody>
      </p:sp>
      <p:sp>
        <p:nvSpPr>
          <p:cNvPr id="4" name="Rectangle 3">
            <a:extLst>
              <a:ext uri="{FF2B5EF4-FFF2-40B4-BE49-F238E27FC236}">
                <a16:creationId xmlns:a16="http://schemas.microsoft.com/office/drawing/2014/main" id="{F7DCF827-CE4A-8328-14DE-2CFA6F14A83B}"/>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76988B8D-1624-C425-5AE7-B0B36A87CD3F}"/>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417778428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D62F91-9514-22D3-E4F1-9D919A4E89A2}"/>
              </a:ext>
            </a:extLst>
          </p:cNvPr>
          <p:cNvSpPr txBox="1"/>
          <p:nvPr/>
        </p:nvSpPr>
        <p:spPr>
          <a:xfrm>
            <a:off x="47477" y="5641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3" name="TextBox 2">
            <a:extLst>
              <a:ext uri="{FF2B5EF4-FFF2-40B4-BE49-F238E27FC236}">
                <a16:creationId xmlns:a16="http://schemas.microsoft.com/office/drawing/2014/main" id="{50C2B36C-4A7F-4DD9-AFD9-F488CB3A7740}"/>
              </a:ext>
            </a:extLst>
          </p:cNvPr>
          <p:cNvSpPr txBox="1"/>
          <p:nvPr/>
        </p:nvSpPr>
        <p:spPr>
          <a:xfrm>
            <a:off x="476595" y="599086"/>
            <a:ext cx="3618809" cy="1229439"/>
          </a:xfrm>
          <a:prstGeom prst="rect">
            <a:avLst/>
          </a:prstGeom>
          <a:noFill/>
        </p:spPr>
        <p:txBody>
          <a:bodyPr wrap="square">
            <a:spAutoFit/>
          </a:bodyPr>
          <a:lstStyle/>
          <a:p>
            <a:pPr marL="0" marR="0" algn="ctr">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Nope.</a:t>
            </a:r>
          </a:p>
          <a:p>
            <a:pPr marL="0" marR="0" algn="ctr">
              <a:lnSpc>
                <a:spcPct val="107000"/>
              </a:lnSpc>
              <a:spcBef>
                <a:spcPts val="0"/>
              </a:spcBef>
              <a:spcAft>
                <a:spcPts val="0"/>
              </a:spcAft>
            </a:pPr>
            <a:endParaRPr lang="en-US" sz="1400" dirty="0">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You must notify the FAA in writing within 30 days or you cannot exercise your pilot certificate privileges.</a:t>
            </a:r>
          </a:p>
        </p:txBody>
      </p:sp>
    </p:spTree>
    <p:extLst>
      <p:ext uri="{BB962C8B-B14F-4D97-AF65-F5344CB8AC3E}">
        <p14:creationId xmlns:p14="http://schemas.microsoft.com/office/powerpoint/2010/main" val="63079591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CE8903-34D5-E24E-6BB0-A86B59A761EF}"/>
              </a:ext>
            </a:extLst>
          </p:cNvPr>
          <p:cNvSpPr txBox="1"/>
          <p:nvPr/>
        </p:nvSpPr>
        <p:spPr>
          <a:xfrm>
            <a:off x="47477" y="5641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5" name="TextBox 4">
            <a:extLst>
              <a:ext uri="{FF2B5EF4-FFF2-40B4-BE49-F238E27FC236}">
                <a16:creationId xmlns:a16="http://schemas.microsoft.com/office/drawing/2014/main" id="{16C4CFAD-BB4E-4066-13EB-E42E5111841E}"/>
              </a:ext>
            </a:extLst>
          </p:cNvPr>
          <p:cNvSpPr txBox="1"/>
          <p:nvPr/>
        </p:nvSpPr>
        <p:spPr>
          <a:xfrm>
            <a:off x="538531" y="985340"/>
            <a:ext cx="3494938" cy="772519"/>
          </a:xfrm>
          <a:prstGeom prst="rect">
            <a:avLst/>
          </a:prstGeom>
          <a:noFill/>
        </p:spPr>
        <p:txBody>
          <a:bodyPr wrap="square">
            <a:spAutoFit/>
          </a:bodyPr>
          <a:lstStyle/>
          <a:p>
            <a:pPr marL="0" marR="0" algn="ctr">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How long is the aircraft registration good for?</a:t>
            </a:r>
          </a:p>
          <a:p>
            <a:pPr marL="0" marR="0" algn="ctr">
              <a:lnSpc>
                <a:spcPct val="107000"/>
              </a:lnSpc>
              <a:spcBef>
                <a:spcPts val="0"/>
              </a:spcBef>
              <a:spcAft>
                <a:spcPts val="0"/>
              </a:spcAft>
            </a:pPr>
            <a:endParaRPr lang="en-US" sz="1400"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7000"/>
              </a:lnSpc>
            </a:pPr>
            <a:r>
              <a:rPr lang="en-US" sz="1400" dirty="0">
                <a:latin typeface="Times New Roman" panose="02020603050405020304" pitchFamily="18" charset="0"/>
                <a:cs typeface="Times New Roman" panose="02020603050405020304" pitchFamily="18" charset="0"/>
              </a:rPr>
              <a:t>47.40(a)</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C83C716C-945B-2154-29F9-0BBCA72F7E0A}"/>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39F7CCF0-6203-44A6-55AE-7567BC9B2828}"/>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334611384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CE8903-34D5-E24E-6BB0-A86B59A761EF}"/>
              </a:ext>
            </a:extLst>
          </p:cNvPr>
          <p:cNvSpPr txBox="1"/>
          <p:nvPr/>
        </p:nvSpPr>
        <p:spPr>
          <a:xfrm>
            <a:off x="47477" y="5641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2" name="TextBox 1">
            <a:extLst>
              <a:ext uri="{FF2B5EF4-FFF2-40B4-BE49-F238E27FC236}">
                <a16:creationId xmlns:a16="http://schemas.microsoft.com/office/drawing/2014/main" id="{F9780F59-F732-CE27-0690-0695DF974B5B}"/>
              </a:ext>
            </a:extLst>
          </p:cNvPr>
          <p:cNvSpPr txBox="1"/>
          <p:nvPr/>
        </p:nvSpPr>
        <p:spPr>
          <a:xfrm>
            <a:off x="590550" y="1029496"/>
            <a:ext cx="3390900" cy="537904"/>
          </a:xfrm>
          <a:prstGeom prst="rect">
            <a:avLst/>
          </a:prstGeom>
          <a:noFill/>
        </p:spPr>
        <p:txBody>
          <a:bodyPr wrap="square">
            <a:spAutoFit/>
          </a:bodyPr>
          <a:lstStyle/>
          <a:p>
            <a:pPr marL="0" marR="0">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As of November 2022, registrations are now good for seven years.</a:t>
            </a:r>
          </a:p>
        </p:txBody>
      </p:sp>
    </p:spTree>
    <p:extLst>
      <p:ext uri="{BB962C8B-B14F-4D97-AF65-F5344CB8AC3E}">
        <p14:creationId xmlns:p14="http://schemas.microsoft.com/office/powerpoint/2010/main" val="1953137566"/>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7BD3C43-695C-5187-F07C-653377175CC3}"/>
              </a:ext>
            </a:extLst>
          </p:cNvPr>
          <p:cNvSpPr txBox="1"/>
          <p:nvPr/>
        </p:nvSpPr>
        <p:spPr>
          <a:xfrm>
            <a:off x="425469" y="894546"/>
            <a:ext cx="3721062" cy="954107"/>
          </a:xfrm>
          <a:prstGeom prst="rect">
            <a:avLst/>
          </a:prstGeom>
          <a:noFill/>
        </p:spPr>
        <p:txBody>
          <a:bodyPr wrap="square">
            <a:spAutoFit/>
          </a:bodyPr>
          <a:lstStyle/>
          <a:p>
            <a:pPr algn="just"/>
            <a:r>
              <a:rPr lang="en-US" sz="1400" dirty="0">
                <a:solidFill>
                  <a:srgbClr val="000000"/>
                </a:solidFill>
                <a:latin typeface="Times New Roman" panose="02020603050405020304" pitchFamily="18" charset="0"/>
              </a:rPr>
              <a:t>What is the only circumstance in which VFR visibility requirements increase to 5 miles vis?</a:t>
            </a:r>
          </a:p>
          <a:p>
            <a:pPr algn="just"/>
            <a:endParaRPr lang="en-US" sz="1400" dirty="0">
              <a:solidFill>
                <a:srgbClr val="000000"/>
              </a:solidFill>
              <a:latin typeface="Times New Roman" panose="02020603050405020304" pitchFamily="18" charset="0"/>
            </a:endParaRPr>
          </a:p>
          <a:p>
            <a:pPr algn="ctr"/>
            <a:r>
              <a:rPr lang="en-US" sz="1400" dirty="0">
                <a:solidFill>
                  <a:srgbClr val="000000"/>
                </a:solidFill>
                <a:latin typeface="Times New Roman" panose="02020603050405020304" pitchFamily="18" charset="0"/>
              </a:rPr>
              <a:t>91.155</a:t>
            </a:r>
            <a:endParaRPr lang="en-US" sz="1400" dirty="0"/>
          </a:p>
        </p:txBody>
      </p:sp>
      <p:sp>
        <p:nvSpPr>
          <p:cNvPr id="3" name="TextBox 2">
            <a:extLst>
              <a:ext uri="{FF2B5EF4-FFF2-40B4-BE49-F238E27FC236}">
                <a16:creationId xmlns:a16="http://schemas.microsoft.com/office/drawing/2014/main" id="{5AAA08F1-DAAE-471C-8153-B9CC10620C8A}"/>
              </a:ext>
            </a:extLst>
          </p:cNvPr>
          <p:cNvSpPr txBox="1"/>
          <p:nvPr/>
        </p:nvSpPr>
        <p:spPr>
          <a:xfrm>
            <a:off x="44450" y="5715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4" name="Rectangle 3">
            <a:extLst>
              <a:ext uri="{FF2B5EF4-FFF2-40B4-BE49-F238E27FC236}">
                <a16:creationId xmlns:a16="http://schemas.microsoft.com/office/drawing/2014/main" id="{27DC3B83-C44C-5423-3AD3-FE56A3B120C9}"/>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291D0644-1FFB-4B7B-96CF-91947376F59B}"/>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284848554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D152A96-4860-658F-C9F2-EE3DE011428D}"/>
              </a:ext>
            </a:extLst>
          </p:cNvPr>
          <p:cNvSpPr txBox="1"/>
          <p:nvPr/>
        </p:nvSpPr>
        <p:spPr>
          <a:xfrm>
            <a:off x="815975" y="1217711"/>
            <a:ext cx="2940050" cy="307777"/>
          </a:xfrm>
          <a:prstGeom prst="rect">
            <a:avLst/>
          </a:prstGeom>
          <a:noFill/>
        </p:spPr>
        <p:txBody>
          <a:bodyPr wrap="square">
            <a:spAutoFit/>
          </a:bodyPr>
          <a:lstStyle/>
          <a:p>
            <a:pPr algn="ctr"/>
            <a:r>
              <a:rPr lang="en-US" sz="1400" dirty="0">
                <a:latin typeface="Times New Roman" panose="02020603050405020304" pitchFamily="18" charset="0"/>
              </a:rPr>
              <a:t>Class E airspace above 10,000 MSL.</a:t>
            </a:r>
            <a:endParaRPr lang="en-US" sz="1400" dirty="0"/>
          </a:p>
        </p:txBody>
      </p:sp>
      <p:sp>
        <p:nvSpPr>
          <p:cNvPr id="3" name="TextBox 2">
            <a:extLst>
              <a:ext uri="{FF2B5EF4-FFF2-40B4-BE49-F238E27FC236}">
                <a16:creationId xmlns:a16="http://schemas.microsoft.com/office/drawing/2014/main" id="{DF04A911-CC92-C62F-4499-E40EEC6F7F1B}"/>
              </a:ext>
            </a:extLst>
          </p:cNvPr>
          <p:cNvSpPr txBox="1"/>
          <p:nvPr/>
        </p:nvSpPr>
        <p:spPr>
          <a:xfrm>
            <a:off x="44450" y="5715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Tree>
    <p:extLst>
      <p:ext uri="{BB962C8B-B14F-4D97-AF65-F5344CB8AC3E}">
        <p14:creationId xmlns:p14="http://schemas.microsoft.com/office/powerpoint/2010/main" val="243950549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75CFD11-6EFA-8089-DE33-A02DFEB2975A}"/>
              </a:ext>
            </a:extLst>
          </p:cNvPr>
          <p:cNvSpPr txBox="1"/>
          <p:nvPr/>
        </p:nvSpPr>
        <p:spPr>
          <a:xfrm>
            <a:off x="44450" y="5715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3" name="TextBox 2">
            <a:extLst>
              <a:ext uri="{FF2B5EF4-FFF2-40B4-BE49-F238E27FC236}">
                <a16:creationId xmlns:a16="http://schemas.microsoft.com/office/drawing/2014/main" id="{8F295AB2-B4EB-D74B-2B8A-B57882DD9758}"/>
              </a:ext>
            </a:extLst>
          </p:cNvPr>
          <p:cNvSpPr txBox="1"/>
          <p:nvPr/>
        </p:nvSpPr>
        <p:spPr>
          <a:xfrm>
            <a:off x="752825" y="735111"/>
            <a:ext cx="3066349" cy="954107"/>
          </a:xfrm>
          <a:prstGeom prst="rect">
            <a:avLst/>
          </a:prstGeom>
          <a:noFill/>
        </p:spPr>
        <p:txBody>
          <a:bodyPr wrap="square">
            <a:spAutoFit/>
          </a:bodyPr>
          <a:lstStyle/>
          <a:p>
            <a:pPr algn="just"/>
            <a:r>
              <a:rPr lang="en-US" sz="1400" dirty="0">
                <a:solidFill>
                  <a:srgbClr val="000000"/>
                </a:solidFill>
                <a:latin typeface="Times New Roman" panose="02020603050405020304" pitchFamily="18" charset="0"/>
              </a:rPr>
              <a:t>How often must the transponder and pitot static system be tested?</a:t>
            </a:r>
          </a:p>
          <a:p>
            <a:pPr algn="ctr"/>
            <a:endParaRPr lang="en-US" sz="1400" dirty="0">
              <a:solidFill>
                <a:srgbClr val="000000"/>
              </a:solidFill>
              <a:latin typeface="Times New Roman" panose="02020603050405020304" pitchFamily="18" charset="0"/>
            </a:endParaRPr>
          </a:p>
          <a:p>
            <a:pPr algn="ctr"/>
            <a:r>
              <a:rPr lang="en-US" sz="1400" dirty="0">
                <a:solidFill>
                  <a:srgbClr val="000000"/>
                </a:solidFill>
                <a:latin typeface="Times New Roman" panose="02020603050405020304" pitchFamily="18" charset="0"/>
              </a:rPr>
              <a:t>91.413 and 91.411</a:t>
            </a:r>
            <a:endParaRPr lang="en-US" sz="1400" dirty="0"/>
          </a:p>
        </p:txBody>
      </p:sp>
      <p:sp>
        <p:nvSpPr>
          <p:cNvPr id="2" name="Rectangle 1">
            <a:extLst>
              <a:ext uri="{FF2B5EF4-FFF2-40B4-BE49-F238E27FC236}">
                <a16:creationId xmlns:a16="http://schemas.microsoft.com/office/drawing/2014/main" id="{8CCA2792-B97D-04A2-E7BD-A15ECABFF8B7}"/>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9D9B74C8-D6EC-163D-4993-0A0802B3DFAD}"/>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145943732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75CFD11-6EFA-8089-DE33-A02DFEB2975A}"/>
              </a:ext>
            </a:extLst>
          </p:cNvPr>
          <p:cNvSpPr txBox="1"/>
          <p:nvPr/>
        </p:nvSpPr>
        <p:spPr>
          <a:xfrm>
            <a:off x="44450" y="5715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2" name="TextBox 1">
            <a:extLst>
              <a:ext uri="{FF2B5EF4-FFF2-40B4-BE49-F238E27FC236}">
                <a16:creationId xmlns:a16="http://schemas.microsoft.com/office/drawing/2014/main" id="{25C05765-B2DF-4ED6-4C1D-4EEE09E6CA66}"/>
              </a:ext>
            </a:extLst>
          </p:cNvPr>
          <p:cNvSpPr txBox="1"/>
          <p:nvPr/>
        </p:nvSpPr>
        <p:spPr>
          <a:xfrm>
            <a:off x="844013" y="1217711"/>
            <a:ext cx="2883974" cy="307777"/>
          </a:xfrm>
          <a:prstGeom prst="rect">
            <a:avLst/>
          </a:prstGeom>
          <a:noFill/>
        </p:spPr>
        <p:txBody>
          <a:bodyPr wrap="square">
            <a:spAutoFit/>
          </a:bodyPr>
          <a:lstStyle/>
          <a:p>
            <a:pPr algn="ctr"/>
            <a:r>
              <a:rPr lang="en-US" sz="1400" dirty="0">
                <a:solidFill>
                  <a:srgbClr val="000000"/>
                </a:solidFill>
                <a:latin typeface="Times New Roman" panose="02020603050405020304" pitchFamily="18" charset="0"/>
              </a:rPr>
              <a:t>Every 24 months.</a:t>
            </a:r>
            <a:endParaRPr lang="en-US" sz="1400" dirty="0"/>
          </a:p>
        </p:txBody>
      </p:sp>
    </p:spTree>
    <p:extLst>
      <p:ext uri="{BB962C8B-B14F-4D97-AF65-F5344CB8AC3E}">
        <p14:creationId xmlns:p14="http://schemas.microsoft.com/office/powerpoint/2010/main" val="150075483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8500</TotalTime>
  <Words>4216</Words>
  <Application>Microsoft Office PowerPoint</Application>
  <PresentationFormat>Custom</PresentationFormat>
  <Paragraphs>456</Paragraphs>
  <Slides>118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118</vt:i4>
      </vt:variant>
    </vt:vector>
  </HeadingPairs>
  <TitlesOfParts>
    <vt:vector size="123" baseType="lpstr">
      <vt:lpstr>Arial</vt:lpstr>
      <vt:lpstr>Calibri</vt:lpstr>
      <vt:lpstr>Segoe UI Semibold</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Bill Jones</dc:creator>
  <cp:lastModifiedBy>Bill Jones</cp:lastModifiedBy>
  <cp:revision>557</cp:revision>
  <dcterms:created xsi:type="dcterms:W3CDTF">2023-07-11T19:01:37Z</dcterms:created>
  <dcterms:modified xsi:type="dcterms:W3CDTF">2025-11-08T22:01:57Z</dcterms:modified>
</cp:coreProperties>
</file>