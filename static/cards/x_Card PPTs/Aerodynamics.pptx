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712" r:id="rId2"/>
    <p:sldId id="713" r:id="rId3"/>
    <p:sldId id="720" r:id="rId4"/>
    <p:sldId id="721" r:id="rId5"/>
    <p:sldId id="405" r:id="rId6"/>
    <p:sldId id="406" r:id="rId7"/>
    <p:sldId id="427" r:id="rId8"/>
    <p:sldId id="428" r:id="rId9"/>
    <p:sldId id="429" r:id="rId10"/>
    <p:sldId id="430" r:id="rId11"/>
    <p:sldId id="279" r:id="rId12"/>
    <p:sldId id="280" r:id="rId13"/>
    <p:sldId id="281" r:id="rId14"/>
    <p:sldId id="282" r:id="rId15"/>
    <p:sldId id="716" r:id="rId16"/>
    <p:sldId id="717" r:id="rId17"/>
    <p:sldId id="714" r:id="rId18"/>
    <p:sldId id="715" r:id="rId19"/>
    <p:sldId id="283" r:id="rId20"/>
    <p:sldId id="284" r:id="rId21"/>
    <p:sldId id="285" r:id="rId22"/>
    <p:sldId id="286" r:id="rId23"/>
    <p:sldId id="502" r:id="rId24"/>
    <p:sldId id="503" r:id="rId25"/>
    <p:sldId id="504" r:id="rId26"/>
    <p:sldId id="505" r:id="rId27"/>
    <p:sldId id="506" r:id="rId28"/>
    <p:sldId id="507" r:id="rId29"/>
    <p:sldId id="508" r:id="rId30"/>
    <p:sldId id="509" r:id="rId31"/>
    <p:sldId id="746" r:id="rId32"/>
    <p:sldId id="747" r:id="rId33"/>
    <p:sldId id="287" r:id="rId34"/>
    <p:sldId id="288" r:id="rId35"/>
    <p:sldId id="341" r:id="rId36"/>
    <p:sldId id="342" r:id="rId37"/>
    <p:sldId id="335" r:id="rId38"/>
    <p:sldId id="336" r:id="rId39"/>
    <p:sldId id="339" r:id="rId40"/>
    <p:sldId id="340" r:id="rId41"/>
    <p:sldId id="632" r:id="rId42"/>
    <p:sldId id="633" r:id="rId43"/>
    <p:sldId id="755" r:id="rId44"/>
    <p:sldId id="756" r:id="rId45"/>
    <p:sldId id="351" r:id="rId46"/>
    <p:sldId id="352" r:id="rId47"/>
    <p:sldId id="646" r:id="rId48"/>
    <p:sldId id="647" r:id="rId49"/>
    <p:sldId id="353" r:id="rId50"/>
    <p:sldId id="354" r:id="rId51"/>
    <p:sldId id="355" r:id="rId52"/>
    <p:sldId id="356" r:id="rId53"/>
    <p:sldId id="345" r:id="rId54"/>
    <p:sldId id="346" r:id="rId55"/>
    <p:sldId id="389" r:id="rId56"/>
    <p:sldId id="390" r:id="rId57"/>
    <p:sldId id="401" r:id="rId58"/>
    <p:sldId id="402" r:id="rId59"/>
    <p:sldId id="403" r:id="rId60"/>
    <p:sldId id="404" r:id="rId61"/>
    <p:sldId id="471" r:id="rId62"/>
    <p:sldId id="472" r:id="rId63"/>
    <p:sldId id="473" r:id="rId64"/>
    <p:sldId id="474" r:id="rId65"/>
    <p:sldId id="497" r:id="rId66"/>
    <p:sldId id="498" r:id="rId67"/>
    <p:sldId id="500" r:id="rId68"/>
    <p:sldId id="501" r:id="rId69"/>
    <p:sldId id="718" r:id="rId70"/>
    <p:sldId id="719" r:id="rId71"/>
    <p:sldId id="634" r:id="rId72"/>
    <p:sldId id="635" r:id="rId73"/>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2632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78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4">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D3F27F-1F09-52F3-CFB9-9495E18C1D7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3" name="TextBox 2">
            <a:extLst>
              <a:ext uri="{FF2B5EF4-FFF2-40B4-BE49-F238E27FC236}">
                <a16:creationId xmlns:a16="http://schemas.microsoft.com/office/drawing/2014/main" id="{9FFDEFC5-7977-F580-43FF-3E747438ACE4}"/>
              </a:ext>
            </a:extLst>
          </p:cNvPr>
          <p:cNvSpPr txBox="1"/>
          <p:nvPr/>
        </p:nvSpPr>
        <p:spPr>
          <a:xfrm>
            <a:off x="397669" y="586501"/>
            <a:ext cx="3776662" cy="543162"/>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Angle A is called the angle of _________.</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FAA-H-8083-25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23" name="Group 22">
            <a:extLst>
              <a:ext uri="{FF2B5EF4-FFF2-40B4-BE49-F238E27FC236}">
                <a16:creationId xmlns:a16="http://schemas.microsoft.com/office/drawing/2014/main" id="{F50187CF-B254-F022-0C19-4CD26F2F449C}"/>
              </a:ext>
            </a:extLst>
          </p:cNvPr>
          <p:cNvGrpSpPr/>
          <p:nvPr/>
        </p:nvGrpSpPr>
        <p:grpSpPr>
          <a:xfrm>
            <a:off x="1104900" y="1339423"/>
            <a:ext cx="2774950" cy="587828"/>
            <a:chOff x="800100" y="1433973"/>
            <a:chExt cx="2774950" cy="587828"/>
          </a:xfrm>
        </p:grpSpPr>
        <p:grpSp>
          <p:nvGrpSpPr>
            <p:cNvPr id="13" name="Group 12">
              <a:extLst>
                <a:ext uri="{FF2B5EF4-FFF2-40B4-BE49-F238E27FC236}">
                  <a16:creationId xmlns:a16="http://schemas.microsoft.com/office/drawing/2014/main" id="{2BA78E43-B38E-6C43-70B3-07D6425154C7}"/>
                </a:ext>
              </a:extLst>
            </p:cNvPr>
            <p:cNvGrpSpPr/>
            <p:nvPr/>
          </p:nvGrpSpPr>
          <p:grpSpPr>
            <a:xfrm>
              <a:off x="1057308" y="1433973"/>
              <a:ext cx="1942853" cy="587828"/>
              <a:chOff x="1057308" y="1433973"/>
              <a:chExt cx="1942853" cy="587828"/>
            </a:xfrm>
          </p:grpSpPr>
          <p:grpSp>
            <p:nvGrpSpPr>
              <p:cNvPr id="8" name="Group 7">
                <a:extLst>
                  <a:ext uri="{FF2B5EF4-FFF2-40B4-BE49-F238E27FC236}">
                    <a16:creationId xmlns:a16="http://schemas.microsoft.com/office/drawing/2014/main" id="{0F197302-55B9-BAD6-84FA-9B8B69159989}"/>
                  </a:ext>
                </a:extLst>
              </p:cNvPr>
              <p:cNvGrpSpPr/>
              <p:nvPr/>
            </p:nvGrpSpPr>
            <p:grpSpPr>
              <a:xfrm rot="21356756" flipH="1">
                <a:off x="2915313" y="1723904"/>
                <a:ext cx="84848" cy="72039"/>
                <a:chOff x="6313941" y="2895600"/>
                <a:chExt cx="205995" cy="174897"/>
              </a:xfrm>
              <a:solidFill>
                <a:schemeClr val="tx1"/>
              </a:solidFill>
            </p:grpSpPr>
            <p:sp>
              <p:nvSpPr>
                <p:cNvPr id="9" name="Freeform: Shape 8">
                  <a:extLst>
                    <a:ext uri="{FF2B5EF4-FFF2-40B4-BE49-F238E27FC236}">
                      <a16:creationId xmlns:a16="http://schemas.microsoft.com/office/drawing/2014/main" id="{43919CA9-0FC8-A123-B329-B3F0DD9DC8D8}"/>
                    </a:ext>
                  </a:extLst>
                </p:cNvPr>
                <p:cNvSpPr/>
                <p:nvPr/>
              </p:nvSpPr>
              <p:spPr>
                <a:xfrm>
                  <a:off x="6313941" y="2895600"/>
                  <a:ext cx="205995" cy="134416"/>
                </a:xfrm>
                <a:custGeom>
                  <a:avLst/>
                  <a:gdLst>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4131 h 232731"/>
                    <a:gd name="connsiteX1" fmla="*/ 0 w 304800"/>
                    <a:gd name="connsiteY1" fmla="*/ 102556 h 232731"/>
                    <a:gd name="connsiteX2" fmla="*/ 301625 w 304800"/>
                    <a:gd name="connsiteY2" fmla="*/ 232731 h 232731"/>
                    <a:gd name="connsiteX0" fmla="*/ 304800 w 304800"/>
                    <a:gd name="connsiteY0" fmla="*/ 4131 h 102556"/>
                    <a:gd name="connsiteX1" fmla="*/ 0 w 304800"/>
                    <a:gd name="connsiteY1" fmla="*/ 102556 h 102556"/>
                    <a:gd name="connsiteX0" fmla="*/ 304800 w 304800"/>
                    <a:gd name="connsiteY0" fmla="*/ 4910 h 103335"/>
                    <a:gd name="connsiteX1" fmla="*/ 304692 w 304800"/>
                    <a:gd name="connsiteY1" fmla="*/ 3516 h 103335"/>
                    <a:gd name="connsiteX2" fmla="*/ 0 w 304800"/>
                    <a:gd name="connsiteY2" fmla="*/ 103335 h 103335"/>
                    <a:gd name="connsiteX0" fmla="*/ 304800 w 304800"/>
                    <a:gd name="connsiteY0" fmla="*/ 1 h 98426"/>
                    <a:gd name="connsiteX1" fmla="*/ 262894 w 304800"/>
                    <a:gd name="connsiteY1" fmla="*/ 95087 h 98426"/>
                    <a:gd name="connsiteX2" fmla="*/ 0 w 304800"/>
                    <a:gd name="connsiteY2" fmla="*/ 98426 h 98426"/>
                    <a:gd name="connsiteX0" fmla="*/ 301317 w 301317"/>
                    <a:gd name="connsiteY0" fmla="*/ 104438 h 104438"/>
                    <a:gd name="connsiteX1" fmla="*/ 262894 w 301317"/>
                    <a:gd name="connsiteY1" fmla="*/ 40800 h 104438"/>
                    <a:gd name="connsiteX2" fmla="*/ 0 w 301317"/>
                    <a:gd name="connsiteY2" fmla="*/ 44139 h 104438"/>
                    <a:gd name="connsiteX0" fmla="*/ 301317 w 301317"/>
                    <a:gd name="connsiteY0" fmla="*/ 178267 h 178267"/>
                    <a:gd name="connsiteX1" fmla="*/ 297726 w 301317"/>
                    <a:gd name="connsiteY1" fmla="*/ 2588 h 178267"/>
                    <a:gd name="connsiteX2" fmla="*/ 0 w 301317"/>
                    <a:gd name="connsiteY2" fmla="*/ 117968 h 178267"/>
                    <a:gd name="connsiteX0" fmla="*/ 301317 w 301317"/>
                    <a:gd name="connsiteY0" fmla="*/ 175679 h 175679"/>
                    <a:gd name="connsiteX1" fmla="*/ 297726 w 301317"/>
                    <a:gd name="connsiteY1" fmla="*/ 0 h 175679"/>
                    <a:gd name="connsiteX2" fmla="*/ 0 w 301317"/>
                    <a:gd name="connsiteY2" fmla="*/ 115380 h 175679"/>
                  </a:gdLst>
                  <a:ahLst/>
                  <a:cxnLst>
                    <a:cxn ang="0">
                      <a:pos x="connsiteX0" y="connsiteY0"/>
                    </a:cxn>
                    <a:cxn ang="0">
                      <a:pos x="connsiteX1" y="connsiteY1"/>
                    </a:cxn>
                    <a:cxn ang="0">
                      <a:pos x="connsiteX2" y="connsiteY2"/>
                    </a:cxn>
                  </a:cxnLst>
                  <a:rect l="l" t="t" r="r" b="b"/>
                  <a:pathLst>
                    <a:path w="301317" h="175679">
                      <a:moveTo>
                        <a:pt x="301317" y="175679"/>
                      </a:moveTo>
                      <a:cubicBezTo>
                        <a:pt x="301299" y="175447"/>
                        <a:pt x="297748" y="290"/>
                        <a:pt x="297726" y="0"/>
                      </a:cubicBezTo>
                      <a:cubicBezTo>
                        <a:pt x="148086" y="5251"/>
                        <a:pt x="25400" y="25422"/>
                        <a:pt x="0" y="115380"/>
                      </a:cubicBez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965F56BA-69A6-9650-AA8F-EB677381F484}"/>
                    </a:ext>
                  </a:extLst>
                </p:cNvPr>
                <p:cNvSpPr/>
                <p:nvPr/>
              </p:nvSpPr>
              <p:spPr>
                <a:xfrm flipV="1">
                  <a:off x="6313941" y="2936081"/>
                  <a:ext cx="205995" cy="134416"/>
                </a:xfrm>
                <a:custGeom>
                  <a:avLst/>
                  <a:gdLst>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4131 h 232731"/>
                    <a:gd name="connsiteX1" fmla="*/ 0 w 304800"/>
                    <a:gd name="connsiteY1" fmla="*/ 102556 h 232731"/>
                    <a:gd name="connsiteX2" fmla="*/ 301625 w 304800"/>
                    <a:gd name="connsiteY2" fmla="*/ 232731 h 232731"/>
                    <a:gd name="connsiteX0" fmla="*/ 304800 w 304800"/>
                    <a:gd name="connsiteY0" fmla="*/ 4131 h 102556"/>
                    <a:gd name="connsiteX1" fmla="*/ 0 w 304800"/>
                    <a:gd name="connsiteY1" fmla="*/ 102556 h 102556"/>
                    <a:gd name="connsiteX0" fmla="*/ 304800 w 304800"/>
                    <a:gd name="connsiteY0" fmla="*/ 4910 h 103335"/>
                    <a:gd name="connsiteX1" fmla="*/ 304692 w 304800"/>
                    <a:gd name="connsiteY1" fmla="*/ 3516 h 103335"/>
                    <a:gd name="connsiteX2" fmla="*/ 0 w 304800"/>
                    <a:gd name="connsiteY2" fmla="*/ 103335 h 103335"/>
                    <a:gd name="connsiteX0" fmla="*/ 304800 w 304800"/>
                    <a:gd name="connsiteY0" fmla="*/ 1 h 98426"/>
                    <a:gd name="connsiteX1" fmla="*/ 262894 w 304800"/>
                    <a:gd name="connsiteY1" fmla="*/ 95087 h 98426"/>
                    <a:gd name="connsiteX2" fmla="*/ 0 w 304800"/>
                    <a:gd name="connsiteY2" fmla="*/ 98426 h 98426"/>
                    <a:gd name="connsiteX0" fmla="*/ 301317 w 301317"/>
                    <a:gd name="connsiteY0" fmla="*/ 104438 h 104438"/>
                    <a:gd name="connsiteX1" fmla="*/ 262894 w 301317"/>
                    <a:gd name="connsiteY1" fmla="*/ 40800 h 104438"/>
                    <a:gd name="connsiteX2" fmla="*/ 0 w 301317"/>
                    <a:gd name="connsiteY2" fmla="*/ 44139 h 104438"/>
                    <a:gd name="connsiteX0" fmla="*/ 301317 w 301317"/>
                    <a:gd name="connsiteY0" fmla="*/ 178267 h 178267"/>
                    <a:gd name="connsiteX1" fmla="*/ 297726 w 301317"/>
                    <a:gd name="connsiteY1" fmla="*/ 2588 h 178267"/>
                    <a:gd name="connsiteX2" fmla="*/ 0 w 301317"/>
                    <a:gd name="connsiteY2" fmla="*/ 117968 h 178267"/>
                    <a:gd name="connsiteX0" fmla="*/ 301317 w 301317"/>
                    <a:gd name="connsiteY0" fmla="*/ 175679 h 175679"/>
                    <a:gd name="connsiteX1" fmla="*/ 297726 w 301317"/>
                    <a:gd name="connsiteY1" fmla="*/ 0 h 175679"/>
                    <a:gd name="connsiteX2" fmla="*/ 0 w 301317"/>
                    <a:gd name="connsiteY2" fmla="*/ 115380 h 175679"/>
                  </a:gdLst>
                  <a:ahLst/>
                  <a:cxnLst>
                    <a:cxn ang="0">
                      <a:pos x="connsiteX0" y="connsiteY0"/>
                    </a:cxn>
                    <a:cxn ang="0">
                      <a:pos x="connsiteX1" y="connsiteY1"/>
                    </a:cxn>
                    <a:cxn ang="0">
                      <a:pos x="connsiteX2" y="connsiteY2"/>
                    </a:cxn>
                  </a:cxnLst>
                  <a:rect l="l" t="t" r="r" b="b"/>
                  <a:pathLst>
                    <a:path w="301317" h="175679">
                      <a:moveTo>
                        <a:pt x="301317" y="175679"/>
                      </a:moveTo>
                      <a:cubicBezTo>
                        <a:pt x="301299" y="175447"/>
                        <a:pt x="297748" y="290"/>
                        <a:pt x="297726" y="0"/>
                      </a:cubicBezTo>
                      <a:cubicBezTo>
                        <a:pt x="148086" y="5251"/>
                        <a:pt x="25400" y="25422"/>
                        <a:pt x="0" y="115380"/>
                      </a:cubicBez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Shape 5">
                <a:extLst>
                  <a:ext uri="{FF2B5EF4-FFF2-40B4-BE49-F238E27FC236}">
                    <a16:creationId xmlns:a16="http://schemas.microsoft.com/office/drawing/2014/main" id="{D20A1F67-D2A7-81C2-4A83-A436B1500DA6}"/>
                  </a:ext>
                </a:extLst>
              </p:cNvPr>
              <p:cNvSpPr/>
              <p:nvPr/>
            </p:nvSpPr>
            <p:spPr>
              <a:xfrm rot="21356756" flipH="1">
                <a:off x="1057308" y="1433973"/>
                <a:ext cx="1879285" cy="587828"/>
              </a:xfrm>
              <a:custGeom>
                <a:avLst/>
                <a:gdLst>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7987"/>
                  <a:gd name="connsiteX1" fmla="*/ 3228975 w 6667500"/>
                  <a:gd name="connsiteY1" fmla="*/ 1171575 h 2067987"/>
                  <a:gd name="connsiteX2" fmla="*/ 5305425 w 6667500"/>
                  <a:gd name="connsiteY2" fmla="*/ 923925 h 2067987"/>
                  <a:gd name="connsiteX3" fmla="*/ 6124575 w 6667500"/>
                  <a:gd name="connsiteY3" fmla="*/ 0 h 2067987"/>
                  <a:gd name="connsiteX4" fmla="*/ 6667500 w 6667500"/>
                  <a:gd name="connsiteY4" fmla="*/ 38100 h 2067987"/>
                  <a:gd name="connsiteX5" fmla="*/ 6210300 w 6667500"/>
                  <a:gd name="connsiteY5" fmla="*/ 1409700 h 2067987"/>
                  <a:gd name="connsiteX6" fmla="*/ 3009900 w 6667500"/>
                  <a:gd name="connsiteY6" fmla="*/ 2000250 h 2067987"/>
                  <a:gd name="connsiteX7" fmla="*/ 2305050 w 6667500"/>
                  <a:gd name="connsiteY7" fmla="*/ 2066925 h 2067987"/>
                  <a:gd name="connsiteX8" fmla="*/ 733425 w 6667500"/>
                  <a:gd name="connsiteY8" fmla="*/ 2066925 h 2067987"/>
                  <a:gd name="connsiteX9" fmla="*/ 161925 w 6667500"/>
                  <a:gd name="connsiteY9" fmla="*/ 1866900 h 2067987"/>
                  <a:gd name="connsiteX10" fmla="*/ 2382 w 6667500"/>
                  <a:gd name="connsiteY10" fmla="*/ 1545432 h 2067987"/>
                  <a:gd name="connsiteX11" fmla="*/ 0 w 6667500"/>
                  <a:gd name="connsiteY11" fmla="*/ 1285875 h 2067987"/>
                  <a:gd name="connsiteX12" fmla="*/ 95250 w 6667500"/>
                  <a:gd name="connsiteY12" fmla="*/ 1228725 h 2067987"/>
                  <a:gd name="connsiteX13" fmla="*/ 857250 w 6667500"/>
                  <a:gd name="connsiteY13" fmla="*/ 1228725 h 2067987"/>
                  <a:gd name="connsiteX14" fmla="*/ 1209675 w 6667500"/>
                  <a:gd name="connsiteY14" fmla="*/ 904875 h 2067987"/>
                  <a:gd name="connsiteX0" fmla="*/ 2876550 w 6667500"/>
                  <a:gd name="connsiteY0" fmla="*/ 923925 h 2094441"/>
                  <a:gd name="connsiteX1" fmla="*/ 3228975 w 6667500"/>
                  <a:gd name="connsiteY1" fmla="*/ 1171575 h 2094441"/>
                  <a:gd name="connsiteX2" fmla="*/ 5305425 w 6667500"/>
                  <a:gd name="connsiteY2" fmla="*/ 923925 h 2094441"/>
                  <a:gd name="connsiteX3" fmla="*/ 6124575 w 6667500"/>
                  <a:gd name="connsiteY3" fmla="*/ 0 h 2094441"/>
                  <a:gd name="connsiteX4" fmla="*/ 6667500 w 6667500"/>
                  <a:gd name="connsiteY4" fmla="*/ 38100 h 2094441"/>
                  <a:gd name="connsiteX5" fmla="*/ 6210300 w 6667500"/>
                  <a:gd name="connsiteY5" fmla="*/ 1409700 h 2094441"/>
                  <a:gd name="connsiteX6" fmla="*/ 3009900 w 6667500"/>
                  <a:gd name="connsiteY6" fmla="*/ 2000250 h 2094441"/>
                  <a:gd name="connsiteX7" fmla="*/ 2305050 w 6667500"/>
                  <a:gd name="connsiteY7" fmla="*/ 2066925 h 2094441"/>
                  <a:gd name="connsiteX8" fmla="*/ 733425 w 6667500"/>
                  <a:gd name="connsiteY8" fmla="*/ 2066925 h 2094441"/>
                  <a:gd name="connsiteX9" fmla="*/ 161925 w 6667500"/>
                  <a:gd name="connsiteY9" fmla="*/ 1866900 h 2094441"/>
                  <a:gd name="connsiteX10" fmla="*/ 2382 w 6667500"/>
                  <a:gd name="connsiteY10" fmla="*/ 1545432 h 2094441"/>
                  <a:gd name="connsiteX11" fmla="*/ 0 w 6667500"/>
                  <a:gd name="connsiteY11" fmla="*/ 1285875 h 2094441"/>
                  <a:gd name="connsiteX12" fmla="*/ 95250 w 6667500"/>
                  <a:gd name="connsiteY12" fmla="*/ 1228725 h 2094441"/>
                  <a:gd name="connsiteX13" fmla="*/ 857250 w 6667500"/>
                  <a:gd name="connsiteY13" fmla="*/ 1228725 h 2094441"/>
                  <a:gd name="connsiteX14" fmla="*/ 1209675 w 6667500"/>
                  <a:gd name="connsiteY14" fmla="*/ 904875 h 2094441"/>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210300 w 6667500"/>
                  <a:gd name="connsiteY6" fmla="*/ 1409700 h 2103414"/>
                  <a:gd name="connsiteX7" fmla="*/ 3009900 w 6667500"/>
                  <a:gd name="connsiteY7" fmla="*/ 2000250 h 2103414"/>
                  <a:gd name="connsiteX8" fmla="*/ 2305050 w 6667500"/>
                  <a:gd name="connsiteY8" fmla="*/ 2066925 h 2103414"/>
                  <a:gd name="connsiteX9" fmla="*/ 733425 w 6667500"/>
                  <a:gd name="connsiteY9" fmla="*/ 2066925 h 2103414"/>
                  <a:gd name="connsiteX10" fmla="*/ 161925 w 6667500"/>
                  <a:gd name="connsiteY10" fmla="*/ 1866900 h 2103414"/>
                  <a:gd name="connsiteX11" fmla="*/ 2382 w 6667500"/>
                  <a:gd name="connsiteY11" fmla="*/ 1545432 h 2103414"/>
                  <a:gd name="connsiteX12" fmla="*/ 0 w 6667500"/>
                  <a:gd name="connsiteY12" fmla="*/ 1285875 h 2103414"/>
                  <a:gd name="connsiteX13" fmla="*/ 95250 w 6667500"/>
                  <a:gd name="connsiteY13" fmla="*/ 1228725 h 2103414"/>
                  <a:gd name="connsiteX14" fmla="*/ 857250 w 6667500"/>
                  <a:gd name="connsiteY14" fmla="*/ 1228725 h 2103414"/>
                  <a:gd name="connsiteX15" fmla="*/ 1209675 w 6667500"/>
                  <a:gd name="connsiteY15"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254750 w 6667500"/>
                  <a:gd name="connsiteY6" fmla="*/ 1289049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73850"/>
                  <a:gd name="connsiteY0" fmla="*/ 923925 h 2103414"/>
                  <a:gd name="connsiteX1" fmla="*/ 3228975 w 6673850"/>
                  <a:gd name="connsiteY1" fmla="*/ 1171575 h 2103414"/>
                  <a:gd name="connsiteX2" fmla="*/ 5305425 w 6673850"/>
                  <a:gd name="connsiteY2" fmla="*/ 923925 h 2103414"/>
                  <a:gd name="connsiteX3" fmla="*/ 6124575 w 6673850"/>
                  <a:gd name="connsiteY3" fmla="*/ 0 h 2103414"/>
                  <a:gd name="connsiteX4" fmla="*/ 6673850 w 6673850"/>
                  <a:gd name="connsiteY4" fmla="*/ 22225 h 2103414"/>
                  <a:gd name="connsiteX5" fmla="*/ 6289675 w 6673850"/>
                  <a:gd name="connsiteY5" fmla="*/ 1174749 h 2103414"/>
                  <a:gd name="connsiteX6" fmla="*/ 6337300 w 6673850"/>
                  <a:gd name="connsiteY6" fmla="*/ 1317624 h 2103414"/>
                  <a:gd name="connsiteX7" fmla="*/ 6210300 w 6673850"/>
                  <a:gd name="connsiteY7" fmla="*/ 1409700 h 2103414"/>
                  <a:gd name="connsiteX8" fmla="*/ 3009900 w 6673850"/>
                  <a:gd name="connsiteY8" fmla="*/ 2000250 h 2103414"/>
                  <a:gd name="connsiteX9" fmla="*/ 2305050 w 6673850"/>
                  <a:gd name="connsiteY9" fmla="*/ 2066925 h 2103414"/>
                  <a:gd name="connsiteX10" fmla="*/ 733425 w 6673850"/>
                  <a:gd name="connsiteY10" fmla="*/ 2066925 h 2103414"/>
                  <a:gd name="connsiteX11" fmla="*/ 161925 w 6673850"/>
                  <a:gd name="connsiteY11" fmla="*/ 1866900 h 2103414"/>
                  <a:gd name="connsiteX12" fmla="*/ 2382 w 6673850"/>
                  <a:gd name="connsiteY12" fmla="*/ 1545432 h 2103414"/>
                  <a:gd name="connsiteX13" fmla="*/ 0 w 6673850"/>
                  <a:gd name="connsiteY13" fmla="*/ 1285875 h 2103414"/>
                  <a:gd name="connsiteX14" fmla="*/ 95250 w 6673850"/>
                  <a:gd name="connsiteY14" fmla="*/ 1228725 h 2103414"/>
                  <a:gd name="connsiteX15" fmla="*/ 857250 w 6673850"/>
                  <a:gd name="connsiteY15" fmla="*/ 1228725 h 2103414"/>
                  <a:gd name="connsiteX16" fmla="*/ 1209675 w 6673850"/>
                  <a:gd name="connsiteY16" fmla="*/ 904875 h 2103414"/>
                  <a:gd name="connsiteX0" fmla="*/ 2876550 w 6673850"/>
                  <a:gd name="connsiteY0" fmla="*/ 908050 h 2087539"/>
                  <a:gd name="connsiteX1" fmla="*/ 3228975 w 6673850"/>
                  <a:gd name="connsiteY1" fmla="*/ 1155700 h 2087539"/>
                  <a:gd name="connsiteX2" fmla="*/ 5305425 w 6673850"/>
                  <a:gd name="connsiteY2" fmla="*/ 908050 h 2087539"/>
                  <a:gd name="connsiteX3" fmla="*/ 6127750 w 6673850"/>
                  <a:gd name="connsiteY3" fmla="*/ 0 h 2087539"/>
                  <a:gd name="connsiteX4" fmla="*/ 6673850 w 6673850"/>
                  <a:gd name="connsiteY4" fmla="*/ 6350 h 2087539"/>
                  <a:gd name="connsiteX5" fmla="*/ 6289675 w 6673850"/>
                  <a:gd name="connsiteY5" fmla="*/ 1158874 h 2087539"/>
                  <a:gd name="connsiteX6" fmla="*/ 6337300 w 6673850"/>
                  <a:gd name="connsiteY6" fmla="*/ 1301749 h 2087539"/>
                  <a:gd name="connsiteX7" fmla="*/ 6210300 w 6673850"/>
                  <a:gd name="connsiteY7" fmla="*/ 1393825 h 2087539"/>
                  <a:gd name="connsiteX8" fmla="*/ 3009900 w 6673850"/>
                  <a:gd name="connsiteY8" fmla="*/ 1984375 h 2087539"/>
                  <a:gd name="connsiteX9" fmla="*/ 2305050 w 6673850"/>
                  <a:gd name="connsiteY9" fmla="*/ 2051050 h 2087539"/>
                  <a:gd name="connsiteX10" fmla="*/ 733425 w 6673850"/>
                  <a:gd name="connsiteY10" fmla="*/ 2051050 h 2087539"/>
                  <a:gd name="connsiteX11" fmla="*/ 161925 w 6673850"/>
                  <a:gd name="connsiteY11" fmla="*/ 1851025 h 2087539"/>
                  <a:gd name="connsiteX12" fmla="*/ 2382 w 6673850"/>
                  <a:gd name="connsiteY12" fmla="*/ 1529557 h 2087539"/>
                  <a:gd name="connsiteX13" fmla="*/ 0 w 6673850"/>
                  <a:gd name="connsiteY13" fmla="*/ 1270000 h 2087539"/>
                  <a:gd name="connsiteX14" fmla="*/ 95250 w 6673850"/>
                  <a:gd name="connsiteY14" fmla="*/ 1212850 h 2087539"/>
                  <a:gd name="connsiteX15" fmla="*/ 857250 w 6673850"/>
                  <a:gd name="connsiteY15" fmla="*/ 1212850 h 2087539"/>
                  <a:gd name="connsiteX16" fmla="*/ 1209675 w 6673850"/>
                  <a:gd name="connsiteY16" fmla="*/ 889000 h 2087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673850" h="2087539">
                    <a:moveTo>
                      <a:pt x="2876550" y="908050"/>
                    </a:moveTo>
                    <a:lnTo>
                      <a:pt x="3228975" y="1155700"/>
                    </a:lnTo>
                    <a:lnTo>
                      <a:pt x="5305425" y="908050"/>
                    </a:lnTo>
                    <a:lnTo>
                      <a:pt x="6127750" y="0"/>
                    </a:lnTo>
                    <a:lnTo>
                      <a:pt x="6673850" y="6350"/>
                    </a:lnTo>
                    <a:lnTo>
                      <a:pt x="6289675" y="1158874"/>
                    </a:lnTo>
                    <a:cubicBezTo>
                      <a:pt x="6305550" y="1206499"/>
                      <a:pt x="6321425" y="1225549"/>
                      <a:pt x="6337300" y="1301749"/>
                    </a:cubicBezTo>
                    <a:cubicBezTo>
                      <a:pt x="6294967" y="1376891"/>
                      <a:pt x="6252633" y="1363133"/>
                      <a:pt x="6210300" y="1393825"/>
                    </a:cubicBezTo>
                    <a:cubicBezTo>
                      <a:pt x="5130800" y="1619250"/>
                      <a:pt x="4289425" y="1787525"/>
                      <a:pt x="3009900" y="1984375"/>
                    </a:cubicBezTo>
                    <a:lnTo>
                      <a:pt x="2305050" y="2051050"/>
                    </a:lnTo>
                    <a:cubicBezTo>
                      <a:pt x="1809750" y="2084387"/>
                      <a:pt x="1302544" y="2112962"/>
                      <a:pt x="733425" y="2051050"/>
                    </a:cubicBezTo>
                    <a:cubicBezTo>
                      <a:pt x="635794" y="2053431"/>
                      <a:pt x="385762" y="2067719"/>
                      <a:pt x="161925" y="1851025"/>
                    </a:cubicBezTo>
                    <a:cubicBezTo>
                      <a:pt x="96837" y="1779587"/>
                      <a:pt x="55563" y="1712913"/>
                      <a:pt x="2382" y="1529557"/>
                    </a:cubicBezTo>
                    <a:lnTo>
                      <a:pt x="0" y="1270000"/>
                    </a:lnTo>
                    <a:cubicBezTo>
                      <a:pt x="34131" y="1231900"/>
                      <a:pt x="23019" y="1212850"/>
                      <a:pt x="95250" y="1212850"/>
                    </a:cubicBezTo>
                    <a:lnTo>
                      <a:pt x="857250" y="1212850"/>
                    </a:lnTo>
                    <a:cubicBezTo>
                      <a:pt x="986631" y="1004888"/>
                      <a:pt x="1061244" y="958850"/>
                      <a:pt x="1209675" y="889000"/>
                    </a:cubicBezTo>
                  </a:path>
                </a:pathLst>
              </a:cu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5">
                <a:extLst>
                  <a:ext uri="{FF2B5EF4-FFF2-40B4-BE49-F238E27FC236}">
                    <a16:creationId xmlns:a16="http://schemas.microsoft.com/office/drawing/2014/main" id="{497C15C7-27D8-4AF5-1850-4708AD3DCEF9}"/>
                  </a:ext>
                </a:extLst>
              </p:cNvPr>
              <p:cNvSpPr/>
              <p:nvPr/>
            </p:nvSpPr>
            <p:spPr>
              <a:xfrm flipH="1">
                <a:off x="1208159" y="1797038"/>
                <a:ext cx="245247" cy="20053"/>
              </a:xfrm>
              <a:custGeom>
                <a:avLst/>
                <a:gdLst>
                  <a:gd name="connsiteX0" fmla="*/ 3630839 w 3653141"/>
                  <a:gd name="connsiteY0" fmla="*/ 572004 h 641943"/>
                  <a:gd name="connsiteX1" fmla="*/ 239939 w 3653141"/>
                  <a:gd name="connsiteY1" fmla="*/ 584704 h 641943"/>
                  <a:gd name="connsiteX2" fmla="*/ 430439 w 3653141"/>
                  <a:gd name="connsiteY2" fmla="*/ 102104 h 641943"/>
                  <a:gd name="connsiteX3" fmla="*/ 1649639 w 3653141"/>
                  <a:gd name="connsiteY3" fmla="*/ 38604 h 641943"/>
                  <a:gd name="connsiteX4" fmla="*/ 3630839 w 3653141"/>
                  <a:gd name="connsiteY4" fmla="*/ 572004 h 64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41" h="641943">
                    <a:moveTo>
                      <a:pt x="3630839" y="572004"/>
                    </a:moveTo>
                    <a:cubicBezTo>
                      <a:pt x="3395889" y="663021"/>
                      <a:pt x="773339" y="663021"/>
                      <a:pt x="239939" y="584704"/>
                    </a:cubicBezTo>
                    <a:cubicBezTo>
                      <a:pt x="-293461" y="506387"/>
                      <a:pt x="195489" y="193121"/>
                      <a:pt x="430439" y="102104"/>
                    </a:cubicBezTo>
                    <a:cubicBezTo>
                      <a:pt x="665389" y="11087"/>
                      <a:pt x="1120472" y="-39713"/>
                      <a:pt x="1649639" y="38604"/>
                    </a:cubicBezTo>
                    <a:cubicBezTo>
                      <a:pt x="2178806" y="116921"/>
                      <a:pt x="3865789" y="480987"/>
                      <a:pt x="3630839" y="572004"/>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5">
                <a:extLst>
                  <a:ext uri="{FF2B5EF4-FFF2-40B4-BE49-F238E27FC236}">
                    <a16:creationId xmlns:a16="http://schemas.microsoft.com/office/drawing/2014/main" id="{0BE0B530-37B7-18F6-AF59-0A19C003AF8C}"/>
                  </a:ext>
                </a:extLst>
              </p:cNvPr>
              <p:cNvSpPr/>
              <p:nvPr/>
            </p:nvSpPr>
            <p:spPr>
              <a:xfrm rot="21356756" flipH="1">
                <a:off x="2077497" y="1594630"/>
                <a:ext cx="547838" cy="71574"/>
              </a:xfrm>
              <a:custGeom>
                <a:avLst/>
                <a:gdLst>
                  <a:gd name="connsiteX0" fmla="*/ 3630839 w 3653141"/>
                  <a:gd name="connsiteY0" fmla="*/ 572004 h 641943"/>
                  <a:gd name="connsiteX1" fmla="*/ 239939 w 3653141"/>
                  <a:gd name="connsiteY1" fmla="*/ 584704 h 641943"/>
                  <a:gd name="connsiteX2" fmla="*/ 430439 w 3653141"/>
                  <a:gd name="connsiteY2" fmla="*/ 102104 h 641943"/>
                  <a:gd name="connsiteX3" fmla="*/ 1649639 w 3653141"/>
                  <a:gd name="connsiteY3" fmla="*/ 38604 h 641943"/>
                  <a:gd name="connsiteX4" fmla="*/ 3630839 w 3653141"/>
                  <a:gd name="connsiteY4" fmla="*/ 572004 h 64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41" h="641943">
                    <a:moveTo>
                      <a:pt x="3630839" y="572004"/>
                    </a:moveTo>
                    <a:cubicBezTo>
                      <a:pt x="3395889" y="663021"/>
                      <a:pt x="773339" y="663021"/>
                      <a:pt x="239939" y="584704"/>
                    </a:cubicBezTo>
                    <a:cubicBezTo>
                      <a:pt x="-293461" y="506387"/>
                      <a:pt x="195489" y="193121"/>
                      <a:pt x="430439" y="102104"/>
                    </a:cubicBezTo>
                    <a:cubicBezTo>
                      <a:pt x="665389" y="11087"/>
                      <a:pt x="1120472" y="-39713"/>
                      <a:pt x="1649639" y="38604"/>
                    </a:cubicBezTo>
                    <a:cubicBezTo>
                      <a:pt x="2178806" y="116921"/>
                      <a:pt x="3865789" y="480987"/>
                      <a:pt x="3630839" y="572004"/>
                    </a:cubicBezTo>
                    <a:close/>
                  </a:path>
                </a:pathLst>
              </a:cu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52A5AB5F-4BF3-6610-4A36-C47DD9EECD1A}"/>
                </a:ext>
              </a:extLst>
            </p:cNvPr>
            <p:cNvCxnSpPr>
              <a:cxnSpLocks/>
            </p:cNvCxnSpPr>
            <p:nvPr/>
          </p:nvCxnSpPr>
          <p:spPr>
            <a:xfrm flipV="1">
              <a:off x="800100" y="1790433"/>
              <a:ext cx="2774950" cy="25052"/>
            </a:xfrm>
            <a:prstGeom prst="line">
              <a:avLst/>
            </a:pr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1F8739-D301-E714-E42E-083728947FF2}"/>
                </a:ext>
              </a:extLst>
            </p:cNvPr>
            <p:cNvCxnSpPr>
              <a:cxnSpLocks/>
            </p:cNvCxnSpPr>
            <p:nvPr/>
          </p:nvCxnSpPr>
          <p:spPr>
            <a:xfrm flipV="1">
              <a:off x="800100" y="1521199"/>
              <a:ext cx="2774950" cy="292471"/>
            </a:xfrm>
            <a:prstGeom prst="line">
              <a:avLst/>
            </a:pr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C35B545F-2BED-3364-81A0-717D3B693DF1}"/>
              </a:ext>
            </a:extLst>
          </p:cNvPr>
          <p:cNvSpPr txBox="1"/>
          <p:nvPr/>
        </p:nvSpPr>
        <p:spPr>
          <a:xfrm>
            <a:off x="283699" y="1224371"/>
            <a:ext cx="605631" cy="311496"/>
          </a:xfrm>
          <a:prstGeom prst="rect">
            <a:avLst/>
          </a:prstGeom>
          <a:noFill/>
        </p:spPr>
        <p:txBody>
          <a:bodyPr wrap="square">
            <a:spAutoFit/>
          </a:bodyPr>
          <a:lstStyle/>
          <a:p>
            <a:pPr marL="0" marR="0" algn="ctr">
              <a:lnSpc>
                <a:spcPct val="107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0F4572A5-9A6F-D261-87CD-B7A9988E9CA4}"/>
              </a:ext>
            </a:extLst>
          </p:cNvPr>
          <p:cNvCxnSpPr>
            <a:cxnSpLocks/>
          </p:cNvCxnSpPr>
          <p:nvPr/>
        </p:nvCxnSpPr>
        <p:spPr>
          <a:xfrm>
            <a:off x="736901" y="1462586"/>
            <a:ext cx="447724" cy="1944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0D19BD1-1C88-2A02-8AA1-558505FF980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FD931BD0-8DCD-FD51-3B95-C16598A5130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180944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D3F27F-1F09-52F3-CFB9-9495E18C1D7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3" name="TextBox 2">
            <a:extLst>
              <a:ext uri="{FF2B5EF4-FFF2-40B4-BE49-F238E27FC236}">
                <a16:creationId xmlns:a16="http://schemas.microsoft.com/office/drawing/2014/main" id="{9FFDEFC5-7977-F580-43FF-3E747438ACE4}"/>
              </a:ext>
            </a:extLst>
          </p:cNvPr>
          <p:cNvSpPr txBox="1"/>
          <p:nvPr/>
        </p:nvSpPr>
        <p:spPr>
          <a:xfrm>
            <a:off x="397669" y="350890"/>
            <a:ext cx="3776662" cy="1003031"/>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Angle A is called the angle of incidence.</a:t>
            </a:r>
          </a:p>
          <a:p>
            <a:pPr marL="0" marR="0" algn="just">
              <a:lnSpc>
                <a:spcPct val="107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It is defined as the angle between the wing’s chord line and the aircraft’s longitudinal axis.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4" name="Group 3">
            <a:extLst>
              <a:ext uri="{FF2B5EF4-FFF2-40B4-BE49-F238E27FC236}">
                <a16:creationId xmlns:a16="http://schemas.microsoft.com/office/drawing/2014/main" id="{7F8EB31B-E935-9A41-F6F1-F02DAF7E5DBD}"/>
              </a:ext>
            </a:extLst>
          </p:cNvPr>
          <p:cNvGrpSpPr/>
          <p:nvPr/>
        </p:nvGrpSpPr>
        <p:grpSpPr>
          <a:xfrm>
            <a:off x="283699" y="1453819"/>
            <a:ext cx="3596151" cy="702880"/>
            <a:chOff x="283699" y="1224371"/>
            <a:chExt cx="3596151" cy="702880"/>
          </a:xfrm>
        </p:grpSpPr>
        <p:grpSp>
          <p:nvGrpSpPr>
            <p:cNvPr id="23" name="Group 22">
              <a:extLst>
                <a:ext uri="{FF2B5EF4-FFF2-40B4-BE49-F238E27FC236}">
                  <a16:creationId xmlns:a16="http://schemas.microsoft.com/office/drawing/2014/main" id="{F50187CF-B254-F022-0C19-4CD26F2F449C}"/>
                </a:ext>
              </a:extLst>
            </p:cNvPr>
            <p:cNvGrpSpPr/>
            <p:nvPr/>
          </p:nvGrpSpPr>
          <p:grpSpPr>
            <a:xfrm>
              <a:off x="1104900" y="1339423"/>
              <a:ext cx="2774950" cy="587828"/>
              <a:chOff x="800100" y="1433973"/>
              <a:chExt cx="2774950" cy="587828"/>
            </a:xfrm>
          </p:grpSpPr>
          <p:grpSp>
            <p:nvGrpSpPr>
              <p:cNvPr id="13" name="Group 12">
                <a:extLst>
                  <a:ext uri="{FF2B5EF4-FFF2-40B4-BE49-F238E27FC236}">
                    <a16:creationId xmlns:a16="http://schemas.microsoft.com/office/drawing/2014/main" id="{2BA78E43-B38E-6C43-70B3-07D6425154C7}"/>
                  </a:ext>
                </a:extLst>
              </p:cNvPr>
              <p:cNvGrpSpPr/>
              <p:nvPr/>
            </p:nvGrpSpPr>
            <p:grpSpPr>
              <a:xfrm>
                <a:off x="1057308" y="1433973"/>
                <a:ext cx="1942853" cy="587828"/>
                <a:chOff x="1057308" y="1433973"/>
                <a:chExt cx="1942853" cy="587828"/>
              </a:xfrm>
            </p:grpSpPr>
            <p:grpSp>
              <p:nvGrpSpPr>
                <p:cNvPr id="8" name="Group 7">
                  <a:extLst>
                    <a:ext uri="{FF2B5EF4-FFF2-40B4-BE49-F238E27FC236}">
                      <a16:creationId xmlns:a16="http://schemas.microsoft.com/office/drawing/2014/main" id="{0F197302-55B9-BAD6-84FA-9B8B69159989}"/>
                    </a:ext>
                  </a:extLst>
                </p:cNvPr>
                <p:cNvGrpSpPr/>
                <p:nvPr/>
              </p:nvGrpSpPr>
              <p:grpSpPr>
                <a:xfrm rot="21356756" flipH="1">
                  <a:off x="2915313" y="1723904"/>
                  <a:ext cx="84848" cy="72039"/>
                  <a:chOff x="6313941" y="2895600"/>
                  <a:chExt cx="205995" cy="174897"/>
                </a:xfrm>
                <a:solidFill>
                  <a:schemeClr val="tx1"/>
                </a:solidFill>
              </p:grpSpPr>
              <p:sp>
                <p:nvSpPr>
                  <p:cNvPr id="9" name="Freeform: Shape 8">
                    <a:extLst>
                      <a:ext uri="{FF2B5EF4-FFF2-40B4-BE49-F238E27FC236}">
                        <a16:creationId xmlns:a16="http://schemas.microsoft.com/office/drawing/2014/main" id="{43919CA9-0FC8-A123-B329-B3F0DD9DC8D8}"/>
                      </a:ext>
                    </a:extLst>
                  </p:cNvPr>
                  <p:cNvSpPr/>
                  <p:nvPr/>
                </p:nvSpPr>
                <p:spPr>
                  <a:xfrm>
                    <a:off x="6313941" y="2895600"/>
                    <a:ext cx="205995" cy="134416"/>
                  </a:xfrm>
                  <a:custGeom>
                    <a:avLst/>
                    <a:gdLst>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4131 h 232731"/>
                      <a:gd name="connsiteX1" fmla="*/ 0 w 304800"/>
                      <a:gd name="connsiteY1" fmla="*/ 102556 h 232731"/>
                      <a:gd name="connsiteX2" fmla="*/ 301625 w 304800"/>
                      <a:gd name="connsiteY2" fmla="*/ 232731 h 232731"/>
                      <a:gd name="connsiteX0" fmla="*/ 304800 w 304800"/>
                      <a:gd name="connsiteY0" fmla="*/ 4131 h 102556"/>
                      <a:gd name="connsiteX1" fmla="*/ 0 w 304800"/>
                      <a:gd name="connsiteY1" fmla="*/ 102556 h 102556"/>
                      <a:gd name="connsiteX0" fmla="*/ 304800 w 304800"/>
                      <a:gd name="connsiteY0" fmla="*/ 4910 h 103335"/>
                      <a:gd name="connsiteX1" fmla="*/ 304692 w 304800"/>
                      <a:gd name="connsiteY1" fmla="*/ 3516 h 103335"/>
                      <a:gd name="connsiteX2" fmla="*/ 0 w 304800"/>
                      <a:gd name="connsiteY2" fmla="*/ 103335 h 103335"/>
                      <a:gd name="connsiteX0" fmla="*/ 304800 w 304800"/>
                      <a:gd name="connsiteY0" fmla="*/ 1 h 98426"/>
                      <a:gd name="connsiteX1" fmla="*/ 262894 w 304800"/>
                      <a:gd name="connsiteY1" fmla="*/ 95087 h 98426"/>
                      <a:gd name="connsiteX2" fmla="*/ 0 w 304800"/>
                      <a:gd name="connsiteY2" fmla="*/ 98426 h 98426"/>
                      <a:gd name="connsiteX0" fmla="*/ 301317 w 301317"/>
                      <a:gd name="connsiteY0" fmla="*/ 104438 h 104438"/>
                      <a:gd name="connsiteX1" fmla="*/ 262894 w 301317"/>
                      <a:gd name="connsiteY1" fmla="*/ 40800 h 104438"/>
                      <a:gd name="connsiteX2" fmla="*/ 0 w 301317"/>
                      <a:gd name="connsiteY2" fmla="*/ 44139 h 104438"/>
                      <a:gd name="connsiteX0" fmla="*/ 301317 w 301317"/>
                      <a:gd name="connsiteY0" fmla="*/ 178267 h 178267"/>
                      <a:gd name="connsiteX1" fmla="*/ 297726 w 301317"/>
                      <a:gd name="connsiteY1" fmla="*/ 2588 h 178267"/>
                      <a:gd name="connsiteX2" fmla="*/ 0 w 301317"/>
                      <a:gd name="connsiteY2" fmla="*/ 117968 h 178267"/>
                      <a:gd name="connsiteX0" fmla="*/ 301317 w 301317"/>
                      <a:gd name="connsiteY0" fmla="*/ 175679 h 175679"/>
                      <a:gd name="connsiteX1" fmla="*/ 297726 w 301317"/>
                      <a:gd name="connsiteY1" fmla="*/ 0 h 175679"/>
                      <a:gd name="connsiteX2" fmla="*/ 0 w 301317"/>
                      <a:gd name="connsiteY2" fmla="*/ 115380 h 175679"/>
                    </a:gdLst>
                    <a:ahLst/>
                    <a:cxnLst>
                      <a:cxn ang="0">
                        <a:pos x="connsiteX0" y="connsiteY0"/>
                      </a:cxn>
                      <a:cxn ang="0">
                        <a:pos x="connsiteX1" y="connsiteY1"/>
                      </a:cxn>
                      <a:cxn ang="0">
                        <a:pos x="connsiteX2" y="connsiteY2"/>
                      </a:cxn>
                    </a:cxnLst>
                    <a:rect l="l" t="t" r="r" b="b"/>
                    <a:pathLst>
                      <a:path w="301317" h="175679">
                        <a:moveTo>
                          <a:pt x="301317" y="175679"/>
                        </a:moveTo>
                        <a:cubicBezTo>
                          <a:pt x="301299" y="175447"/>
                          <a:pt x="297748" y="290"/>
                          <a:pt x="297726" y="0"/>
                        </a:cubicBezTo>
                        <a:cubicBezTo>
                          <a:pt x="148086" y="5251"/>
                          <a:pt x="25400" y="25422"/>
                          <a:pt x="0" y="115380"/>
                        </a:cubicBez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965F56BA-69A6-9650-AA8F-EB677381F484}"/>
                      </a:ext>
                    </a:extLst>
                  </p:cNvPr>
                  <p:cNvSpPr/>
                  <p:nvPr/>
                </p:nvSpPr>
                <p:spPr>
                  <a:xfrm flipV="1">
                    <a:off x="6313941" y="2936081"/>
                    <a:ext cx="205995" cy="134416"/>
                  </a:xfrm>
                  <a:custGeom>
                    <a:avLst/>
                    <a:gdLst>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4131 h 232731"/>
                      <a:gd name="connsiteX1" fmla="*/ 0 w 304800"/>
                      <a:gd name="connsiteY1" fmla="*/ 102556 h 232731"/>
                      <a:gd name="connsiteX2" fmla="*/ 301625 w 304800"/>
                      <a:gd name="connsiteY2" fmla="*/ 232731 h 232731"/>
                      <a:gd name="connsiteX0" fmla="*/ 304800 w 304800"/>
                      <a:gd name="connsiteY0" fmla="*/ 4131 h 102556"/>
                      <a:gd name="connsiteX1" fmla="*/ 0 w 304800"/>
                      <a:gd name="connsiteY1" fmla="*/ 102556 h 102556"/>
                      <a:gd name="connsiteX0" fmla="*/ 304800 w 304800"/>
                      <a:gd name="connsiteY0" fmla="*/ 4910 h 103335"/>
                      <a:gd name="connsiteX1" fmla="*/ 304692 w 304800"/>
                      <a:gd name="connsiteY1" fmla="*/ 3516 h 103335"/>
                      <a:gd name="connsiteX2" fmla="*/ 0 w 304800"/>
                      <a:gd name="connsiteY2" fmla="*/ 103335 h 103335"/>
                      <a:gd name="connsiteX0" fmla="*/ 304800 w 304800"/>
                      <a:gd name="connsiteY0" fmla="*/ 1 h 98426"/>
                      <a:gd name="connsiteX1" fmla="*/ 262894 w 304800"/>
                      <a:gd name="connsiteY1" fmla="*/ 95087 h 98426"/>
                      <a:gd name="connsiteX2" fmla="*/ 0 w 304800"/>
                      <a:gd name="connsiteY2" fmla="*/ 98426 h 98426"/>
                      <a:gd name="connsiteX0" fmla="*/ 301317 w 301317"/>
                      <a:gd name="connsiteY0" fmla="*/ 104438 h 104438"/>
                      <a:gd name="connsiteX1" fmla="*/ 262894 w 301317"/>
                      <a:gd name="connsiteY1" fmla="*/ 40800 h 104438"/>
                      <a:gd name="connsiteX2" fmla="*/ 0 w 301317"/>
                      <a:gd name="connsiteY2" fmla="*/ 44139 h 104438"/>
                      <a:gd name="connsiteX0" fmla="*/ 301317 w 301317"/>
                      <a:gd name="connsiteY0" fmla="*/ 178267 h 178267"/>
                      <a:gd name="connsiteX1" fmla="*/ 297726 w 301317"/>
                      <a:gd name="connsiteY1" fmla="*/ 2588 h 178267"/>
                      <a:gd name="connsiteX2" fmla="*/ 0 w 301317"/>
                      <a:gd name="connsiteY2" fmla="*/ 117968 h 178267"/>
                      <a:gd name="connsiteX0" fmla="*/ 301317 w 301317"/>
                      <a:gd name="connsiteY0" fmla="*/ 175679 h 175679"/>
                      <a:gd name="connsiteX1" fmla="*/ 297726 w 301317"/>
                      <a:gd name="connsiteY1" fmla="*/ 0 h 175679"/>
                      <a:gd name="connsiteX2" fmla="*/ 0 w 301317"/>
                      <a:gd name="connsiteY2" fmla="*/ 115380 h 175679"/>
                    </a:gdLst>
                    <a:ahLst/>
                    <a:cxnLst>
                      <a:cxn ang="0">
                        <a:pos x="connsiteX0" y="connsiteY0"/>
                      </a:cxn>
                      <a:cxn ang="0">
                        <a:pos x="connsiteX1" y="connsiteY1"/>
                      </a:cxn>
                      <a:cxn ang="0">
                        <a:pos x="connsiteX2" y="connsiteY2"/>
                      </a:cxn>
                    </a:cxnLst>
                    <a:rect l="l" t="t" r="r" b="b"/>
                    <a:pathLst>
                      <a:path w="301317" h="175679">
                        <a:moveTo>
                          <a:pt x="301317" y="175679"/>
                        </a:moveTo>
                        <a:cubicBezTo>
                          <a:pt x="301299" y="175447"/>
                          <a:pt x="297748" y="290"/>
                          <a:pt x="297726" y="0"/>
                        </a:cubicBezTo>
                        <a:cubicBezTo>
                          <a:pt x="148086" y="5251"/>
                          <a:pt x="25400" y="25422"/>
                          <a:pt x="0" y="115380"/>
                        </a:cubicBez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Shape 5">
                  <a:extLst>
                    <a:ext uri="{FF2B5EF4-FFF2-40B4-BE49-F238E27FC236}">
                      <a16:creationId xmlns:a16="http://schemas.microsoft.com/office/drawing/2014/main" id="{D20A1F67-D2A7-81C2-4A83-A436B1500DA6}"/>
                    </a:ext>
                  </a:extLst>
                </p:cNvPr>
                <p:cNvSpPr/>
                <p:nvPr/>
              </p:nvSpPr>
              <p:spPr>
                <a:xfrm rot="21356756" flipH="1">
                  <a:off x="1057308" y="1433973"/>
                  <a:ext cx="1879285" cy="587828"/>
                </a:xfrm>
                <a:custGeom>
                  <a:avLst/>
                  <a:gdLst>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7987"/>
                    <a:gd name="connsiteX1" fmla="*/ 3228975 w 6667500"/>
                    <a:gd name="connsiteY1" fmla="*/ 1171575 h 2067987"/>
                    <a:gd name="connsiteX2" fmla="*/ 5305425 w 6667500"/>
                    <a:gd name="connsiteY2" fmla="*/ 923925 h 2067987"/>
                    <a:gd name="connsiteX3" fmla="*/ 6124575 w 6667500"/>
                    <a:gd name="connsiteY3" fmla="*/ 0 h 2067987"/>
                    <a:gd name="connsiteX4" fmla="*/ 6667500 w 6667500"/>
                    <a:gd name="connsiteY4" fmla="*/ 38100 h 2067987"/>
                    <a:gd name="connsiteX5" fmla="*/ 6210300 w 6667500"/>
                    <a:gd name="connsiteY5" fmla="*/ 1409700 h 2067987"/>
                    <a:gd name="connsiteX6" fmla="*/ 3009900 w 6667500"/>
                    <a:gd name="connsiteY6" fmla="*/ 2000250 h 2067987"/>
                    <a:gd name="connsiteX7" fmla="*/ 2305050 w 6667500"/>
                    <a:gd name="connsiteY7" fmla="*/ 2066925 h 2067987"/>
                    <a:gd name="connsiteX8" fmla="*/ 733425 w 6667500"/>
                    <a:gd name="connsiteY8" fmla="*/ 2066925 h 2067987"/>
                    <a:gd name="connsiteX9" fmla="*/ 161925 w 6667500"/>
                    <a:gd name="connsiteY9" fmla="*/ 1866900 h 2067987"/>
                    <a:gd name="connsiteX10" fmla="*/ 2382 w 6667500"/>
                    <a:gd name="connsiteY10" fmla="*/ 1545432 h 2067987"/>
                    <a:gd name="connsiteX11" fmla="*/ 0 w 6667500"/>
                    <a:gd name="connsiteY11" fmla="*/ 1285875 h 2067987"/>
                    <a:gd name="connsiteX12" fmla="*/ 95250 w 6667500"/>
                    <a:gd name="connsiteY12" fmla="*/ 1228725 h 2067987"/>
                    <a:gd name="connsiteX13" fmla="*/ 857250 w 6667500"/>
                    <a:gd name="connsiteY13" fmla="*/ 1228725 h 2067987"/>
                    <a:gd name="connsiteX14" fmla="*/ 1209675 w 6667500"/>
                    <a:gd name="connsiteY14" fmla="*/ 904875 h 2067987"/>
                    <a:gd name="connsiteX0" fmla="*/ 2876550 w 6667500"/>
                    <a:gd name="connsiteY0" fmla="*/ 923925 h 2094441"/>
                    <a:gd name="connsiteX1" fmla="*/ 3228975 w 6667500"/>
                    <a:gd name="connsiteY1" fmla="*/ 1171575 h 2094441"/>
                    <a:gd name="connsiteX2" fmla="*/ 5305425 w 6667500"/>
                    <a:gd name="connsiteY2" fmla="*/ 923925 h 2094441"/>
                    <a:gd name="connsiteX3" fmla="*/ 6124575 w 6667500"/>
                    <a:gd name="connsiteY3" fmla="*/ 0 h 2094441"/>
                    <a:gd name="connsiteX4" fmla="*/ 6667500 w 6667500"/>
                    <a:gd name="connsiteY4" fmla="*/ 38100 h 2094441"/>
                    <a:gd name="connsiteX5" fmla="*/ 6210300 w 6667500"/>
                    <a:gd name="connsiteY5" fmla="*/ 1409700 h 2094441"/>
                    <a:gd name="connsiteX6" fmla="*/ 3009900 w 6667500"/>
                    <a:gd name="connsiteY6" fmla="*/ 2000250 h 2094441"/>
                    <a:gd name="connsiteX7" fmla="*/ 2305050 w 6667500"/>
                    <a:gd name="connsiteY7" fmla="*/ 2066925 h 2094441"/>
                    <a:gd name="connsiteX8" fmla="*/ 733425 w 6667500"/>
                    <a:gd name="connsiteY8" fmla="*/ 2066925 h 2094441"/>
                    <a:gd name="connsiteX9" fmla="*/ 161925 w 6667500"/>
                    <a:gd name="connsiteY9" fmla="*/ 1866900 h 2094441"/>
                    <a:gd name="connsiteX10" fmla="*/ 2382 w 6667500"/>
                    <a:gd name="connsiteY10" fmla="*/ 1545432 h 2094441"/>
                    <a:gd name="connsiteX11" fmla="*/ 0 w 6667500"/>
                    <a:gd name="connsiteY11" fmla="*/ 1285875 h 2094441"/>
                    <a:gd name="connsiteX12" fmla="*/ 95250 w 6667500"/>
                    <a:gd name="connsiteY12" fmla="*/ 1228725 h 2094441"/>
                    <a:gd name="connsiteX13" fmla="*/ 857250 w 6667500"/>
                    <a:gd name="connsiteY13" fmla="*/ 1228725 h 2094441"/>
                    <a:gd name="connsiteX14" fmla="*/ 1209675 w 6667500"/>
                    <a:gd name="connsiteY14" fmla="*/ 904875 h 2094441"/>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210300 w 6667500"/>
                    <a:gd name="connsiteY6" fmla="*/ 1409700 h 2103414"/>
                    <a:gd name="connsiteX7" fmla="*/ 3009900 w 6667500"/>
                    <a:gd name="connsiteY7" fmla="*/ 2000250 h 2103414"/>
                    <a:gd name="connsiteX8" fmla="*/ 2305050 w 6667500"/>
                    <a:gd name="connsiteY8" fmla="*/ 2066925 h 2103414"/>
                    <a:gd name="connsiteX9" fmla="*/ 733425 w 6667500"/>
                    <a:gd name="connsiteY9" fmla="*/ 2066925 h 2103414"/>
                    <a:gd name="connsiteX10" fmla="*/ 161925 w 6667500"/>
                    <a:gd name="connsiteY10" fmla="*/ 1866900 h 2103414"/>
                    <a:gd name="connsiteX11" fmla="*/ 2382 w 6667500"/>
                    <a:gd name="connsiteY11" fmla="*/ 1545432 h 2103414"/>
                    <a:gd name="connsiteX12" fmla="*/ 0 w 6667500"/>
                    <a:gd name="connsiteY12" fmla="*/ 1285875 h 2103414"/>
                    <a:gd name="connsiteX13" fmla="*/ 95250 w 6667500"/>
                    <a:gd name="connsiteY13" fmla="*/ 1228725 h 2103414"/>
                    <a:gd name="connsiteX14" fmla="*/ 857250 w 6667500"/>
                    <a:gd name="connsiteY14" fmla="*/ 1228725 h 2103414"/>
                    <a:gd name="connsiteX15" fmla="*/ 1209675 w 6667500"/>
                    <a:gd name="connsiteY15"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254750 w 6667500"/>
                    <a:gd name="connsiteY6" fmla="*/ 1289049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73850"/>
                    <a:gd name="connsiteY0" fmla="*/ 923925 h 2103414"/>
                    <a:gd name="connsiteX1" fmla="*/ 3228975 w 6673850"/>
                    <a:gd name="connsiteY1" fmla="*/ 1171575 h 2103414"/>
                    <a:gd name="connsiteX2" fmla="*/ 5305425 w 6673850"/>
                    <a:gd name="connsiteY2" fmla="*/ 923925 h 2103414"/>
                    <a:gd name="connsiteX3" fmla="*/ 6124575 w 6673850"/>
                    <a:gd name="connsiteY3" fmla="*/ 0 h 2103414"/>
                    <a:gd name="connsiteX4" fmla="*/ 6673850 w 6673850"/>
                    <a:gd name="connsiteY4" fmla="*/ 22225 h 2103414"/>
                    <a:gd name="connsiteX5" fmla="*/ 6289675 w 6673850"/>
                    <a:gd name="connsiteY5" fmla="*/ 1174749 h 2103414"/>
                    <a:gd name="connsiteX6" fmla="*/ 6337300 w 6673850"/>
                    <a:gd name="connsiteY6" fmla="*/ 1317624 h 2103414"/>
                    <a:gd name="connsiteX7" fmla="*/ 6210300 w 6673850"/>
                    <a:gd name="connsiteY7" fmla="*/ 1409700 h 2103414"/>
                    <a:gd name="connsiteX8" fmla="*/ 3009900 w 6673850"/>
                    <a:gd name="connsiteY8" fmla="*/ 2000250 h 2103414"/>
                    <a:gd name="connsiteX9" fmla="*/ 2305050 w 6673850"/>
                    <a:gd name="connsiteY9" fmla="*/ 2066925 h 2103414"/>
                    <a:gd name="connsiteX10" fmla="*/ 733425 w 6673850"/>
                    <a:gd name="connsiteY10" fmla="*/ 2066925 h 2103414"/>
                    <a:gd name="connsiteX11" fmla="*/ 161925 w 6673850"/>
                    <a:gd name="connsiteY11" fmla="*/ 1866900 h 2103414"/>
                    <a:gd name="connsiteX12" fmla="*/ 2382 w 6673850"/>
                    <a:gd name="connsiteY12" fmla="*/ 1545432 h 2103414"/>
                    <a:gd name="connsiteX13" fmla="*/ 0 w 6673850"/>
                    <a:gd name="connsiteY13" fmla="*/ 1285875 h 2103414"/>
                    <a:gd name="connsiteX14" fmla="*/ 95250 w 6673850"/>
                    <a:gd name="connsiteY14" fmla="*/ 1228725 h 2103414"/>
                    <a:gd name="connsiteX15" fmla="*/ 857250 w 6673850"/>
                    <a:gd name="connsiteY15" fmla="*/ 1228725 h 2103414"/>
                    <a:gd name="connsiteX16" fmla="*/ 1209675 w 6673850"/>
                    <a:gd name="connsiteY16" fmla="*/ 904875 h 2103414"/>
                    <a:gd name="connsiteX0" fmla="*/ 2876550 w 6673850"/>
                    <a:gd name="connsiteY0" fmla="*/ 908050 h 2087539"/>
                    <a:gd name="connsiteX1" fmla="*/ 3228975 w 6673850"/>
                    <a:gd name="connsiteY1" fmla="*/ 1155700 h 2087539"/>
                    <a:gd name="connsiteX2" fmla="*/ 5305425 w 6673850"/>
                    <a:gd name="connsiteY2" fmla="*/ 908050 h 2087539"/>
                    <a:gd name="connsiteX3" fmla="*/ 6127750 w 6673850"/>
                    <a:gd name="connsiteY3" fmla="*/ 0 h 2087539"/>
                    <a:gd name="connsiteX4" fmla="*/ 6673850 w 6673850"/>
                    <a:gd name="connsiteY4" fmla="*/ 6350 h 2087539"/>
                    <a:gd name="connsiteX5" fmla="*/ 6289675 w 6673850"/>
                    <a:gd name="connsiteY5" fmla="*/ 1158874 h 2087539"/>
                    <a:gd name="connsiteX6" fmla="*/ 6337300 w 6673850"/>
                    <a:gd name="connsiteY6" fmla="*/ 1301749 h 2087539"/>
                    <a:gd name="connsiteX7" fmla="*/ 6210300 w 6673850"/>
                    <a:gd name="connsiteY7" fmla="*/ 1393825 h 2087539"/>
                    <a:gd name="connsiteX8" fmla="*/ 3009900 w 6673850"/>
                    <a:gd name="connsiteY8" fmla="*/ 1984375 h 2087539"/>
                    <a:gd name="connsiteX9" fmla="*/ 2305050 w 6673850"/>
                    <a:gd name="connsiteY9" fmla="*/ 2051050 h 2087539"/>
                    <a:gd name="connsiteX10" fmla="*/ 733425 w 6673850"/>
                    <a:gd name="connsiteY10" fmla="*/ 2051050 h 2087539"/>
                    <a:gd name="connsiteX11" fmla="*/ 161925 w 6673850"/>
                    <a:gd name="connsiteY11" fmla="*/ 1851025 h 2087539"/>
                    <a:gd name="connsiteX12" fmla="*/ 2382 w 6673850"/>
                    <a:gd name="connsiteY12" fmla="*/ 1529557 h 2087539"/>
                    <a:gd name="connsiteX13" fmla="*/ 0 w 6673850"/>
                    <a:gd name="connsiteY13" fmla="*/ 1270000 h 2087539"/>
                    <a:gd name="connsiteX14" fmla="*/ 95250 w 6673850"/>
                    <a:gd name="connsiteY14" fmla="*/ 1212850 h 2087539"/>
                    <a:gd name="connsiteX15" fmla="*/ 857250 w 6673850"/>
                    <a:gd name="connsiteY15" fmla="*/ 1212850 h 2087539"/>
                    <a:gd name="connsiteX16" fmla="*/ 1209675 w 6673850"/>
                    <a:gd name="connsiteY16" fmla="*/ 889000 h 2087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673850" h="2087539">
                      <a:moveTo>
                        <a:pt x="2876550" y="908050"/>
                      </a:moveTo>
                      <a:lnTo>
                        <a:pt x="3228975" y="1155700"/>
                      </a:lnTo>
                      <a:lnTo>
                        <a:pt x="5305425" y="908050"/>
                      </a:lnTo>
                      <a:lnTo>
                        <a:pt x="6127750" y="0"/>
                      </a:lnTo>
                      <a:lnTo>
                        <a:pt x="6673850" y="6350"/>
                      </a:lnTo>
                      <a:lnTo>
                        <a:pt x="6289675" y="1158874"/>
                      </a:lnTo>
                      <a:cubicBezTo>
                        <a:pt x="6305550" y="1206499"/>
                        <a:pt x="6321425" y="1225549"/>
                        <a:pt x="6337300" y="1301749"/>
                      </a:cubicBezTo>
                      <a:cubicBezTo>
                        <a:pt x="6294967" y="1376891"/>
                        <a:pt x="6252633" y="1363133"/>
                        <a:pt x="6210300" y="1393825"/>
                      </a:cubicBezTo>
                      <a:cubicBezTo>
                        <a:pt x="5130800" y="1619250"/>
                        <a:pt x="4289425" y="1787525"/>
                        <a:pt x="3009900" y="1984375"/>
                      </a:cubicBezTo>
                      <a:lnTo>
                        <a:pt x="2305050" y="2051050"/>
                      </a:lnTo>
                      <a:cubicBezTo>
                        <a:pt x="1809750" y="2084387"/>
                        <a:pt x="1302544" y="2112962"/>
                        <a:pt x="733425" y="2051050"/>
                      </a:cubicBezTo>
                      <a:cubicBezTo>
                        <a:pt x="635794" y="2053431"/>
                        <a:pt x="385762" y="2067719"/>
                        <a:pt x="161925" y="1851025"/>
                      </a:cubicBezTo>
                      <a:cubicBezTo>
                        <a:pt x="96837" y="1779587"/>
                        <a:pt x="55563" y="1712913"/>
                        <a:pt x="2382" y="1529557"/>
                      </a:cubicBezTo>
                      <a:lnTo>
                        <a:pt x="0" y="1270000"/>
                      </a:lnTo>
                      <a:cubicBezTo>
                        <a:pt x="34131" y="1231900"/>
                        <a:pt x="23019" y="1212850"/>
                        <a:pt x="95250" y="1212850"/>
                      </a:cubicBezTo>
                      <a:lnTo>
                        <a:pt x="857250" y="1212850"/>
                      </a:lnTo>
                      <a:cubicBezTo>
                        <a:pt x="986631" y="1004888"/>
                        <a:pt x="1061244" y="958850"/>
                        <a:pt x="1209675" y="889000"/>
                      </a:cubicBezTo>
                    </a:path>
                  </a:pathLst>
                </a:cu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5">
                  <a:extLst>
                    <a:ext uri="{FF2B5EF4-FFF2-40B4-BE49-F238E27FC236}">
                      <a16:creationId xmlns:a16="http://schemas.microsoft.com/office/drawing/2014/main" id="{497C15C7-27D8-4AF5-1850-4708AD3DCEF9}"/>
                    </a:ext>
                  </a:extLst>
                </p:cNvPr>
                <p:cNvSpPr/>
                <p:nvPr/>
              </p:nvSpPr>
              <p:spPr>
                <a:xfrm flipH="1">
                  <a:off x="1208159" y="1797038"/>
                  <a:ext cx="245247" cy="20053"/>
                </a:xfrm>
                <a:custGeom>
                  <a:avLst/>
                  <a:gdLst>
                    <a:gd name="connsiteX0" fmla="*/ 3630839 w 3653141"/>
                    <a:gd name="connsiteY0" fmla="*/ 572004 h 641943"/>
                    <a:gd name="connsiteX1" fmla="*/ 239939 w 3653141"/>
                    <a:gd name="connsiteY1" fmla="*/ 584704 h 641943"/>
                    <a:gd name="connsiteX2" fmla="*/ 430439 w 3653141"/>
                    <a:gd name="connsiteY2" fmla="*/ 102104 h 641943"/>
                    <a:gd name="connsiteX3" fmla="*/ 1649639 w 3653141"/>
                    <a:gd name="connsiteY3" fmla="*/ 38604 h 641943"/>
                    <a:gd name="connsiteX4" fmla="*/ 3630839 w 3653141"/>
                    <a:gd name="connsiteY4" fmla="*/ 572004 h 64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41" h="641943">
                      <a:moveTo>
                        <a:pt x="3630839" y="572004"/>
                      </a:moveTo>
                      <a:cubicBezTo>
                        <a:pt x="3395889" y="663021"/>
                        <a:pt x="773339" y="663021"/>
                        <a:pt x="239939" y="584704"/>
                      </a:cubicBezTo>
                      <a:cubicBezTo>
                        <a:pt x="-293461" y="506387"/>
                        <a:pt x="195489" y="193121"/>
                        <a:pt x="430439" y="102104"/>
                      </a:cubicBezTo>
                      <a:cubicBezTo>
                        <a:pt x="665389" y="11087"/>
                        <a:pt x="1120472" y="-39713"/>
                        <a:pt x="1649639" y="38604"/>
                      </a:cubicBezTo>
                      <a:cubicBezTo>
                        <a:pt x="2178806" y="116921"/>
                        <a:pt x="3865789" y="480987"/>
                        <a:pt x="3630839" y="572004"/>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5">
                  <a:extLst>
                    <a:ext uri="{FF2B5EF4-FFF2-40B4-BE49-F238E27FC236}">
                      <a16:creationId xmlns:a16="http://schemas.microsoft.com/office/drawing/2014/main" id="{0BE0B530-37B7-18F6-AF59-0A19C003AF8C}"/>
                    </a:ext>
                  </a:extLst>
                </p:cNvPr>
                <p:cNvSpPr/>
                <p:nvPr/>
              </p:nvSpPr>
              <p:spPr>
                <a:xfrm rot="21356756" flipH="1">
                  <a:off x="2077497" y="1594630"/>
                  <a:ext cx="547838" cy="71574"/>
                </a:xfrm>
                <a:custGeom>
                  <a:avLst/>
                  <a:gdLst>
                    <a:gd name="connsiteX0" fmla="*/ 3630839 w 3653141"/>
                    <a:gd name="connsiteY0" fmla="*/ 572004 h 641943"/>
                    <a:gd name="connsiteX1" fmla="*/ 239939 w 3653141"/>
                    <a:gd name="connsiteY1" fmla="*/ 584704 h 641943"/>
                    <a:gd name="connsiteX2" fmla="*/ 430439 w 3653141"/>
                    <a:gd name="connsiteY2" fmla="*/ 102104 h 641943"/>
                    <a:gd name="connsiteX3" fmla="*/ 1649639 w 3653141"/>
                    <a:gd name="connsiteY3" fmla="*/ 38604 h 641943"/>
                    <a:gd name="connsiteX4" fmla="*/ 3630839 w 3653141"/>
                    <a:gd name="connsiteY4" fmla="*/ 572004 h 64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41" h="641943">
                      <a:moveTo>
                        <a:pt x="3630839" y="572004"/>
                      </a:moveTo>
                      <a:cubicBezTo>
                        <a:pt x="3395889" y="663021"/>
                        <a:pt x="773339" y="663021"/>
                        <a:pt x="239939" y="584704"/>
                      </a:cubicBezTo>
                      <a:cubicBezTo>
                        <a:pt x="-293461" y="506387"/>
                        <a:pt x="195489" y="193121"/>
                        <a:pt x="430439" y="102104"/>
                      </a:cubicBezTo>
                      <a:cubicBezTo>
                        <a:pt x="665389" y="11087"/>
                        <a:pt x="1120472" y="-39713"/>
                        <a:pt x="1649639" y="38604"/>
                      </a:cubicBezTo>
                      <a:cubicBezTo>
                        <a:pt x="2178806" y="116921"/>
                        <a:pt x="3865789" y="480987"/>
                        <a:pt x="3630839" y="572004"/>
                      </a:cubicBezTo>
                      <a:close/>
                    </a:path>
                  </a:pathLst>
                </a:cu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52A5AB5F-4BF3-6610-4A36-C47DD9EECD1A}"/>
                  </a:ext>
                </a:extLst>
              </p:cNvPr>
              <p:cNvCxnSpPr>
                <a:cxnSpLocks/>
              </p:cNvCxnSpPr>
              <p:nvPr/>
            </p:nvCxnSpPr>
            <p:spPr>
              <a:xfrm flipV="1">
                <a:off x="800100" y="1790433"/>
                <a:ext cx="2774950" cy="25052"/>
              </a:xfrm>
              <a:prstGeom prst="line">
                <a:avLst/>
              </a:pr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1F8739-D301-E714-E42E-083728947FF2}"/>
                  </a:ext>
                </a:extLst>
              </p:cNvPr>
              <p:cNvCxnSpPr>
                <a:cxnSpLocks/>
              </p:cNvCxnSpPr>
              <p:nvPr/>
            </p:nvCxnSpPr>
            <p:spPr>
              <a:xfrm flipV="1">
                <a:off x="800100" y="1521199"/>
                <a:ext cx="2774950" cy="292471"/>
              </a:xfrm>
              <a:prstGeom prst="line">
                <a:avLst/>
              </a:pr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C35B545F-2BED-3364-81A0-717D3B693DF1}"/>
                </a:ext>
              </a:extLst>
            </p:cNvPr>
            <p:cNvSpPr txBox="1"/>
            <p:nvPr/>
          </p:nvSpPr>
          <p:spPr>
            <a:xfrm>
              <a:off x="283699" y="1224371"/>
              <a:ext cx="605631" cy="311496"/>
            </a:xfrm>
            <a:prstGeom prst="rect">
              <a:avLst/>
            </a:prstGeom>
            <a:noFill/>
          </p:spPr>
          <p:txBody>
            <a:bodyPr wrap="square">
              <a:spAutoFit/>
            </a:bodyPr>
            <a:lstStyle/>
            <a:p>
              <a:pPr marL="0" marR="0" algn="ctr">
                <a:lnSpc>
                  <a:spcPct val="107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0F4572A5-9A6F-D261-87CD-B7A9988E9CA4}"/>
                </a:ext>
              </a:extLst>
            </p:cNvPr>
            <p:cNvCxnSpPr>
              <a:cxnSpLocks/>
            </p:cNvCxnSpPr>
            <p:nvPr/>
          </p:nvCxnSpPr>
          <p:spPr>
            <a:xfrm>
              <a:off x="736901" y="1462586"/>
              <a:ext cx="447724" cy="1944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11472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D3F27F-1F09-52F3-CFB9-9495E18C1D7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3" name="TextBox 2">
            <a:extLst>
              <a:ext uri="{FF2B5EF4-FFF2-40B4-BE49-F238E27FC236}">
                <a16:creationId xmlns:a16="http://schemas.microsoft.com/office/drawing/2014/main" id="{9FFDEFC5-7977-F580-43FF-3E747438ACE4}"/>
              </a:ext>
            </a:extLst>
          </p:cNvPr>
          <p:cNvSpPr txBox="1"/>
          <p:nvPr/>
        </p:nvSpPr>
        <p:spPr>
          <a:xfrm>
            <a:off x="397669" y="1100596"/>
            <a:ext cx="3776662"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Wingtip vortices are generated only when the wing is ___________.</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FAA-H-8083-25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8B90CAD6-0E57-0689-CAEA-1436E2AA6FC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7A1BEDB-0E50-3DD8-3246-BE72E7FDBC1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85216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823673-53DB-8D0B-8754-2335E73C4439}"/>
              </a:ext>
            </a:extLst>
          </p:cNvPr>
          <p:cNvSpPr txBox="1"/>
          <p:nvPr/>
        </p:nvSpPr>
        <p:spPr>
          <a:xfrm>
            <a:off x="397669" y="1215852"/>
            <a:ext cx="3776662" cy="311496"/>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Generating lift.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ED35BD5-1691-95CC-11B1-079BA5FB5BF1}"/>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688645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D3F27F-1F09-52F3-CFB9-9495E18C1D7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3" name="TextBox 2">
            <a:extLst>
              <a:ext uri="{FF2B5EF4-FFF2-40B4-BE49-F238E27FC236}">
                <a16:creationId xmlns:a16="http://schemas.microsoft.com/office/drawing/2014/main" id="{9FFDEFC5-7977-F580-43FF-3E747438ACE4}"/>
              </a:ext>
            </a:extLst>
          </p:cNvPr>
          <p:cNvSpPr txBox="1"/>
          <p:nvPr/>
        </p:nvSpPr>
        <p:spPr>
          <a:xfrm>
            <a:off x="397669" y="1100596"/>
            <a:ext cx="3776662"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many Gs you must pull in order to fly a level turn with 45 degrees of bank?</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F62E7AA3-F7A7-ED8F-36FB-2E3407DE49E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59C4BA8-C601-BDCF-EBA8-317C3A8E408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969651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9E290A-6B76-9CB7-AB00-29D9188B1E49}"/>
              </a:ext>
            </a:extLst>
          </p:cNvPr>
          <p:cNvSpPr txBox="1"/>
          <p:nvPr/>
        </p:nvSpPr>
        <p:spPr>
          <a:xfrm>
            <a:off x="397669" y="823059"/>
            <a:ext cx="1131094" cy="707886"/>
          </a:xfrm>
          <a:prstGeom prst="rect">
            <a:avLst/>
          </a:prstGeom>
          <a:noFill/>
        </p:spPr>
        <p:txBody>
          <a:bodyPr wrap="square">
            <a:spAutoFit/>
          </a:bodyPr>
          <a:lstStyle/>
          <a:p>
            <a:r>
              <a:rPr lang="en-US" sz="800" dirty="0">
                <a:latin typeface="Times New Roman" panose="02020603050405020304" pitchFamily="18" charset="0"/>
                <a:cs typeface="Times New Roman" panose="02020603050405020304" pitchFamily="18" charset="0"/>
              </a:rPr>
              <a:t>Cos </a:t>
            </a:r>
            <a:r>
              <a:rPr lang="el-GR" sz="800" dirty="0">
                <a:latin typeface="Times New Roman" panose="02020603050405020304" pitchFamily="18" charset="0"/>
                <a:cs typeface="Times New Roman" panose="02020603050405020304" pitchFamily="18" charset="0"/>
                <a:sym typeface="Symbol" panose="05050102010706020507" pitchFamily="18" charset="2"/>
              </a:rPr>
              <a:t></a:t>
            </a:r>
            <a:r>
              <a:rPr lang="en-US" sz="800" dirty="0">
                <a:latin typeface="Times New Roman" panose="02020603050405020304" pitchFamily="18" charset="0"/>
                <a:cs typeface="Times New Roman" panose="02020603050405020304" pitchFamily="18" charset="0"/>
                <a:sym typeface="Symbol" panose="05050102010706020507" pitchFamily="18" charset="2"/>
              </a:rPr>
              <a:t> = </a:t>
            </a:r>
            <a:r>
              <a:rPr lang="en-US" sz="800" dirty="0">
                <a:latin typeface="Times New Roman" panose="02020603050405020304" pitchFamily="18" charset="0"/>
                <a:cs typeface="Times New Roman" panose="02020603050405020304" pitchFamily="18" charset="0"/>
              </a:rPr>
              <a:t>Adj / Hyp</a:t>
            </a:r>
          </a:p>
          <a:p>
            <a:r>
              <a:rPr lang="en-US" sz="800" dirty="0">
                <a:latin typeface="Times New Roman" panose="02020603050405020304" pitchFamily="18" charset="0"/>
                <a:cs typeface="Times New Roman" panose="02020603050405020304" pitchFamily="18" charset="0"/>
              </a:rPr>
              <a:t>Cos </a:t>
            </a:r>
            <a:r>
              <a:rPr lang="en-US" sz="800" dirty="0">
                <a:latin typeface="Times New Roman" panose="02020603050405020304" pitchFamily="18" charset="0"/>
                <a:cs typeface="Times New Roman" panose="02020603050405020304" pitchFamily="18" charset="0"/>
                <a:sym typeface="Symbol" panose="05050102010706020507" pitchFamily="18" charset="2"/>
              </a:rPr>
              <a:t>45 = 1</a:t>
            </a:r>
            <a:r>
              <a:rPr lang="en-US" sz="800" dirty="0">
                <a:latin typeface="Times New Roman" panose="02020603050405020304" pitchFamily="18" charset="0"/>
                <a:cs typeface="Times New Roman" panose="02020603050405020304" pitchFamily="18" charset="0"/>
              </a:rPr>
              <a:t> / X</a:t>
            </a:r>
          </a:p>
          <a:p>
            <a:r>
              <a:rPr lang="en-US" sz="800" dirty="0">
                <a:latin typeface="Times New Roman" panose="02020603050405020304" pitchFamily="18" charset="0"/>
                <a:cs typeface="Times New Roman" panose="02020603050405020304" pitchFamily="18" charset="0"/>
              </a:rPr>
              <a:t>X = 1/Cos 45</a:t>
            </a:r>
          </a:p>
          <a:p>
            <a:endParaRPr lang="en-US" sz="800" dirty="0">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X = 1.41</a:t>
            </a:r>
          </a:p>
        </p:txBody>
      </p:sp>
      <p:sp>
        <p:nvSpPr>
          <p:cNvPr id="5" name="TextBox 4">
            <a:extLst>
              <a:ext uri="{FF2B5EF4-FFF2-40B4-BE49-F238E27FC236}">
                <a16:creationId xmlns:a16="http://schemas.microsoft.com/office/drawing/2014/main" id="{04823673-53DB-8D0B-8754-2335E73C4439}"/>
              </a:ext>
            </a:extLst>
          </p:cNvPr>
          <p:cNvSpPr txBox="1"/>
          <p:nvPr/>
        </p:nvSpPr>
        <p:spPr>
          <a:xfrm>
            <a:off x="397669" y="284080"/>
            <a:ext cx="3776662" cy="542008"/>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Trigonometry tells us you must pull 1.4 Gs to fly a level, 45 degree banked turn.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ED35BD5-1691-95CC-11B1-079BA5FB5BF1}"/>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grpSp>
        <p:nvGrpSpPr>
          <p:cNvPr id="15" name="Group 14">
            <a:extLst>
              <a:ext uri="{FF2B5EF4-FFF2-40B4-BE49-F238E27FC236}">
                <a16:creationId xmlns:a16="http://schemas.microsoft.com/office/drawing/2014/main" id="{0465E947-23CC-29A6-C8E3-23DE47D94945}"/>
              </a:ext>
            </a:extLst>
          </p:cNvPr>
          <p:cNvGrpSpPr/>
          <p:nvPr/>
        </p:nvGrpSpPr>
        <p:grpSpPr>
          <a:xfrm rot="18900000">
            <a:off x="2402026" y="658419"/>
            <a:ext cx="1361493" cy="1301899"/>
            <a:chOff x="2457291" y="671895"/>
            <a:chExt cx="1361493" cy="1301899"/>
          </a:xfrm>
        </p:grpSpPr>
        <p:grpSp>
          <p:nvGrpSpPr>
            <p:cNvPr id="4" name="Group 3">
              <a:extLst>
                <a:ext uri="{FF2B5EF4-FFF2-40B4-BE49-F238E27FC236}">
                  <a16:creationId xmlns:a16="http://schemas.microsoft.com/office/drawing/2014/main" id="{E461C31F-F705-A269-0B7C-0BEA0F7BCB3D}"/>
                </a:ext>
              </a:extLst>
            </p:cNvPr>
            <p:cNvGrpSpPr/>
            <p:nvPr/>
          </p:nvGrpSpPr>
          <p:grpSpPr>
            <a:xfrm>
              <a:off x="2457291" y="1608947"/>
              <a:ext cx="1361493" cy="364847"/>
              <a:chOff x="6127541" y="2018420"/>
              <a:chExt cx="1807851" cy="484460"/>
            </a:xfrm>
          </p:grpSpPr>
          <p:sp>
            <p:nvSpPr>
              <p:cNvPr id="6" name="Freeform: Shape 5">
                <a:extLst>
                  <a:ext uri="{FF2B5EF4-FFF2-40B4-BE49-F238E27FC236}">
                    <a16:creationId xmlns:a16="http://schemas.microsoft.com/office/drawing/2014/main" id="{406B23C0-E589-319D-634B-F43CE788245A}"/>
                  </a:ext>
                </a:extLst>
              </p:cNvPr>
              <p:cNvSpPr/>
              <p:nvPr/>
            </p:nvSpPr>
            <p:spPr>
              <a:xfrm rot="16200000">
                <a:off x="6863317" y="2179917"/>
                <a:ext cx="40654" cy="299361"/>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CE72A373-7158-9FCD-AFBD-F6F1D51AF4EA}"/>
                  </a:ext>
                </a:extLst>
              </p:cNvPr>
              <p:cNvSpPr/>
              <p:nvPr/>
            </p:nvSpPr>
            <p:spPr>
              <a:xfrm rot="5400000">
                <a:off x="7155286" y="2181484"/>
                <a:ext cx="40654" cy="299361"/>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C953D0BA-48F3-554D-4B7C-937AC64C7BE3}"/>
                  </a:ext>
                </a:extLst>
              </p:cNvPr>
              <p:cNvSpPr/>
              <p:nvPr/>
            </p:nvSpPr>
            <p:spPr>
              <a:xfrm>
                <a:off x="7009579" y="2018420"/>
                <a:ext cx="40654" cy="299361"/>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7008789-337D-E865-982A-61378842CDC0}"/>
                  </a:ext>
                </a:extLst>
              </p:cNvPr>
              <p:cNvSpPr/>
              <p:nvPr/>
            </p:nvSpPr>
            <p:spPr>
              <a:xfrm rot="282219">
                <a:off x="7137096" y="2372407"/>
                <a:ext cx="798296" cy="99787"/>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38D432FA-69B9-645C-AD87-6AD4406FBFFB}"/>
                  </a:ext>
                </a:extLst>
              </p:cNvPr>
              <p:cNvSpPr/>
              <p:nvPr/>
            </p:nvSpPr>
            <p:spPr>
              <a:xfrm rot="21341606" flipH="1">
                <a:off x="6127541" y="2373695"/>
                <a:ext cx="798296" cy="99787"/>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5BF40174-04C7-70DA-3E09-BA136AED4145}"/>
                  </a:ext>
                </a:extLst>
              </p:cNvPr>
              <p:cNvSpPr/>
              <p:nvPr/>
            </p:nvSpPr>
            <p:spPr>
              <a:xfrm>
                <a:off x="6920253" y="2151551"/>
                <a:ext cx="220548" cy="332461"/>
              </a:xfrm>
              <a:prstGeom prst="ellipse">
                <a:avLst/>
              </a:prstGeom>
              <a:solidFill>
                <a:schemeClr val="bg2">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21F64512-9B34-C9EF-0FF7-66853441109E}"/>
                  </a:ext>
                </a:extLst>
              </p:cNvPr>
              <p:cNvSpPr/>
              <p:nvPr/>
            </p:nvSpPr>
            <p:spPr>
              <a:xfrm>
                <a:off x="6915972" y="2258032"/>
                <a:ext cx="230989" cy="244848"/>
              </a:xfrm>
              <a:prstGeom prst="round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22F41099-4716-B292-73EA-C6F3FBCFAC6A}"/>
                  </a:ext>
                </a:extLst>
              </p:cNvPr>
              <p:cNvSpPr/>
              <p:nvPr/>
            </p:nvSpPr>
            <p:spPr>
              <a:xfrm>
                <a:off x="6991716" y="2322513"/>
                <a:ext cx="73916" cy="73916"/>
              </a:xfrm>
              <a:prstGeom prst="ellipse">
                <a:avLst/>
              </a:prstGeom>
              <a:solidFill>
                <a:schemeClr val="bg1">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Arrow: Down 13">
              <a:extLst>
                <a:ext uri="{FF2B5EF4-FFF2-40B4-BE49-F238E27FC236}">
                  <a16:creationId xmlns:a16="http://schemas.microsoft.com/office/drawing/2014/main" id="{32AAB9C4-D53B-471A-A907-073622A21313}"/>
                </a:ext>
              </a:extLst>
            </p:cNvPr>
            <p:cNvSpPr/>
            <p:nvPr/>
          </p:nvSpPr>
          <p:spPr>
            <a:xfrm rot="10800000">
              <a:off x="3072318" y="671895"/>
              <a:ext cx="123103" cy="894303"/>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Arrow: Down 15">
            <a:extLst>
              <a:ext uri="{FF2B5EF4-FFF2-40B4-BE49-F238E27FC236}">
                <a16:creationId xmlns:a16="http://schemas.microsoft.com/office/drawing/2014/main" id="{90FC66AD-CEC4-63A8-C3F5-F8DBB6F84924}"/>
              </a:ext>
            </a:extLst>
          </p:cNvPr>
          <p:cNvSpPr/>
          <p:nvPr/>
        </p:nvSpPr>
        <p:spPr>
          <a:xfrm rot="10800000">
            <a:off x="3396993" y="827342"/>
            <a:ext cx="123103" cy="719886"/>
          </a:xfrm>
          <a:prstGeom prst="down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Down 16">
            <a:extLst>
              <a:ext uri="{FF2B5EF4-FFF2-40B4-BE49-F238E27FC236}">
                <a16:creationId xmlns:a16="http://schemas.microsoft.com/office/drawing/2014/main" id="{271E01A8-7566-F665-1078-9BA79D447EA2}"/>
              </a:ext>
            </a:extLst>
          </p:cNvPr>
          <p:cNvSpPr/>
          <p:nvPr/>
        </p:nvSpPr>
        <p:spPr>
          <a:xfrm>
            <a:off x="3401050" y="1878957"/>
            <a:ext cx="123103" cy="719886"/>
          </a:xfrm>
          <a:prstGeom prst="down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68CD2C6A-FAB1-8379-76EC-74E2FCF36890}"/>
              </a:ext>
            </a:extLst>
          </p:cNvPr>
          <p:cNvSpPr txBox="1"/>
          <p:nvPr/>
        </p:nvSpPr>
        <p:spPr>
          <a:xfrm>
            <a:off x="2504190" y="1109990"/>
            <a:ext cx="431528" cy="261610"/>
          </a:xfrm>
          <a:prstGeom prst="rect">
            <a:avLst/>
          </a:prstGeom>
          <a:noFill/>
        </p:spPr>
        <p:txBody>
          <a:bodyPr wrap="none" rtlCol="0">
            <a:spAutoFit/>
          </a:bodyPr>
          <a:lstStyle/>
          <a:p>
            <a:r>
              <a:rPr lang="en-US" sz="1100" dirty="0">
                <a:latin typeface="Times New Roman" panose="02020603050405020304" pitchFamily="18" charset="0"/>
                <a:cs typeface="Times New Roman" panose="02020603050405020304" pitchFamily="18" charset="0"/>
              </a:rPr>
              <a:t>1.4g</a:t>
            </a:r>
          </a:p>
        </p:txBody>
      </p:sp>
      <p:sp>
        <p:nvSpPr>
          <p:cNvPr id="19" name="TextBox 18">
            <a:extLst>
              <a:ext uri="{FF2B5EF4-FFF2-40B4-BE49-F238E27FC236}">
                <a16:creationId xmlns:a16="http://schemas.microsoft.com/office/drawing/2014/main" id="{8F248EA8-24B6-D0CC-9AAF-ECA623BFD8DA}"/>
              </a:ext>
            </a:extLst>
          </p:cNvPr>
          <p:cNvSpPr txBox="1"/>
          <p:nvPr/>
        </p:nvSpPr>
        <p:spPr>
          <a:xfrm>
            <a:off x="3441571" y="1145334"/>
            <a:ext cx="431528" cy="261610"/>
          </a:xfrm>
          <a:prstGeom prst="rect">
            <a:avLst/>
          </a:prstGeom>
          <a:noFill/>
        </p:spPr>
        <p:txBody>
          <a:bodyPr wrap="none" rtlCol="0">
            <a:spAutoFit/>
          </a:bodyPr>
          <a:lstStyle/>
          <a:p>
            <a:r>
              <a:rPr lang="en-US" sz="1100" dirty="0">
                <a:latin typeface="Times New Roman" panose="02020603050405020304" pitchFamily="18" charset="0"/>
                <a:cs typeface="Times New Roman" panose="02020603050405020304" pitchFamily="18" charset="0"/>
              </a:rPr>
              <a:t>1.0g</a:t>
            </a:r>
          </a:p>
        </p:txBody>
      </p:sp>
      <p:sp>
        <p:nvSpPr>
          <p:cNvPr id="20" name="TextBox 19">
            <a:extLst>
              <a:ext uri="{FF2B5EF4-FFF2-40B4-BE49-F238E27FC236}">
                <a16:creationId xmlns:a16="http://schemas.microsoft.com/office/drawing/2014/main" id="{F0E9D440-4524-596A-7195-EDAA3C32A74E}"/>
              </a:ext>
            </a:extLst>
          </p:cNvPr>
          <p:cNvSpPr txBox="1"/>
          <p:nvPr/>
        </p:nvSpPr>
        <p:spPr>
          <a:xfrm>
            <a:off x="3437849" y="2010524"/>
            <a:ext cx="431528" cy="261610"/>
          </a:xfrm>
          <a:prstGeom prst="rect">
            <a:avLst/>
          </a:prstGeom>
          <a:noFill/>
        </p:spPr>
        <p:txBody>
          <a:bodyPr wrap="none" rtlCol="0">
            <a:spAutoFit/>
          </a:bodyPr>
          <a:lstStyle/>
          <a:p>
            <a:r>
              <a:rPr lang="en-US" sz="1100" dirty="0">
                <a:latin typeface="Times New Roman" panose="02020603050405020304" pitchFamily="18" charset="0"/>
                <a:cs typeface="Times New Roman" panose="02020603050405020304" pitchFamily="18" charset="0"/>
              </a:rPr>
              <a:t>1.0g</a:t>
            </a:r>
          </a:p>
        </p:txBody>
      </p:sp>
      <p:sp>
        <p:nvSpPr>
          <p:cNvPr id="22" name="Arrow: Down 21">
            <a:extLst>
              <a:ext uri="{FF2B5EF4-FFF2-40B4-BE49-F238E27FC236}">
                <a16:creationId xmlns:a16="http://schemas.microsoft.com/office/drawing/2014/main" id="{232A1635-0533-861C-D2DD-E2464AFA2956}"/>
              </a:ext>
            </a:extLst>
          </p:cNvPr>
          <p:cNvSpPr/>
          <p:nvPr/>
        </p:nvSpPr>
        <p:spPr>
          <a:xfrm rot="5400000">
            <a:off x="2909739" y="1360639"/>
            <a:ext cx="123103" cy="719415"/>
          </a:xfrm>
          <a:prstGeom prst="downArrow">
            <a:avLst/>
          </a:prstGeom>
          <a:pattFill prst="dkVert">
            <a:fgClr>
              <a:schemeClr val="tx1"/>
            </a:fgClr>
            <a:bgClr>
              <a:schemeClr val="bg1"/>
            </a:bgClr>
          </a:patt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06C07B7A-5127-91DB-CCB4-FEC5CFF65E82}"/>
              </a:ext>
            </a:extLst>
          </p:cNvPr>
          <p:cNvSpPr txBox="1"/>
          <p:nvPr/>
        </p:nvSpPr>
        <p:spPr>
          <a:xfrm>
            <a:off x="397669" y="1624725"/>
            <a:ext cx="1810300" cy="584775"/>
          </a:xfrm>
          <a:prstGeom prst="rect">
            <a:avLst/>
          </a:prstGeom>
          <a:noFill/>
        </p:spPr>
        <p:txBody>
          <a:bodyPr wrap="square">
            <a:spAutoFit/>
          </a:bodyPr>
          <a:lstStyle/>
          <a:p>
            <a:pPr algn="just"/>
            <a:r>
              <a:rPr lang="en-US" sz="800" dirty="0">
                <a:latin typeface="Times New Roman" panose="02020603050405020304" pitchFamily="18" charset="0"/>
                <a:cs typeface="Times New Roman" panose="02020603050405020304" pitchFamily="18" charset="0"/>
              </a:rPr>
              <a:t>This tells us that, while performing steep turns, we should feel 41% heavier in the seat. You can incorporate this into your steep turn “crosscheck.”</a:t>
            </a:r>
          </a:p>
        </p:txBody>
      </p:sp>
    </p:spTree>
    <p:extLst>
      <p:ext uri="{BB962C8B-B14F-4D97-AF65-F5344CB8AC3E}">
        <p14:creationId xmlns:p14="http://schemas.microsoft.com/office/powerpoint/2010/main" val="4076983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3C7EBB-468B-C43E-0B1C-4FA234F4E357}"/>
              </a:ext>
            </a:extLst>
          </p:cNvPr>
          <p:cNvSpPr txBox="1"/>
          <p:nvPr/>
        </p:nvSpPr>
        <p:spPr>
          <a:xfrm>
            <a:off x="486148" y="1217711"/>
            <a:ext cx="3599704"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What two things are needed for a spin?</a:t>
            </a:r>
          </a:p>
        </p:txBody>
      </p:sp>
      <p:sp>
        <p:nvSpPr>
          <p:cNvPr id="4" name="TextBox 3">
            <a:extLst>
              <a:ext uri="{FF2B5EF4-FFF2-40B4-BE49-F238E27FC236}">
                <a16:creationId xmlns:a16="http://schemas.microsoft.com/office/drawing/2014/main" id="{121B1FCB-71D4-3651-C93D-B92741DC5A91}"/>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179E189E-B5A0-8A61-FD42-DAD9FD6A73E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EA0F33D-5832-54C0-785A-DEF73A4EA26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14985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56CCD4-C7C0-C107-1504-DA63BB68B25B}"/>
              </a:ext>
            </a:extLst>
          </p:cNvPr>
          <p:cNvSpPr txBox="1"/>
          <p:nvPr/>
        </p:nvSpPr>
        <p:spPr>
          <a:xfrm>
            <a:off x="546972" y="238186"/>
            <a:ext cx="3524518" cy="646331"/>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Stall and yaw.</a:t>
            </a:r>
          </a:p>
          <a:p>
            <a:pPr algn="ctr"/>
            <a:endParaRPr lang="en-US"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The yaw is often referred to as “adverse yaw.”</a:t>
            </a:r>
          </a:p>
        </p:txBody>
      </p:sp>
      <p:sp>
        <p:nvSpPr>
          <p:cNvPr id="4" name="TextBox 3">
            <a:extLst>
              <a:ext uri="{FF2B5EF4-FFF2-40B4-BE49-F238E27FC236}">
                <a16:creationId xmlns:a16="http://schemas.microsoft.com/office/drawing/2014/main" id="{CD0BA0C4-F175-807C-60A3-262CA2A68BE8}"/>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grpSp>
        <p:nvGrpSpPr>
          <p:cNvPr id="9" name="Group 8">
            <a:extLst>
              <a:ext uri="{FF2B5EF4-FFF2-40B4-BE49-F238E27FC236}">
                <a16:creationId xmlns:a16="http://schemas.microsoft.com/office/drawing/2014/main" id="{2A1B5A27-8B27-2465-08C9-A19CF0FAB1E7}"/>
              </a:ext>
            </a:extLst>
          </p:cNvPr>
          <p:cNvGrpSpPr/>
          <p:nvPr/>
        </p:nvGrpSpPr>
        <p:grpSpPr>
          <a:xfrm>
            <a:off x="736263" y="1139384"/>
            <a:ext cx="3099473" cy="1208266"/>
            <a:chOff x="430040" y="1144408"/>
            <a:chExt cx="3099473" cy="1208266"/>
          </a:xfrm>
        </p:grpSpPr>
        <p:pic>
          <p:nvPicPr>
            <p:cNvPr id="5" name="Picture 4">
              <a:extLst>
                <a:ext uri="{FF2B5EF4-FFF2-40B4-BE49-F238E27FC236}">
                  <a16:creationId xmlns:a16="http://schemas.microsoft.com/office/drawing/2014/main" id="{8F6C98CC-5A96-4C00-0C27-52E4C3F2CA49}"/>
                </a:ext>
              </a:extLst>
            </p:cNvPr>
            <p:cNvPicPr>
              <a:picLocks noChangeAspect="1"/>
            </p:cNvPicPr>
            <p:nvPr/>
          </p:nvPicPr>
          <p:blipFill>
            <a:blip r:embed="rId2"/>
            <a:stretch>
              <a:fillRect/>
            </a:stretch>
          </p:blipFill>
          <p:spPr>
            <a:xfrm>
              <a:off x="430040" y="1144409"/>
              <a:ext cx="1202400" cy="1208265"/>
            </a:xfrm>
            <a:prstGeom prst="rect">
              <a:avLst/>
            </a:prstGeom>
          </p:spPr>
        </p:pic>
        <p:pic>
          <p:nvPicPr>
            <p:cNvPr id="8" name="Picture 7">
              <a:extLst>
                <a:ext uri="{FF2B5EF4-FFF2-40B4-BE49-F238E27FC236}">
                  <a16:creationId xmlns:a16="http://schemas.microsoft.com/office/drawing/2014/main" id="{37593A85-5D08-61E4-5DEE-1C09DB6C8166}"/>
                </a:ext>
              </a:extLst>
            </p:cNvPr>
            <p:cNvPicPr>
              <a:picLocks noChangeAspect="1"/>
            </p:cNvPicPr>
            <p:nvPr/>
          </p:nvPicPr>
          <p:blipFill>
            <a:blip r:embed="rId3"/>
            <a:stretch>
              <a:fillRect/>
            </a:stretch>
          </p:blipFill>
          <p:spPr>
            <a:xfrm>
              <a:off x="2349610" y="1144408"/>
              <a:ext cx="1179903" cy="1208266"/>
            </a:xfrm>
            <a:prstGeom prst="rect">
              <a:avLst/>
            </a:prstGeom>
          </p:spPr>
        </p:pic>
      </p:grpSp>
      <p:sp>
        <p:nvSpPr>
          <p:cNvPr id="10" name="TextBox 9">
            <a:extLst>
              <a:ext uri="{FF2B5EF4-FFF2-40B4-BE49-F238E27FC236}">
                <a16:creationId xmlns:a16="http://schemas.microsoft.com/office/drawing/2014/main" id="{C1634E2B-B8D3-4EAD-E596-EA29E0BDD7CC}"/>
              </a:ext>
            </a:extLst>
          </p:cNvPr>
          <p:cNvSpPr txBox="1"/>
          <p:nvPr/>
        </p:nvSpPr>
        <p:spPr>
          <a:xfrm>
            <a:off x="2676046" y="912584"/>
            <a:ext cx="1139476" cy="246221"/>
          </a:xfrm>
          <a:prstGeom prst="rect">
            <a:avLst/>
          </a:prstGeom>
          <a:noFill/>
        </p:spPr>
        <p:txBody>
          <a:bodyPr wrap="square" rtlCol="0">
            <a:spAutoFit/>
          </a:bodyPr>
          <a:lstStyle/>
          <a:p>
            <a:pPr algn="ctr"/>
            <a:r>
              <a:rPr lang="en-US" sz="1000" dirty="0">
                <a:latin typeface="Times New Roman" panose="02020603050405020304" pitchFamily="18" charset="0"/>
                <a:cs typeface="Times New Roman" panose="02020603050405020304" pitchFamily="18" charset="0"/>
              </a:rPr>
              <a:t>Spin Video</a:t>
            </a:r>
          </a:p>
        </p:txBody>
      </p:sp>
    </p:spTree>
    <p:extLst>
      <p:ext uri="{BB962C8B-B14F-4D97-AF65-F5344CB8AC3E}">
        <p14:creationId xmlns:p14="http://schemas.microsoft.com/office/powerpoint/2010/main" val="192033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75D767-3971-C07C-43A5-05422E3F9D58}"/>
              </a:ext>
            </a:extLst>
          </p:cNvPr>
          <p:cNvSpPr txBox="1"/>
          <p:nvPr/>
        </p:nvSpPr>
        <p:spPr>
          <a:xfrm>
            <a:off x="542097" y="872136"/>
            <a:ext cx="3487806" cy="99892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factors cause a single engine, propeller driven airplane, to turn left?</a:t>
            </a:r>
          </a:p>
          <a:p>
            <a:pPr marL="0" marR="0" algn="just">
              <a:lnSpc>
                <a:spcPct val="107000"/>
              </a:lnSpc>
              <a:spcBef>
                <a:spcPts val="0"/>
              </a:spcBef>
              <a:spcAft>
                <a:spcPts val="0"/>
              </a:spcAft>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07000"/>
              </a:lnSpc>
            </a:pPr>
            <a:r>
              <a:rPr lang="en-US" sz="1400" dirty="0">
                <a:latin typeface="Times New Roman" panose="02020603050405020304" pitchFamily="18" charset="0"/>
                <a:cs typeface="Times New Roman" panose="02020603050405020304" pitchFamily="18" charset="0"/>
              </a:rPr>
              <a:t>FAA-H-8083-25B, Ch 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2977B94-4E67-BB88-4CE3-AD6B62CDC8B5}"/>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FA86D6B0-F2A5-B150-FA0B-66B93F3CCFF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B050219-77B6-9AC6-1FE4-3425A720C08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650546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8EBDF4-B496-21EE-2339-A3217E418D48}"/>
              </a:ext>
            </a:extLst>
          </p:cNvPr>
          <p:cNvSpPr txBox="1"/>
          <p:nvPr/>
        </p:nvSpPr>
        <p:spPr>
          <a:xfrm>
            <a:off x="99901" y="763098"/>
            <a:ext cx="2487550" cy="873124"/>
          </a:xfrm>
          <a:prstGeom prst="rect">
            <a:avLst/>
          </a:prstGeom>
          <a:noFill/>
        </p:spPr>
        <p:txBody>
          <a:bodyPr wrap="square">
            <a:spAutoFit/>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P-Factor</a:t>
            </a: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Torque</a:t>
            </a: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Gyroscopic Precession</a:t>
            </a: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Spiraling Slip Stream (propwash)</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D851DDC-A52B-08E6-5123-F10E8D6A16D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pic>
        <p:nvPicPr>
          <p:cNvPr id="6" name="Picture 5">
            <a:extLst>
              <a:ext uri="{FF2B5EF4-FFF2-40B4-BE49-F238E27FC236}">
                <a16:creationId xmlns:a16="http://schemas.microsoft.com/office/drawing/2014/main" id="{6496A2DB-1C49-7473-8740-2002F0514725}"/>
              </a:ext>
            </a:extLst>
          </p:cNvPr>
          <p:cNvPicPr>
            <a:picLocks noChangeAspect="1"/>
          </p:cNvPicPr>
          <p:nvPr/>
        </p:nvPicPr>
        <p:blipFill>
          <a:blip r:embed="rId2"/>
          <a:stretch>
            <a:fillRect/>
          </a:stretch>
        </p:blipFill>
        <p:spPr>
          <a:xfrm>
            <a:off x="2738176" y="524407"/>
            <a:ext cx="1407868" cy="1435073"/>
          </a:xfrm>
          <a:prstGeom prst="rect">
            <a:avLst/>
          </a:prstGeom>
        </p:spPr>
      </p:pic>
    </p:spTree>
    <p:extLst>
      <p:ext uri="{BB962C8B-B14F-4D97-AF65-F5344CB8AC3E}">
        <p14:creationId xmlns:p14="http://schemas.microsoft.com/office/powerpoint/2010/main" val="1089118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CAB78B-59D6-4CDC-A410-294C59D649B5}"/>
              </a:ext>
            </a:extLst>
          </p:cNvPr>
          <p:cNvSpPr txBox="1"/>
          <p:nvPr/>
        </p:nvSpPr>
        <p:spPr>
          <a:xfrm>
            <a:off x="1689066" y="509390"/>
            <a:ext cx="2105761" cy="523220"/>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What is angle A called?</a:t>
            </a:r>
          </a:p>
          <a:p>
            <a:pPr marL="0" marR="0" algn="ctr">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rPr>
              <a:t>FAA-H-8083-25</a:t>
            </a:r>
          </a:p>
        </p:txBody>
      </p:sp>
      <p:grpSp>
        <p:nvGrpSpPr>
          <p:cNvPr id="4" name="Group 3">
            <a:extLst>
              <a:ext uri="{FF2B5EF4-FFF2-40B4-BE49-F238E27FC236}">
                <a16:creationId xmlns:a16="http://schemas.microsoft.com/office/drawing/2014/main" id="{FC559B90-E747-DA51-66CA-B8F310717105}"/>
              </a:ext>
            </a:extLst>
          </p:cNvPr>
          <p:cNvGrpSpPr/>
          <p:nvPr/>
        </p:nvGrpSpPr>
        <p:grpSpPr>
          <a:xfrm>
            <a:off x="564430" y="1450096"/>
            <a:ext cx="3455009" cy="755603"/>
            <a:chOff x="310844" y="1408186"/>
            <a:chExt cx="3455009" cy="755603"/>
          </a:xfrm>
        </p:grpSpPr>
        <p:sp>
          <p:nvSpPr>
            <p:cNvPr id="5" name="Freeform 3">
              <a:extLst>
                <a:ext uri="{FF2B5EF4-FFF2-40B4-BE49-F238E27FC236}">
                  <a16:creationId xmlns:a16="http://schemas.microsoft.com/office/drawing/2014/main" id="{9B98C7AC-ECD7-365D-9F13-C1D35C7D944B}"/>
                </a:ext>
              </a:extLst>
            </p:cNvPr>
            <p:cNvSpPr/>
            <p:nvPr/>
          </p:nvSpPr>
          <p:spPr>
            <a:xfrm rot="1055545">
              <a:off x="1487347" y="1408186"/>
              <a:ext cx="2278506" cy="297682"/>
            </a:xfrm>
            <a:custGeom>
              <a:avLst/>
              <a:gdLst>
                <a:gd name="connsiteX0" fmla="*/ 3630839 w 3653141"/>
                <a:gd name="connsiteY0" fmla="*/ 572004 h 641943"/>
                <a:gd name="connsiteX1" fmla="*/ 239939 w 3653141"/>
                <a:gd name="connsiteY1" fmla="*/ 584704 h 641943"/>
                <a:gd name="connsiteX2" fmla="*/ 430439 w 3653141"/>
                <a:gd name="connsiteY2" fmla="*/ 102104 h 641943"/>
                <a:gd name="connsiteX3" fmla="*/ 1649639 w 3653141"/>
                <a:gd name="connsiteY3" fmla="*/ 38604 h 641943"/>
                <a:gd name="connsiteX4" fmla="*/ 3630839 w 3653141"/>
                <a:gd name="connsiteY4" fmla="*/ 572004 h 64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41" h="641943">
                  <a:moveTo>
                    <a:pt x="3630839" y="572004"/>
                  </a:moveTo>
                  <a:cubicBezTo>
                    <a:pt x="3395889" y="663021"/>
                    <a:pt x="773339" y="663021"/>
                    <a:pt x="239939" y="584704"/>
                  </a:cubicBezTo>
                  <a:cubicBezTo>
                    <a:pt x="-293461" y="506387"/>
                    <a:pt x="195489" y="193121"/>
                    <a:pt x="430439" y="102104"/>
                  </a:cubicBezTo>
                  <a:cubicBezTo>
                    <a:pt x="665389" y="11087"/>
                    <a:pt x="1120472" y="-39713"/>
                    <a:pt x="1649639" y="38604"/>
                  </a:cubicBezTo>
                  <a:cubicBezTo>
                    <a:pt x="2178806" y="116921"/>
                    <a:pt x="3865789" y="480987"/>
                    <a:pt x="3630839" y="572004"/>
                  </a:cubicBez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cxnSp>
          <p:nvCxnSpPr>
            <p:cNvPr id="6" name="Straight Connector 5">
              <a:extLst>
                <a:ext uri="{FF2B5EF4-FFF2-40B4-BE49-F238E27FC236}">
                  <a16:creationId xmlns:a16="http://schemas.microsoft.com/office/drawing/2014/main" id="{1FD66117-3848-0389-C28D-6191F294365E}"/>
                </a:ext>
              </a:extLst>
            </p:cNvPr>
            <p:cNvCxnSpPr>
              <a:cxnSpLocks/>
            </p:cNvCxnSpPr>
            <p:nvPr/>
          </p:nvCxnSpPr>
          <p:spPr>
            <a:xfrm rot="1055545">
              <a:off x="1060983" y="1511000"/>
              <a:ext cx="2682474" cy="78770"/>
            </a:xfrm>
            <a:prstGeom prst="line">
              <a:avLst/>
            </a:prstGeom>
            <a:ln w="28575">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83DA5BD-75A2-8634-655F-E24D5AC20E4B}"/>
                </a:ext>
              </a:extLst>
            </p:cNvPr>
            <p:cNvCxnSpPr>
              <a:cxnSpLocks/>
            </p:cNvCxnSpPr>
            <p:nvPr/>
          </p:nvCxnSpPr>
          <p:spPr>
            <a:xfrm>
              <a:off x="1495642" y="1927156"/>
              <a:ext cx="2087665" cy="44645"/>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Arc 7">
              <a:extLst>
                <a:ext uri="{FF2B5EF4-FFF2-40B4-BE49-F238E27FC236}">
                  <a16:creationId xmlns:a16="http://schemas.microsoft.com/office/drawing/2014/main" id="{A642061C-3B72-FFD1-6506-8C272B4648D0}"/>
                </a:ext>
              </a:extLst>
            </p:cNvPr>
            <p:cNvSpPr/>
            <p:nvPr/>
          </p:nvSpPr>
          <p:spPr>
            <a:xfrm rot="15017675">
              <a:off x="1825833" y="1424950"/>
              <a:ext cx="736293" cy="736293"/>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b="1" dirty="0"/>
            </a:p>
          </p:txBody>
        </p:sp>
        <p:sp>
          <p:nvSpPr>
            <p:cNvPr id="9" name="TextBox 8">
              <a:extLst>
                <a:ext uri="{FF2B5EF4-FFF2-40B4-BE49-F238E27FC236}">
                  <a16:creationId xmlns:a16="http://schemas.microsoft.com/office/drawing/2014/main" id="{4C5D9CA8-257E-B640-B310-02901E1684FE}"/>
                </a:ext>
              </a:extLst>
            </p:cNvPr>
            <p:cNvSpPr txBox="1"/>
            <p:nvPr/>
          </p:nvSpPr>
          <p:spPr>
            <a:xfrm>
              <a:off x="1947305" y="1644038"/>
              <a:ext cx="399208" cy="261610"/>
            </a:xfrm>
            <a:prstGeom prst="rect">
              <a:avLst/>
            </a:prstGeom>
            <a:noFill/>
          </p:spPr>
          <p:txBody>
            <a:bodyPr wrap="square">
              <a:spAutoFit/>
            </a:bodyPr>
            <a:lstStyle/>
            <a:p>
              <a:pPr marL="0" marR="0" algn="ctr">
                <a:spcBef>
                  <a:spcPts val="0"/>
                </a:spcBef>
                <a:spcAft>
                  <a:spcPts val="0"/>
                </a:spcAft>
              </a:pPr>
              <a:r>
                <a:rPr lang="en-US" sz="1100" dirty="0">
                  <a:solidFill>
                    <a:srgbClr val="000000"/>
                  </a:solidFill>
                  <a:latin typeface="Times New Roman" panose="02020603050405020304" pitchFamily="18" charset="0"/>
                  <a:ea typeface="Calibri" panose="020F0502020204030204" pitchFamily="34" charset="0"/>
                </a:rPr>
                <a:t>A</a:t>
              </a:r>
              <a:endParaRPr lang="en-US" sz="1100" dirty="0">
                <a:solidFill>
                  <a:srgbClr val="000000"/>
                </a:solidFill>
                <a:effectLst/>
                <a:latin typeface="Times New Roman" panose="02020603050405020304" pitchFamily="18" charset="0"/>
                <a:ea typeface="Calibri" panose="020F0502020204030204" pitchFamily="34" charset="0"/>
              </a:endParaRPr>
            </a:p>
          </p:txBody>
        </p:sp>
        <p:sp>
          <p:nvSpPr>
            <p:cNvPr id="10" name="Arrow: Right 9">
              <a:extLst>
                <a:ext uri="{FF2B5EF4-FFF2-40B4-BE49-F238E27FC236}">
                  <a16:creationId xmlns:a16="http://schemas.microsoft.com/office/drawing/2014/main" id="{E0D63D84-9FFA-C8FD-E7CB-361DAE45C822}"/>
                </a:ext>
              </a:extLst>
            </p:cNvPr>
            <p:cNvSpPr/>
            <p:nvPr/>
          </p:nvSpPr>
          <p:spPr>
            <a:xfrm>
              <a:off x="1078238" y="1770811"/>
              <a:ext cx="357242" cy="307777"/>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32DF570-3FC4-6190-5E89-9468DFD1C8DA}"/>
                </a:ext>
              </a:extLst>
            </p:cNvPr>
            <p:cNvSpPr txBox="1"/>
            <p:nvPr/>
          </p:nvSpPr>
          <p:spPr>
            <a:xfrm>
              <a:off x="310844" y="1702124"/>
              <a:ext cx="767394" cy="461665"/>
            </a:xfrm>
            <a:prstGeom prst="rect">
              <a:avLst/>
            </a:prstGeom>
            <a:noFill/>
          </p:spPr>
          <p:txBody>
            <a:bodyPr wrap="square">
              <a:spAutoFit/>
            </a:bodyPr>
            <a:lstStyle/>
            <a:p>
              <a:pPr marL="0" marR="0" algn="r">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Relative Wind</a:t>
              </a:r>
              <a:endParaRPr lang="en-US" sz="1200" dirty="0">
                <a:solidFill>
                  <a:srgbClr val="000000"/>
                </a:solidFill>
                <a:effectLst/>
                <a:latin typeface="Times New Roman" panose="02020603050405020304" pitchFamily="18" charset="0"/>
                <a:ea typeface="Calibri" panose="020F0502020204030204" pitchFamily="34" charset="0"/>
              </a:endParaRPr>
            </a:p>
          </p:txBody>
        </p:sp>
      </p:grpSp>
      <p:sp>
        <p:nvSpPr>
          <p:cNvPr id="12" name="TextBox 11">
            <a:extLst>
              <a:ext uri="{FF2B5EF4-FFF2-40B4-BE49-F238E27FC236}">
                <a16:creationId xmlns:a16="http://schemas.microsoft.com/office/drawing/2014/main" id="{A99D906D-3177-5792-15BB-61B1069B1F2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42CA1A30-42F7-9B52-6D25-204782DF72B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9DAF2F4D-2F8B-4152-6EB5-1F080A7FADC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60731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BF7716C9-CC74-D2F0-DE8F-C482DF2D5334}"/>
              </a:ext>
            </a:extLst>
          </p:cNvPr>
          <p:cNvSpPr txBox="1"/>
          <p:nvPr/>
        </p:nvSpPr>
        <p:spPr>
          <a:xfrm>
            <a:off x="1366102" y="653362"/>
            <a:ext cx="2992706"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Angle a is called Angle of Attack.</a:t>
            </a:r>
            <a:endParaRPr lang="en-US" sz="1400" dirty="0">
              <a:solidFill>
                <a:srgbClr val="000000"/>
              </a:solidFill>
              <a:effectLst/>
              <a:latin typeface="Times New Roman" panose="02020603050405020304" pitchFamily="18" charset="0"/>
              <a:ea typeface="Calibri" panose="020F0502020204030204" pitchFamily="34" charset="0"/>
            </a:endParaRPr>
          </a:p>
        </p:txBody>
      </p:sp>
      <p:sp>
        <p:nvSpPr>
          <p:cNvPr id="2" name="TextBox 1">
            <a:extLst>
              <a:ext uri="{FF2B5EF4-FFF2-40B4-BE49-F238E27FC236}">
                <a16:creationId xmlns:a16="http://schemas.microsoft.com/office/drawing/2014/main" id="{FD37B17B-84D7-1091-D7D2-33594EBCA42A}"/>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grpSp>
        <p:nvGrpSpPr>
          <p:cNvPr id="11" name="Group 10">
            <a:extLst>
              <a:ext uri="{FF2B5EF4-FFF2-40B4-BE49-F238E27FC236}">
                <a16:creationId xmlns:a16="http://schemas.microsoft.com/office/drawing/2014/main" id="{419E712B-09BA-52B7-D8B2-8E37FBC01333}"/>
              </a:ext>
            </a:extLst>
          </p:cNvPr>
          <p:cNvGrpSpPr/>
          <p:nvPr/>
        </p:nvGrpSpPr>
        <p:grpSpPr>
          <a:xfrm>
            <a:off x="564430" y="1450096"/>
            <a:ext cx="3455009" cy="755603"/>
            <a:chOff x="310844" y="1408186"/>
            <a:chExt cx="3455009" cy="755603"/>
          </a:xfrm>
        </p:grpSpPr>
        <p:sp>
          <p:nvSpPr>
            <p:cNvPr id="12" name="Freeform 3">
              <a:extLst>
                <a:ext uri="{FF2B5EF4-FFF2-40B4-BE49-F238E27FC236}">
                  <a16:creationId xmlns:a16="http://schemas.microsoft.com/office/drawing/2014/main" id="{9CDEFFC1-44CA-7356-F7C4-11BD805A105B}"/>
                </a:ext>
              </a:extLst>
            </p:cNvPr>
            <p:cNvSpPr/>
            <p:nvPr/>
          </p:nvSpPr>
          <p:spPr>
            <a:xfrm rot="1055545">
              <a:off x="1487347" y="1408186"/>
              <a:ext cx="2278506" cy="297682"/>
            </a:xfrm>
            <a:custGeom>
              <a:avLst/>
              <a:gdLst>
                <a:gd name="connsiteX0" fmla="*/ 3630839 w 3653141"/>
                <a:gd name="connsiteY0" fmla="*/ 572004 h 641943"/>
                <a:gd name="connsiteX1" fmla="*/ 239939 w 3653141"/>
                <a:gd name="connsiteY1" fmla="*/ 584704 h 641943"/>
                <a:gd name="connsiteX2" fmla="*/ 430439 w 3653141"/>
                <a:gd name="connsiteY2" fmla="*/ 102104 h 641943"/>
                <a:gd name="connsiteX3" fmla="*/ 1649639 w 3653141"/>
                <a:gd name="connsiteY3" fmla="*/ 38604 h 641943"/>
                <a:gd name="connsiteX4" fmla="*/ 3630839 w 3653141"/>
                <a:gd name="connsiteY4" fmla="*/ 572004 h 64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41" h="641943">
                  <a:moveTo>
                    <a:pt x="3630839" y="572004"/>
                  </a:moveTo>
                  <a:cubicBezTo>
                    <a:pt x="3395889" y="663021"/>
                    <a:pt x="773339" y="663021"/>
                    <a:pt x="239939" y="584704"/>
                  </a:cubicBezTo>
                  <a:cubicBezTo>
                    <a:pt x="-293461" y="506387"/>
                    <a:pt x="195489" y="193121"/>
                    <a:pt x="430439" y="102104"/>
                  </a:cubicBezTo>
                  <a:cubicBezTo>
                    <a:pt x="665389" y="11087"/>
                    <a:pt x="1120472" y="-39713"/>
                    <a:pt x="1649639" y="38604"/>
                  </a:cubicBezTo>
                  <a:cubicBezTo>
                    <a:pt x="2178806" y="116921"/>
                    <a:pt x="3865789" y="480987"/>
                    <a:pt x="3630839" y="572004"/>
                  </a:cubicBez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cxnSp>
          <p:nvCxnSpPr>
            <p:cNvPr id="23" name="Straight Connector 22">
              <a:extLst>
                <a:ext uri="{FF2B5EF4-FFF2-40B4-BE49-F238E27FC236}">
                  <a16:creationId xmlns:a16="http://schemas.microsoft.com/office/drawing/2014/main" id="{7BB66ABE-0A72-E42F-BE51-4CEE7C643CD8}"/>
                </a:ext>
              </a:extLst>
            </p:cNvPr>
            <p:cNvCxnSpPr>
              <a:cxnSpLocks/>
            </p:cNvCxnSpPr>
            <p:nvPr/>
          </p:nvCxnSpPr>
          <p:spPr>
            <a:xfrm rot="1055545">
              <a:off x="1060983" y="1511000"/>
              <a:ext cx="2682474" cy="78770"/>
            </a:xfrm>
            <a:prstGeom prst="line">
              <a:avLst/>
            </a:prstGeom>
            <a:ln w="28575">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14602FB-20B4-134D-5A8B-7FB92ACEBB58}"/>
                </a:ext>
              </a:extLst>
            </p:cNvPr>
            <p:cNvCxnSpPr>
              <a:cxnSpLocks/>
            </p:cNvCxnSpPr>
            <p:nvPr/>
          </p:nvCxnSpPr>
          <p:spPr>
            <a:xfrm>
              <a:off x="1495642" y="1927156"/>
              <a:ext cx="2087665" cy="44645"/>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EB9350BE-92FE-DE84-BDF9-BFB88B4A6B66}"/>
                </a:ext>
              </a:extLst>
            </p:cNvPr>
            <p:cNvSpPr/>
            <p:nvPr/>
          </p:nvSpPr>
          <p:spPr>
            <a:xfrm rot="15017675">
              <a:off x="1825833" y="1424950"/>
              <a:ext cx="736293" cy="736293"/>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b="1" dirty="0"/>
            </a:p>
          </p:txBody>
        </p:sp>
        <p:sp>
          <p:nvSpPr>
            <p:cNvPr id="26" name="TextBox 25">
              <a:extLst>
                <a:ext uri="{FF2B5EF4-FFF2-40B4-BE49-F238E27FC236}">
                  <a16:creationId xmlns:a16="http://schemas.microsoft.com/office/drawing/2014/main" id="{45262096-70F1-271B-A441-48B22F815474}"/>
                </a:ext>
              </a:extLst>
            </p:cNvPr>
            <p:cNvSpPr txBox="1"/>
            <p:nvPr/>
          </p:nvSpPr>
          <p:spPr>
            <a:xfrm>
              <a:off x="1947305" y="1644038"/>
              <a:ext cx="399208" cy="261610"/>
            </a:xfrm>
            <a:prstGeom prst="rect">
              <a:avLst/>
            </a:prstGeom>
            <a:noFill/>
          </p:spPr>
          <p:txBody>
            <a:bodyPr wrap="square">
              <a:spAutoFit/>
            </a:bodyPr>
            <a:lstStyle/>
            <a:p>
              <a:pPr marL="0" marR="0" algn="ctr">
                <a:spcBef>
                  <a:spcPts val="0"/>
                </a:spcBef>
                <a:spcAft>
                  <a:spcPts val="0"/>
                </a:spcAft>
              </a:pPr>
              <a:r>
                <a:rPr lang="en-US" sz="1100" dirty="0">
                  <a:solidFill>
                    <a:srgbClr val="000000"/>
                  </a:solidFill>
                  <a:latin typeface="Times New Roman" panose="02020603050405020304" pitchFamily="18" charset="0"/>
                  <a:ea typeface="Calibri" panose="020F0502020204030204" pitchFamily="34" charset="0"/>
                </a:rPr>
                <a:t>A</a:t>
              </a:r>
              <a:endParaRPr lang="en-US" sz="1100" dirty="0">
                <a:solidFill>
                  <a:srgbClr val="000000"/>
                </a:solidFill>
                <a:effectLst/>
                <a:latin typeface="Times New Roman" panose="02020603050405020304" pitchFamily="18" charset="0"/>
                <a:ea typeface="Calibri" panose="020F0502020204030204" pitchFamily="34" charset="0"/>
              </a:endParaRPr>
            </a:p>
          </p:txBody>
        </p:sp>
        <p:sp>
          <p:nvSpPr>
            <p:cNvPr id="27" name="Arrow: Right 26">
              <a:extLst>
                <a:ext uri="{FF2B5EF4-FFF2-40B4-BE49-F238E27FC236}">
                  <a16:creationId xmlns:a16="http://schemas.microsoft.com/office/drawing/2014/main" id="{4C5EC027-B656-BDA0-D6F3-C2DCF7490826}"/>
                </a:ext>
              </a:extLst>
            </p:cNvPr>
            <p:cNvSpPr/>
            <p:nvPr/>
          </p:nvSpPr>
          <p:spPr>
            <a:xfrm>
              <a:off x="1078238" y="1770811"/>
              <a:ext cx="357242" cy="307777"/>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7383A333-7951-21BD-83B4-F840D6E52D74}"/>
                </a:ext>
              </a:extLst>
            </p:cNvPr>
            <p:cNvSpPr txBox="1"/>
            <p:nvPr/>
          </p:nvSpPr>
          <p:spPr>
            <a:xfrm>
              <a:off x="310844" y="1702124"/>
              <a:ext cx="767394" cy="461665"/>
            </a:xfrm>
            <a:prstGeom prst="rect">
              <a:avLst/>
            </a:prstGeom>
            <a:noFill/>
          </p:spPr>
          <p:txBody>
            <a:bodyPr wrap="square">
              <a:spAutoFit/>
            </a:bodyPr>
            <a:lstStyle/>
            <a:p>
              <a:pPr marL="0" marR="0" algn="r">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Relative Wind</a:t>
              </a:r>
              <a:endParaRPr lang="en-US" sz="1200" dirty="0">
                <a:solidFill>
                  <a:srgbClr val="000000"/>
                </a:solidFill>
                <a:effectLst/>
                <a:latin typeface="Times New Roman" panose="02020603050405020304" pitchFamily="18" charset="0"/>
                <a:ea typeface="Calibri" panose="020F0502020204030204" pitchFamily="34" charset="0"/>
              </a:endParaRPr>
            </a:p>
          </p:txBody>
        </p:sp>
      </p:grpSp>
    </p:spTree>
    <p:extLst>
      <p:ext uri="{BB962C8B-B14F-4D97-AF65-F5344CB8AC3E}">
        <p14:creationId xmlns:p14="http://schemas.microsoft.com/office/powerpoint/2010/main" val="722275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B87B07-E673-E224-10F8-C303052C26FD}"/>
              </a:ext>
            </a:extLst>
          </p:cNvPr>
          <p:cNvSpPr txBox="1"/>
          <p:nvPr/>
        </p:nvSpPr>
        <p:spPr>
          <a:xfrm>
            <a:off x="743108" y="1002268"/>
            <a:ext cx="3085783" cy="738664"/>
          </a:xfrm>
          <a:prstGeom prst="rect">
            <a:avLst/>
          </a:prstGeom>
          <a:noFill/>
        </p:spPr>
        <p:txBody>
          <a:bodyPr wrap="square">
            <a:spAutoFit/>
          </a:bodyPr>
          <a:lstStyle/>
          <a:p>
            <a:pPr marL="0" marR="0" algn="just">
              <a:spcBef>
                <a:spcPts val="0"/>
              </a:spcBef>
              <a:spcAft>
                <a:spcPts val="0"/>
              </a:spcAft>
            </a:pPr>
            <a:r>
              <a:rPr lang="en-US" sz="1400" dirty="0">
                <a:latin typeface="Times New Roman" panose="02020603050405020304" pitchFamily="18" charset="0"/>
                <a:ea typeface="Calibri" panose="020F0502020204030204" pitchFamily="34" charset="0"/>
              </a:rPr>
              <a:t>True or False. An increase in gross weight will increase an aircraft’s critical angle of attack (AOA).</a:t>
            </a:r>
            <a:endParaRPr lang="en-US" sz="1400" dirty="0">
              <a:effectLst/>
              <a:latin typeface="Times New Roman" panose="02020603050405020304" pitchFamily="18" charset="0"/>
              <a:ea typeface="Calibri" panose="020F0502020204030204" pitchFamily="34" charset="0"/>
            </a:endParaRPr>
          </a:p>
        </p:txBody>
      </p:sp>
      <p:sp>
        <p:nvSpPr>
          <p:cNvPr id="4" name="TextBox 3">
            <a:extLst>
              <a:ext uri="{FF2B5EF4-FFF2-40B4-BE49-F238E27FC236}">
                <a16:creationId xmlns:a16="http://schemas.microsoft.com/office/drawing/2014/main" id="{A4E352EC-C1D7-A7EA-5B07-FB18598447C7}"/>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3DE6247A-C324-B5FE-1A71-98F787D0E4B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E8B19E0-DA74-DAD7-686B-40844FC3797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58711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049FA4-36AE-EA21-F730-762F157A7F51}"/>
              </a:ext>
            </a:extLst>
          </p:cNvPr>
          <p:cNvSpPr txBox="1"/>
          <p:nvPr/>
        </p:nvSpPr>
        <p:spPr>
          <a:xfrm>
            <a:off x="448979" y="417751"/>
            <a:ext cx="3674041" cy="1754326"/>
          </a:xfrm>
          <a:prstGeom prst="rect">
            <a:avLst/>
          </a:prstGeom>
          <a:noFill/>
        </p:spPr>
        <p:txBody>
          <a:bodyPr wrap="square">
            <a:spAutoFit/>
          </a:bodyPr>
          <a:lstStyle/>
          <a:p>
            <a:pPr marL="0" marR="0" algn="ctr">
              <a:spcBef>
                <a:spcPts val="0"/>
              </a:spcBef>
              <a:spcAft>
                <a:spcPts val="0"/>
              </a:spcAft>
            </a:pPr>
            <a:r>
              <a:rPr lang="en-US" sz="1200" dirty="0">
                <a:latin typeface="Times New Roman" panose="02020603050405020304" pitchFamily="18" charset="0"/>
                <a:ea typeface="Calibri" panose="020F0502020204030204" pitchFamily="34" charset="0"/>
              </a:rPr>
              <a:t>False.</a:t>
            </a:r>
          </a:p>
          <a:p>
            <a:pPr marL="0" marR="0" algn="just">
              <a:spcBef>
                <a:spcPts val="0"/>
              </a:spcBef>
              <a:spcAft>
                <a:spcPts val="0"/>
              </a:spcAft>
            </a:pPr>
            <a:endParaRPr lang="en-US" sz="1200" dirty="0">
              <a:latin typeface="Times New Roman" panose="02020603050405020304" pitchFamily="18" charset="0"/>
              <a:ea typeface="Calibri" panose="020F0502020204030204" pitchFamily="34" charset="0"/>
            </a:endParaRPr>
          </a:p>
          <a:p>
            <a:pPr marL="0" marR="0" algn="just">
              <a:spcBef>
                <a:spcPts val="0"/>
              </a:spcBef>
              <a:spcAft>
                <a:spcPts val="0"/>
              </a:spcAft>
            </a:pPr>
            <a:r>
              <a:rPr lang="en-US" sz="1200" dirty="0">
                <a:latin typeface="Times New Roman" panose="02020603050405020304" pitchFamily="18" charset="0"/>
                <a:ea typeface="Calibri" panose="020F0502020204030204" pitchFamily="34" charset="0"/>
              </a:rPr>
              <a:t>A specific aircraft’s critical AOA never changes.</a:t>
            </a:r>
          </a:p>
          <a:p>
            <a:pPr marL="0" marR="0" algn="just">
              <a:spcBef>
                <a:spcPts val="0"/>
              </a:spcBef>
              <a:spcAft>
                <a:spcPts val="0"/>
              </a:spcAft>
            </a:pPr>
            <a:endParaRPr lang="en-US" sz="1200" dirty="0">
              <a:effectLst/>
              <a:latin typeface="Times New Roman" panose="02020603050405020304" pitchFamily="18" charset="0"/>
              <a:ea typeface="Calibri" panose="020F0502020204030204" pitchFamily="34" charset="0"/>
            </a:endParaRPr>
          </a:p>
          <a:p>
            <a:pPr marL="0" marR="0" algn="just">
              <a:spcBef>
                <a:spcPts val="0"/>
              </a:spcBef>
              <a:spcAft>
                <a:spcPts val="0"/>
              </a:spcAft>
            </a:pPr>
            <a:r>
              <a:rPr lang="en-US" sz="1200" dirty="0">
                <a:effectLst/>
                <a:latin typeface="Times New Roman" panose="02020603050405020304" pitchFamily="18" charset="0"/>
                <a:ea typeface="Calibri" panose="020F0502020204030204" pitchFamily="34" charset="0"/>
              </a:rPr>
              <a:t>An increase in gro</a:t>
            </a:r>
            <a:r>
              <a:rPr lang="en-US" sz="1200" dirty="0">
                <a:latin typeface="Times New Roman" panose="02020603050405020304" pitchFamily="18" charset="0"/>
                <a:ea typeface="Calibri" panose="020F0502020204030204" pitchFamily="34" charset="0"/>
              </a:rPr>
              <a:t>ss weight will, however, increase stall speed.</a:t>
            </a:r>
          </a:p>
          <a:p>
            <a:pPr marL="0" marR="0" algn="just">
              <a:spcBef>
                <a:spcPts val="0"/>
              </a:spcBef>
              <a:spcAft>
                <a:spcPts val="0"/>
              </a:spcAft>
            </a:pPr>
            <a:endParaRPr lang="en-US" sz="1200" dirty="0">
              <a:effectLst/>
              <a:latin typeface="Times New Roman" panose="02020603050405020304" pitchFamily="18" charset="0"/>
              <a:ea typeface="Calibri" panose="020F0502020204030204" pitchFamily="34" charset="0"/>
            </a:endParaRPr>
          </a:p>
          <a:p>
            <a:pPr marL="0" marR="0" algn="just">
              <a:spcBef>
                <a:spcPts val="0"/>
              </a:spcBef>
              <a:spcAft>
                <a:spcPts val="0"/>
              </a:spcAft>
            </a:pPr>
            <a:r>
              <a:rPr lang="en-US" sz="1200" dirty="0">
                <a:latin typeface="Times New Roman" panose="02020603050405020304" pitchFamily="18" charset="0"/>
                <a:ea typeface="Calibri" panose="020F0502020204030204" pitchFamily="34" charset="0"/>
              </a:rPr>
              <a:t>Note: most GA aircraft have a critical AOA of about 20 degrees.</a:t>
            </a:r>
            <a:endParaRPr lang="en-US" sz="1200" dirty="0">
              <a:effectLst/>
              <a:latin typeface="Times New Roman" panose="02020603050405020304" pitchFamily="18" charset="0"/>
              <a:ea typeface="Calibri" panose="020F0502020204030204" pitchFamily="34" charset="0"/>
            </a:endParaRPr>
          </a:p>
        </p:txBody>
      </p:sp>
      <p:sp>
        <p:nvSpPr>
          <p:cNvPr id="4" name="TextBox 3">
            <a:extLst>
              <a:ext uri="{FF2B5EF4-FFF2-40B4-BE49-F238E27FC236}">
                <a16:creationId xmlns:a16="http://schemas.microsoft.com/office/drawing/2014/main" id="{69079547-2DBD-B513-427D-25742A6DA45A}"/>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3053782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B7CFAE-20DA-7DCF-1C9C-6EF9B6576177}"/>
              </a:ext>
            </a:extLst>
          </p:cNvPr>
          <p:cNvSpPr txBox="1"/>
          <p:nvPr/>
        </p:nvSpPr>
        <p:spPr>
          <a:xfrm>
            <a:off x="448495" y="1002268"/>
            <a:ext cx="3675009" cy="738664"/>
          </a:xfrm>
          <a:prstGeom prst="rect">
            <a:avLst/>
          </a:prstGeom>
          <a:noFill/>
        </p:spPr>
        <p:txBody>
          <a:bodyPr wrap="square">
            <a:spAutoFit/>
          </a:bodyPr>
          <a:lstStyle/>
          <a:p>
            <a:pPr marL="0" marR="0" algn="just">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What is the positive G limit for a typical acrobatic category aircraft?</a:t>
            </a:r>
          </a:p>
          <a:p>
            <a:pPr marL="0" marR="0" algn="just">
              <a:spcBef>
                <a:spcPts val="0"/>
              </a:spcBef>
              <a:spcAft>
                <a:spcPts val="0"/>
              </a:spcAft>
            </a:pPr>
            <a:endParaRPr lang="en-US" sz="1400" dirty="0">
              <a:solidFill>
                <a:srgbClr val="000000"/>
              </a:solidFill>
              <a:effectLst/>
              <a:latin typeface="Times New Roman" panose="02020603050405020304" pitchFamily="18" charset="0"/>
              <a:ea typeface="Calibri" panose="020F0502020204030204" pitchFamily="34" charset="0"/>
            </a:endParaRPr>
          </a:p>
        </p:txBody>
      </p:sp>
      <p:sp>
        <p:nvSpPr>
          <p:cNvPr id="4" name="TextBox 3">
            <a:extLst>
              <a:ext uri="{FF2B5EF4-FFF2-40B4-BE49-F238E27FC236}">
                <a16:creationId xmlns:a16="http://schemas.microsoft.com/office/drawing/2014/main" id="{E934ED64-F412-C87F-6FE6-C379AB344BA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F79CE61F-3DEA-D630-61EF-93ABE407FCC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E124590-ACA1-134C-7CF1-B9CD7AF27FB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21406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B7CFAE-20DA-7DCF-1C9C-6EF9B6576177}"/>
              </a:ext>
            </a:extLst>
          </p:cNvPr>
          <p:cNvSpPr txBox="1"/>
          <p:nvPr/>
        </p:nvSpPr>
        <p:spPr>
          <a:xfrm>
            <a:off x="1643472" y="1217711"/>
            <a:ext cx="1285055"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6 Gs</a:t>
            </a:r>
            <a:endParaRPr lang="en-US" sz="1400" dirty="0">
              <a:solidFill>
                <a:srgbClr val="000000"/>
              </a:solidFill>
              <a:effectLst/>
              <a:latin typeface="Times New Roman" panose="02020603050405020304" pitchFamily="18" charset="0"/>
              <a:ea typeface="Calibri" panose="020F0502020204030204" pitchFamily="34" charset="0"/>
            </a:endParaRPr>
          </a:p>
        </p:txBody>
      </p:sp>
      <p:sp>
        <p:nvSpPr>
          <p:cNvPr id="4" name="TextBox 3">
            <a:extLst>
              <a:ext uri="{FF2B5EF4-FFF2-40B4-BE49-F238E27FC236}">
                <a16:creationId xmlns:a16="http://schemas.microsoft.com/office/drawing/2014/main" id="{E934ED64-F412-C87F-6FE6-C379AB344BA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313174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B7CFAE-20DA-7DCF-1C9C-6EF9B6576177}"/>
              </a:ext>
            </a:extLst>
          </p:cNvPr>
          <p:cNvSpPr txBox="1"/>
          <p:nvPr/>
        </p:nvSpPr>
        <p:spPr>
          <a:xfrm>
            <a:off x="166469" y="1109990"/>
            <a:ext cx="4239061" cy="523220"/>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What determines the longitudinal stability of an aircraft?</a:t>
            </a:r>
          </a:p>
          <a:p>
            <a:pPr marL="0" marR="0" algn="ctr">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rPr>
              <a:t>FAA-H-8083-25</a:t>
            </a:r>
          </a:p>
        </p:txBody>
      </p:sp>
      <p:sp>
        <p:nvSpPr>
          <p:cNvPr id="4" name="TextBox 3">
            <a:extLst>
              <a:ext uri="{FF2B5EF4-FFF2-40B4-BE49-F238E27FC236}">
                <a16:creationId xmlns:a16="http://schemas.microsoft.com/office/drawing/2014/main" id="{E934ED64-F412-C87F-6FE6-C379AB344BA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63333C74-380D-3D04-3CA8-40FFE3B03A3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C4AE88E-11C6-0127-B519-E1B2B793FFA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475673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B7CFAE-20DA-7DCF-1C9C-6EF9B6576177}"/>
              </a:ext>
            </a:extLst>
          </p:cNvPr>
          <p:cNvSpPr txBox="1"/>
          <p:nvPr/>
        </p:nvSpPr>
        <p:spPr>
          <a:xfrm>
            <a:off x="665573" y="398418"/>
            <a:ext cx="3342454" cy="830997"/>
          </a:xfrm>
          <a:prstGeom prst="rect">
            <a:avLst/>
          </a:prstGeom>
          <a:noFill/>
        </p:spPr>
        <p:txBody>
          <a:bodyPr wrap="square">
            <a:spAutoFit/>
          </a:bodyPr>
          <a:lstStyle/>
          <a:p>
            <a:pPr marL="0" marR="0" algn="ctr">
              <a:spcBef>
                <a:spcPts val="0"/>
              </a:spcBef>
              <a:spcAft>
                <a:spcPts val="0"/>
              </a:spcAft>
            </a:pPr>
            <a:r>
              <a:rPr lang="en-US" sz="1200" dirty="0">
                <a:latin typeface="Times New Roman" panose="02020603050405020304" pitchFamily="18" charset="0"/>
                <a:ea typeface="Calibri" panose="020F0502020204030204" pitchFamily="34" charset="0"/>
              </a:rPr>
              <a:t>The center of gravity relative to center of lift.</a:t>
            </a:r>
          </a:p>
          <a:p>
            <a:pPr marL="0" marR="0" algn="ctr">
              <a:spcBef>
                <a:spcPts val="0"/>
              </a:spcBef>
              <a:spcAft>
                <a:spcPts val="0"/>
              </a:spcAft>
            </a:pPr>
            <a:endParaRPr lang="en-US" sz="1200" dirty="0">
              <a:latin typeface="Times New Roman" panose="02020603050405020304" pitchFamily="18" charset="0"/>
              <a:ea typeface="Calibri" panose="020F0502020204030204" pitchFamily="34" charset="0"/>
            </a:endParaRPr>
          </a:p>
          <a:p>
            <a:pPr marL="0" marR="0" algn="just">
              <a:spcBef>
                <a:spcPts val="0"/>
              </a:spcBef>
              <a:spcAft>
                <a:spcPts val="0"/>
              </a:spcAft>
            </a:pPr>
            <a:r>
              <a:rPr lang="en-US" sz="1200" dirty="0">
                <a:effectLst/>
                <a:latin typeface="Times New Roman" panose="02020603050405020304" pitchFamily="18" charset="0"/>
                <a:ea typeface="Calibri" panose="020F0502020204030204" pitchFamily="34" charset="0"/>
              </a:rPr>
              <a:t>If the center of gravity</a:t>
            </a:r>
            <a:r>
              <a:rPr lang="en-US" sz="1200" dirty="0">
                <a:latin typeface="Times New Roman" panose="02020603050405020304" pitchFamily="18" charset="0"/>
                <a:ea typeface="Calibri" panose="020F0502020204030204" pitchFamily="34" charset="0"/>
              </a:rPr>
              <a:t> is aft of the center of lift, the aircraft will be inherently unstable.</a:t>
            </a:r>
            <a:endParaRPr lang="en-US" sz="1200" dirty="0">
              <a:effectLst/>
              <a:latin typeface="Times New Roman" panose="02020603050405020304" pitchFamily="18" charset="0"/>
              <a:ea typeface="Calibri" panose="020F0502020204030204" pitchFamily="34" charset="0"/>
            </a:endParaRPr>
          </a:p>
        </p:txBody>
      </p:sp>
      <p:sp>
        <p:nvSpPr>
          <p:cNvPr id="4" name="TextBox 3">
            <a:extLst>
              <a:ext uri="{FF2B5EF4-FFF2-40B4-BE49-F238E27FC236}">
                <a16:creationId xmlns:a16="http://schemas.microsoft.com/office/drawing/2014/main" id="{E934ED64-F412-C87F-6FE6-C379AB344BA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pic>
        <p:nvPicPr>
          <p:cNvPr id="6" name="Picture 5">
            <a:extLst>
              <a:ext uri="{FF2B5EF4-FFF2-40B4-BE49-F238E27FC236}">
                <a16:creationId xmlns:a16="http://schemas.microsoft.com/office/drawing/2014/main" id="{0DA3B1BB-9B99-85F0-D637-1AF1886E7D09}"/>
              </a:ext>
            </a:extLst>
          </p:cNvPr>
          <p:cNvPicPr>
            <a:picLocks noChangeAspect="1"/>
          </p:cNvPicPr>
          <p:nvPr/>
        </p:nvPicPr>
        <p:blipFill>
          <a:blip r:embed="rId2"/>
          <a:stretch>
            <a:fillRect/>
          </a:stretch>
        </p:blipFill>
        <p:spPr>
          <a:xfrm>
            <a:off x="1741409" y="1310566"/>
            <a:ext cx="1190782" cy="1190782"/>
          </a:xfrm>
          <a:prstGeom prst="rect">
            <a:avLst/>
          </a:prstGeom>
        </p:spPr>
      </p:pic>
    </p:spTree>
    <p:extLst>
      <p:ext uri="{BB962C8B-B14F-4D97-AF65-F5344CB8AC3E}">
        <p14:creationId xmlns:p14="http://schemas.microsoft.com/office/powerpoint/2010/main" val="687735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B7CFAE-20DA-7DCF-1C9C-6EF9B6576177}"/>
              </a:ext>
            </a:extLst>
          </p:cNvPr>
          <p:cNvSpPr txBox="1"/>
          <p:nvPr/>
        </p:nvSpPr>
        <p:spPr>
          <a:xfrm>
            <a:off x="448495" y="1063823"/>
            <a:ext cx="3675009"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During a spin to the left, which wing is stalled?</a:t>
            </a:r>
            <a:endParaRPr lang="en-US" sz="1400" dirty="0">
              <a:solidFill>
                <a:srgbClr val="000000"/>
              </a:solidFill>
              <a:effectLst/>
              <a:latin typeface="Times New Roman" panose="02020603050405020304" pitchFamily="18" charset="0"/>
              <a:ea typeface="Calibri" panose="020F0502020204030204" pitchFamily="34" charset="0"/>
            </a:endParaRPr>
          </a:p>
        </p:txBody>
      </p:sp>
      <p:sp>
        <p:nvSpPr>
          <p:cNvPr id="4" name="TextBox 3">
            <a:extLst>
              <a:ext uri="{FF2B5EF4-FFF2-40B4-BE49-F238E27FC236}">
                <a16:creationId xmlns:a16="http://schemas.microsoft.com/office/drawing/2014/main" id="{E934ED64-F412-C87F-6FE6-C379AB344BA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0C52DD17-08FF-C92E-5BD7-1FD04F63A57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93ECEA6-DCBC-63C0-9E02-32F9862AC7C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827798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119735-06ED-60E8-2060-F57284DF7622}"/>
              </a:ext>
            </a:extLst>
          </p:cNvPr>
          <p:cNvSpPr txBox="1"/>
          <p:nvPr/>
        </p:nvSpPr>
        <p:spPr>
          <a:xfrm>
            <a:off x="822155" y="1063823"/>
            <a:ext cx="2927690"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Both wings are stalled.</a:t>
            </a:r>
            <a:endParaRPr lang="en-US" sz="1400" dirty="0">
              <a:solidFill>
                <a:srgbClr val="000000"/>
              </a:solidFill>
              <a:effectLst/>
              <a:latin typeface="Times New Roman" panose="02020603050405020304" pitchFamily="18" charset="0"/>
              <a:ea typeface="Calibri" panose="020F0502020204030204" pitchFamily="34" charset="0"/>
            </a:endParaRPr>
          </a:p>
        </p:txBody>
      </p:sp>
      <p:sp>
        <p:nvSpPr>
          <p:cNvPr id="4" name="TextBox 3">
            <a:extLst>
              <a:ext uri="{FF2B5EF4-FFF2-40B4-BE49-F238E27FC236}">
                <a16:creationId xmlns:a16="http://schemas.microsoft.com/office/drawing/2014/main" id="{28D8DC95-CEA7-8873-EDE4-9489B7D7C1CF}"/>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460374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D94D87-D190-C7E5-927A-C88149CC99A5}"/>
              </a:ext>
            </a:extLst>
          </p:cNvPr>
          <p:cNvSpPr txBox="1"/>
          <p:nvPr/>
        </p:nvSpPr>
        <p:spPr>
          <a:xfrm>
            <a:off x="723782" y="1063823"/>
            <a:ext cx="3124435"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What force causes an airplane to turn?</a:t>
            </a:r>
            <a:endParaRPr lang="en-US" sz="1400" dirty="0">
              <a:solidFill>
                <a:srgbClr val="000000"/>
              </a:solidFill>
              <a:effectLst/>
              <a:latin typeface="Times New Roman" panose="02020603050405020304" pitchFamily="18" charset="0"/>
              <a:ea typeface="Calibri" panose="020F0502020204030204" pitchFamily="34" charset="0"/>
            </a:endParaRPr>
          </a:p>
        </p:txBody>
      </p:sp>
      <p:sp>
        <p:nvSpPr>
          <p:cNvPr id="4" name="TextBox 3">
            <a:extLst>
              <a:ext uri="{FF2B5EF4-FFF2-40B4-BE49-F238E27FC236}">
                <a16:creationId xmlns:a16="http://schemas.microsoft.com/office/drawing/2014/main" id="{AC7D82C6-C738-A916-BDA6-97313433C508}"/>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338F5DEF-C8F5-BAAB-4734-2FC6C359EBF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56E2BF7-D0A6-A06B-030C-7863C08EBAC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885594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F2BDE5-FF13-B83E-7B63-3CD6FF9A0FBF}"/>
              </a:ext>
            </a:extLst>
          </p:cNvPr>
          <p:cNvSpPr txBox="1"/>
          <p:nvPr/>
        </p:nvSpPr>
        <p:spPr>
          <a:xfrm>
            <a:off x="377825" y="355521"/>
            <a:ext cx="3816349" cy="461665"/>
          </a:xfrm>
          <a:prstGeom prst="rect">
            <a:avLst/>
          </a:prstGeom>
          <a:noFill/>
        </p:spPr>
        <p:txBody>
          <a:bodyPr wrap="square">
            <a:spAutoFit/>
          </a:bodyPr>
          <a:lstStyle/>
          <a:p>
            <a:pPr marL="0" marR="0" algn="just">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The horizontal component of the lift vector is what causes an airplane to turn.</a:t>
            </a:r>
            <a:endParaRPr lang="en-US" sz="1200" dirty="0">
              <a:solidFill>
                <a:srgbClr val="000000"/>
              </a:solidFill>
              <a:effectLst/>
              <a:latin typeface="Times New Roman" panose="02020603050405020304" pitchFamily="18" charset="0"/>
              <a:ea typeface="Calibri" panose="020F0502020204030204" pitchFamily="34" charset="0"/>
            </a:endParaRPr>
          </a:p>
        </p:txBody>
      </p:sp>
      <p:grpSp>
        <p:nvGrpSpPr>
          <p:cNvPr id="14" name="Group 13">
            <a:extLst>
              <a:ext uri="{FF2B5EF4-FFF2-40B4-BE49-F238E27FC236}">
                <a16:creationId xmlns:a16="http://schemas.microsoft.com/office/drawing/2014/main" id="{77C4C07F-79C3-E186-6734-86AF2E192076}"/>
              </a:ext>
            </a:extLst>
          </p:cNvPr>
          <p:cNvGrpSpPr/>
          <p:nvPr/>
        </p:nvGrpSpPr>
        <p:grpSpPr>
          <a:xfrm rot="20041871">
            <a:off x="1379389" y="838439"/>
            <a:ext cx="1813219" cy="1213515"/>
            <a:chOff x="1309478" y="944082"/>
            <a:chExt cx="1813219" cy="1213515"/>
          </a:xfrm>
        </p:grpSpPr>
        <p:grpSp>
          <p:nvGrpSpPr>
            <p:cNvPr id="4" name="Group 3">
              <a:extLst>
                <a:ext uri="{FF2B5EF4-FFF2-40B4-BE49-F238E27FC236}">
                  <a16:creationId xmlns:a16="http://schemas.microsoft.com/office/drawing/2014/main" id="{7F99CA39-93A6-B42A-3638-B472775730E9}"/>
                </a:ext>
              </a:extLst>
            </p:cNvPr>
            <p:cNvGrpSpPr/>
            <p:nvPr/>
          </p:nvGrpSpPr>
          <p:grpSpPr>
            <a:xfrm>
              <a:off x="1309478" y="1671699"/>
              <a:ext cx="1813219" cy="485898"/>
              <a:chOff x="6124921" y="1257555"/>
              <a:chExt cx="1813219" cy="485898"/>
            </a:xfrm>
          </p:grpSpPr>
          <p:sp>
            <p:nvSpPr>
              <p:cNvPr id="5" name="Freeform: Shape 4">
                <a:extLst>
                  <a:ext uri="{FF2B5EF4-FFF2-40B4-BE49-F238E27FC236}">
                    <a16:creationId xmlns:a16="http://schemas.microsoft.com/office/drawing/2014/main" id="{3B7FB6C9-D570-AD19-FF9C-AC28E7534B28}"/>
                  </a:ext>
                </a:extLst>
              </p:cNvPr>
              <p:cNvSpPr/>
              <p:nvPr/>
            </p:nvSpPr>
            <p:spPr>
              <a:xfrm rot="16200000">
                <a:off x="6862881" y="1419531"/>
                <a:ext cx="40775" cy="300250"/>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C7158C33-59F9-E32A-FA2A-29F60F1D4D89}"/>
                  </a:ext>
                </a:extLst>
              </p:cNvPr>
              <p:cNvSpPr/>
              <p:nvPr/>
            </p:nvSpPr>
            <p:spPr>
              <a:xfrm rot="5400000">
                <a:off x="7155718" y="1421102"/>
                <a:ext cx="40775" cy="300250"/>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B14AF0BA-C794-B263-3E73-32F15907C0CF}"/>
                  </a:ext>
                </a:extLst>
              </p:cNvPr>
              <p:cNvSpPr/>
              <p:nvPr/>
            </p:nvSpPr>
            <p:spPr>
              <a:xfrm>
                <a:off x="7009578" y="1257555"/>
                <a:ext cx="40775" cy="300250"/>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003BBEF0-E6C3-8A3A-45F2-1FBAAC3E3276}"/>
                  </a:ext>
                </a:extLst>
              </p:cNvPr>
              <p:cNvSpPr/>
              <p:nvPr/>
            </p:nvSpPr>
            <p:spPr>
              <a:xfrm>
                <a:off x="7137473" y="1594059"/>
                <a:ext cx="800667" cy="100083"/>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EA3BB0CD-F71C-4C9A-EC12-F6F54CA6E141}"/>
                  </a:ext>
                </a:extLst>
              </p:cNvPr>
              <p:cNvSpPr/>
              <p:nvPr/>
            </p:nvSpPr>
            <p:spPr>
              <a:xfrm flipH="1">
                <a:off x="6124921" y="1595351"/>
                <a:ext cx="800667" cy="100083"/>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2CE547B2-83BE-0DCC-09F8-2CA13950E993}"/>
                  </a:ext>
                </a:extLst>
              </p:cNvPr>
              <p:cNvSpPr/>
              <p:nvPr/>
            </p:nvSpPr>
            <p:spPr>
              <a:xfrm>
                <a:off x="6919987" y="1391081"/>
                <a:ext cx="221203" cy="333447"/>
              </a:xfrm>
              <a:prstGeom prst="ellipse">
                <a:avLst/>
              </a:prstGeom>
              <a:solidFill>
                <a:schemeClr val="bg2">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792EEA31-B5D8-9620-AA66-B3C0CFCB7C81}"/>
                  </a:ext>
                </a:extLst>
              </p:cNvPr>
              <p:cNvSpPr/>
              <p:nvPr/>
            </p:nvSpPr>
            <p:spPr>
              <a:xfrm>
                <a:off x="6915693" y="1497878"/>
                <a:ext cx="231674" cy="245575"/>
              </a:xfrm>
              <a:prstGeom prst="round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68515052-6D5F-71A3-2C22-FA4F223A642C}"/>
                  </a:ext>
                </a:extLst>
              </p:cNvPr>
              <p:cNvSpPr/>
              <p:nvPr/>
            </p:nvSpPr>
            <p:spPr>
              <a:xfrm>
                <a:off x="6991662" y="1562551"/>
                <a:ext cx="74136" cy="74136"/>
              </a:xfrm>
              <a:prstGeom prst="ellipse">
                <a:avLst/>
              </a:prstGeom>
              <a:solidFill>
                <a:schemeClr val="bg1">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Arrow: Down 12">
              <a:extLst>
                <a:ext uri="{FF2B5EF4-FFF2-40B4-BE49-F238E27FC236}">
                  <a16:creationId xmlns:a16="http://schemas.microsoft.com/office/drawing/2014/main" id="{C7EEB938-3D56-90E7-792A-9CA0E97954F2}"/>
                </a:ext>
              </a:extLst>
            </p:cNvPr>
            <p:cNvSpPr/>
            <p:nvPr/>
          </p:nvSpPr>
          <p:spPr>
            <a:xfrm rot="10800000">
              <a:off x="2180668" y="944082"/>
              <a:ext cx="64085" cy="65604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Arrow: Down 14">
            <a:extLst>
              <a:ext uri="{FF2B5EF4-FFF2-40B4-BE49-F238E27FC236}">
                <a16:creationId xmlns:a16="http://schemas.microsoft.com/office/drawing/2014/main" id="{4990DA37-F1EA-9C41-5B0D-F90B076CD7A6}"/>
              </a:ext>
            </a:extLst>
          </p:cNvPr>
          <p:cNvSpPr/>
          <p:nvPr/>
        </p:nvSpPr>
        <p:spPr>
          <a:xfrm rot="5400000">
            <a:off x="2091166" y="1668391"/>
            <a:ext cx="58302" cy="34488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531929CC-00F9-CD9A-40F9-6FA5F760342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Arrow: Down 1">
            <a:extLst>
              <a:ext uri="{FF2B5EF4-FFF2-40B4-BE49-F238E27FC236}">
                <a16:creationId xmlns:a16="http://schemas.microsoft.com/office/drawing/2014/main" id="{1475B234-F511-D6F0-C92A-BAF9E31C0A93}"/>
              </a:ext>
            </a:extLst>
          </p:cNvPr>
          <p:cNvSpPr/>
          <p:nvPr/>
        </p:nvSpPr>
        <p:spPr>
          <a:xfrm rot="10800000">
            <a:off x="2471387" y="887877"/>
            <a:ext cx="45719" cy="744408"/>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A646C46E-A6E9-D590-E444-666C462BDEF0}"/>
              </a:ext>
            </a:extLst>
          </p:cNvPr>
          <p:cNvSpPr txBox="1"/>
          <p:nvPr/>
        </p:nvSpPr>
        <p:spPr>
          <a:xfrm>
            <a:off x="1342397" y="1157548"/>
            <a:ext cx="804473" cy="246221"/>
          </a:xfrm>
          <a:prstGeom prst="rect">
            <a:avLst/>
          </a:prstGeom>
          <a:noFill/>
        </p:spPr>
        <p:txBody>
          <a:bodyPr wrap="square">
            <a:spAutoFit/>
          </a:bodyPr>
          <a:lstStyle/>
          <a:p>
            <a:pPr marL="0" marR="0" algn="r">
              <a:spcBef>
                <a:spcPts val="0"/>
              </a:spcBef>
              <a:spcAft>
                <a:spcPts val="0"/>
              </a:spcAft>
            </a:pPr>
            <a:r>
              <a:rPr lang="en-US" sz="1000" dirty="0">
                <a:solidFill>
                  <a:srgbClr val="000000"/>
                </a:solidFill>
                <a:latin typeface="Times New Roman" panose="02020603050405020304" pitchFamily="18" charset="0"/>
                <a:ea typeface="Calibri" panose="020F0502020204030204" pitchFamily="34" charset="0"/>
              </a:rPr>
              <a:t>Lift Vector</a:t>
            </a:r>
            <a:endParaRPr lang="en-US" sz="1000" dirty="0">
              <a:solidFill>
                <a:srgbClr val="000000"/>
              </a:solidFill>
              <a:effectLst/>
              <a:latin typeface="Times New Roman" panose="02020603050405020304" pitchFamily="18" charset="0"/>
              <a:ea typeface="Calibri" panose="020F0502020204030204" pitchFamily="34" charset="0"/>
            </a:endParaRPr>
          </a:p>
        </p:txBody>
      </p:sp>
      <p:sp>
        <p:nvSpPr>
          <p:cNvPr id="19" name="TextBox 18">
            <a:extLst>
              <a:ext uri="{FF2B5EF4-FFF2-40B4-BE49-F238E27FC236}">
                <a16:creationId xmlns:a16="http://schemas.microsoft.com/office/drawing/2014/main" id="{F39243FD-21C9-1108-D343-05BB976C13EE}"/>
              </a:ext>
            </a:extLst>
          </p:cNvPr>
          <p:cNvSpPr txBox="1"/>
          <p:nvPr/>
        </p:nvSpPr>
        <p:spPr>
          <a:xfrm>
            <a:off x="613994" y="1710412"/>
            <a:ext cx="1371578" cy="246221"/>
          </a:xfrm>
          <a:prstGeom prst="rect">
            <a:avLst/>
          </a:prstGeom>
          <a:noFill/>
        </p:spPr>
        <p:txBody>
          <a:bodyPr wrap="square">
            <a:spAutoFit/>
          </a:bodyPr>
          <a:lstStyle/>
          <a:p>
            <a:pPr marL="0" marR="0" algn="r">
              <a:spcBef>
                <a:spcPts val="0"/>
              </a:spcBef>
              <a:spcAft>
                <a:spcPts val="0"/>
              </a:spcAft>
            </a:pPr>
            <a:r>
              <a:rPr lang="en-US" sz="1000" dirty="0">
                <a:solidFill>
                  <a:srgbClr val="000000"/>
                </a:solidFill>
                <a:latin typeface="Times New Roman" panose="02020603050405020304" pitchFamily="18" charset="0"/>
                <a:ea typeface="Calibri" panose="020F0502020204030204" pitchFamily="34" charset="0"/>
              </a:rPr>
              <a:t>Horizontal Component</a:t>
            </a:r>
            <a:endParaRPr lang="en-US" sz="1000" dirty="0">
              <a:solidFill>
                <a:srgbClr val="000000"/>
              </a:solidFill>
              <a:effectLst/>
              <a:latin typeface="Times New Roman" panose="02020603050405020304" pitchFamily="18" charset="0"/>
              <a:ea typeface="Calibri" panose="020F0502020204030204" pitchFamily="34" charset="0"/>
            </a:endParaRPr>
          </a:p>
        </p:txBody>
      </p:sp>
      <p:sp>
        <p:nvSpPr>
          <p:cNvPr id="20" name="TextBox 19">
            <a:extLst>
              <a:ext uri="{FF2B5EF4-FFF2-40B4-BE49-F238E27FC236}">
                <a16:creationId xmlns:a16="http://schemas.microsoft.com/office/drawing/2014/main" id="{A6CBFF01-03DD-6EDA-9A58-FD87D7ABD73F}"/>
              </a:ext>
            </a:extLst>
          </p:cNvPr>
          <p:cNvSpPr txBox="1"/>
          <p:nvPr/>
        </p:nvSpPr>
        <p:spPr>
          <a:xfrm>
            <a:off x="2517106" y="1110926"/>
            <a:ext cx="1336637" cy="246221"/>
          </a:xfrm>
          <a:prstGeom prst="rect">
            <a:avLst/>
          </a:prstGeom>
          <a:noFill/>
        </p:spPr>
        <p:txBody>
          <a:bodyPr wrap="square">
            <a:spAutoFit/>
          </a:bodyPr>
          <a:lstStyle/>
          <a:p>
            <a:pPr marL="0" marR="0">
              <a:spcBef>
                <a:spcPts val="0"/>
              </a:spcBef>
              <a:spcAft>
                <a:spcPts val="0"/>
              </a:spcAft>
            </a:pPr>
            <a:r>
              <a:rPr lang="en-US" sz="1000" dirty="0">
                <a:solidFill>
                  <a:srgbClr val="000000"/>
                </a:solidFill>
                <a:latin typeface="Times New Roman" panose="02020603050405020304" pitchFamily="18" charset="0"/>
                <a:ea typeface="Calibri" panose="020F0502020204030204" pitchFamily="34" charset="0"/>
              </a:rPr>
              <a:t>Vertical Component</a:t>
            </a:r>
            <a:endParaRPr lang="en-US" sz="1000" dirty="0">
              <a:solidFill>
                <a:srgbClr val="000000"/>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4042945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DAEF79-23A0-7BB6-AAE4-972D8DEAA655}"/>
              </a:ext>
            </a:extLst>
          </p:cNvPr>
          <p:cNvSpPr txBox="1"/>
          <p:nvPr/>
        </p:nvSpPr>
        <p:spPr>
          <a:xfrm>
            <a:off x="301215" y="987392"/>
            <a:ext cx="3969569" cy="768415"/>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As airspeed decreases,</a:t>
            </a:r>
            <a:r>
              <a:rPr lang="en-US" sz="1400" dirty="0">
                <a:latin typeface="Times New Roman" panose="02020603050405020304" pitchFamily="18" charset="0"/>
                <a:ea typeface="Calibri" panose="020F0502020204030204" pitchFamily="34" charset="0"/>
                <a:cs typeface="Times New Roman" panose="02020603050405020304" pitchFamily="18" charset="0"/>
              </a:rPr>
              <a:t> what type of </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drag increases?</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Assume you are maintaining level flight.</a:t>
            </a:r>
          </a:p>
        </p:txBody>
      </p:sp>
      <p:sp>
        <p:nvSpPr>
          <p:cNvPr id="5" name="TextBox 4">
            <a:extLst>
              <a:ext uri="{FF2B5EF4-FFF2-40B4-BE49-F238E27FC236}">
                <a16:creationId xmlns:a16="http://schemas.microsoft.com/office/drawing/2014/main" id="{63F7D85A-B056-BFF2-2500-ABF7EEFC330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9ADF7C46-BC57-3AF6-B8BA-63F84A0CB77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858A0AE5-4195-78BA-2FBF-7A3D121A753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492707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D07E13-3264-FAC5-AE01-6B7465AA2D57}"/>
              </a:ext>
            </a:extLst>
          </p:cNvPr>
          <p:cNvSpPr txBox="1"/>
          <p:nvPr/>
        </p:nvSpPr>
        <p:spPr>
          <a:xfrm>
            <a:off x="402093" y="756880"/>
            <a:ext cx="3767814" cy="122943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Induced drag increases when airspeed decreases.</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To maintain level flight as airspeed decreases, we must increase our AOA. As AOA increases, our induced drag increases.</a:t>
            </a:r>
          </a:p>
        </p:txBody>
      </p:sp>
      <p:sp>
        <p:nvSpPr>
          <p:cNvPr id="4" name="TextBox 3">
            <a:extLst>
              <a:ext uri="{FF2B5EF4-FFF2-40B4-BE49-F238E27FC236}">
                <a16:creationId xmlns:a16="http://schemas.microsoft.com/office/drawing/2014/main" id="{403D87C2-B2D6-06E8-49AD-ACC54853FA1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3425135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6F9938-3AD0-5909-8A8B-BB2A89C3A011}"/>
              </a:ext>
            </a:extLst>
          </p:cNvPr>
          <p:cNvSpPr txBox="1"/>
          <p:nvPr/>
        </p:nvSpPr>
        <p:spPr>
          <a:xfrm>
            <a:off x="1007327" y="1102648"/>
            <a:ext cx="2557345" cy="570862"/>
          </a:xfrm>
          <a:prstGeom prst="rect">
            <a:avLst/>
          </a:prstGeom>
          <a:noFill/>
        </p:spPr>
        <p:txBody>
          <a:bodyPr wrap="square">
            <a:spAutoFit/>
          </a:bodyPr>
          <a:lstStyle/>
          <a:p>
            <a:pPr marL="0" marR="0" algn="ctr">
              <a:lnSpc>
                <a:spcPct val="107000"/>
              </a:lnSpc>
              <a:spcBef>
                <a:spcPts val="0"/>
              </a:spcBef>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What is camber angle?</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FAA-H-8083-25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D4782B2-99D2-A097-1F36-30DDB6C036B0}"/>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EA3A5158-9047-D518-D1EC-52B48E28160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6A37774-4926-E410-7DCD-50358C26301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142943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C1CF27-59FD-273D-705E-BEB80EB23D51}"/>
              </a:ext>
            </a:extLst>
          </p:cNvPr>
          <p:cNvSpPr txBox="1"/>
          <p:nvPr/>
        </p:nvSpPr>
        <p:spPr>
          <a:xfrm>
            <a:off x="424743" y="331930"/>
            <a:ext cx="3645402" cy="307392"/>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Layman’s terms: it is the curvature of the wing.</a:t>
            </a:r>
          </a:p>
        </p:txBody>
      </p:sp>
      <p:sp>
        <p:nvSpPr>
          <p:cNvPr id="4" name="TextBox 3">
            <a:extLst>
              <a:ext uri="{FF2B5EF4-FFF2-40B4-BE49-F238E27FC236}">
                <a16:creationId xmlns:a16="http://schemas.microsoft.com/office/drawing/2014/main" id="{057E3F51-0774-7FF8-C332-53B5E62FF458}"/>
              </a:ext>
            </a:extLst>
          </p:cNvPr>
          <p:cNvSpPr txBox="1"/>
          <p:nvPr/>
        </p:nvSpPr>
        <p:spPr>
          <a:xfrm>
            <a:off x="326572" y="639322"/>
            <a:ext cx="3841744" cy="1067087"/>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Varsity Level: It is the angle between a fixed horizontal reference line and a line drawn from the most forward leading edge of the wing to the most trailing edge of the wing.  </a:t>
            </a:r>
            <a:r>
              <a:rPr lang="en-US" sz="1200" dirty="0">
                <a:latin typeface="Times New Roman" panose="02020603050405020304" pitchFamily="18" charset="0"/>
                <a:ea typeface="Calibri" panose="020F0502020204030204" pitchFamily="34" charset="0"/>
                <a:cs typeface="Times New Roman" panose="02020603050405020304" pitchFamily="18" charset="0"/>
              </a:rPr>
              <a:t>W</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e can change camber angle by lower flaps or extending slats.</a:t>
            </a:r>
          </a:p>
        </p:txBody>
      </p:sp>
      <p:sp>
        <p:nvSpPr>
          <p:cNvPr id="6" name="TextBox 5">
            <a:extLst>
              <a:ext uri="{FF2B5EF4-FFF2-40B4-BE49-F238E27FC236}">
                <a16:creationId xmlns:a16="http://schemas.microsoft.com/office/drawing/2014/main" id="{3CA2D3D8-272E-8608-5C16-E02CF9D8A2E3}"/>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pic>
        <p:nvPicPr>
          <p:cNvPr id="17" name="Picture 16">
            <a:extLst>
              <a:ext uri="{FF2B5EF4-FFF2-40B4-BE49-F238E27FC236}">
                <a16:creationId xmlns:a16="http://schemas.microsoft.com/office/drawing/2014/main" id="{AFBFA20D-55B7-AE79-3CC3-068843CF8991}"/>
              </a:ext>
            </a:extLst>
          </p:cNvPr>
          <p:cNvPicPr>
            <a:picLocks noChangeAspect="1"/>
          </p:cNvPicPr>
          <p:nvPr/>
        </p:nvPicPr>
        <p:blipFill>
          <a:blip r:embed="rId2"/>
          <a:stretch>
            <a:fillRect/>
          </a:stretch>
        </p:blipFill>
        <p:spPr>
          <a:xfrm>
            <a:off x="431204" y="1763648"/>
            <a:ext cx="3632479" cy="500306"/>
          </a:xfrm>
          <a:prstGeom prst="rect">
            <a:avLst/>
          </a:prstGeom>
        </p:spPr>
      </p:pic>
    </p:spTree>
    <p:extLst>
      <p:ext uri="{BB962C8B-B14F-4D97-AF65-F5344CB8AC3E}">
        <p14:creationId xmlns:p14="http://schemas.microsoft.com/office/powerpoint/2010/main" val="2666360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2F5DC0-5ADB-12CF-E88E-576627CDA76F}"/>
              </a:ext>
            </a:extLst>
          </p:cNvPr>
          <p:cNvSpPr txBox="1"/>
          <p:nvPr/>
        </p:nvSpPr>
        <p:spPr>
          <a:xfrm>
            <a:off x="414028" y="591082"/>
            <a:ext cx="3743944" cy="1459951"/>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If you plot total drag (induced drag plus parasitic drag) versus airspeed on a graph, the airspeed on the graph where the drag is the lowest is called____________ .</a:t>
            </a:r>
          </a:p>
          <a:p>
            <a:pPr marL="0" marR="0" algn="just">
              <a:lnSpc>
                <a:spcPct val="107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FAA-H-8083-3</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BB59CA7-304E-47C4-7CFC-BC51E9629467}"/>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12CCDEA3-CE1A-B12B-4E82-63372D97AEB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691531A-D412-A768-69AA-F303FC16C52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27890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CB8DFC-1733-4C55-BD05-6181457B9748}"/>
              </a:ext>
            </a:extLst>
          </p:cNvPr>
          <p:cNvSpPr txBox="1"/>
          <p:nvPr/>
        </p:nvSpPr>
        <p:spPr>
          <a:xfrm>
            <a:off x="245543" y="323073"/>
            <a:ext cx="1735653" cy="261290"/>
          </a:xfrm>
          <a:prstGeom prst="rect">
            <a:avLst/>
          </a:prstGeom>
          <a:noFill/>
        </p:spPr>
        <p:txBody>
          <a:bodyPr wrap="square">
            <a:spAutoFit/>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Vg or Best Glide</a:t>
            </a:r>
          </a:p>
        </p:txBody>
      </p:sp>
      <p:sp>
        <p:nvSpPr>
          <p:cNvPr id="6" name="TextBox 5">
            <a:extLst>
              <a:ext uri="{FF2B5EF4-FFF2-40B4-BE49-F238E27FC236}">
                <a16:creationId xmlns:a16="http://schemas.microsoft.com/office/drawing/2014/main" id="{F4C8BD8F-1C4C-35F4-64FB-F680B1AA13FC}"/>
              </a:ext>
            </a:extLst>
          </p:cNvPr>
          <p:cNvSpPr txBox="1"/>
          <p:nvPr/>
        </p:nvSpPr>
        <p:spPr>
          <a:xfrm>
            <a:off x="245543" y="560196"/>
            <a:ext cx="1735653" cy="1892506"/>
          </a:xfrm>
          <a:prstGeom prst="rect">
            <a:avLst/>
          </a:prstGeom>
          <a:noFill/>
        </p:spPr>
        <p:txBody>
          <a:bodyPr wrap="square">
            <a:spAutoFit/>
          </a:bodyPr>
          <a:lstStyle/>
          <a:p>
            <a:pPr marL="0" marR="0" algn="just">
              <a:lnSpc>
                <a:spcPct val="107000"/>
              </a:lnSpc>
              <a:spcBef>
                <a:spcPts val="0"/>
              </a:spcBef>
              <a:spcAft>
                <a:spcPts val="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Varsity Level: Vg is also known as L/Dmax (lift over drag maximum). This is often pronounced as “ L over D max.”</a:t>
            </a:r>
          </a:p>
          <a:p>
            <a:pPr marL="0" marR="0">
              <a:lnSpc>
                <a:spcPct val="107000"/>
              </a:lnSpc>
              <a:spcBef>
                <a:spcPts val="0"/>
              </a:spcBef>
              <a:spcAft>
                <a:spcPts val="0"/>
              </a:spcAft>
            </a:pPr>
            <a:endParaRPr lang="en-US" sz="10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L/Dmax is also known as Max Range airspeed. It gives us the maximum range travelled with the minimum altitude lost.</a:t>
            </a:r>
          </a:p>
        </p:txBody>
      </p:sp>
      <p:sp>
        <p:nvSpPr>
          <p:cNvPr id="8" name="Arc 7">
            <a:extLst>
              <a:ext uri="{FF2B5EF4-FFF2-40B4-BE49-F238E27FC236}">
                <a16:creationId xmlns:a16="http://schemas.microsoft.com/office/drawing/2014/main" id="{40DAAC95-FEFF-73F9-53FD-B58B49E65203}"/>
              </a:ext>
            </a:extLst>
          </p:cNvPr>
          <p:cNvSpPr/>
          <p:nvPr/>
        </p:nvSpPr>
        <p:spPr>
          <a:xfrm>
            <a:off x="2912442" y="213721"/>
            <a:ext cx="922591" cy="1341317"/>
          </a:xfrm>
          <a:prstGeom prst="arc">
            <a:avLst>
              <a:gd name="adj1" fmla="val 21412271"/>
              <a:gd name="adj2" fmla="val 1097547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dirty="0"/>
          </a:p>
        </p:txBody>
      </p:sp>
      <p:cxnSp>
        <p:nvCxnSpPr>
          <p:cNvPr id="12" name="Straight Connector 11">
            <a:extLst>
              <a:ext uri="{FF2B5EF4-FFF2-40B4-BE49-F238E27FC236}">
                <a16:creationId xmlns:a16="http://schemas.microsoft.com/office/drawing/2014/main" id="{7FD20646-57A2-03DF-F9DB-F42D745B74D4}"/>
              </a:ext>
            </a:extLst>
          </p:cNvPr>
          <p:cNvCxnSpPr>
            <a:cxnSpLocks/>
          </p:cNvCxnSpPr>
          <p:nvPr/>
        </p:nvCxnSpPr>
        <p:spPr>
          <a:xfrm>
            <a:off x="3376520" y="1555038"/>
            <a:ext cx="0" cy="33704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4F48F6A8-7CCD-9FEE-ABB9-5025983AFF07}"/>
              </a:ext>
            </a:extLst>
          </p:cNvPr>
          <p:cNvSpPr/>
          <p:nvPr/>
        </p:nvSpPr>
        <p:spPr>
          <a:xfrm>
            <a:off x="2713003" y="453718"/>
            <a:ext cx="1495348" cy="1370156"/>
          </a:xfrm>
          <a:custGeom>
            <a:avLst/>
            <a:gdLst>
              <a:gd name="connsiteX0" fmla="*/ 0 w 2047875"/>
              <a:gd name="connsiteY0" fmla="*/ 0 h 1876425"/>
              <a:gd name="connsiteX1" fmla="*/ 0 w 2047875"/>
              <a:gd name="connsiteY1" fmla="*/ 1876425 h 1876425"/>
              <a:gd name="connsiteX2" fmla="*/ 2047875 w 2047875"/>
              <a:gd name="connsiteY2" fmla="*/ 1876425 h 1876425"/>
            </a:gdLst>
            <a:ahLst/>
            <a:cxnLst>
              <a:cxn ang="0">
                <a:pos x="connsiteX0" y="connsiteY0"/>
              </a:cxn>
              <a:cxn ang="0">
                <a:pos x="connsiteX1" y="connsiteY1"/>
              </a:cxn>
              <a:cxn ang="0">
                <a:pos x="connsiteX2" y="connsiteY2"/>
              </a:cxn>
            </a:cxnLst>
            <a:rect l="l" t="t" r="r" b="b"/>
            <a:pathLst>
              <a:path w="2047875" h="1876425">
                <a:moveTo>
                  <a:pt x="0" y="0"/>
                </a:moveTo>
                <a:lnTo>
                  <a:pt x="0" y="1876425"/>
                </a:lnTo>
                <a:lnTo>
                  <a:pt x="2047875" y="1876425"/>
                </a:ln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6" name="TextBox 15">
            <a:extLst>
              <a:ext uri="{FF2B5EF4-FFF2-40B4-BE49-F238E27FC236}">
                <a16:creationId xmlns:a16="http://schemas.microsoft.com/office/drawing/2014/main" id="{3EA615F8-1B94-2BD4-E364-7A889786E622}"/>
              </a:ext>
            </a:extLst>
          </p:cNvPr>
          <p:cNvSpPr txBox="1"/>
          <p:nvPr/>
        </p:nvSpPr>
        <p:spPr>
          <a:xfrm>
            <a:off x="3098856" y="1892085"/>
            <a:ext cx="620684" cy="461665"/>
          </a:xfrm>
          <a:prstGeom prst="rect">
            <a:avLst/>
          </a:prstGeom>
          <a:noFill/>
          <a:ln>
            <a:noFill/>
          </a:ln>
        </p:spPr>
        <p:txBody>
          <a:bodyPr wrap="none" rtlCol="0">
            <a:spAutoFit/>
          </a:bodyPr>
          <a:lstStyle/>
          <a:p>
            <a:pPr algn="ctr"/>
            <a:r>
              <a:rPr lang="en-US" sz="800" dirty="0">
                <a:latin typeface="Times New Roman" panose="02020603050405020304" pitchFamily="18" charset="0"/>
                <a:cs typeface="Times New Roman" panose="02020603050405020304" pitchFamily="18" charset="0"/>
              </a:rPr>
              <a:t>Vg</a:t>
            </a:r>
          </a:p>
          <a:p>
            <a:pPr algn="ctr"/>
            <a:r>
              <a:rPr lang="en-US" sz="800" dirty="0">
                <a:latin typeface="Times New Roman" panose="02020603050405020304" pitchFamily="18" charset="0"/>
                <a:cs typeface="Times New Roman" panose="02020603050405020304" pitchFamily="18" charset="0"/>
              </a:rPr>
              <a:t>Best Glide</a:t>
            </a:r>
          </a:p>
          <a:p>
            <a:pPr algn="ctr"/>
            <a:r>
              <a:rPr lang="en-US" sz="800" dirty="0">
                <a:latin typeface="Times New Roman" panose="02020603050405020304" pitchFamily="18" charset="0"/>
                <a:cs typeface="Times New Roman" panose="02020603050405020304" pitchFamily="18" charset="0"/>
              </a:rPr>
              <a:t>L/Dmax</a:t>
            </a:r>
          </a:p>
        </p:txBody>
      </p:sp>
      <p:sp>
        <p:nvSpPr>
          <p:cNvPr id="3" name="TextBox 2">
            <a:extLst>
              <a:ext uri="{FF2B5EF4-FFF2-40B4-BE49-F238E27FC236}">
                <a16:creationId xmlns:a16="http://schemas.microsoft.com/office/drawing/2014/main" id="{6BA883CC-AF6D-CA26-D1A7-CEAA1A884926}"/>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cxnSp>
        <p:nvCxnSpPr>
          <p:cNvPr id="2" name="Straight Connector 1">
            <a:extLst>
              <a:ext uri="{FF2B5EF4-FFF2-40B4-BE49-F238E27FC236}">
                <a16:creationId xmlns:a16="http://schemas.microsoft.com/office/drawing/2014/main" id="{B61A5A5A-8F93-9E0C-5112-95C00EC2A1AE}"/>
              </a:ext>
            </a:extLst>
          </p:cNvPr>
          <p:cNvCxnSpPr>
            <a:cxnSpLocks/>
          </p:cNvCxnSpPr>
          <p:nvPr/>
        </p:nvCxnSpPr>
        <p:spPr>
          <a:xfrm>
            <a:off x="2562330" y="1555038"/>
            <a:ext cx="78735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96D39AF-CE59-AD09-1DC5-6112700962B1}"/>
              </a:ext>
            </a:extLst>
          </p:cNvPr>
          <p:cNvSpPr txBox="1"/>
          <p:nvPr/>
        </p:nvSpPr>
        <p:spPr>
          <a:xfrm>
            <a:off x="2113400" y="1324205"/>
            <a:ext cx="547666" cy="461665"/>
          </a:xfrm>
          <a:prstGeom prst="rect">
            <a:avLst/>
          </a:prstGeom>
          <a:noFill/>
          <a:ln>
            <a:noFill/>
          </a:ln>
        </p:spPr>
        <p:txBody>
          <a:bodyPr wrap="square" rtlCol="0">
            <a:spAutoFit/>
          </a:bodyPr>
          <a:lstStyle/>
          <a:p>
            <a:pPr algn="ctr"/>
            <a:r>
              <a:rPr lang="en-US" sz="800" dirty="0">
                <a:latin typeface="Times New Roman" panose="02020603050405020304" pitchFamily="18" charset="0"/>
                <a:cs typeface="Times New Roman" panose="02020603050405020304" pitchFamily="18" charset="0"/>
              </a:rPr>
              <a:t>Lowest Total Drag</a:t>
            </a:r>
          </a:p>
        </p:txBody>
      </p:sp>
    </p:spTree>
    <p:extLst>
      <p:ext uri="{BB962C8B-B14F-4D97-AF65-F5344CB8AC3E}">
        <p14:creationId xmlns:p14="http://schemas.microsoft.com/office/powerpoint/2010/main" val="2961567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2B1E13-17AA-E084-5802-AED7C6F7277C}"/>
              </a:ext>
            </a:extLst>
          </p:cNvPr>
          <p:cNvSpPr txBox="1"/>
          <p:nvPr/>
        </p:nvSpPr>
        <p:spPr>
          <a:xfrm>
            <a:off x="676275" y="1102648"/>
            <a:ext cx="3219450" cy="537904"/>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When the velocity of a fluid increases, its pressure __________.</a:t>
            </a:r>
          </a:p>
        </p:txBody>
      </p:sp>
      <p:sp>
        <p:nvSpPr>
          <p:cNvPr id="2" name="TextBox 1">
            <a:extLst>
              <a:ext uri="{FF2B5EF4-FFF2-40B4-BE49-F238E27FC236}">
                <a16:creationId xmlns:a16="http://schemas.microsoft.com/office/drawing/2014/main" id="{C411C18A-4A23-1906-B2A5-D182E8B1440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3" name="Rectangle 2">
            <a:extLst>
              <a:ext uri="{FF2B5EF4-FFF2-40B4-BE49-F238E27FC236}">
                <a16:creationId xmlns:a16="http://schemas.microsoft.com/office/drawing/2014/main" id="{1DECA657-A24C-E9C8-9D9F-E950E6A6A1E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B65D0A79-B8C5-695C-EE7D-DCCD57EA5DC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332689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81B90F-3EC1-36A8-17A5-762DBD0C2B30}"/>
              </a:ext>
            </a:extLst>
          </p:cNvPr>
          <p:cNvSpPr txBox="1"/>
          <p:nvPr/>
        </p:nvSpPr>
        <p:spPr>
          <a:xfrm>
            <a:off x="254118" y="711166"/>
            <a:ext cx="4063764" cy="122943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Decreases.</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pPr>
            <a:r>
              <a:rPr lang="en-US" sz="1400" dirty="0">
                <a:latin typeface="Times New Roman" panose="02020603050405020304" pitchFamily="18" charset="0"/>
                <a:ea typeface="Calibri" panose="020F0502020204030204" pitchFamily="34" charset="0"/>
                <a:cs typeface="Times New Roman" panose="02020603050405020304" pitchFamily="18" charset="0"/>
              </a:rPr>
              <a:t>Known as Bernoulli's Principle. </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This is the principle behind how a wing generates lift and one of the contributing factors that lead to carb icing.</a:t>
            </a:r>
          </a:p>
        </p:txBody>
      </p:sp>
      <p:sp>
        <p:nvSpPr>
          <p:cNvPr id="4" name="TextBox 3">
            <a:extLst>
              <a:ext uri="{FF2B5EF4-FFF2-40B4-BE49-F238E27FC236}">
                <a16:creationId xmlns:a16="http://schemas.microsoft.com/office/drawing/2014/main" id="{BE5A47DC-AEC1-983A-E109-1AA9B030448C}"/>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2161521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2B1E13-17AA-E084-5802-AED7C6F7277C}"/>
              </a:ext>
            </a:extLst>
          </p:cNvPr>
          <p:cNvSpPr txBox="1"/>
          <p:nvPr/>
        </p:nvSpPr>
        <p:spPr>
          <a:xfrm>
            <a:off x="676275" y="1217904"/>
            <a:ext cx="3219450" cy="307392"/>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Vy?</a:t>
            </a:r>
          </a:p>
        </p:txBody>
      </p:sp>
      <p:sp>
        <p:nvSpPr>
          <p:cNvPr id="2" name="TextBox 1">
            <a:extLst>
              <a:ext uri="{FF2B5EF4-FFF2-40B4-BE49-F238E27FC236}">
                <a16:creationId xmlns:a16="http://schemas.microsoft.com/office/drawing/2014/main" id="{C411C18A-4A23-1906-B2A5-D182E8B1440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3" name="Rectangle 2">
            <a:extLst>
              <a:ext uri="{FF2B5EF4-FFF2-40B4-BE49-F238E27FC236}">
                <a16:creationId xmlns:a16="http://schemas.microsoft.com/office/drawing/2014/main" id="{3F3FD70C-E988-B37E-28CD-DC8A974BC70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5C345CA3-026C-55CC-5221-4EF8044224B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7267557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81B90F-3EC1-36A8-17A5-762DBD0C2B30}"/>
              </a:ext>
            </a:extLst>
          </p:cNvPr>
          <p:cNvSpPr txBox="1"/>
          <p:nvPr/>
        </p:nvSpPr>
        <p:spPr>
          <a:xfrm>
            <a:off x="254118" y="499246"/>
            <a:ext cx="4063764" cy="1744708"/>
          </a:xfrm>
          <a:prstGeom prst="rect">
            <a:avLst/>
          </a:prstGeom>
          <a:noFill/>
        </p:spPr>
        <p:txBody>
          <a:bodyPr wrap="square">
            <a:spAutoFit/>
          </a:bodyPr>
          <a:lstStyle/>
          <a:p>
            <a:pPr marL="0" marR="0" algn="ctr">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Vy is Best Rate of Climb Speed.</a:t>
            </a:r>
          </a:p>
          <a:p>
            <a:pPr marL="0" marR="0" algn="ctr">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It is the airspeed where the greatest amount of excess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power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is available over that required for level flight. Vy will produce the most gain in altitude in the least amount of time (maximum rate of climb in feet per minute). </a:t>
            </a:r>
            <a:r>
              <a:rPr lang="en-US" sz="1200" dirty="0">
                <a:latin typeface="Times New Roman" panose="02020603050405020304" pitchFamily="18" charset="0"/>
                <a:ea typeface="Calibri" panose="020F0502020204030204" pitchFamily="34" charset="0"/>
                <a:cs typeface="Times New Roman" panose="02020603050405020304" pitchFamily="18" charset="0"/>
              </a:rPr>
              <a:t>Any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attempts to obtain better climb performance by increasing pitch attitude will result in a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decrease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in climb rate.</a:t>
            </a:r>
          </a:p>
        </p:txBody>
      </p:sp>
      <p:sp>
        <p:nvSpPr>
          <p:cNvPr id="4" name="TextBox 3">
            <a:extLst>
              <a:ext uri="{FF2B5EF4-FFF2-40B4-BE49-F238E27FC236}">
                <a16:creationId xmlns:a16="http://schemas.microsoft.com/office/drawing/2014/main" id="{BE5A47DC-AEC1-983A-E109-1AA9B030448C}"/>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4037544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BA8EC5-9C4B-B771-ED37-92FBE516ADD9}"/>
              </a:ext>
            </a:extLst>
          </p:cNvPr>
          <p:cNvSpPr txBox="1"/>
          <p:nvPr/>
        </p:nvSpPr>
        <p:spPr>
          <a:xfrm>
            <a:off x="397669" y="1215852"/>
            <a:ext cx="3776662" cy="311496"/>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What is wing dihedral?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F388951-5BAB-BD37-E12F-7D8308B975B5}"/>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40A95992-7298-7C00-F56A-777ED64BBAE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0E14904-9730-635B-FC98-57732FD0CBE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129784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99D654-E9B7-97CF-9A51-5709E86C9CE9}"/>
              </a:ext>
            </a:extLst>
          </p:cNvPr>
          <p:cNvSpPr txBox="1"/>
          <p:nvPr/>
        </p:nvSpPr>
        <p:spPr>
          <a:xfrm>
            <a:off x="397669" y="387946"/>
            <a:ext cx="3776662" cy="772519"/>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 design in which the wings slope upwards from the root. This design makes for a stable platform and tends to upright itself.</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4" name="Group 3">
            <a:extLst>
              <a:ext uri="{FF2B5EF4-FFF2-40B4-BE49-F238E27FC236}">
                <a16:creationId xmlns:a16="http://schemas.microsoft.com/office/drawing/2014/main" id="{3F04CED5-DA16-8B5E-E6A1-D9D94E398CDB}"/>
              </a:ext>
            </a:extLst>
          </p:cNvPr>
          <p:cNvGrpSpPr/>
          <p:nvPr/>
        </p:nvGrpSpPr>
        <p:grpSpPr>
          <a:xfrm>
            <a:off x="1417576" y="1256983"/>
            <a:ext cx="1074977" cy="288067"/>
            <a:chOff x="6124921" y="1257555"/>
            <a:chExt cx="1813219" cy="485898"/>
          </a:xfrm>
        </p:grpSpPr>
        <p:sp>
          <p:nvSpPr>
            <p:cNvPr id="5" name="Freeform: Shape 4">
              <a:extLst>
                <a:ext uri="{FF2B5EF4-FFF2-40B4-BE49-F238E27FC236}">
                  <a16:creationId xmlns:a16="http://schemas.microsoft.com/office/drawing/2014/main" id="{76386DE7-4B09-025E-0B39-1A343BB86D04}"/>
                </a:ext>
              </a:extLst>
            </p:cNvPr>
            <p:cNvSpPr/>
            <p:nvPr/>
          </p:nvSpPr>
          <p:spPr>
            <a:xfrm rot="16200000">
              <a:off x="6862881" y="1419531"/>
              <a:ext cx="40775" cy="300250"/>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F89AD0C9-DF48-B2FD-012D-10E50DDB91E2}"/>
                </a:ext>
              </a:extLst>
            </p:cNvPr>
            <p:cNvSpPr/>
            <p:nvPr/>
          </p:nvSpPr>
          <p:spPr>
            <a:xfrm rot="5400000">
              <a:off x="7155718" y="1421102"/>
              <a:ext cx="40775" cy="300250"/>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966A9E4B-AE52-C22A-826E-DED35C5B677A}"/>
                </a:ext>
              </a:extLst>
            </p:cNvPr>
            <p:cNvSpPr/>
            <p:nvPr/>
          </p:nvSpPr>
          <p:spPr>
            <a:xfrm>
              <a:off x="7009578" y="1257555"/>
              <a:ext cx="40775" cy="300250"/>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CAB7D862-D6EC-3EC9-BFB4-6BFE91B12FA6}"/>
                </a:ext>
              </a:extLst>
            </p:cNvPr>
            <p:cNvSpPr/>
            <p:nvPr/>
          </p:nvSpPr>
          <p:spPr>
            <a:xfrm>
              <a:off x="7137473" y="1594059"/>
              <a:ext cx="800667" cy="100083"/>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A157F334-6E14-0E58-89BD-D55818990C8A}"/>
                </a:ext>
              </a:extLst>
            </p:cNvPr>
            <p:cNvSpPr/>
            <p:nvPr/>
          </p:nvSpPr>
          <p:spPr>
            <a:xfrm flipH="1">
              <a:off x="6124921" y="1595351"/>
              <a:ext cx="800667" cy="100083"/>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1A482A13-038C-556D-5D7A-A52F31305ABC}"/>
                </a:ext>
              </a:extLst>
            </p:cNvPr>
            <p:cNvSpPr/>
            <p:nvPr/>
          </p:nvSpPr>
          <p:spPr>
            <a:xfrm>
              <a:off x="6919987" y="1391081"/>
              <a:ext cx="221203" cy="333447"/>
            </a:xfrm>
            <a:prstGeom prst="ellipse">
              <a:avLst/>
            </a:prstGeom>
            <a:solidFill>
              <a:schemeClr val="bg2">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25B47921-A27C-FF31-63FC-C905724FCA2D}"/>
                </a:ext>
              </a:extLst>
            </p:cNvPr>
            <p:cNvSpPr/>
            <p:nvPr/>
          </p:nvSpPr>
          <p:spPr>
            <a:xfrm>
              <a:off x="6915693" y="1497878"/>
              <a:ext cx="231674" cy="245575"/>
            </a:xfrm>
            <a:prstGeom prst="round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E37A37CF-98CA-0FD7-C60C-8BA57640ACFC}"/>
                </a:ext>
              </a:extLst>
            </p:cNvPr>
            <p:cNvSpPr/>
            <p:nvPr/>
          </p:nvSpPr>
          <p:spPr>
            <a:xfrm>
              <a:off x="6991662" y="1562551"/>
              <a:ext cx="74136" cy="74136"/>
            </a:xfrm>
            <a:prstGeom prst="ellipse">
              <a:avLst/>
            </a:prstGeom>
            <a:solidFill>
              <a:schemeClr val="bg1">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E60E3D2C-F571-628B-6279-730C1C31BF5C}"/>
              </a:ext>
            </a:extLst>
          </p:cNvPr>
          <p:cNvGrpSpPr/>
          <p:nvPr/>
        </p:nvGrpSpPr>
        <p:grpSpPr>
          <a:xfrm>
            <a:off x="1420196" y="1647651"/>
            <a:ext cx="1071795" cy="287215"/>
            <a:chOff x="6127541" y="2018420"/>
            <a:chExt cx="1807851" cy="484460"/>
          </a:xfrm>
        </p:grpSpPr>
        <p:sp>
          <p:nvSpPr>
            <p:cNvPr id="14" name="Freeform: Shape 13">
              <a:extLst>
                <a:ext uri="{FF2B5EF4-FFF2-40B4-BE49-F238E27FC236}">
                  <a16:creationId xmlns:a16="http://schemas.microsoft.com/office/drawing/2014/main" id="{CF1B7777-FC1B-6303-B9F0-B28B01CCEB58}"/>
                </a:ext>
              </a:extLst>
            </p:cNvPr>
            <p:cNvSpPr/>
            <p:nvPr/>
          </p:nvSpPr>
          <p:spPr>
            <a:xfrm rot="16200000">
              <a:off x="6863317" y="2179917"/>
              <a:ext cx="40654" cy="299361"/>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B66D5CCF-B113-4E76-7F05-7948789F2DBE}"/>
                </a:ext>
              </a:extLst>
            </p:cNvPr>
            <p:cNvSpPr/>
            <p:nvPr/>
          </p:nvSpPr>
          <p:spPr>
            <a:xfrm rot="5400000">
              <a:off x="7155286" y="2181484"/>
              <a:ext cx="40654" cy="299361"/>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FFB9E2A4-FBFA-203C-D2BE-EDECEFA08B43}"/>
                </a:ext>
              </a:extLst>
            </p:cNvPr>
            <p:cNvSpPr/>
            <p:nvPr/>
          </p:nvSpPr>
          <p:spPr>
            <a:xfrm>
              <a:off x="7009579" y="2018420"/>
              <a:ext cx="40654" cy="299361"/>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A89526E5-8793-CDEF-6D24-412D26EF2B7A}"/>
                </a:ext>
              </a:extLst>
            </p:cNvPr>
            <p:cNvSpPr/>
            <p:nvPr/>
          </p:nvSpPr>
          <p:spPr>
            <a:xfrm rot="282219">
              <a:off x="7137096" y="2372407"/>
              <a:ext cx="798296" cy="99787"/>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BC84AAD-00EB-AFA3-8892-E656D578FE57}"/>
                </a:ext>
              </a:extLst>
            </p:cNvPr>
            <p:cNvSpPr/>
            <p:nvPr/>
          </p:nvSpPr>
          <p:spPr>
            <a:xfrm rot="21341606" flipH="1">
              <a:off x="6127541" y="2373695"/>
              <a:ext cx="798296" cy="99787"/>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C35D078-6BF7-3BEA-D3BE-9BC86A289F92}"/>
                </a:ext>
              </a:extLst>
            </p:cNvPr>
            <p:cNvSpPr/>
            <p:nvPr/>
          </p:nvSpPr>
          <p:spPr>
            <a:xfrm>
              <a:off x="6920253" y="2151551"/>
              <a:ext cx="220548" cy="332461"/>
            </a:xfrm>
            <a:prstGeom prst="ellipse">
              <a:avLst/>
            </a:prstGeom>
            <a:solidFill>
              <a:schemeClr val="bg2">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Rounded Corners 19">
              <a:extLst>
                <a:ext uri="{FF2B5EF4-FFF2-40B4-BE49-F238E27FC236}">
                  <a16:creationId xmlns:a16="http://schemas.microsoft.com/office/drawing/2014/main" id="{CBB19EFF-2495-E5DB-857A-018B05E45368}"/>
                </a:ext>
              </a:extLst>
            </p:cNvPr>
            <p:cNvSpPr/>
            <p:nvPr/>
          </p:nvSpPr>
          <p:spPr>
            <a:xfrm>
              <a:off x="6915972" y="2258032"/>
              <a:ext cx="230989" cy="244848"/>
            </a:xfrm>
            <a:prstGeom prst="round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8101B09C-258E-7A72-E363-81FCFD6B889B}"/>
                </a:ext>
              </a:extLst>
            </p:cNvPr>
            <p:cNvSpPr/>
            <p:nvPr/>
          </p:nvSpPr>
          <p:spPr>
            <a:xfrm>
              <a:off x="6991716" y="2322513"/>
              <a:ext cx="73916" cy="73916"/>
            </a:xfrm>
            <a:prstGeom prst="ellipse">
              <a:avLst/>
            </a:prstGeom>
            <a:solidFill>
              <a:schemeClr val="bg1">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TextBox 21">
            <a:extLst>
              <a:ext uri="{FF2B5EF4-FFF2-40B4-BE49-F238E27FC236}">
                <a16:creationId xmlns:a16="http://schemas.microsoft.com/office/drawing/2014/main" id="{B504F98E-91AC-4133-D358-C6E18186B0C7}"/>
              </a:ext>
            </a:extLst>
          </p:cNvPr>
          <p:cNvSpPr txBox="1"/>
          <p:nvPr/>
        </p:nvSpPr>
        <p:spPr>
          <a:xfrm>
            <a:off x="2492553" y="1313966"/>
            <a:ext cx="849827" cy="280270"/>
          </a:xfrm>
          <a:prstGeom prst="rect">
            <a:avLst/>
          </a:prstGeom>
          <a:noFill/>
        </p:spPr>
        <p:txBody>
          <a:bodyPr wrap="square">
            <a:spAutoFit/>
          </a:bodyPr>
          <a:lstStyle/>
          <a:p>
            <a:pPr marL="0" marR="0">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Dihedral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CC899244-854B-96EC-66C8-C4335F8AF6A4}"/>
              </a:ext>
            </a:extLst>
          </p:cNvPr>
          <p:cNvSpPr txBox="1"/>
          <p:nvPr/>
        </p:nvSpPr>
        <p:spPr>
          <a:xfrm>
            <a:off x="2492553" y="1736751"/>
            <a:ext cx="1115027" cy="280270"/>
          </a:xfrm>
          <a:prstGeom prst="rect">
            <a:avLst/>
          </a:prstGeom>
          <a:noFill/>
        </p:spPr>
        <p:txBody>
          <a:bodyPr wrap="square">
            <a:spAutoFit/>
          </a:bodyPr>
          <a:lstStyle/>
          <a:p>
            <a:pPr marL="0" marR="0">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No Dihedral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BF988A16-AF78-63D9-ECD3-BAAEB19E2C27}"/>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5" name="Freeform: Shape 24">
            <a:extLst>
              <a:ext uri="{FF2B5EF4-FFF2-40B4-BE49-F238E27FC236}">
                <a16:creationId xmlns:a16="http://schemas.microsoft.com/office/drawing/2014/main" id="{78D578B4-F8BA-D2F1-49A7-3A0A84EC772A}"/>
              </a:ext>
            </a:extLst>
          </p:cNvPr>
          <p:cNvSpPr/>
          <p:nvPr/>
        </p:nvSpPr>
        <p:spPr>
          <a:xfrm rot="16200000">
            <a:off x="1855080" y="2102686"/>
            <a:ext cx="24174" cy="178005"/>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40F3CC75-EB91-7C93-9219-D64D289FEFE9}"/>
              </a:ext>
            </a:extLst>
          </p:cNvPr>
          <p:cNvSpPr/>
          <p:nvPr/>
        </p:nvSpPr>
        <p:spPr>
          <a:xfrm rot="5400000">
            <a:off x="2028690" y="2103618"/>
            <a:ext cx="24174" cy="178005"/>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D803BC6B-664D-6DE1-3874-5C53064CA191}"/>
              </a:ext>
            </a:extLst>
          </p:cNvPr>
          <p:cNvSpPr/>
          <p:nvPr/>
        </p:nvSpPr>
        <p:spPr>
          <a:xfrm>
            <a:off x="1942050" y="2006658"/>
            <a:ext cx="24174" cy="178005"/>
          </a:xfrm>
          <a:custGeom>
            <a:avLst/>
            <a:gdLst>
              <a:gd name="connsiteX0" fmla="*/ 0 w 83820"/>
              <a:gd name="connsiteY0" fmla="*/ 617220 h 617220"/>
              <a:gd name="connsiteX1" fmla="*/ 38100 w 83820"/>
              <a:gd name="connsiteY1" fmla="*/ 0 h 617220"/>
              <a:gd name="connsiteX2" fmla="*/ 83820 w 83820"/>
              <a:gd name="connsiteY2" fmla="*/ 609600 h 617220"/>
            </a:gdLst>
            <a:ahLst/>
            <a:cxnLst>
              <a:cxn ang="0">
                <a:pos x="connsiteX0" y="connsiteY0"/>
              </a:cxn>
              <a:cxn ang="0">
                <a:pos x="connsiteX1" y="connsiteY1"/>
              </a:cxn>
              <a:cxn ang="0">
                <a:pos x="connsiteX2" y="connsiteY2"/>
              </a:cxn>
            </a:cxnLst>
            <a:rect l="l" t="t" r="r" b="b"/>
            <a:pathLst>
              <a:path w="83820" h="617220">
                <a:moveTo>
                  <a:pt x="0" y="617220"/>
                </a:moveTo>
                <a:lnTo>
                  <a:pt x="38100" y="0"/>
                </a:lnTo>
                <a:lnTo>
                  <a:pt x="83820" y="60960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D30145AE-0F4B-7E55-857F-214631983D40}"/>
              </a:ext>
            </a:extLst>
          </p:cNvPr>
          <p:cNvSpPr/>
          <p:nvPr/>
        </p:nvSpPr>
        <p:spPr>
          <a:xfrm flipV="1">
            <a:off x="2017873" y="2231276"/>
            <a:ext cx="474680" cy="59335"/>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C91DF105-F69B-2145-8920-A079E2CC97B0}"/>
              </a:ext>
            </a:extLst>
          </p:cNvPr>
          <p:cNvSpPr/>
          <p:nvPr/>
        </p:nvSpPr>
        <p:spPr>
          <a:xfrm flipH="1" flipV="1">
            <a:off x="1417576" y="2232042"/>
            <a:ext cx="474680" cy="59335"/>
          </a:xfrm>
          <a:custGeom>
            <a:avLst/>
            <a:gdLst>
              <a:gd name="connsiteX0" fmla="*/ 0 w 1645920"/>
              <a:gd name="connsiteY0" fmla="*/ 205740 h 205740"/>
              <a:gd name="connsiteX1" fmla="*/ 1645920 w 1645920"/>
              <a:gd name="connsiteY1" fmla="*/ 0 h 205740"/>
              <a:gd name="connsiteX2" fmla="*/ 15240 w 1645920"/>
              <a:gd name="connsiteY2" fmla="*/ 121920 h 205740"/>
            </a:gdLst>
            <a:ahLst/>
            <a:cxnLst>
              <a:cxn ang="0">
                <a:pos x="connsiteX0" y="connsiteY0"/>
              </a:cxn>
              <a:cxn ang="0">
                <a:pos x="connsiteX1" y="connsiteY1"/>
              </a:cxn>
              <a:cxn ang="0">
                <a:pos x="connsiteX2" y="connsiteY2"/>
              </a:cxn>
            </a:cxnLst>
            <a:rect l="l" t="t" r="r" b="b"/>
            <a:pathLst>
              <a:path w="1645920" h="205740">
                <a:moveTo>
                  <a:pt x="0" y="205740"/>
                </a:moveTo>
                <a:lnTo>
                  <a:pt x="1645920" y="0"/>
                </a:lnTo>
                <a:lnTo>
                  <a:pt x="15240" y="121920"/>
                </a:lnTo>
              </a:path>
            </a:pathLst>
          </a:cu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2D82E9F3-BA4D-908F-9862-903A8993EA0B}"/>
              </a:ext>
            </a:extLst>
          </p:cNvPr>
          <p:cNvSpPr/>
          <p:nvPr/>
        </p:nvSpPr>
        <p:spPr>
          <a:xfrm>
            <a:off x="1888935" y="2085820"/>
            <a:ext cx="131141" cy="197686"/>
          </a:xfrm>
          <a:prstGeom prst="ellipse">
            <a:avLst/>
          </a:prstGeom>
          <a:solidFill>
            <a:schemeClr val="bg2">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Rounded Corners 30">
            <a:extLst>
              <a:ext uri="{FF2B5EF4-FFF2-40B4-BE49-F238E27FC236}">
                <a16:creationId xmlns:a16="http://schemas.microsoft.com/office/drawing/2014/main" id="{95DDFA29-2124-0636-CF72-A2E5EA9B0398}"/>
              </a:ext>
            </a:extLst>
          </p:cNvPr>
          <p:cNvSpPr/>
          <p:nvPr/>
        </p:nvSpPr>
        <p:spPr>
          <a:xfrm>
            <a:off x="1886390" y="2149135"/>
            <a:ext cx="137349" cy="145590"/>
          </a:xfrm>
          <a:prstGeom prst="round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4C0A9EEF-9A24-10D7-0A47-2FE202649EFD}"/>
              </a:ext>
            </a:extLst>
          </p:cNvPr>
          <p:cNvSpPr/>
          <p:nvPr/>
        </p:nvSpPr>
        <p:spPr>
          <a:xfrm>
            <a:off x="1931428" y="2187476"/>
            <a:ext cx="43952" cy="43952"/>
          </a:xfrm>
          <a:prstGeom prst="ellipse">
            <a:avLst/>
          </a:prstGeom>
          <a:solidFill>
            <a:schemeClr val="bg1">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BA277E3B-C8F8-77E3-2E85-DDEE747750F1}"/>
              </a:ext>
            </a:extLst>
          </p:cNvPr>
          <p:cNvSpPr txBox="1"/>
          <p:nvPr/>
        </p:nvSpPr>
        <p:spPr>
          <a:xfrm>
            <a:off x="2492553" y="2141451"/>
            <a:ext cx="1115027" cy="280270"/>
          </a:xfrm>
          <a:prstGeom prst="rect">
            <a:avLst/>
          </a:prstGeom>
          <a:noFill/>
        </p:spPr>
        <p:txBody>
          <a:bodyPr wrap="square">
            <a:spAutoFit/>
          </a:bodyPr>
          <a:lstStyle/>
          <a:p>
            <a:pPr marL="0" marR="0">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Anhedral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66533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16288F-5A19-9E45-2E92-A208469A8D89}"/>
              </a:ext>
            </a:extLst>
          </p:cNvPr>
          <p:cNvSpPr txBox="1"/>
          <p:nvPr/>
        </p:nvSpPr>
        <p:spPr>
          <a:xfrm>
            <a:off x="741948" y="1144414"/>
            <a:ext cx="3088104" cy="54200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part of the wing stalls first?</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DBF199B-5EF6-60D4-C894-A56E5EAD40A6}"/>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83772F75-EE28-8446-AB18-BCB33A45FAE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0AA9965-EE34-11BE-414D-58B7D3AF604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518326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8E55B1-4397-2F88-AE2E-DA63DCE49513}"/>
              </a:ext>
            </a:extLst>
          </p:cNvPr>
          <p:cNvSpPr txBox="1"/>
          <p:nvPr/>
        </p:nvSpPr>
        <p:spPr>
          <a:xfrm>
            <a:off x="199271" y="603040"/>
            <a:ext cx="2389994" cy="1566134"/>
          </a:xfrm>
          <a:prstGeom prst="rect">
            <a:avLst/>
          </a:prstGeom>
          <a:noFill/>
        </p:spPr>
        <p:txBody>
          <a:bodyPr wrap="square">
            <a:spAutoFit/>
          </a:bodyPr>
          <a:lstStyle/>
          <a:p>
            <a:pPr marL="0" marR="0" algn="just">
              <a:lnSpc>
                <a:spcPct val="107000"/>
              </a:lnSpc>
              <a:spcBef>
                <a:spcPts val="0"/>
              </a:spcBef>
              <a:spcAft>
                <a:spcPts val="0"/>
              </a:spcAft>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The wing roots stall first. We do not want the stall to occur instantly across the whole wing. We want it to progress slowly along the wing. We start at the root so the stall will have less tendency to roll the aircraft. Additionally, a stall occurring at the root first will be felt across the horizontal stabilizer and thus provide impending stall indications to the pilot.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374B7DB-6BCF-6D75-94B1-24B7D848899B}"/>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grpSp>
        <p:nvGrpSpPr>
          <p:cNvPr id="2" name="Group 1">
            <a:extLst>
              <a:ext uri="{FF2B5EF4-FFF2-40B4-BE49-F238E27FC236}">
                <a16:creationId xmlns:a16="http://schemas.microsoft.com/office/drawing/2014/main" id="{7351B035-5E52-2146-7D37-86F9D9DC89F0}"/>
              </a:ext>
            </a:extLst>
          </p:cNvPr>
          <p:cNvGrpSpPr/>
          <p:nvPr/>
        </p:nvGrpSpPr>
        <p:grpSpPr>
          <a:xfrm>
            <a:off x="2810581" y="1028733"/>
            <a:ext cx="1504684" cy="1043415"/>
            <a:chOff x="4098130" y="2042011"/>
            <a:chExt cx="5104134" cy="3368189"/>
          </a:xfrm>
          <a:noFill/>
        </p:grpSpPr>
        <p:sp>
          <p:nvSpPr>
            <p:cNvPr id="5" name="Freeform: Shape 4">
              <a:extLst>
                <a:ext uri="{FF2B5EF4-FFF2-40B4-BE49-F238E27FC236}">
                  <a16:creationId xmlns:a16="http://schemas.microsoft.com/office/drawing/2014/main" id="{F387FCDB-C8CE-490F-880B-D18E65C46B84}"/>
                </a:ext>
              </a:extLst>
            </p:cNvPr>
            <p:cNvSpPr/>
            <p:nvPr/>
          </p:nvSpPr>
          <p:spPr>
            <a:xfrm>
              <a:off x="4198620" y="2750820"/>
              <a:ext cx="4892040" cy="777240"/>
            </a:xfrm>
            <a:custGeom>
              <a:avLst/>
              <a:gdLst>
                <a:gd name="connsiteX0" fmla="*/ 15240 w 4892040"/>
                <a:gd name="connsiteY0" fmla="*/ 83820 h 777240"/>
                <a:gd name="connsiteX1" fmla="*/ 1272540 w 4892040"/>
                <a:gd name="connsiteY1" fmla="*/ 0 h 777240"/>
                <a:gd name="connsiteX2" fmla="*/ 3665220 w 4892040"/>
                <a:gd name="connsiteY2" fmla="*/ 0 h 777240"/>
                <a:gd name="connsiteX3" fmla="*/ 4892040 w 4892040"/>
                <a:gd name="connsiteY3" fmla="*/ 91440 h 777240"/>
                <a:gd name="connsiteX4" fmla="*/ 4892040 w 4892040"/>
                <a:gd name="connsiteY4" fmla="*/ 601980 h 777240"/>
                <a:gd name="connsiteX5" fmla="*/ 3634740 w 4892040"/>
                <a:gd name="connsiteY5" fmla="*/ 777240 h 777240"/>
                <a:gd name="connsiteX6" fmla="*/ 1264920 w 4892040"/>
                <a:gd name="connsiteY6" fmla="*/ 777240 h 777240"/>
                <a:gd name="connsiteX7" fmla="*/ 0 w 4892040"/>
                <a:gd name="connsiteY7" fmla="*/ 594360 h 777240"/>
                <a:gd name="connsiteX8" fmla="*/ 15240 w 4892040"/>
                <a:gd name="connsiteY8" fmla="*/ 83820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2040" h="777240">
                  <a:moveTo>
                    <a:pt x="15240" y="83820"/>
                  </a:moveTo>
                  <a:lnTo>
                    <a:pt x="1272540" y="0"/>
                  </a:lnTo>
                  <a:lnTo>
                    <a:pt x="3665220" y="0"/>
                  </a:lnTo>
                  <a:lnTo>
                    <a:pt x="4892040" y="91440"/>
                  </a:lnTo>
                  <a:lnTo>
                    <a:pt x="4892040" y="601980"/>
                  </a:lnTo>
                  <a:lnTo>
                    <a:pt x="3634740" y="777240"/>
                  </a:lnTo>
                  <a:lnTo>
                    <a:pt x="1264920" y="777240"/>
                  </a:lnTo>
                  <a:lnTo>
                    <a:pt x="0" y="594360"/>
                  </a:lnTo>
                  <a:lnTo>
                    <a:pt x="15240" y="83820"/>
                  </a:lnTo>
                  <a:close/>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CC01CFD5-DDB4-EBA1-4BEB-2B2215805D7B}"/>
                </a:ext>
              </a:extLst>
            </p:cNvPr>
            <p:cNvSpPr/>
            <p:nvPr/>
          </p:nvSpPr>
          <p:spPr>
            <a:xfrm>
              <a:off x="9089231" y="2840832"/>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D95309DB-632E-9155-D0AD-3E2009E3F352}"/>
                </a:ext>
              </a:extLst>
            </p:cNvPr>
            <p:cNvSpPr/>
            <p:nvPr/>
          </p:nvSpPr>
          <p:spPr>
            <a:xfrm flipH="1">
              <a:off x="4098130" y="2833688"/>
              <a:ext cx="113033" cy="511968"/>
            </a:xfrm>
            <a:custGeom>
              <a:avLst/>
              <a:gdLst>
                <a:gd name="connsiteX0" fmla="*/ 0 w 113033"/>
                <a:gd name="connsiteY0" fmla="*/ 5388 h 510213"/>
                <a:gd name="connsiteX1" fmla="*/ 104775 w 113033"/>
                <a:gd name="connsiteY1" fmla="*/ 60156 h 510213"/>
                <a:gd name="connsiteX2" fmla="*/ 95250 w 113033"/>
                <a:gd name="connsiteY2" fmla="*/ 434013 h 510213"/>
                <a:gd name="connsiteX3" fmla="*/ 7144 w 113033"/>
                <a:gd name="connsiteY3" fmla="*/ 510213 h 510213"/>
                <a:gd name="connsiteX0" fmla="*/ 0 w 113033"/>
                <a:gd name="connsiteY0" fmla="*/ 1642 h 506467"/>
                <a:gd name="connsiteX1" fmla="*/ 104775 w 113033"/>
                <a:gd name="connsiteY1" fmla="*/ 87367 h 506467"/>
                <a:gd name="connsiteX2" fmla="*/ 95250 w 113033"/>
                <a:gd name="connsiteY2" fmla="*/ 430267 h 506467"/>
                <a:gd name="connsiteX3" fmla="*/ 7144 w 113033"/>
                <a:gd name="connsiteY3" fmla="*/ 506467 h 506467"/>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 name="connsiteX0" fmla="*/ 0 w 113033"/>
                <a:gd name="connsiteY0" fmla="*/ 0 h 504825"/>
                <a:gd name="connsiteX1" fmla="*/ 104775 w 113033"/>
                <a:gd name="connsiteY1" fmla="*/ 85725 h 504825"/>
                <a:gd name="connsiteX2" fmla="*/ 95250 w 113033"/>
                <a:gd name="connsiteY2" fmla="*/ 428625 h 504825"/>
                <a:gd name="connsiteX3" fmla="*/ 7144 w 113033"/>
                <a:gd name="connsiteY3" fmla="*/ 504825 h 504825"/>
              </a:gdLst>
              <a:ahLst/>
              <a:cxnLst>
                <a:cxn ang="0">
                  <a:pos x="connsiteX0" y="connsiteY0"/>
                </a:cxn>
                <a:cxn ang="0">
                  <a:pos x="connsiteX1" y="connsiteY1"/>
                </a:cxn>
                <a:cxn ang="0">
                  <a:pos x="connsiteX2" y="connsiteY2"/>
                </a:cxn>
                <a:cxn ang="0">
                  <a:pos x="connsiteX3" y="connsiteY3"/>
                </a:cxn>
              </a:cxnLst>
              <a:rect l="l" t="t" r="r" b="b"/>
              <a:pathLst>
                <a:path w="113033" h="504825">
                  <a:moveTo>
                    <a:pt x="0" y="0"/>
                  </a:moveTo>
                  <a:cubicBezTo>
                    <a:pt x="58737" y="8334"/>
                    <a:pt x="88900" y="14288"/>
                    <a:pt x="104775" y="85725"/>
                  </a:cubicBezTo>
                  <a:cubicBezTo>
                    <a:pt x="120650" y="157162"/>
                    <a:pt x="111522" y="358775"/>
                    <a:pt x="95250" y="428625"/>
                  </a:cubicBezTo>
                  <a:cubicBezTo>
                    <a:pt x="78978" y="498475"/>
                    <a:pt x="43061" y="492490"/>
                    <a:pt x="7144" y="504825"/>
                  </a:cubicBezTo>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33507C5E-A040-4690-FC30-56A131D0D7B9}"/>
                </a:ext>
              </a:extLst>
            </p:cNvPr>
            <p:cNvSpPr/>
            <p:nvPr/>
          </p:nvSpPr>
          <p:spPr>
            <a:xfrm>
              <a:off x="5830749" y="4810126"/>
              <a:ext cx="844550" cy="600074"/>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6DACA2F8-4D8A-4D38-F1AB-87EAF8683F26}"/>
                </a:ext>
              </a:extLst>
            </p:cNvPr>
            <p:cNvSpPr/>
            <p:nvPr/>
          </p:nvSpPr>
          <p:spPr>
            <a:xfrm flipH="1">
              <a:off x="6630848" y="4810126"/>
              <a:ext cx="844550" cy="600074"/>
            </a:xfrm>
            <a:custGeom>
              <a:avLst/>
              <a:gdLst>
                <a:gd name="connsiteX0" fmla="*/ 806450 w 825500"/>
                <a:gd name="connsiteY0" fmla="*/ 0 h 600075"/>
                <a:gd name="connsiteX1" fmla="*/ 0 w 825500"/>
                <a:gd name="connsiteY1" fmla="*/ 130175 h 600075"/>
                <a:gd name="connsiteX2" fmla="*/ 9525 w 825500"/>
                <a:gd name="connsiteY2" fmla="*/ 441325 h 600075"/>
                <a:gd name="connsiteX3" fmla="*/ 695325 w 825500"/>
                <a:gd name="connsiteY3" fmla="*/ 600075 h 600075"/>
                <a:gd name="connsiteX4" fmla="*/ 765175 w 825500"/>
                <a:gd name="connsiteY4" fmla="*/ 400050 h 600075"/>
                <a:gd name="connsiteX5" fmla="*/ 825500 w 825500"/>
                <a:gd name="connsiteY5" fmla="*/ 396875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500" h="600075">
                  <a:moveTo>
                    <a:pt x="806450" y="0"/>
                  </a:moveTo>
                  <a:lnTo>
                    <a:pt x="0" y="130175"/>
                  </a:lnTo>
                  <a:lnTo>
                    <a:pt x="9525" y="441325"/>
                  </a:lnTo>
                  <a:lnTo>
                    <a:pt x="695325" y="600075"/>
                  </a:lnTo>
                  <a:lnTo>
                    <a:pt x="765175" y="400050"/>
                  </a:lnTo>
                  <a:lnTo>
                    <a:pt x="825500" y="396875"/>
                  </a:lnTo>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2C41AC72-C6C4-722E-9436-369EB073F191}"/>
                </a:ext>
              </a:extLst>
            </p:cNvPr>
            <p:cNvGrpSpPr/>
            <p:nvPr/>
          </p:nvGrpSpPr>
          <p:grpSpPr>
            <a:xfrm>
              <a:off x="6362085" y="2042011"/>
              <a:ext cx="581640" cy="3185309"/>
              <a:chOff x="6390660" y="2042011"/>
              <a:chExt cx="516395" cy="3185309"/>
            </a:xfrm>
            <a:grpFill/>
          </p:grpSpPr>
          <p:sp>
            <p:nvSpPr>
              <p:cNvPr id="11" name="Freeform: Shape 10">
                <a:extLst>
                  <a:ext uri="{FF2B5EF4-FFF2-40B4-BE49-F238E27FC236}">
                    <a16:creationId xmlns:a16="http://schemas.microsoft.com/office/drawing/2014/main" id="{D3FFF95D-A9B9-5223-5ED0-74FAEB8AAB85}"/>
                  </a:ext>
                </a:extLst>
              </p:cNvPr>
              <p:cNvSpPr/>
              <p:nvPr/>
            </p:nvSpPr>
            <p:spPr>
              <a:xfrm>
                <a:off x="6390660"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2766C165-4D78-67CD-3ABD-07BCEC1B6AA5}"/>
                  </a:ext>
                </a:extLst>
              </p:cNvPr>
              <p:cNvSpPr/>
              <p:nvPr/>
            </p:nvSpPr>
            <p:spPr>
              <a:xfrm flipH="1">
                <a:off x="6635929" y="2042011"/>
                <a:ext cx="271126" cy="3185309"/>
              </a:xfrm>
              <a:custGeom>
                <a:avLst/>
                <a:gdLst>
                  <a:gd name="connsiteX0" fmla="*/ 303373 w 303373"/>
                  <a:gd name="connsiteY0" fmla="*/ 74102 h 3259262"/>
                  <a:gd name="connsiteX1" fmla="*/ 112873 w 303373"/>
                  <a:gd name="connsiteY1" fmla="*/ 66482 h 3259262"/>
                  <a:gd name="connsiteX2" fmla="*/ 13813 w 303373"/>
                  <a:gd name="connsiteY2" fmla="*/ 782762 h 3259262"/>
                  <a:gd name="connsiteX3" fmla="*/ 29053 w 303373"/>
                  <a:gd name="connsiteY3" fmla="*/ 1712402 h 3259262"/>
                  <a:gd name="connsiteX4" fmla="*/ 272893 w 303373"/>
                  <a:gd name="connsiteY4" fmla="*/ 3259262 h 3259262"/>
                  <a:gd name="connsiteX0" fmla="*/ 300896 w 300896"/>
                  <a:gd name="connsiteY0" fmla="*/ 56236 h 3241396"/>
                  <a:gd name="connsiteX1" fmla="*/ 69915 w 300896"/>
                  <a:gd name="connsiteY1" fmla="*/ 79572 h 3241396"/>
                  <a:gd name="connsiteX2" fmla="*/ 11336 w 300896"/>
                  <a:gd name="connsiteY2" fmla="*/ 764896 h 3241396"/>
                  <a:gd name="connsiteX3" fmla="*/ 26576 w 300896"/>
                  <a:gd name="connsiteY3" fmla="*/ 1694536 h 3241396"/>
                  <a:gd name="connsiteX4" fmla="*/ 270416 w 300896"/>
                  <a:gd name="connsiteY4" fmla="*/ 3241396 h 3241396"/>
                  <a:gd name="connsiteX0" fmla="*/ 300896 w 300896"/>
                  <a:gd name="connsiteY0" fmla="*/ 22805 h 3207965"/>
                  <a:gd name="connsiteX1" fmla="*/ 69915 w 300896"/>
                  <a:gd name="connsiteY1" fmla="*/ 46141 h 3207965"/>
                  <a:gd name="connsiteX2" fmla="*/ 11336 w 300896"/>
                  <a:gd name="connsiteY2" fmla="*/ 731465 h 3207965"/>
                  <a:gd name="connsiteX3" fmla="*/ 26576 w 300896"/>
                  <a:gd name="connsiteY3" fmla="*/ 1661105 h 3207965"/>
                  <a:gd name="connsiteX4" fmla="*/ 270416 w 300896"/>
                  <a:gd name="connsiteY4" fmla="*/ 3207965 h 3207965"/>
                  <a:gd name="connsiteX0" fmla="*/ 301178 w 301178"/>
                  <a:gd name="connsiteY0" fmla="*/ 26120 h 3211280"/>
                  <a:gd name="connsiteX1" fmla="*/ 74959 w 301178"/>
                  <a:gd name="connsiteY1" fmla="*/ 32787 h 3211280"/>
                  <a:gd name="connsiteX2" fmla="*/ 11618 w 301178"/>
                  <a:gd name="connsiteY2" fmla="*/ 734780 h 3211280"/>
                  <a:gd name="connsiteX3" fmla="*/ 26858 w 301178"/>
                  <a:gd name="connsiteY3" fmla="*/ 1664420 h 3211280"/>
                  <a:gd name="connsiteX4" fmla="*/ 270698 w 301178"/>
                  <a:gd name="connsiteY4" fmla="*/ 3211280 h 3211280"/>
                  <a:gd name="connsiteX0" fmla="*/ 301178 w 301178"/>
                  <a:gd name="connsiteY0" fmla="*/ 75 h 3185235"/>
                  <a:gd name="connsiteX1" fmla="*/ 74959 w 301178"/>
                  <a:gd name="connsiteY1" fmla="*/ 6742 h 3185235"/>
                  <a:gd name="connsiteX2" fmla="*/ 11618 w 301178"/>
                  <a:gd name="connsiteY2" fmla="*/ 708735 h 3185235"/>
                  <a:gd name="connsiteX3" fmla="*/ 26858 w 301178"/>
                  <a:gd name="connsiteY3" fmla="*/ 1638375 h 3185235"/>
                  <a:gd name="connsiteX4" fmla="*/ 270698 w 301178"/>
                  <a:gd name="connsiteY4" fmla="*/ 3185235 h 3185235"/>
                  <a:gd name="connsiteX0" fmla="*/ 270221 w 270698"/>
                  <a:gd name="connsiteY0" fmla="*/ 47837 h 3232997"/>
                  <a:gd name="connsiteX1" fmla="*/ 74959 w 270698"/>
                  <a:gd name="connsiteY1" fmla="*/ 54504 h 3232997"/>
                  <a:gd name="connsiteX2" fmla="*/ 11618 w 270698"/>
                  <a:gd name="connsiteY2" fmla="*/ 756497 h 3232997"/>
                  <a:gd name="connsiteX3" fmla="*/ 26858 w 270698"/>
                  <a:gd name="connsiteY3" fmla="*/ 1686137 h 3232997"/>
                  <a:gd name="connsiteX4" fmla="*/ 270698 w 270698"/>
                  <a:gd name="connsiteY4" fmla="*/ 3232997 h 3232997"/>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221 w 270698"/>
                  <a:gd name="connsiteY0" fmla="*/ 149 h 3185309"/>
                  <a:gd name="connsiteX1" fmla="*/ 74959 w 270698"/>
                  <a:gd name="connsiteY1" fmla="*/ 6816 h 3185309"/>
                  <a:gd name="connsiteX2" fmla="*/ 11618 w 270698"/>
                  <a:gd name="connsiteY2" fmla="*/ 708809 h 3185309"/>
                  <a:gd name="connsiteX3" fmla="*/ 26858 w 270698"/>
                  <a:gd name="connsiteY3" fmla="*/ 1638449 h 3185309"/>
                  <a:gd name="connsiteX4" fmla="*/ 270698 w 270698"/>
                  <a:gd name="connsiteY4" fmla="*/ 3185309 h 3185309"/>
                  <a:gd name="connsiteX0" fmla="*/ 270649 w 271126"/>
                  <a:gd name="connsiteY0" fmla="*/ 149 h 3185309"/>
                  <a:gd name="connsiteX1" fmla="*/ 82531 w 271126"/>
                  <a:gd name="connsiteY1" fmla="*/ 6816 h 3185309"/>
                  <a:gd name="connsiteX2" fmla="*/ 12046 w 271126"/>
                  <a:gd name="connsiteY2" fmla="*/ 708809 h 3185309"/>
                  <a:gd name="connsiteX3" fmla="*/ 27286 w 271126"/>
                  <a:gd name="connsiteY3" fmla="*/ 1638449 h 3185309"/>
                  <a:gd name="connsiteX4" fmla="*/ 271126 w 271126"/>
                  <a:gd name="connsiteY4" fmla="*/ 3185309 h 3185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26" h="3185309">
                    <a:moveTo>
                      <a:pt x="270649" y="149"/>
                    </a:moveTo>
                    <a:cubicBezTo>
                      <a:pt x="170954" y="-804"/>
                      <a:pt x="123250" y="3006"/>
                      <a:pt x="82531" y="6816"/>
                    </a:cubicBezTo>
                    <a:cubicBezTo>
                      <a:pt x="41812" y="10626"/>
                      <a:pt x="21253" y="436870"/>
                      <a:pt x="12046" y="708809"/>
                    </a:cubicBezTo>
                    <a:cubicBezTo>
                      <a:pt x="2839" y="980748"/>
                      <a:pt x="-15894" y="1225699"/>
                      <a:pt x="27286" y="1638449"/>
                    </a:cubicBezTo>
                    <a:cubicBezTo>
                      <a:pt x="70466" y="2051199"/>
                      <a:pt x="170796" y="2618254"/>
                      <a:pt x="271126" y="3185309"/>
                    </a:cubicBezTo>
                  </a:path>
                </a:pathLst>
              </a:cu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3" name="TextBox 12">
            <a:extLst>
              <a:ext uri="{FF2B5EF4-FFF2-40B4-BE49-F238E27FC236}">
                <a16:creationId xmlns:a16="http://schemas.microsoft.com/office/drawing/2014/main" id="{5FDCF631-EDFB-68C1-B6C8-42CA65948DAE}"/>
              </a:ext>
            </a:extLst>
          </p:cNvPr>
          <p:cNvSpPr txBox="1"/>
          <p:nvPr/>
        </p:nvSpPr>
        <p:spPr>
          <a:xfrm>
            <a:off x="3141880" y="576235"/>
            <a:ext cx="83067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Wing Roots</a:t>
            </a:r>
          </a:p>
        </p:txBody>
      </p:sp>
      <p:cxnSp>
        <p:nvCxnSpPr>
          <p:cNvPr id="15" name="Straight Arrow Connector 14">
            <a:extLst>
              <a:ext uri="{FF2B5EF4-FFF2-40B4-BE49-F238E27FC236}">
                <a16:creationId xmlns:a16="http://schemas.microsoft.com/office/drawing/2014/main" id="{8DF37E3A-BF89-9E07-ADD7-3DF05B7133D8}"/>
              </a:ext>
            </a:extLst>
          </p:cNvPr>
          <p:cNvCxnSpPr>
            <a:cxnSpLocks/>
          </p:cNvCxnSpPr>
          <p:nvPr/>
        </p:nvCxnSpPr>
        <p:spPr>
          <a:xfrm>
            <a:off x="3364899" y="847775"/>
            <a:ext cx="0" cy="3380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E7B651D-DF70-5306-F14A-008B282129A6}"/>
              </a:ext>
            </a:extLst>
          </p:cNvPr>
          <p:cNvCxnSpPr>
            <a:cxnSpLocks/>
          </p:cNvCxnSpPr>
          <p:nvPr/>
        </p:nvCxnSpPr>
        <p:spPr>
          <a:xfrm>
            <a:off x="3741137" y="847775"/>
            <a:ext cx="0" cy="3380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881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CC38DF-4C04-93F7-8596-71DE4ABE7994}"/>
              </a:ext>
            </a:extLst>
          </p:cNvPr>
          <p:cNvSpPr txBox="1"/>
          <p:nvPr/>
        </p:nvSpPr>
        <p:spPr>
          <a:xfrm>
            <a:off x="600915" y="1065427"/>
            <a:ext cx="3370169"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are the four dynamic forces that act upon an airplane during all phases of flight?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9065FB9-5927-40BF-3934-69F774DE562F}"/>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1D19689D-7A3C-03C6-039B-2F46BC6B941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4D8777D-C823-0630-CADC-B14C20E45FA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894866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22C9EB-B8D5-B5F3-7F6F-4880E90D3865}"/>
              </a:ext>
            </a:extLst>
          </p:cNvPr>
          <p:cNvSpPr txBox="1"/>
          <p:nvPr/>
        </p:nvSpPr>
        <p:spPr>
          <a:xfrm>
            <a:off x="1012031" y="1215852"/>
            <a:ext cx="2547937"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Lift, Weight, Thrust, and Drag.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0A94D46-0D75-6130-4301-31B629F300D2}"/>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354334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30470-565C-3B6F-4724-C94E129739B5}"/>
              </a:ext>
            </a:extLst>
          </p:cNvPr>
          <p:cNvSpPr txBox="1"/>
          <p:nvPr/>
        </p:nvSpPr>
        <p:spPr>
          <a:xfrm>
            <a:off x="526256" y="1215852"/>
            <a:ext cx="3519487"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When does a stall occur?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7524F10-361A-58DD-A878-60D1367B1F66}"/>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C9069EB2-0898-87E2-4BC2-83BC5F92539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373E1E7-E489-DDC3-71C0-2B895DD59FE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569720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6A4429-A0DF-DFDD-5F79-E235F5D7E1CF}"/>
              </a:ext>
            </a:extLst>
          </p:cNvPr>
          <p:cNvSpPr txBox="1"/>
          <p:nvPr/>
        </p:nvSpPr>
        <p:spPr>
          <a:xfrm>
            <a:off x="425909" y="1215852"/>
            <a:ext cx="3720181"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When the critical angle of attack is exceeded.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423532A-0F9A-D90D-9D24-AA4CB8ABA0F7}"/>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3168358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436402-D9BF-7B29-FBC9-00965C1C95CA}"/>
              </a:ext>
            </a:extLst>
          </p:cNvPr>
          <p:cNvSpPr txBox="1"/>
          <p:nvPr/>
        </p:nvSpPr>
        <p:spPr>
          <a:xfrm>
            <a:off x="301228" y="1100596"/>
            <a:ext cx="3969544" cy="542008"/>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An airfoil passing through a fluid of greater density will produce greater ________.</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19E1BD5-825B-744D-2B1B-D9A1FC443A1F}"/>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310596E1-FB07-5C6A-0527-89AD6AB21E3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DCB3663-4433-C0AD-41B9-44F8539CA4C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99214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436402-D9BF-7B29-FBC9-00965C1C95CA}"/>
              </a:ext>
            </a:extLst>
          </p:cNvPr>
          <p:cNvSpPr txBox="1"/>
          <p:nvPr/>
        </p:nvSpPr>
        <p:spPr>
          <a:xfrm>
            <a:off x="266700" y="533307"/>
            <a:ext cx="4038600" cy="1532535"/>
          </a:xfrm>
          <a:prstGeom prst="rect">
            <a:avLst/>
          </a:prstGeom>
          <a:noFill/>
        </p:spPr>
        <p:txBody>
          <a:bodyPr wrap="square">
            <a:spAutoFit/>
          </a:bodyPr>
          <a:lstStyle/>
          <a:p>
            <a:pPr marL="0" marR="0" algn="ctr">
              <a:lnSpc>
                <a:spcPct val="107000"/>
              </a:lnSpc>
              <a:spcBef>
                <a:spcPts val="0"/>
              </a:spcBef>
              <a:spcAft>
                <a:spcPts val="0"/>
              </a:spcAft>
            </a:pPr>
            <a:r>
              <a:rPr lang="en-US" sz="1100" dirty="0">
                <a:latin typeface="Times New Roman" panose="02020603050405020304" pitchFamily="18" charset="0"/>
                <a:ea typeface="Calibri" panose="020F0502020204030204" pitchFamily="34" charset="0"/>
                <a:cs typeface="Times New Roman" panose="02020603050405020304" pitchFamily="18" charset="0"/>
              </a:rPr>
              <a:t>Lift.</a:t>
            </a:r>
          </a:p>
          <a:p>
            <a:pPr marL="0" marR="0" algn="ctr">
              <a:lnSpc>
                <a:spcPct val="107000"/>
              </a:lnSpc>
              <a:spcBef>
                <a:spcPts val="0"/>
              </a:spcBef>
              <a:spcAft>
                <a:spcPts val="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100" dirty="0">
                <a:latin typeface="Times New Roman" panose="02020603050405020304" pitchFamily="18" charset="0"/>
                <a:ea typeface="Calibri" panose="020F0502020204030204" pitchFamily="34" charset="0"/>
                <a:cs typeface="Times New Roman" panose="02020603050405020304" pitchFamily="18" charset="0"/>
              </a:rPr>
              <a:t>The denser the fluid, the more lift that is generated. Example, a specific wing flying at 10,000 ft density altitude will produce less lift than if it were flying at 5,000 ft density altitude. Another example would be a hydrofoil. When moving through water, it produces enough lift to raise a boat but produces almost no lift when moving through air.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19E1BD5-825B-744D-2B1B-D9A1FC443A1F}"/>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26496424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0EFA2-AEDC-916B-E17A-F65B021463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C50C50-2C73-043E-60E9-61711A75516F}"/>
              </a:ext>
            </a:extLst>
          </p:cNvPr>
          <p:cNvSpPr txBox="1"/>
          <p:nvPr/>
        </p:nvSpPr>
        <p:spPr>
          <a:xfrm>
            <a:off x="350230" y="1052230"/>
            <a:ext cx="3871539"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Give me a layman’s version of the formula for lift.</a:t>
            </a:r>
          </a:p>
        </p:txBody>
      </p:sp>
      <p:sp>
        <p:nvSpPr>
          <p:cNvPr id="6" name="Rectangle 5">
            <a:extLst>
              <a:ext uri="{FF2B5EF4-FFF2-40B4-BE49-F238E27FC236}">
                <a16:creationId xmlns:a16="http://schemas.microsoft.com/office/drawing/2014/main" id="{634D1FD8-AA61-F9C5-1C90-7E98C4BC63BC}"/>
              </a:ext>
            </a:extLst>
          </p:cNvPr>
          <p:cNvSpPr/>
          <p:nvPr/>
        </p:nvSpPr>
        <p:spPr>
          <a:xfrm>
            <a:off x="4294078" y="101908"/>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CF4AAA9-CA31-4747-87A7-A135CC4908B8}"/>
              </a:ext>
            </a:extLst>
          </p:cNvPr>
          <p:cNvSpPr txBox="1"/>
          <p:nvPr/>
        </p:nvSpPr>
        <p:spPr>
          <a:xfrm>
            <a:off x="4238625" y="63056"/>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4" name="TextBox 3">
            <a:extLst>
              <a:ext uri="{FF2B5EF4-FFF2-40B4-BE49-F238E27FC236}">
                <a16:creationId xmlns:a16="http://schemas.microsoft.com/office/drawing/2014/main" id="{09AA74CC-119B-C795-5DC2-97F02536566A}"/>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4180680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2B1BB-AB6F-7B33-23F8-CB6AE39DF37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6DFAB71-A6B0-C174-2480-9EE199BC8100}"/>
                  </a:ext>
                </a:extLst>
              </p:cNvPr>
              <p:cNvSpPr txBox="1"/>
              <p:nvPr/>
            </p:nvSpPr>
            <p:spPr>
              <a:xfrm>
                <a:off x="486148" y="1520250"/>
                <a:ext cx="3599704" cy="461665"/>
              </a:xfrm>
              <a:prstGeom prst="rect">
                <a:avLst/>
              </a:prstGeom>
              <a:noFill/>
            </p:spPr>
            <p:txBody>
              <a:bodyPr wrap="square" rtlCol="0">
                <a:spAutoFit/>
              </a:bodyPr>
              <a:lstStyle/>
              <a:p>
                <a:pPr algn="ctr"/>
                <a:r>
                  <a:rPr lang="en-US" sz="1200" dirty="0">
                    <a:solidFill>
                      <a:schemeClr val="tx1"/>
                    </a:solidFill>
                    <a:latin typeface="Times New Roman" panose="02020603050405020304" pitchFamily="18" charset="0"/>
                    <a:cs typeface="Times New Roman" panose="02020603050405020304" pitchFamily="18" charset="0"/>
                  </a:rPr>
                  <a:t>Total Lift </a:t>
                </a:r>
                <a14:m>
                  <m:oMath xmlns:m="http://schemas.openxmlformats.org/officeDocument/2006/math">
                    <m:r>
                      <a:rPr lang="en-US" sz="1200" i="1" smtClean="0">
                        <a:solidFill>
                          <a:schemeClr val="tx1"/>
                        </a:solidFill>
                        <a:latin typeface="Cambria Math" panose="02040503050406030204" pitchFamily="18" charset="0"/>
                      </a:rPr>
                      <m:t>≈</m:t>
                    </m:r>
                  </m:oMath>
                </a14:m>
                <a:r>
                  <a:rPr lang="en-US" sz="1200" dirty="0">
                    <a:solidFill>
                      <a:schemeClr val="tx1"/>
                    </a:solidFill>
                    <a:latin typeface="Times New Roman" panose="02020603050405020304" pitchFamily="18" charset="0"/>
                    <a:cs typeface="Times New Roman" panose="02020603050405020304" pitchFamily="18" charset="0"/>
                  </a:rPr>
                  <a:t> SA + CA + AOA + AS + </a:t>
                </a:r>
                <a:r>
                  <a:rPr lang="en-US" sz="1200" dirty="0">
                    <a:latin typeface="Symbol" panose="05050102010706020507" pitchFamily="18" charset="2"/>
                    <a:cs typeface="Segoe UI Light" panose="020B0502040204020203" pitchFamily="34" charset="0"/>
                  </a:rPr>
                  <a:t>r</a:t>
                </a:r>
              </a:p>
              <a:p>
                <a:pPr algn="ctr"/>
                <a:endParaRPr lang="en-US" sz="12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96DFAB71-A6B0-C174-2480-9EE199BC8100}"/>
                  </a:ext>
                </a:extLst>
              </p:cNvPr>
              <p:cNvSpPr txBox="1">
                <a:spLocks noRot="1" noChangeAspect="1" noMove="1" noResize="1" noEditPoints="1" noAdjustHandles="1" noChangeArrowheads="1" noChangeShapeType="1" noTextEdit="1"/>
              </p:cNvSpPr>
              <p:nvPr/>
            </p:nvSpPr>
            <p:spPr>
              <a:xfrm>
                <a:off x="486148" y="1520250"/>
                <a:ext cx="3599704" cy="461665"/>
              </a:xfrm>
              <a:prstGeom prst="rect">
                <a:avLst/>
              </a:prstGeom>
              <a:blipFill>
                <a:blip r:embed="rId2"/>
                <a:stretch>
                  <a:fillRect t="-131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9CD7772-D524-5C4E-BD45-A4F518B4E653}"/>
              </a:ext>
            </a:extLst>
          </p:cNvPr>
          <p:cNvSpPr txBox="1"/>
          <p:nvPr/>
        </p:nvSpPr>
        <p:spPr>
          <a:xfrm>
            <a:off x="486148" y="489092"/>
            <a:ext cx="3599704" cy="1015663"/>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The lift generated by the wing is a function of the wing’s surface area (SA), camber angle (CA) , angle of attack (AOA), the aircraft’s airspeed (AS), and the density (</a:t>
            </a:r>
            <a:r>
              <a:rPr lang="en-US" sz="1200" dirty="0">
                <a:latin typeface="Symbol" panose="05050102010706020507" pitchFamily="18" charset="2"/>
                <a:cs typeface="Segoe UI Light" panose="020B0502040204020203" pitchFamily="34" charset="0"/>
              </a:rPr>
              <a:t>r</a:t>
            </a:r>
            <a:r>
              <a:rPr lang="en-US" sz="1200" dirty="0">
                <a:latin typeface="Times New Roman" panose="02020603050405020304" pitchFamily="18" charset="0"/>
                <a:cs typeface="Times New Roman" panose="02020603050405020304" pitchFamily="18" charset="0"/>
              </a:rPr>
              <a:t>) of the fluid through which the airfoil is passing.</a:t>
            </a:r>
          </a:p>
        </p:txBody>
      </p:sp>
      <p:sp>
        <p:nvSpPr>
          <p:cNvPr id="5" name="TextBox 4">
            <a:extLst>
              <a:ext uri="{FF2B5EF4-FFF2-40B4-BE49-F238E27FC236}">
                <a16:creationId xmlns:a16="http://schemas.microsoft.com/office/drawing/2014/main" id="{A575F5BB-53C8-3677-AB02-0689F0688CDB}"/>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8900721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D7F10E-5BE8-BE0F-E8F6-C8EB402CAD56}"/>
              </a:ext>
            </a:extLst>
          </p:cNvPr>
          <p:cNvSpPr txBox="1"/>
          <p:nvPr/>
        </p:nvSpPr>
        <p:spPr>
          <a:xfrm>
            <a:off x="780081" y="721410"/>
            <a:ext cx="3011838" cy="99892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is Vx</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a:t>
            </a:r>
          </a:p>
          <a:p>
            <a:pPr marL="0" marR="0" algn="just">
              <a:lnSpc>
                <a:spcPct val="107000"/>
              </a:lnSpc>
              <a:spcBef>
                <a:spcPts val="0"/>
              </a:spcBef>
              <a:spcAft>
                <a:spcPts val="0"/>
              </a:spcAft>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What circumstances would necessitate the use of Vx?</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4032A90-64C1-AF31-CD75-A106BC16D130}"/>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56C73C7C-E7ED-9045-D89A-6F0F50C8E28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AD1924D-D136-D9E2-2FCF-9661FB6654C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2387214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690C2C-64BD-8CCF-273F-9F5E73FBDB42}"/>
              </a:ext>
            </a:extLst>
          </p:cNvPr>
          <p:cNvSpPr txBox="1"/>
          <p:nvPr/>
        </p:nvSpPr>
        <p:spPr>
          <a:xfrm>
            <a:off x="546972" y="878847"/>
            <a:ext cx="3527304" cy="1067087"/>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Vx – Best Angle of Climb Speed - Most altitude gained per distance travelled.</a:t>
            </a:r>
          </a:p>
          <a:p>
            <a:pPr marL="0" marR="0" algn="just">
              <a:lnSpc>
                <a:spcPct val="107000"/>
              </a:lnSpc>
              <a:spcBef>
                <a:spcPts val="0"/>
              </a:spcBef>
              <a:spcAft>
                <a:spcPts val="0"/>
              </a:spcAft>
            </a:pP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We typically use Vx when we need to cross obstacles or terrain after takeoff.</a:t>
            </a:r>
          </a:p>
        </p:txBody>
      </p:sp>
      <p:sp>
        <p:nvSpPr>
          <p:cNvPr id="4" name="TextBox 3">
            <a:extLst>
              <a:ext uri="{FF2B5EF4-FFF2-40B4-BE49-F238E27FC236}">
                <a16:creationId xmlns:a16="http://schemas.microsoft.com/office/drawing/2014/main" id="{D218B7F1-5617-9174-D97C-B9C2D033187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22437086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D7F10E-5BE8-BE0F-E8F6-C8EB402CAD56}"/>
              </a:ext>
            </a:extLst>
          </p:cNvPr>
          <p:cNvSpPr txBox="1"/>
          <p:nvPr/>
        </p:nvSpPr>
        <p:spPr>
          <a:xfrm>
            <a:off x="924922" y="1094986"/>
            <a:ext cx="2722155" cy="537904"/>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As density altitude increases, Vx will __________.</a:t>
            </a:r>
          </a:p>
        </p:txBody>
      </p:sp>
      <p:sp>
        <p:nvSpPr>
          <p:cNvPr id="4" name="TextBox 3">
            <a:extLst>
              <a:ext uri="{FF2B5EF4-FFF2-40B4-BE49-F238E27FC236}">
                <a16:creationId xmlns:a16="http://schemas.microsoft.com/office/drawing/2014/main" id="{B4032A90-64C1-AF31-CD75-A106BC16D130}"/>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782FAA07-8D4B-1A36-DE2B-CCF20A63B9A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3845438-4FCC-81A9-BFBA-CD780BACA34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483327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690C2C-64BD-8CCF-273F-9F5E73FBDB42}"/>
              </a:ext>
            </a:extLst>
          </p:cNvPr>
          <p:cNvSpPr txBox="1"/>
          <p:nvPr/>
        </p:nvSpPr>
        <p:spPr>
          <a:xfrm>
            <a:off x="155749" y="691939"/>
            <a:ext cx="2332170" cy="1293880"/>
          </a:xfrm>
          <a:prstGeom prst="rect">
            <a:avLst/>
          </a:prstGeom>
          <a:noFill/>
        </p:spPr>
        <p:txBody>
          <a:bodyPr wrap="square">
            <a:spAutoFit/>
          </a:bodyPr>
          <a:lstStyle/>
          <a:p>
            <a:pPr marL="0" marR="0" algn="ctr">
              <a:lnSpc>
                <a:spcPct val="107000"/>
              </a:lnSpc>
              <a:spcBef>
                <a:spcPts val="0"/>
              </a:spcBef>
              <a:spcAft>
                <a:spcPts val="0"/>
              </a:spcAft>
            </a:pP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Increase.</a:t>
            </a:r>
          </a:p>
          <a:p>
            <a:pPr marL="0" marR="0">
              <a:lnSpc>
                <a:spcPct val="107000"/>
              </a:lnSpc>
              <a:spcBef>
                <a:spcPts val="0"/>
              </a:spcBef>
              <a:spcAft>
                <a:spcPts val="0"/>
              </a:spcAft>
            </a:pPr>
            <a:endParaRPr lang="en-US" sz="105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Side note: as DA increases, Vy will decrease. </a:t>
            </a:r>
            <a:r>
              <a:rPr lang="en-US" sz="1050" dirty="0">
                <a:latin typeface="Times New Roman" panose="02020603050405020304" pitchFamily="18" charset="0"/>
                <a:ea typeface="Calibri" panose="020F0502020204030204" pitchFamily="34" charset="0"/>
                <a:cs typeface="Times New Roman" panose="02020603050405020304" pitchFamily="18" charset="0"/>
              </a:rPr>
              <a:t>As DA increases, these two lines will move closer together. In theory, when they meet, the aircraft has reached its absolute service ceiling.</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218B7F1-5617-9174-D97C-B9C2D033187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grpSp>
        <p:nvGrpSpPr>
          <p:cNvPr id="2" name="Group 1">
            <a:extLst>
              <a:ext uri="{FF2B5EF4-FFF2-40B4-BE49-F238E27FC236}">
                <a16:creationId xmlns:a16="http://schemas.microsoft.com/office/drawing/2014/main" id="{705824CC-CFA7-E41B-D57C-181E4F23EB1F}"/>
              </a:ext>
            </a:extLst>
          </p:cNvPr>
          <p:cNvGrpSpPr/>
          <p:nvPr/>
        </p:nvGrpSpPr>
        <p:grpSpPr>
          <a:xfrm>
            <a:off x="2748404" y="452884"/>
            <a:ext cx="1489479" cy="1887221"/>
            <a:chOff x="479791" y="136075"/>
            <a:chExt cx="2047875" cy="2594727"/>
          </a:xfrm>
        </p:grpSpPr>
        <p:sp>
          <p:nvSpPr>
            <p:cNvPr id="5" name="Arc 4">
              <a:extLst>
                <a:ext uri="{FF2B5EF4-FFF2-40B4-BE49-F238E27FC236}">
                  <a16:creationId xmlns:a16="http://schemas.microsoft.com/office/drawing/2014/main" id="{3FA089C1-8D73-CA18-0496-5676BE70D293}"/>
                </a:ext>
              </a:extLst>
            </p:cNvPr>
            <p:cNvSpPr/>
            <p:nvPr/>
          </p:nvSpPr>
          <p:spPr>
            <a:xfrm>
              <a:off x="752922" y="136075"/>
              <a:ext cx="1263486" cy="1836929"/>
            </a:xfrm>
            <a:prstGeom prst="arc">
              <a:avLst>
                <a:gd name="adj1" fmla="val 21412271"/>
                <a:gd name="adj2" fmla="val 1097547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dirty="0"/>
            </a:p>
          </p:txBody>
        </p:sp>
        <p:grpSp>
          <p:nvGrpSpPr>
            <p:cNvPr id="6" name="Group 5">
              <a:extLst>
                <a:ext uri="{FF2B5EF4-FFF2-40B4-BE49-F238E27FC236}">
                  <a16:creationId xmlns:a16="http://schemas.microsoft.com/office/drawing/2014/main" id="{F62EBD71-DBD9-89A9-2D4B-37B50D00B327}"/>
                </a:ext>
              </a:extLst>
            </p:cNvPr>
            <p:cNvGrpSpPr/>
            <p:nvPr/>
          </p:nvGrpSpPr>
          <p:grpSpPr>
            <a:xfrm>
              <a:off x="479791" y="464750"/>
              <a:ext cx="2047875" cy="2266052"/>
              <a:chOff x="6122310" y="384810"/>
              <a:chExt cx="2047875" cy="2266052"/>
            </a:xfrm>
          </p:grpSpPr>
          <p:cxnSp>
            <p:nvCxnSpPr>
              <p:cNvPr id="7" name="Straight Connector 6">
                <a:extLst>
                  <a:ext uri="{FF2B5EF4-FFF2-40B4-BE49-F238E27FC236}">
                    <a16:creationId xmlns:a16="http://schemas.microsoft.com/office/drawing/2014/main" id="{8114A080-BA6D-B549-7F13-037958E7650C}"/>
                  </a:ext>
                </a:extLst>
              </p:cNvPr>
              <p:cNvCxnSpPr/>
              <p:nvPr/>
            </p:nvCxnSpPr>
            <p:spPr>
              <a:xfrm>
                <a:off x="7389135" y="1725453"/>
                <a:ext cx="0" cy="54292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338644C-B761-18C4-88FA-7938C5FAF18A}"/>
                  </a:ext>
                </a:extLst>
              </p:cNvPr>
              <p:cNvCxnSpPr/>
              <p:nvPr/>
            </p:nvCxnSpPr>
            <p:spPr>
              <a:xfrm>
                <a:off x="6673489" y="1725453"/>
                <a:ext cx="0" cy="54292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C2AC50-CB12-DE82-3DE7-4427BB863D45}"/>
                  </a:ext>
                </a:extLst>
              </p:cNvPr>
              <p:cNvCxnSpPr>
                <a:cxnSpLocks/>
              </p:cNvCxnSpPr>
              <p:nvPr/>
            </p:nvCxnSpPr>
            <p:spPr>
              <a:xfrm>
                <a:off x="7030995" y="1893064"/>
                <a:ext cx="0" cy="46158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1B4F5A79-BD15-D7D2-FBC6-A573FF234D95}"/>
                  </a:ext>
                </a:extLst>
              </p:cNvPr>
              <p:cNvSpPr/>
              <p:nvPr/>
            </p:nvSpPr>
            <p:spPr>
              <a:xfrm>
                <a:off x="6122310" y="384810"/>
                <a:ext cx="2047875" cy="1876425"/>
              </a:xfrm>
              <a:custGeom>
                <a:avLst/>
                <a:gdLst>
                  <a:gd name="connsiteX0" fmla="*/ 0 w 2047875"/>
                  <a:gd name="connsiteY0" fmla="*/ 0 h 1876425"/>
                  <a:gd name="connsiteX1" fmla="*/ 0 w 2047875"/>
                  <a:gd name="connsiteY1" fmla="*/ 1876425 h 1876425"/>
                  <a:gd name="connsiteX2" fmla="*/ 2047875 w 2047875"/>
                  <a:gd name="connsiteY2" fmla="*/ 1876425 h 1876425"/>
                </a:gdLst>
                <a:ahLst/>
                <a:cxnLst>
                  <a:cxn ang="0">
                    <a:pos x="connsiteX0" y="connsiteY0"/>
                  </a:cxn>
                  <a:cxn ang="0">
                    <a:pos x="connsiteX1" y="connsiteY1"/>
                  </a:cxn>
                  <a:cxn ang="0">
                    <a:pos x="connsiteX2" y="connsiteY2"/>
                  </a:cxn>
                </a:cxnLst>
                <a:rect l="l" t="t" r="r" b="b"/>
                <a:pathLst>
                  <a:path w="2047875" h="1876425">
                    <a:moveTo>
                      <a:pt x="0" y="0"/>
                    </a:moveTo>
                    <a:lnTo>
                      <a:pt x="0" y="1876425"/>
                    </a:lnTo>
                    <a:lnTo>
                      <a:pt x="2047875" y="1876425"/>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 name="TextBox 10">
                <a:extLst>
                  <a:ext uri="{FF2B5EF4-FFF2-40B4-BE49-F238E27FC236}">
                    <a16:creationId xmlns:a16="http://schemas.microsoft.com/office/drawing/2014/main" id="{DF99D373-7F92-7E7A-33D5-70F39FB8895E}"/>
                  </a:ext>
                </a:extLst>
              </p:cNvPr>
              <p:cNvSpPr txBox="1"/>
              <p:nvPr/>
            </p:nvSpPr>
            <p:spPr>
              <a:xfrm>
                <a:off x="7224667" y="2229049"/>
                <a:ext cx="397154" cy="296213"/>
              </a:xfrm>
              <a:prstGeom prst="rect">
                <a:avLst/>
              </a:prstGeom>
              <a:noFill/>
              <a:ln>
                <a:noFill/>
              </a:ln>
            </p:spPr>
            <p:txBody>
              <a:bodyPr wrap="none" rtlCol="0">
                <a:spAutoFit/>
              </a:bodyPr>
              <a:lstStyle/>
              <a:p>
                <a:r>
                  <a:rPr lang="en-US" sz="800" dirty="0"/>
                  <a:t>Vy</a:t>
                </a:r>
              </a:p>
            </p:txBody>
          </p:sp>
          <p:sp>
            <p:nvSpPr>
              <p:cNvPr id="12" name="TextBox 11">
                <a:extLst>
                  <a:ext uri="{FF2B5EF4-FFF2-40B4-BE49-F238E27FC236}">
                    <a16:creationId xmlns:a16="http://schemas.microsoft.com/office/drawing/2014/main" id="{06D1187C-C94D-A92D-5414-48C6FBA7A4E9}"/>
                  </a:ext>
                </a:extLst>
              </p:cNvPr>
              <p:cNvSpPr txBox="1"/>
              <p:nvPr/>
            </p:nvSpPr>
            <p:spPr>
              <a:xfrm>
                <a:off x="6509021" y="2229049"/>
                <a:ext cx="394949" cy="296213"/>
              </a:xfrm>
              <a:prstGeom prst="rect">
                <a:avLst/>
              </a:prstGeom>
              <a:noFill/>
            </p:spPr>
            <p:txBody>
              <a:bodyPr wrap="none" rtlCol="0">
                <a:spAutoFit/>
              </a:bodyPr>
              <a:lstStyle/>
              <a:p>
                <a:r>
                  <a:rPr lang="en-US" sz="800" dirty="0"/>
                  <a:t>Vx</a:t>
                </a:r>
              </a:p>
            </p:txBody>
          </p:sp>
          <p:sp>
            <p:nvSpPr>
              <p:cNvPr id="13" name="TextBox 12">
                <a:extLst>
                  <a:ext uri="{FF2B5EF4-FFF2-40B4-BE49-F238E27FC236}">
                    <a16:creationId xmlns:a16="http://schemas.microsoft.com/office/drawing/2014/main" id="{6468A1E4-C680-EC04-7D9A-D838D234DFCC}"/>
                  </a:ext>
                </a:extLst>
              </p:cNvPr>
              <p:cNvSpPr txBox="1"/>
              <p:nvPr/>
            </p:nvSpPr>
            <p:spPr>
              <a:xfrm>
                <a:off x="6728668" y="2354649"/>
                <a:ext cx="696892" cy="296213"/>
              </a:xfrm>
              <a:prstGeom prst="rect">
                <a:avLst/>
              </a:prstGeom>
              <a:noFill/>
              <a:ln>
                <a:noFill/>
              </a:ln>
            </p:spPr>
            <p:txBody>
              <a:bodyPr wrap="none" rtlCol="0">
                <a:spAutoFit/>
              </a:bodyPr>
              <a:lstStyle/>
              <a:p>
                <a:r>
                  <a:rPr lang="en-US" sz="800" dirty="0"/>
                  <a:t>L/Dmax</a:t>
                </a:r>
              </a:p>
            </p:txBody>
          </p:sp>
        </p:grpSp>
      </p:grpSp>
      <p:sp>
        <p:nvSpPr>
          <p:cNvPr id="14" name="Arrow: Down 13">
            <a:extLst>
              <a:ext uri="{FF2B5EF4-FFF2-40B4-BE49-F238E27FC236}">
                <a16:creationId xmlns:a16="http://schemas.microsoft.com/office/drawing/2014/main" id="{80DF7D49-7DD8-A5A4-27E7-CCD9BCFEAE1A}"/>
              </a:ext>
            </a:extLst>
          </p:cNvPr>
          <p:cNvSpPr/>
          <p:nvPr/>
        </p:nvSpPr>
        <p:spPr>
          <a:xfrm>
            <a:off x="3082374" y="1248481"/>
            <a:ext cx="133838" cy="286378"/>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row: Down 14">
            <a:extLst>
              <a:ext uri="{FF2B5EF4-FFF2-40B4-BE49-F238E27FC236}">
                <a16:creationId xmlns:a16="http://schemas.microsoft.com/office/drawing/2014/main" id="{C066A793-C987-0468-6906-006035D1560D}"/>
              </a:ext>
            </a:extLst>
          </p:cNvPr>
          <p:cNvSpPr/>
          <p:nvPr/>
        </p:nvSpPr>
        <p:spPr>
          <a:xfrm>
            <a:off x="3602884" y="1248481"/>
            <a:ext cx="133838" cy="286378"/>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488287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B8EEB80-A89B-FC6C-1896-E65C614D509E}"/>
              </a:ext>
            </a:extLst>
          </p:cNvPr>
          <p:cNvGrpSpPr/>
          <p:nvPr/>
        </p:nvGrpSpPr>
        <p:grpSpPr>
          <a:xfrm>
            <a:off x="488093" y="381726"/>
            <a:ext cx="2022546" cy="1985191"/>
            <a:chOff x="609600" y="154232"/>
            <a:chExt cx="2047875" cy="2427867"/>
          </a:xfrm>
        </p:grpSpPr>
        <p:sp>
          <p:nvSpPr>
            <p:cNvPr id="4" name="Freeform: Shape 3">
              <a:extLst>
                <a:ext uri="{FF2B5EF4-FFF2-40B4-BE49-F238E27FC236}">
                  <a16:creationId xmlns:a16="http://schemas.microsoft.com/office/drawing/2014/main" id="{025D54C0-4F73-26D6-3149-55987D778540}"/>
                </a:ext>
              </a:extLst>
            </p:cNvPr>
            <p:cNvSpPr/>
            <p:nvPr/>
          </p:nvSpPr>
          <p:spPr>
            <a:xfrm>
              <a:off x="609600" y="476250"/>
              <a:ext cx="2047875" cy="1876425"/>
            </a:xfrm>
            <a:custGeom>
              <a:avLst/>
              <a:gdLst>
                <a:gd name="connsiteX0" fmla="*/ 0 w 2047875"/>
                <a:gd name="connsiteY0" fmla="*/ 0 h 1876425"/>
                <a:gd name="connsiteX1" fmla="*/ 0 w 2047875"/>
                <a:gd name="connsiteY1" fmla="*/ 1876425 h 1876425"/>
                <a:gd name="connsiteX2" fmla="*/ 2047875 w 2047875"/>
                <a:gd name="connsiteY2" fmla="*/ 1876425 h 1876425"/>
              </a:gdLst>
              <a:ahLst/>
              <a:cxnLst>
                <a:cxn ang="0">
                  <a:pos x="connsiteX0" y="connsiteY0"/>
                </a:cxn>
                <a:cxn ang="0">
                  <a:pos x="connsiteX1" y="connsiteY1"/>
                </a:cxn>
                <a:cxn ang="0">
                  <a:pos x="connsiteX2" y="connsiteY2"/>
                </a:cxn>
              </a:cxnLst>
              <a:rect l="l" t="t" r="r" b="b"/>
              <a:pathLst>
                <a:path w="2047875" h="1876425">
                  <a:moveTo>
                    <a:pt x="0" y="0"/>
                  </a:moveTo>
                  <a:lnTo>
                    <a:pt x="0" y="1876425"/>
                  </a:lnTo>
                  <a:lnTo>
                    <a:pt x="2047875" y="1876425"/>
                  </a:ln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Arc 4">
              <a:extLst>
                <a:ext uri="{FF2B5EF4-FFF2-40B4-BE49-F238E27FC236}">
                  <a16:creationId xmlns:a16="http://schemas.microsoft.com/office/drawing/2014/main" id="{63E6CA73-C32E-FD76-3C70-93B954830698}"/>
                </a:ext>
              </a:extLst>
            </p:cNvPr>
            <p:cNvSpPr/>
            <p:nvPr/>
          </p:nvSpPr>
          <p:spPr>
            <a:xfrm>
              <a:off x="1119665" y="154232"/>
              <a:ext cx="941080" cy="1836928"/>
            </a:xfrm>
            <a:prstGeom prst="arc">
              <a:avLst>
                <a:gd name="adj1" fmla="val 21412271"/>
                <a:gd name="adj2" fmla="val 1097547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7CA6A23-B588-54B1-94F3-FF1107A5ECC9}"/>
                </a:ext>
              </a:extLst>
            </p:cNvPr>
            <p:cNvCxnSpPr/>
            <p:nvPr/>
          </p:nvCxnSpPr>
          <p:spPr>
            <a:xfrm>
              <a:off x="1876425" y="1812131"/>
              <a:ext cx="0" cy="54292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75A3E1-B22A-19D9-E83E-9F42789EE5FE}"/>
                </a:ext>
              </a:extLst>
            </p:cNvPr>
            <p:cNvSpPr txBox="1"/>
            <p:nvPr/>
          </p:nvSpPr>
          <p:spPr>
            <a:xfrm>
              <a:off x="1711957" y="2320489"/>
              <a:ext cx="328936" cy="261610"/>
            </a:xfrm>
            <a:prstGeom prst="rect">
              <a:avLst/>
            </a:prstGeom>
            <a:noFill/>
            <a:ln>
              <a:noFill/>
            </a:ln>
          </p:spPr>
          <p:txBody>
            <a:bodyPr wrap="none" rtlCol="0">
              <a:spAutoFit/>
            </a:bodyPr>
            <a:lstStyle/>
            <a:p>
              <a:r>
                <a:rPr lang="en-US" sz="1050" dirty="0"/>
                <a:t>Vy</a:t>
              </a:r>
            </a:p>
          </p:txBody>
        </p:sp>
      </p:grpSp>
      <p:sp>
        <p:nvSpPr>
          <p:cNvPr id="8" name="TextBox 7">
            <a:extLst>
              <a:ext uri="{FF2B5EF4-FFF2-40B4-BE49-F238E27FC236}">
                <a16:creationId xmlns:a16="http://schemas.microsoft.com/office/drawing/2014/main" id="{7AB935BB-6DF7-5EA1-2DFA-075110F8E5B6}"/>
              </a:ext>
            </a:extLst>
          </p:cNvPr>
          <p:cNvSpPr txBox="1"/>
          <p:nvPr/>
        </p:nvSpPr>
        <p:spPr>
          <a:xfrm>
            <a:off x="2661598" y="550479"/>
            <a:ext cx="1660888" cy="1464055"/>
          </a:xfrm>
          <a:prstGeom prst="rect">
            <a:avLst/>
          </a:prstGeom>
          <a:noFill/>
        </p:spPr>
        <p:txBody>
          <a:bodyPr wrap="square">
            <a:spAutoFit/>
          </a:bodyPr>
          <a:lstStyle/>
          <a:p>
            <a:pPr marL="0" marR="0">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Here is a typical plot of the total drag curve for a given airplane. Where on this plot would you find Vx?</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04C247FC-1DA9-1059-91AB-B47BF4406311}"/>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167FEE2B-DCD5-4E66-B8A7-6747318CDB5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13B725F8-1BCD-B90F-5CB3-B05598D14A8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63943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CEBD0A85-7CCC-81D8-417A-9FE5BC07999B}"/>
              </a:ext>
            </a:extLst>
          </p:cNvPr>
          <p:cNvSpPr txBox="1"/>
          <p:nvPr/>
        </p:nvSpPr>
        <p:spPr>
          <a:xfrm>
            <a:off x="2407578" y="598809"/>
            <a:ext cx="1927861" cy="1293880"/>
          </a:xfrm>
          <a:prstGeom prst="rect">
            <a:avLst/>
          </a:prstGeom>
          <a:noFill/>
        </p:spPr>
        <p:txBody>
          <a:bodyPr wrap="square">
            <a:spAutoFit/>
          </a:bodyPr>
          <a:lstStyle/>
          <a:p>
            <a:pPr marL="0" marR="0" algn="just">
              <a:lnSpc>
                <a:spcPct val="107000"/>
              </a:lnSpc>
              <a:spcBef>
                <a:spcPts val="0"/>
              </a:spcBef>
              <a:spcAft>
                <a:spcPts val="0"/>
              </a:spcAft>
            </a:pP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The bottom of the curve is called L/Dmax (pronounced “L over D max”). Vx is as far to the left of L/Dmax as Vy is to the right. In fact, (Vy-Vx)/2 +Vx is usually a pretty good estimate of L/Dmax. This is also Vg.</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2F23CE5-B796-1C6D-BC26-E30B3F8718D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grpSp>
        <p:nvGrpSpPr>
          <p:cNvPr id="2" name="Group 1">
            <a:extLst>
              <a:ext uri="{FF2B5EF4-FFF2-40B4-BE49-F238E27FC236}">
                <a16:creationId xmlns:a16="http://schemas.microsoft.com/office/drawing/2014/main" id="{4F942D57-C288-39DC-947D-93C4AE64EE3B}"/>
              </a:ext>
            </a:extLst>
          </p:cNvPr>
          <p:cNvGrpSpPr/>
          <p:nvPr/>
        </p:nvGrpSpPr>
        <p:grpSpPr>
          <a:xfrm>
            <a:off x="230305" y="254214"/>
            <a:ext cx="2022546" cy="2109835"/>
            <a:chOff x="609600" y="154232"/>
            <a:chExt cx="2047875" cy="2580305"/>
          </a:xfrm>
        </p:grpSpPr>
        <p:sp>
          <p:nvSpPr>
            <p:cNvPr id="5" name="Freeform: Shape 4">
              <a:extLst>
                <a:ext uri="{FF2B5EF4-FFF2-40B4-BE49-F238E27FC236}">
                  <a16:creationId xmlns:a16="http://schemas.microsoft.com/office/drawing/2014/main" id="{76E5040B-54A9-5901-8E48-1E4612E8CDB2}"/>
                </a:ext>
              </a:extLst>
            </p:cNvPr>
            <p:cNvSpPr/>
            <p:nvPr/>
          </p:nvSpPr>
          <p:spPr>
            <a:xfrm>
              <a:off x="609600" y="476250"/>
              <a:ext cx="2047875" cy="1876425"/>
            </a:xfrm>
            <a:custGeom>
              <a:avLst/>
              <a:gdLst>
                <a:gd name="connsiteX0" fmla="*/ 0 w 2047875"/>
                <a:gd name="connsiteY0" fmla="*/ 0 h 1876425"/>
                <a:gd name="connsiteX1" fmla="*/ 0 w 2047875"/>
                <a:gd name="connsiteY1" fmla="*/ 1876425 h 1876425"/>
                <a:gd name="connsiteX2" fmla="*/ 2047875 w 2047875"/>
                <a:gd name="connsiteY2" fmla="*/ 1876425 h 1876425"/>
              </a:gdLst>
              <a:ahLst/>
              <a:cxnLst>
                <a:cxn ang="0">
                  <a:pos x="connsiteX0" y="connsiteY0"/>
                </a:cxn>
                <a:cxn ang="0">
                  <a:pos x="connsiteX1" y="connsiteY1"/>
                </a:cxn>
                <a:cxn ang="0">
                  <a:pos x="connsiteX2" y="connsiteY2"/>
                </a:cxn>
              </a:cxnLst>
              <a:rect l="l" t="t" r="r" b="b"/>
              <a:pathLst>
                <a:path w="2047875" h="1876425">
                  <a:moveTo>
                    <a:pt x="0" y="0"/>
                  </a:moveTo>
                  <a:lnTo>
                    <a:pt x="0" y="1876425"/>
                  </a:lnTo>
                  <a:lnTo>
                    <a:pt x="2047875" y="1876425"/>
                  </a:ln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rc 5">
              <a:extLst>
                <a:ext uri="{FF2B5EF4-FFF2-40B4-BE49-F238E27FC236}">
                  <a16:creationId xmlns:a16="http://schemas.microsoft.com/office/drawing/2014/main" id="{0DFDEEE8-0B53-4551-C393-F8AEE12C9501}"/>
                </a:ext>
              </a:extLst>
            </p:cNvPr>
            <p:cNvSpPr/>
            <p:nvPr/>
          </p:nvSpPr>
          <p:spPr>
            <a:xfrm>
              <a:off x="1119665" y="154232"/>
              <a:ext cx="941080" cy="1836928"/>
            </a:xfrm>
            <a:prstGeom prst="arc">
              <a:avLst>
                <a:gd name="adj1" fmla="val 21412271"/>
                <a:gd name="adj2" fmla="val 1097547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8B370021-D7F7-C69E-E9EF-72BDDD7BC1CF}"/>
                </a:ext>
              </a:extLst>
            </p:cNvPr>
            <p:cNvCxnSpPr/>
            <p:nvPr/>
          </p:nvCxnSpPr>
          <p:spPr>
            <a:xfrm>
              <a:off x="1876425" y="1812131"/>
              <a:ext cx="0" cy="54292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8C2F43C-E1FC-F5FE-A8A7-FEAA36C4ACDB}"/>
                </a:ext>
              </a:extLst>
            </p:cNvPr>
            <p:cNvSpPr txBox="1"/>
            <p:nvPr/>
          </p:nvSpPr>
          <p:spPr>
            <a:xfrm>
              <a:off x="1711957" y="2320489"/>
              <a:ext cx="292480" cy="263486"/>
            </a:xfrm>
            <a:prstGeom prst="rect">
              <a:avLst/>
            </a:prstGeom>
            <a:noFill/>
            <a:ln>
              <a:noFill/>
            </a:ln>
          </p:spPr>
          <p:txBody>
            <a:bodyPr wrap="none" rtlCol="0">
              <a:spAutoFit/>
            </a:bodyPr>
            <a:lstStyle/>
            <a:p>
              <a:r>
                <a:rPr lang="en-US" sz="800" dirty="0"/>
                <a:t>Vy</a:t>
              </a:r>
            </a:p>
          </p:txBody>
        </p:sp>
        <p:cxnSp>
          <p:nvCxnSpPr>
            <p:cNvPr id="9" name="Straight Connector 8">
              <a:extLst>
                <a:ext uri="{FF2B5EF4-FFF2-40B4-BE49-F238E27FC236}">
                  <a16:creationId xmlns:a16="http://schemas.microsoft.com/office/drawing/2014/main" id="{2A35932F-FC14-B73C-7C1A-3903AE29E08C}"/>
                </a:ext>
              </a:extLst>
            </p:cNvPr>
            <p:cNvCxnSpPr/>
            <p:nvPr/>
          </p:nvCxnSpPr>
          <p:spPr>
            <a:xfrm>
              <a:off x="1300665" y="1812131"/>
              <a:ext cx="0" cy="54292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C003B8B-98CD-B9F2-97E8-0CA37C3B297D}"/>
                </a:ext>
              </a:extLst>
            </p:cNvPr>
            <p:cNvSpPr txBox="1"/>
            <p:nvPr/>
          </p:nvSpPr>
          <p:spPr>
            <a:xfrm>
              <a:off x="1136198" y="2320489"/>
              <a:ext cx="290855" cy="263486"/>
            </a:xfrm>
            <a:prstGeom prst="rect">
              <a:avLst/>
            </a:prstGeom>
            <a:noFill/>
            <a:ln>
              <a:noFill/>
            </a:ln>
          </p:spPr>
          <p:txBody>
            <a:bodyPr wrap="none" rtlCol="0">
              <a:spAutoFit/>
            </a:bodyPr>
            <a:lstStyle/>
            <a:p>
              <a:r>
                <a:rPr lang="en-US" sz="800" dirty="0"/>
                <a:t>Vx</a:t>
              </a:r>
            </a:p>
          </p:txBody>
        </p:sp>
        <p:cxnSp>
          <p:nvCxnSpPr>
            <p:cNvPr id="11" name="Straight Connector 10">
              <a:extLst>
                <a:ext uri="{FF2B5EF4-FFF2-40B4-BE49-F238E27FC236}">
                  <a16:creationId xmlns:a16="http://schemas.microsoft.com/office/drawing/2014/main" id="{0BF81C8D-8820-E802-66D9-6C170C273228}"/>
                </a:ext>
              </a:extLst>
            </p:cNvPr>
            <p:cNvCxnSpPr>
              <a:cxnSpLocks/>
            </p:cNvCxnSpPr>
            <p:nvPr/>
          </p:nvCxnSpPr>
          <p:spPr>
            <a:xfrm>
              <a:off x="1583718" y="1991161"/>
              <a:ext cx="0" cy="36389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BE47E17-4BFD-2880-EC00-0824F8E9EAA4}"/>
                </a:ext>
              </a:extLst>
            </p:cNvPr>
            <p:cNvSpPr txBox="1"/>
            <p:nvPr/>
          </p:nvSpPr>
          <p:spPr>
            <a:xfrm>
              <a:off x="1315927" y="2320489"/>
              <a:ext cx="548192" cy="414048"/>
            </a:xfrm>
            <a:prstGeom prst="rect">
              <a:avLst/>
            </a:prstGeom>
            <a:noFill/>
            <a:ln>
              <a:noFill/>
            </a:ln>
          </p:spPr>
          <p:txBody>
            <a:bodyPr wrap="square" rtlCol="0">
              <a:spAutoFit/>
            </a:bodyPr>
            <a:lstStyle/>
            <a:p>
              <a:pPr algn="ctr"/>
              <a:r>
                <a:rPr lang="en-US" sz="800" dirty="0"/>
                <a:t>L/Dmax</a:t>
              </a:r>
            </a:p>
            <a:p>
              <a:pPr algn="ctr"/>
              <a:r>
                <a:rPr lang="en-US" sz="800" dirty="0"/>
                <a:t>Vg</a:t>
              </a:r>
            </a:p>
          </p:txBody>
        </p:sp>
      </p:grpSp>
    </p:spTree>
    <p:extLst>
      <p:ext uri="{BB962C8B-B14F-4D97-AF65-F5344CB8AC3E}">
        <p14:creationId xmlns:p14="http://schemas.microsoft.com/office/powerpoint/2010/main" val="4456075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AA74ED-027B-3C3B-9B4F-A20CA58F421C}"/>
              </a:ext>
            </a:extLst>
          </p:cNvPr>
          <p:cNvSpPr txBox="1"/>
          <p:nvPr/>
        </p:nvSpPr>
        <p:spPr>
          <a:xfrm>
            <a:off x="577885" y="462826"/>
            <a:ext cx="3416230"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effect does a forward center of gravity have on an aircraft's flight characteristics?</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FAA-H-8083-1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DE01F03-2DA7-3E8D-8524-02455A1CD5D3}"/>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grpSp>
        <p:nvGrpSpPr>
          <p:cNvPr id="5" name="Group 4">
            <a:extLst>
              <a:ext uri="{FF2B5EF4-FFF2-40B4-BE49-F238E27FC236}">
                <a16:creationId xmlns:a16="http://schemas.microsoft.com/office/drawing/2014/main" id="{B7513C35-8F48-FE20-662D-F0BCBEF341FA}"/>
              </a:ext>
            </a:extLst>
          </p:cNvPr>
          <p:cNvGrpSpPr/>
          <p:nvPr/>
        </p:nvGrpSpPr>
        <p:grpSpPr>
          <a:xfrm>
            <a:off x="1447599" y="1554665"/>
            <a:ext cx="1580109" cy="478076"/>
            <a:chOff x="1057308" y="1433973"/>
            <a:chExt cx="1942853" cy="587828"/>
          </a:xfrm>
          <a:solidFill>
            <a:schemeClr val="bg1">
              <a:lumMod val="85000"/>
            </a:schemeClr>
          </a:solidFill>
        </p:grpSpPr>
        <p:grpSp>
          <p:nvGrpSpPr>
            <p:cNvPr id="14" name="Group 13">
              <a:extLst>
                <a:ext uri="{FF2B5EF4-FFF2-40B4-BE49-F238E27FC236}">
                  <a16:creationId xmlns:a16="http://schemas.microsoft.com/office/drawing/2014/main" id="{0E55F7FA-38A6-3CC5-FA33-CC82A083CBFF}"/>
                </a:ext>
              </a:extLst>
            </p:cNvPr>
            <p:cNvGrpSpPr/>
            <p:nvPr/>
          </p:nvGrpSpPr>
          <p:grpSpPr>
            <a:xfrm rot="21356756" flipH="1">
              <a:off x="2915313" y="1723904"/>
              <a:ext cx="84848" cy="72039"/>
              <a:chOff x="6313941" y="2895600"/>
              <a:chExt cx="205995" cy="174897"/>
            </a:xfrm>
            <a:grpFill/>
          </p:grpSpPr>
          <p:sp>
            <p:nvSpPr>
              <p:cNvPr id="18" name="Freeform: Shape 17">
                <a:extLst>
                  <a:ext uri="{FF2B5EF4-FFF2-40B4-BE49-F238E27FC236}">
                    <a16:creationId xmlns:a16="http://schemas.microsoft.com/office/drawing/2014/main" id="{D26A9B43-F213-8998-11F9-EDBFE2850EBA}"/>
                  </a:ext>
                </a:extLst>
              </p:cNvPr>
              <p:cNvSpPr/>
              <p:nvPr/>
            </p:nvSpPr>
            <p:spPr>
              <a:xfrm>
                <a:off x="6313941" y="2895600"/>
                <a:ext cx="205995" cy="134416"/>
              </a:xfrm>
              <a:custGeom>
                <a:avLst/>
                <a:gdLst>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4131 h 232731"/>
                  <a:gd name="connsiteX1" fmla="*/ 0 w 304800"/>
                  <a:gd name="connsiteY1" fmla="*/ 102556 h 232731"/>
                  <a:gd name="connsiteX2" fmla="*/ 301625 w 304800"/>
                  <a:gd name="connsiteY2" fmla="*/ 232731 h 232731"/>
                  <a:gd name="connsiteX0" fmla="*/ 304800 w 304800"/>
                  <a:gd name="connsiteY0" fmla="*/ 4131 h 102556"/>
                  <a:gd name="connsiteX1" fmla="*/ 0 w 304800"/>
                  <a:gd name="connsiteY1" fmla="*/ 102556 h 102556"/>
                  <a:gd name="connsiteX0" fmla="*/ 304800 w 304800"/>
                  <a:gd name="connsiteY0" fmla="*/ 4910 h 103335"/>
                  <a:gd name="connsiteX1" fmla="*/ 304692 w 304800"/>
                  <a:gd name="connsiteY1" fmla="*/ 3516 h 103335"/>
                  <a:gd name="connsiteX2" fmla="*/ 0 w 304800"/>
                  <a:gd name="connsiteY2" fmla="*/ 103335 h 103335"/>
                  <a:gd name="connsiteX0" fmla="*/ 304800 w 304800"/>
                  <a:gd name="connsiteY0" fmla="*/ 1 h 98426"/>
                  <a:gd name="connsiteX1" fmla="*/ 262894 w 304800"/>
                  <a:gd name="connsiteY1" fmla="*/ 95087 h 98426"/>
                  <a:gd name="connsiteX2" fmla="*/ 0 w 304800"/>
                  <a:gd name="connsiteY2" fmla="*/ 98426 h 98426"/>
                  <a:gd name="connsiteX0" fmla="*/ 301317 w 301317"/>
                  <a:gd name="connsiteY0" fmla="*/ 104438 h 104438"/>
                  <a:gd name="connsiteX1" fmla="*/ 262894 w 301317"/>
                  <a:gd name="connsiteY1" fmla="*/ 40800 h 104438"/>
                  <a:gd name="connsiteX2" fmla="*/ 0 w 301317"/>
                  <a:gd name="connsiteY2" fmla="*/ 44139 h 104438"/>
                  <a:gd name="connsiteX0" fmla="*/ 301317 w 301317"/>
                  <a:gd name="connsiteY0" fmla="*/ 178267 h 178267"/>
                  <a:gd name="connsiteX1" fmla="*/ 297726 w 301317"/>
                  <a:gd name="connsiteY1" fmla="*/ 2588 h 178267"/>
                  <a:gd name="connsiteX2" fmla="*/ 0 w 301317"/>
                  <a:gd name="connsiteY2" fmla="*/ 117968 h 178267"/>
                  <a:gd name="connsiteX0" fmla="*/ 301317 w 301317"/>
                  <a:gd name="connsiteY0" fmla="*/ 175679 h 175679"/>
                  <a:gd name="connsiteX1" fmla="*/ 297726 w 301317"/>
                  <a:gd name="connsiteY1" fmla="*/ 0 h 175679"/>
                  <a:gd name="connsiteX2" fmla="*/ 0 w 301317"/>
                  <a:gd name="connsiteY2" fmla="*/ 115380 h 175679"/>
                </a:gdLst>
                <a:ahLst/>
                <a:cxnLst>
                  <a:cxn ang="0">
                    <a:pos x="connsiteX0" y="connsiteY0"/>
                  </a:cxn>
                  <a:cxn ang="0">
                    <a:pos x="connsiteX1" y="connsiteY1"/>
                  </a:cxn>
                  <a:cxn ang="0">
                    <a:pos x="connsiteX2" y="connsiteY2"/>
                  </a:cxn>
                </a:cxnLst>
                <a:rect l="l" t="t" r="r" b="b"/>
                <a:pathLst>
                  <a:path w="301317" h="175679">
                    <a:moveTo>
                      <a:pt x="301317" y="175679"/>
                    </a:moveTo>
                    <a:cubicBezTo>
                      <a:pt x="301299" y="175447"/>
                      <a:pt x="297748" y="290"/>
                      <a:pt x="297726" y="0"/>
                    </a:cubicBezTo>
                    <a:cubicBezTo>
                      <a:pt x="148086" y="5251"/>
                      <a:pt x="25400" y="25422"/>
                      <a:pt x="0" y="115380"/>
                    </a:cubicBezTo>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0B4DA035-3115-F1A9-CBC2-2A217B5B1B44}"/>
                  </a:ext>
                </a:extLst>
              </p:cNvPr>
              <p:cNvSpPr/>
              <p:nvPr/>
            </p:nvSpPr>
            <p:spPr>
              <a:xfrm flipV="1">
                <a:off x="6313941" y="2936081"/>
                <a:ext cx="205995" cy="134416"/>
              </a:xfrm>
              <a:custGeom>
                <a:avLst/>
                <a:gdLst>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0 h 228600"/>
                  <a:gd name="connsiteX1" fmla="*/ 0 w 304800"/>
                  <a:gd name="connsiteY1" fmla="*/ 98425 h 228600"/>
                  <a:gd name="connsiteX2" fmla="*/ 301625 w 304800"/>
                  <a:gd name="connsiteY2" fmla="*/ 228600 h 228600"/>
                  <a:gd name="connsiteX0" fmla="*/ 304800 w 304800"/>
                  <a:gd name="connsiteY0" fmla="*/ 4131 h 232731"/>
                  <a:gd name="connsiteX1" fmla="*/ 0 w 304800"/>
                  <a:gd name="connsiteY1" fmla="*/ 102556 h 232731"/>
                  <a:gd name="connsiteX2" fmla="*/ 301625 w 304800"/>
                  <a:gd name="connsiteY2" fmla="*/ 232731 h 232731"/>
                  <a:gd name="connsiteX0" fmla="*/ 304800 w 304800"/>
                  <a:gd name="connsiteY0" fmla="*/ 4131 h 102556"/>
                  <a:gd name="connsiteX1" fmla="*/ 0 w 304800"/>
                  <a:gd name="connsiteY1" fmla="*/ 102556 h 102556"/>
                  <a:gd name="connsiteX0" fmla="*/ 304800 w 304800"/>
                  <a:gd name="connsiteY0" fmla="*/ 4910 h 103335"/>
                  <a:gd name="connsiteX1" fmla="*/ 304692 w 304800"/>
                  <a:gd name="connsiteY1" fmla="*/ 3516 h 103335"/>
                  <a:gd name="connsiteX2" fmla="*/ 0 w 304800"/>
                  <a:gd name="connsiteY2" fmla="*/ 103335 h 103335"/>
                  <a:gd name="connsiteX0" fmla="*/ 304800 w 304800"/>
                  <a:gd name="connsiteY0" fmla="*/ 1 h 98426"/>
                  <a:gd name="connsiteX1" fmla="*/ 262894 w 304800"/>
                  <a:gd name="connsiteY1" fmla="*/ 95087 h 98426"/>
                  <a:gd name="connsiteX2" fmla="*/ 0 w 304800"/>
                  <a:gd name="connsiteY2" fmla="*/ 98426 h 98426"/>
                  <a:gd name="connsiteX0" fmla="*/ 301317 w 301317"/>
                  <a:gd name="connsiteY0" fmla="*/ 104438 h 104438"/>
                  <a:gd name="connsiteX1" fmla="*/ 262894 w 301317"/>
                  <a:gd name="connsiteY1" fmla="*/ 40800 h 104438"/>
                  <a:gd name="connsiteX2" fmla="*/ 0 w 301317"/>
                  <a:gd name="connsiteY2" fmla="*/ 44139 h 104438"/>
                  <a:gd name="connsiteX0" fmla="*/ 301317 w 301317"/>
                  <a:gd name="connsiteY0" fmla="*/ 178267 h 178267"/>
                  <a:gd name="connsiteX1" fmla="*/ 297726 w 301317"/>
                  <a:gd name="connsiteY1" fmla="*/ 2588 h 178267"/>
                  <a:gd name="connsiteX2" fmla="*/ 0 w 301317"/>
                  <a:gd name="connsiteY2" fmla="*/ 117968 h 178267"/>
                  <a:gd name="connsiteX0" fmla="*/ 301317 w 301317"/>
                  <a:gd name="connsiteY0" fmla="*/ 175679 h 175679"/>
                  <a:gd name="connsiteX1" fmla="*/ 297726 w 301317"/>
                  <a:gd name="connsiteY1" fmla="*/ 0 h 175679"/>
                  <a:gd name="connsiteX2" fmla="*/ 0 w 301317"/>
                  <a:gd name="connsiteY2" fmla="*/ 115380 h 175679"/>
                </a:gdLst>
                <a:ahLst/>
                <a:cxnLst>
                  <a:cxn ang="0">
                    <a:pos x="connsiteX0" y="connsiteY0"/>
                  </a:cxn>
                  <a:cxn ang="0">
                    <a:pos x="connsiteX1" y="connsiteY1"/>
                  </a:cxn>
                  <a:cxn ang="0">
                    <a:pos x="connsiteX2" y="connsiteY2"/>
                  </a:cxn>
                </a:cxnLst>
                <a:rect l="l" t="t" r="r" b="b"/>
                <a:pathLst>
                  <a:path w="301317" h="175679">
                    <a:moveTo>
                      <a:pt x="301317" y="175679"/>
                    </a:moveTo>
                    <a:cubicBezTo>
                      <a:pt x="301299" y="175447"/>
                      <a:pt x="297748" y="290"/>
                      <a:pt x="297726" y="0"/>
                    </a:cubicBezTo>
                    <a:cubicBezTo>
                      <a:pt x="148086" y="5251"/>
                      <a:pt x="25400" y="25422"/>
                      <a:pt x="0" y="115380"/>
                    </a:cubicBezTo>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Freeform: Shape 14">
              <a:extLst>
                <a:ext uri="{FF2B5EF4-FFF2-40B4-BE49-F238E27FC236}">
                  <a16:creationId xmlns:a16="http://schemas.microsoft.com/office/drawing/2014/main" id="{7E364FCD-F45B-0FE3-46AC-72F0EB1F5407}"/>
                </a:ext>
              </a:extLst>
            </p:cNvPr>
            <p:cNvSpPr/>
            <p:nvPr/>
          </p:nvSpPr>
          <p:spPr>
            <a:xfrm rot="21356756" flipH="1">
              <a:off x="1057308" y="1433973"/>
              <a:ext cx="1879285" cy="587828"/>
            </a:xfrm>
            <a:custGeom>
              <a:avLst/>
              <a:gdLst>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95600 w 6686550"/>
                <a:gd name="connsiteY0" fmla="*/ 923925 h 2066925"/>
                <a:gd name="connsiteX1" fmla="*/ 3248025 w 6686550"/>
                <a:gd name="connsiteY1" fmla="*/ 1171575 h 2066925"/>
                <a:gd name="connsiteX2" fmla="*/ 5324475 w 6686550"/>
                <a:gd name="connsiteY2" fmla="*/ 923925 h 2066925"/>
                <a:gd name="connsiteX3" fmla="*/ 6143625 w 6686550"/>
                <a:gd name="connsiteY3" fmla="*/ 0 h 2066925"/>
                <a:gd name="connsiteX4" fmla="*/ 6686550 w 6686550"/>
                <a:gd name="connsiteY4" fmla="*/ 38100 h 2066925"/>
                <a:gd name="connsiteX5" fmla="*/ 6229350 w 6686550"/>
                <a:gd name="connsiteY5" fmla="*/ 1409700 h 2066925"/>
                <a:gd name="connsiteX6" fmla="*/ 3028950 w 6686550"/>
                <a:gd name="connsiteY6" fmla="*/ 2000250 h 2066925"/>
                <a:gd name="connsiteX7" fmla="*/ 2324100 w 6686550"/>
                <a:gd name="connsiteY7" fmla="*/ 2066925 h 2066925"/>
                <a:gd name="connsiteX8" fmla="*/ 752475 w 6686550"/>
                <a:gd name="connsiteY8" fmla="*/ 2066925 h 2066925"/>
                <a:gd name="connsiteX9" fmla="*/ 180975 w 6686550"/>
                <a:gd name="connsiteY9" fmla="*/ 1866900 h 2066925"/>
                <a:gd name="connsiteX10" fmla="*/ 0 w 6686550"/>
                <a:gd name="connsiteY10" fmla="*/ 1543050 h 2066925"/>
                <a:gd name="connsiteX11" fmla="*/ 19050 w 6686550"/>
                <a:gd name="connsiteY11" fmla="*/ 1285875 h 2066925"/>
                <a:gd name="connsiteX12" fmla="*/ 114300 w 6686550"/>
                <a:gd name="connsiteY12" fmla="*/ 1228725 h 2066925"/>
                <a:gd name="connsiteX13" fmla="*/ 876300 w 6686550"/>
                <a:gd name="connsiteY13" fmla="*/ 1228725 h 2066925"/>
                <a:gd name="connsiteX14" fmla="*/ 1228725 w 668655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6925"/>
                <a:gd name="connsiteX1" fmla="*/ 3228975 w 6667500"/>
                <a:gd name="connsiteY1" fmla="*/ 1171575 h 2066925"/>
                <a:gd name="connsiteX2" fmla="*/ 5305425 w 6667500"/>
                <a:gd name="connsiteY2" fmla="*/ 923925 h 2066925"/>
                <a:gd name="connsiteX3" fmla="*/ 6124575 w 6667500"/>
                <a:gd name="connsiteY3" fmla="*/ 0 h 2066925"/>
                <a:gd name="connsiteX4" fmla="*/ 6667500 w 6667500"/>
                <a:gd name="connsiteY4" fmla="*/ 38100 h 2066925"/>
                <a:gd name="connsiteX5" fmla="*/ 6210300 w 6667500"/>
                <a:gd name="connsiteY5" fmla="*/ 1409700 h 2066925"/>
                <a:gd name="connsiteX6" fmla="*/ 3009900 w 6667500"/>
                <a:gd name="connsiteY6" fmla="*/ 2000250 h 2066925"/>
                <a:gd name="connsiteX7" fmla="*/ 2305050 w 6667500"/>
                <a:gd name="connsiteY7" fmla="*/ 2066925 h 2066925"/>
                <a:gd name="connsiteX8" fmla="*/ 733425 w 6667500"/>
                <a:gd name="connsiteY8" fmla="*/ 2066925 h 2066925"/>
                <a:gd name="connsiteX9" fmla="*/ 161925 w 6667500"/>
                <a:gd name="connsiteY9" fmla="*/ 1866900 h 2066925"/>
                <a:gd name="connsiteX10" fmla="*/ 2382 w 6667500"/>
                <a:gd name="connsiteY10" fmla="*/ 1545432 h 2066925"/>
                <a:gd name="connsiteX11" fmla="*/ 0 w 6667500"/>
                <a:gd name="connsiteY11" fmla="*/ 1285875 h 2066925"/>
                <a:gd name="connsiteX12" fmla="*/ 95250 w 6667500"/>
                <a:gd name="connsiteY12" fmla="*/ 1228725 h 2066925"/>
                <a:gd name="connsiteX13" fmla="*/ 857250 w 6667500"/>
                <a:gd name="connsiteY13" fmla="*/ 1228725 h 2066925"/>
                <a:gd name="connsiteX14" fmla="*/ 1209675 w 6667500"/>
                <a:gd name="connsiteY14" fmla="*/ 904875 h 2066925"/>
                <a:gd name="connsiteX0" fmla="*/ 2876550 w 6667500"/>
                <a:gd name="connsiteY0" fmla="*/ 923925 h 2067987"/>
                <a:gd name="connsiteX1" fmla="*/ 3228975 w 6667500"/>
                <a:gd name="connsiteY1" fmla="*/ 1171575 h 2067987"/>
                <a:gd name="connsiteX2" fmla="*/ 5305425 w 6667500"/>
                <a:gd name="connsiteY2" fmla="*/ 923925 h 2067987"/>
                <a:gd name="connsiteX3" fmla="*/ 6124575 w 6667500"/>
                <a:gd name="connsiteY3" fmla="*/ 0 h 2067987"/>
                <a:gd name="connsiteX4" fmla="*/ 6667500 w 6667500"/>
                <a:gd name="connsiteY4" fmla="*/ 38100 h 2067987"/>
                <a:gd name="connsiteX5" fmla="*/ 6210300 w 6667500"/>
                <a:gd name="connsiteY5" fmla="*/ 1409700 h 2067987"/>
                <a:gd name="connsiteX6" fmla="*/ 3009900 w 6667500"/>
                <a:gd name="connsiteY6" fmla="*/ 2000250 h 2067987"/>
                <a:gd name="connsiteX7" fmla="*/ 2305050 w 6667500"/>
                <a:gd name="connsiteY7" fmla="*/ 2066925 h 2067987"/>
                <a:gd name="connsiteX8" fmla="*/ 733425 w 6667500"/>
                <a:gd name="connsiteY8" fmla="*/ 2066925 h 2067987"/>
                <a:gd name="connsiteX9" fmla="*/ 161925 w 6667500"/>
                <a:gd name="connsiteY9" fmla="*/ 1866900 h 2067987"/>
                <a:gd name="connsiteX10" fmla="*/ 2382 w 6667500"/>
                <a:gd name="connsiteY10" fmla="*/ 1545432 h 2067987"/>
                <a:gd name="connsiteX11" fmla="*/ 0 w 6667500"/>
                <a:gd name="connsiteY11" fmla="*/ 1285875 h 2067987"/>
                <a:gd name="connsiteX12" fmla="*/ 95250 w 6667500"/>
                <a:gd name="connsiteY12" fmla="*/ 1228725 h 2067987"/>
                <a:gd name="connsiteX13" fmla="*/ 857250 w 6667500"/>
                <a:gd name="connsiteY13" fmla="*/ 1228725 h 2067987"/>
                <a:gd name="connsiteX14" fmla="*/ 1209675 w 6667500"/>
                <a:gd name="connsiteY14" fmla="*/ 904875 h 2067987"/>
                <a:gd name="connsiteX0" fmla="*/ 2876550 w 6667500"/>
                <a:gd name="connsiteY0" fmla="*/ 923925 h 2094441"/>
                <a:gd name="connsiteX1" fmla="*/ 3228975 w 6667500"/>
                <a:gd name="connsiteY1" fmla="*/ 1171575 h 2094441"/>
                <a:gd name="connsiteX2" fmla="*/ 5305425 w 6667500"/>
                <a:gd name="connsiteY2" fmla="*/ 923925 h 2094441"/>
                <a:gd name="connsiteX3" fmla="*/ 6124575 w 6667500"/>
                <a:gd name="connsiteY3" fmla="*/ 0 h 2094441"/>
                <a:gd name="connsiteX4" fmla="*/ 6667500 w 6667500"/>
                <a:gd name="connsiteY4" fmla="*/ 38100 h 2094441"/>
                <a:gd name="connsiteX5" fmla="*/ 6210300 w 6667500"/>
                <a:gd name="connsiteY5" fmla="*/ 1409700 h 2094441"/>
                <a:gd name="connsiteX6" fmla="*/ 3009900 w 6667500"/>
                <a:gd name="connsiteY6" fmla="*/ 2000250 h 2094441"/>
                <a:gd name="connsiteX7" fmla="*/ 2305050 w 6667500"/>
                <a:gd name="connsiteY7" fmla="*/ 2066925 h 2094441"/>
                <a:gd name="connsiteX8" fmla="*/ 733425 w 6667500"/>
                <a:gd name="connsiteY8" fmla="*/ 2066925 h 2094441"/>
                <a:gd name="connsiteX9" fmla="*/ 161925 w 6667500"/>
                <a:gd name="connsiteY9" fmla="*/ 1866900 h 2094441"/>
                <a:gd name="connsiteX10" fmla="*/ 2382 w 6667500"/>
                <a:gd name="connsiteY10" fmla="*/ 1545432 h 2094441"/>
                <a:gd name="connsiteX11" fmla="*/ 0 w 6667500"/>
                <a:gd name="connsiteY11" fmla="*/ 1285875 h 2094441"/>
                <a:gd name="connsiteX12" fmla="*/ 95250 w 6667500"/>
                <a:gd name="connsiteY12" fmla="*/ 1228725 h 2094441"/>
                <a:gd name="connsiteX13" fmla="*/ 857250 w 6667500"/>
                <a:gd name="connsiteY13" fmla="*/ 1228725 h 2094441"/>
                <a:gd name="connsiteX14" fmla="*/ 1209675 w 6667500"/>
                <a:gd name="connsiteY14" fmla="*/ 904875 h 2094441"/>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10300 w 6667500"/>
                <a:gd name="connsiteY5" fmla="*/ 1409700 h 2103414"/>
                <a:gd name="connsiteX6" fmla="*/ 3009900 w 6667500"/>
                <a:gd name="connsiteY6" fmla="*/ 2000250 h 2103414"/>
                <a:gd name="connsiteX7" fmla="*/ 2305050 w 6667500"/>
                <a:gd name="connsiteY7" fmla="*/ 2066925 h 2103414"/>
                <a:gd name="connsiteX8" fmla="*/ 733425 w 6667500"/>
                <a:gd name="connsiteY8" fmla="*/ 2066925 h 2103414"/>
                <a:gd name="connsiteX9" fmla="*/ 161925 w 6667500"/>
                <a:gd name="connsiteY9" fmla="*/ 1866900 h 2103414"/>
                <a:gd name="connsiteX10" fmla="*/ 2382 w 6667500"/>
                <a:gd name="connsiteY10" fmla="*/ 1545432 h 2103414"/>
                <a:gd name="connsiteX11" fmla="*/ 0 w 6667500"/>
                <a:gd name="connsiteY11" fmla="*/ 1285875 h 2103414"/>
                <a:gd name="connsiteX12" fmla="*/ 95250 w 6667500"/>
                <a:gd name="connsiteY12" fmla="*/ 1228725 h 2103414"/>
                <a:gd name="connsiteX13" fmla="*/ 857250 w 6667500"/>
                <a:gd name="connsiteY13" fmla="*/ 1228725 h 2103414"/>
                <a:gd name="connsiteX14" fmla="*/ 1209675 w 6667500"/>
                <a:gd name="connsiteY14"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210300 w 6667500"/>
                <a:gd name="connsiteY6" fmla="*/ 1409700 h 2103414"/>
                <a:gd name="connsiteX7" fmla="*/ 3009900 w 6667500"/>
                <a:gd name="connsiteY7" fmla="*/ 2000250 h 2103414"/>
                <a:gd name="connsiteX8" fmla="*/ 2305050 w 6667500"/>
                <a:gd name="connsiteY8" fmla="*/ 2066925 h 2103414"/>
                <a:gd name="connsiteX9" fmla="*/ 733425 w 6667500"/>
                <a:gd name="connsiteY9" fmla="*/ 2066925 h 2103414"/>
                <a:gd name="connsiteX10" fmla="*/ 161925 w 6667500"/>
                <a:gd name="connsiteY10" fmla="*/ 1866900 h 2103414"/>
                <a:gd name="connsiteX11" fmla="*/ 2382 w 6667500"/>
                <a:gd name="connsiteY11" fmla="*/ 1545432 h 2103414"/>
                <a:gd name="connsiteX12" fmla="*/ 0 w 6667500"/>
                <a:gd name="connsiteY12" fmla="*/ 1285875 h 2103414"/>
                <a:gd name="connsiteX13" fmla="*/ 95250 w 6667500"/>
                <a:gd name="connsiteY13" fmla="*/ 1228725 h 2103414"/>
                <a:gd name="connsiteX14" fmla="*/ 857250 w 6667500"/>
                <a:gd name="connsiteY14" fmla="*/ 1228725 h 2103414"/>
                <a:gd name="connsiteX15" fmla="*/ 1209675 w 6667500"/>
                <a:gd name="connsiteY15"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254750 w 6667500"/>
                <a:gd name="connsiteY6" fmla="*/ 1289049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67500"/>
                <a:gd name="connsiteY0" fmla="*/ 923925 h 2103414"/>
                <a:gd name="connsiteX1" fmla="*/ 3228975 w 6667500"/>
                <a:gd name="connsiteY1" fmla="*/ 1171575 h 2103414"/>
                <a:gd name="connsiteX2" fmla="*/ 5305425 w 6667500"/>
                <a:gd name="connsiteY2" fmla="*/ 923925 h 2103414"/>
                <a:gd name="connsiteX3" fmla="*/ 6124575 w 6667500"/>
                <a:gd name="connsiteY3" fmla="*/ 0 h 2103414"/>
                <a:gd name="connsiteX4" fmla="*/ 6667500 w 6667500"/>
                <a:gd name="connsiteY4" fmla="*/ 38100 h 2103414"/>
                <a:gd name="connsiteX5" fmla="*/ 6289675 w 6667500"/>
                <a:gd name="connsiteY5" fmla="*/ 1174749 h 2103414"/>
                <a:gd name="connsiteX6" fmla="*/ 6337300 w 6667500"/>
                <a:gd name="connsiteY6" fmla="*/ 1317624 h 2103414"/>
                <a:gd name="connsiteX7" fmla="*/ 6210300 w 6667500"/>
                <a:gd name="connsiteY7" fmla="*/ 1409700 h 2103414"/>
                <a:gd name="connsiteX8" fmla="*/ 3009900 w 6667500"/>
                <a:gd name="connsiteY8" fmla="*/ 2000250 h 2103414"/>
                <a:gd name="connsiteX9" fmla="*/ 2305050 w 6667500"/>
                <a:gd name="connsiteY9" fmla="*/ 2066925 h 2103414"/>
                <a:gd name="connsiteX10" fmla="*/ 733425 w 6667500"/>
                <a:gd name="connsiteY10" fmla="*/ 2066925 h 2103414"/>
                <a:gd name="connsiteX11" fmla="*/ 161925 w 6667500"/>
                <a:gd name="connsiteY11" fmla="*/ 1866900 h 2103414"/>
                <a:gd name="connsiteX12" fmla="*/ 2382 w 6667500"/>
                <a:gd name="connsiteY12" fmla="*/ 1545432 h 2103414"/>
                <a:gd name="connsiteX13" fmla="*/ 0 w 6667500"/>
                <a:gd name="connsiteY13" fmla="*/ 1285875 h 2103414"/>
                <a:gd name="connsiteX14" fmla="*/ 95250 w 6667500"/>
                <a:gd name="connsiteY14" fmla="*/ 1228725 h 2103414"/>
                <a:gd name="connsiteX15" fmla="*/ 857250 w 6667500"/>
                <a:gd name="connsiteY15" fmla="*/ 1228725 h 2103414"/>
                <a:gd name="connsiteX16" fmla="*/ 1209675 w 6667500"/>
                <a:gd name="connsiteY16" fmla="*/ 904875 h 2103414"/>
                <a:gd name="connsiteX0" fmla="*/ 2876550 w 6673850"/>
                <a:gd name="connsiteY0" fmla="*/ 923925 h 2103414"/>
                <a:gd name="connsiteX1" fmla="*/ 3228975 w 6673850"/>
                <a:gd name="connsiteY1" fmla="*/ 1171575 h 2103414"/>
                <a:gd name="connsiteX2" fmla="*/ 5305425 w 6673850"/>
                <a:gd name="connsiteY2" fmla="*/ 923925 h 2103414"/>
                <a:gd name="connsiteX3" fmla="*/ 6124575 w 6673850"/>
                <a:gd name="connsiteY3" fmla="*/ 0 h 2103414"/>
                <a:gd name="connsiteX4" fmla="*/ 6673850 w 6673850"/>
                <a:gd name="connsiteY4" fmla="*/ 22225 h 2103414"/>
                <a:gd name="connsiteX5" fmla="*/ 6289675 w 6673850"/>
                <a:gd name="connsiteY5" fmla="*/ 1174749 h 2103414"/>
                <a:gd name="connsiteX6" fmla="*/ 6337300 w 6673850"/>
                <a:gd name="connsiteY6" fmla="*/ 1317624 h 2103414"/>
                <a:gd name="connsiteX7" fmla="*/ 6210300 w 6673850"/>
                <a:gd name="connsiteY7" fmla="*/ 1409700 h 2103414"/>
                <a:gd name="connsiteX8" fmla="*/ 3009900 w 6673850"/>
                <a:gd name="connsiteY8" fmla="*/ 2000250 h 2103414"/>
                <a:gd name="connsiteX9" fmla="*/ 2305050 w 6673850"/>
                <a:gd name="connsiteY9" fmla="*/ 2066925 h 2103414"/>
                <a:gd name="connsiteX10" fmla="*/ 733425 w 6673850"/>
                <a:gd name="connsiteY10" fmla="*/ 2066925 h 2103414"/>
                <a:gd name="connsiteX11" fmla="*/ 161925 w 6673850"/>
                <a:gd name="connsiteY11" fmla="*/ 1866900 h 2103414"/>
                <a:gd name="connsiteX12" fmla="*/ 2382 w 6673850"/>
                <a:gd name="connsiteY12" fmla="*/ 1545432 h 2103414"/>
                <a:gd name="connsiteX13" fmla="*/ 0 w 6673850"/>
                <a:gd name="connsiteY13" fmla="*/ 1285875 h 2103414"/>
                <a:gd name="connsiteX14" fmla="*/ 95250 w 6673850"/>
                <a:gd name="connsiteY14" fmla="*/ 1228725 h 2103414"/>
                <a:gd name="connsiteX15" fmla="*/ 857250 w 6673850"/>
                <a:gd name="connsiteY15" fmla="*/ 1228725 h 2103414"/>
                <a:gd name="connsiteX16" fmla="*/ 1209675 w 6673850"/>
                <a:gd name="connsiteY16" fmla="*/ 904875 h 2103414"/>
                <a:gd name="connsiteX0" fmla="*/ 2876550 w 6673850"/>
                <a:gd name="connsiteY0" fmla="*/ 908050 h 2087539"/>
                <a:gd name="connsiteX1" fmla="*/ 3228975 w 6673850"/>
                <a:gd name="connsiteY1" fmla="*/ 1155700 h 2087539"/>
                <a:gd name="connsiteX2" fmla="*/ 5305425 w 6673850"/>
                <a:gd name="connsiteY2" fmla="*/ 908050 h 2087539"/>
                <a:gd name="connsiteX3" fmla="*/ 6127750 w 6673850"/>
                <a:gd name="connsiteY3" fmla="*/ 0 h 2087539"/>
                <a:gd name="connsiteX4" fmla="*/ 6673850 w 6673850"/>
                <a:gd name="connsiteY4" fmla="*/ 6350 h 2087539"/>
                <a:gd name="connsiteX5" fmla="*/ 6289675 w 6673850"/>
                <a:gd name="connsiteY5" fmla="*/ 1158874 h 2087539"/>
                <a:gd name="connsiteX6" fmla="*/ 6337300 w 6673850"/>
                <a:gd name="connsiteY6" fmla="*/ 1301749 h 2087539"/>
                <a:gd name="connsiteX7" fmla="*/ 6210300 w 6673850"/>
                <a:gd name="connsiteY7" fmla="*/ 1393825 h 2087539"/>
                <a:gd name="connsiteX8" fmla="*/ 3009900 w 6673850"/>
                <a:gd name="connsiteY8" fmla="*/ 1984375 h 2087539"/>
                <a:gd name="connsiteX9" fmla="*/ 2305050 w 6673850"/>
                <a:gd name="connsiteY9" fmla="*/ 2051050 h 2087539"/>
                <a:gd name="connsiteX10" fmla="*/ 733425 w 6673850"/>
                <a:gd name="connsiteY10" fmla="*/ 2051050 h 2087539"/>
                <a:gd name="connsiteX11" fmla="*/ 161925 w 6673850"/>
                <a:gd name="connsiteY11" fmla="*/ 1851025 h 2087539"/>
                <a:gd name="connsiteX12" fmla="*/ 2382 w 6673850"/>
                <a:gd name="connsiteY12" fmla="*/ 1529557 h 2087539"/>
                <a:gd name="connsiteX13" fmla="*/ 0 w 6673850"/>
                <a:gd name="connsiteY13" fmla="*/ 1270000 h 2087539"/>
                <a:gd name="connsiteX14" fmla="*/ 95250 w 6673850"/>
                <a:gd name="connsiteY14" fmla="*/ 1212850 h 2087539"/>
                <a:gd name="connsiteX15" fmla="*/ 857250 w 6673850"/>
                <a:gd name="connsiteY15" fmla="*/ 1212850 h 2087539"/>
                <a:gd name="connsiteX16" fmla="*/ 1209675 w 6673850"/>
                <a:gd name="connsiteY16" fmla="*/ 889000 h 2087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673850" h="2087539">
                  <a:moveTo>
                    <a:pt x="2876550" y="908050"/>
                  </a:moveTo>
                  <a:lnTo>
                    <a:pt x="3228975" y="1155700"/>
                  </a:lnTo>
                  <a:lnTo>
                    <a:pt x="5305425" y="908050"/>
                  </a:lnTo>
                  <a:lnTo>
                    <a:pt x="6127750" y="0"/>
                  </a:lnTo>
                  <a:lnTo>
                    <a:pt x="6673850" y="6350"/>
                  </a:lnTo>
                  <a:lnTo>
                    <a:pt x="6289675" y="1158874"/>
                  </a:lnTo>
                  <a:cubicBezTo>
                    <a:pt x="6305550" y="1206499"/>
                    <a:pt x="6321425" y="1225549"/>
                    <a:pt x="6337300" y="1301749"/>
                  </a:cubicBezTo>
                  <a:cubicBezTo>
                    <a:pt x="6294967" y="1376891"/>
                    <a:pt x="6252633" y="1363133"/>
                    <a:pt x="6210300" y="1393825"/>
                  </a:cubicBezTo>
                  <a:cubicBezTo>
                    <a:pt x="5130800" y="1619250"/>
                    <a:pt x="4289425" y="1787525"/>
                    <a:pt x="3009900" y="1984375"/>
                  </a:cubicBezTo>
                  <a:lnTo>
                    <a:pt x="2305050" y="2051050"/>
                  </a:lnTo>
                  <a:cubicBezTo>
                    <a:pt x="1809750" y="2084387"/>
                    <a:pt x="1302544" y="2112962"/>
                    <a:pt x="733425" y="2051050"/>
                  </a:cubicBezTo>
                  <a:cubicBezTo>
                    <a:pt x="635794" y="2053431"/>
                    <a:pt x="385762" y="2067719"/>
                    <a:pt x="161925" y="1851025"/>
                  </a:cubicBezTo>
                  <a:cubicBezTo>
                    <a:pt x="96837" y="1779587"/>
                    <a:pt x="55563" y="1712913"/>
                    <a:pt x="2382" y="1529557"/>
                  </a:cubicBezTo>
                  <a:lnTo>
                    <a:pt x="0" y="1270000"/>
                  </a:lnTo>
                  <a:cubicBezTo>
                    <a:pt x="34131" y="1231900"/>
                    <a:pt x="23019" y="1212850"/>
                    <a:pt x="95250" y="1212850"/>
                  </a:cubicBezTo>
                  <a:lnTo>
                    <a:pt x="857250" y="1212850"/>
                  </a:lnTo>
                  <a:cubicBezTo>
                    <a:pt x="986631" y="1004888"/>
                    <a:pt x="1061244" y="958850"/>
                    <a:pt x="1209675" y="889000"/>
                  </a:cubicBezTo>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5">
              <a:extLst>
                <a:ext uri="{FF2B5EF4-FFF2-40B4-BE49-F238E27FC236}">
                  <a16:creationId xmlns:a16="http://schemas.microsoft.com/office/drawing/2014/main" id="{ACF99476-57AF-9CB7-0BF2-ABD8E2278165}"/>
                </a:ext>
              </a:extLst>
            </p:cNvPr>
            <p:cNvSpPr/>
            <p:nvPr/>
          </p:nvSpPr>
          <p:spPr>
            <a:xfrm flipH="1">
              <a:off x="1208159" y="1797038"/>
              <a:ext cx="245247" cy="20053"/>
            </a:xfrm>
            <a:custGeom>
              <a:avLst/>
              <a:gdLst>
                <a:gd name="connsiteX0" fmla="*/ 3630839 w 3653141"/>
                <a:gd name="connsiteY0" fmla="*/ 572004 h 641943"/>
                <a:gd name="connsiteX1" fmla="*/ 239939 w 3653141"/>
                <a:gd name="connsiteY1" fmla="*/ 584704 h 641943"/>
                <a:gd name="connsiteX2" fmla="*/ 430439 w 3653141"/>
                <a:gd name="connsiteY2" fmla="*/ 102104 h 641943"/>
                <a:gd name="connsiteX3" fmla="*/ 1649639 w 3653141"/>
                <a:gd name="connsiteY3" fmla="*/ 38604 h 641943"/>
                <a:gd name="connsiteX4" fmla="*/ 3630839 w 3653141"/>
                <a:gd name="connsiteY4" fmla="*/ 572004 h 64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41" h="641943">
                  <a:moveTo>
                    <a:pt x="3630839" y="572004"/>
                  </a:moveTo>
                  <a:cubicBezTo>
                    <a:pt x="3395889" y="663021"/>
                    <a:pt x="773339" y="663021"/>
                    <a:pt x="239939" y="584704"/>
                  </a:cubicBezTo>
                  <a:cubicBezTo>
                    <a:pt x="-293461" y="506387"/>
                    <a:pt x="195489" y="193121"/>
                    <a:pt x="430439" y="102104"/>
                  </a:cubicBezTo>
                  <a:cubicBezTo>
                    <a:pt x="665389" y="11087"/>
                    <a:pt x="1120472" y="-39713"/>
                    <a:pt x="1649639" y="38604"/>
                  </a:cubicBezTo>
                  <a:cubicBezTo>
                    <a:pt x="2178806" y="116921"/>
                    <a:pt x="3865789" y="480987"/>
                    <a:pt x="3630839" y="572004"/>
                  </a:cubicBezTo>
                  <a:close/>
                </a:path>
              </a:pathLst>
            </a:cu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5">
              <a:extLst>
                <a:ext uri="{FF2B5EF4-FFF2-40B4-BE49-F238E27FC236}">
                  <a16:creationId xmlns:a16="http://schemas.microsoft.com/office/drawing/2014/main" id="{D5AA522F-5FF3-7F2B-BD45-0C2E6944D3FC}"/>
                </a:ext>
              </a:extLst>
            </p:cNvPr>
            <p:cNvSpPr/>
            <p:nvPr/>
          </p:nvSpPr>
          <p:spPr>
            <a:xfrm rot="21356756" flipH="1">
              <a:off x="2077497" y="1594630"/>
              <a:ext cx="547838" cy="71574"/>
            </a:xfrm>
            <a:custGeom>
              <a:avLst/>
              <a:gdLst>
                <a:gd name="connsiteX0" fmla="*/ 3630839 w 3653141"/>
                <a:gd name="connsiteY0" fmla="*/ 572004 h 641943"/>
                <a:gd name="connsiteX1" fmla="*/ 239939 w 3653141"/>
                <a:gd name="connsiteY1" fmla="*/ 584704 h 641943"/>
                <a:gd name="connsiteX2" fmla="*/ 430439 w 3653141"/>
                <a:gd name="connsiteY2" fmla="*/ 102104 h 641943"/>
                <a:gd name="connsiteX3" fmla="*/ 1649639 w 3653141"/>
                <a:gd name="connsiteY3" fmla="*/ 38604 h 641943"/>
                <a:gd name="connsiteX4" fmla="*/ 3630839 w 3653141"/>
                <a:gd name="connsiteY4" fmla="*/ 572004 h 64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41" h="641943">
                  <a:moveTo>
                    <a:pt x="3630839" y="572004"/>
                  </a:moveTo>
                  <a:cubicBezTo>
                    <a:pt x="3395889" y="663021"/>
                    <a:pt x="773339" y="663021"/>
                    <a:pt x="239939" y="584704"/>
                  </a:cubicBezTo>
                  <a:cubicBezTo>
                    <a:pt x="-293461" y="506387"/>
                    <a:pt x="195489" y="193121"/>
                    <a:pt x="430439" y="102104"/>
                  </a:cubicBezTo>
                  <a:cubicBezTo>
                    <a:pt x="665389" y="11087"/>
                    <a:pt x="1120472" y="-39713"/>
                    <a:pt x="1649639" y="38604"/>
                  </a:cubicBezTo>
                  <a:cubicBezTo>
                    <a:pt x="2178806" y="116921"/>
                    <a:pt x="3865789" y="480987"/>
                    <a:pt x="3630839" y="572004"/>
                  </a:cubicBezTo>
                  <a:close/>
                </a:path>
              </a:pathLst>
            </a:cu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Oval 10">
            <a:extLst>
              <a:ext uri="{FF2B5EF4-FFF2-40B4-BE49-F238E27FC236}">
                <a16:creationId xmlns:a16="http://schemas.microsoft.com/office/drawing/2014/main" id="{E996F200-DD63-F4CE-ECE7-23AF9BC79DD8}"/>
              </a:ext>
            </a:extLst>
          </p:cNvPr>
          <p:cNvSpPr/>
          <p:nvPr/>
        </p:nvSpPr>
        <p:spPr>
          <a:xfrm>
            <a:off x="2462074" y="1772790"/>
            <a:ext cx="126937" cy="126937"/>
          </a:xfrm>
          <a:prstGeom prst="ellipse">
            <a:avLst/>
          </a:prstGeom>
          <a:solidFill>
            <a:schemeClr val="bg1">
              <a:lumMod val="8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artial Circle 11">
            <a:extLst>
              <a:ext uri="{FF2B5EF4-FFF2-40B4-BE49-F238E27FC236}">
                <a16:creationId xmlns:a16="http://schemas.microsoft.com/office/drawing/2014/main" id="{0D3319B0-A304-EC3E-0494-59411142169C}"/>
              </a:ext>
            </a:extLst>
          </p:cNvPr>
          <p:cNvSpPr/>
          <p:nvPr/>
        </p:nvSpPr>
        <p:spPr>
          <a:xfrm>
            <a:off x="2458876" y="1770409"/>
            <a:ext cx="129387" cy="129387"/>
          </a:xfrm>
          <a:prstGeom prst="pie">
            <a:avLst>
              <a:gd name="adj1" fmla="val 0"/>
              <a:gd name="adj2" fmla="val 5456351"/>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Partial Circle 12">
            <a:extLst>
              <a:ext uri="{FF2B5EF4-FFF2-40B4-BE49-F238E27FC236}">
                <a16:creationId xmlns:a16="http://schemas.microsoft.com/office/drawing/2014/main" id="{B5AE6416-4D6A-7AF7-58A6-15C08773362A}"/>
              </a:ext>
            </a:extLst>
          </p:cNvPr>
          <p:cNvSpPr/>
          <p:nvPr/>
        </p:nvSpPr>
        <p:spPr>
          <a:xfrm rot="10800000">
            <a:off x="2462074" y="1773607"/>
            <a:ext cx="129387" cy="129387"/>
          </a:xfrm>
          <a:prstGeom prst="pie">
            <a:avLst>
              <a:gd name="adj1" fmla="val 0"/>
              <a:gd name="adj2" fmla="val 5456351"/>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Arrow: Down 6">
            <a:extLst>
              <a:ext uri="{FF2B5EF4-FFF2-40B4-BE49-F238E27FC236}">
                <a16:creationId xmlns:a16="http://schemas.microsoft.com/office/drawing/2014/main" id="{C61F8C8C-57F4-BB8B-DB6D-5B81C65EEE03}"/>
              </a:ext>
            </a:extLst>
          </p:cNvPr>
          <p:cNvSpPr/>
          <p:nvPr/>
        </p:nvSpPr>
        <p:spPr>
          <a:xfrm rot="10800000">
            <a:off x="2589010" y="1371600"/>
            <a:ext cx="65919" cy="268316"/>
          </a:xfrm>
          <a:prstGeom prst="downArrow">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Down 7">
            <a:extLst>
              <a:ext uri="{FF2B5EF4-FFF2-40B4-BE49-F238E27FC236}">
                <a16:creationId xmlns:a16="http://schemas.microsoft.com/office/drawing/2014/main" id="{7364C295-DA28-18F4-5D5B-D2D1E719436C}"/>
              </a:ext>
            </a:extLst>
          </p:cNvPr>
          <p:cNvSpPr/>
          <p:nvPr/>
        </p:nvSpPr>
        <p:spPr>
          <a:xfrm>
            <a:off x="2494859" y="1965589"/>
            <a:ext cx="65919" cy="268316"/>
          </a:xfrm>
          <a:prstGeom prst="downArrow">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Down 8">
            <a:extLst>
              <a:ext uri="{FF2B5EF4-FFF2-40B4-BE49-F238E27FC236}">
                <a16:creationId xmlns:a16="http://schemas.microsoft.com/office/drawing/2014/main" id="{756D6DFD-E500-B0BF-6322-5E95006E4DC3}"/>
              </a:ext>
            </a:extLst>
          </p:cNvPr>
          <p:cNvSpPr/>
          <p:nvPr/>
        </p:nvSpPr>
        <p:spPr>
          <a:xfrm>
            <a:off x="1463561" y="2012601"/>
            <a:ext cx="333449" cy="147141"/>
          </a:xfrm>
          <a:prstGeom prst="downArrow">
            <a:avLst/>
          </a:prstGeom>
          <a:solidFill>
            <a:schemeClr val="bg1">
              <a:lumMod val="5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row: Down 9">
            <a:extLst>
              <a:ext uri="{FF2B5EF4-FFF2-40B4-BE49-F238E27FC236}">
                <a16:creationId xmlns:a16="http://schemas.microsoft.com/office/drawing/2014/main" id="{7D58F66B-6C75-9895-5C7F-9E48FFD0E401}"/>
              </a:ext>
            </a:extLst>
          </p:cNvPr>
          <p:cNvSpPr/>
          <p:nvPr/>
        </p:nvSpPr>
        <p:spPr>
          <a:xfrm rot="10800000">
            <a:off x="2790951" y="1574835"/>
            <a:ext cx="333449" cy="147141"/>
          </a:xfrm>
          <a:prstGeom prst="downArrow">
            <a:avLst/>
          </a:prstGeom>
          <a:solidFill>
            <a:schemeClr val="bg1">
              <a:lumMod val="5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235DD3FF-6F17-8AA0-9DE3-11D60211CB4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4BD73FA4-4663-681E-56E3-3B0728EDCCD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5781460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189E5-6C4D-ADB4-BC4C-DCB3857F34A3}"/>
              </a:ext>
            </a:extLst>
          </p:cNvPr>
          <p:cNvSpPr txBox="1"/>
          <p:nvPr/>
        </p:nvSpPr>
        <p:spPr>
          <a:xfrm>
            <a:off x="62705" y="489265"/>
            <a:ext cx="3032920" cy="1566904"/>
          </a:xfrm>
          <a:prstGeom prst="rect">
            <a:avLst/>
          </a:prstGeom>
          <a:noFill/>
        </p:spPr>
        <p:txBody>
          <a:bodyPr wrap="square">
            <a:spAutoFit/>
          </a:bodyPr>
          <a:lstStyle/>
          <a:p>
            <a:pPr marL="171450" marR="0" indent="-171450">
              <a:lnSpc>
                <a:spcPct val="107000"/>
              </a:lnSpc>
              <a:spcBef>
                <a:spcPts val="0"/>
              </a:spcBef>
              <a:spcAft>
                <a:spcPts val="0"/>
              </a:spcAft>
              <a:buFont typeface="Arial" panose="020B0604020202020204" pitchFamily="34" charset="0"/>
              <a:buChar char="•"/>
            </a:pPr>
            <a:r>
              <a:rPr lang="en-US" sz="900" dirty="0">
                <a:effectLst/>
                <a:latin typeface="Times New Roman" panose="02020603050405020304" pitchFamily="18" charset="0"/>
                <a:ea typeface="Times New Roman" panose="02020603050405020304" pitchFamily="18" charset="0"/>
                <a:cs typeface="Times New Roman" panose="02020603050405020304" pitchFamily="18" charset="0"/>
              </a:rPr>
              <a:t>Higher stall </a:t>
            </a:r>
            <a:r>
              <a:rPr lang="en-US" sz="900" dirty="0">
                <a:latin typeface="Times New Roman" panose="02020603050405020304" pitchFamily="18" charset="0"/>
                <a:ea typeface="Times New Roman" panose="02020603050405020304" pitchFamily="18" charset="0"/>
                <a:cs typeface="Times New Roman" panose="02020603050405020304" pitchFamily="18" charset="0"/>
              </a:rPr>
              <a:t>s</a:t>
            </a:r>
            <a:r>
              <a:rPr lang="en-US" sz="900" dirty="0">
                <a:effectLst/>
                <a:latin typeface="Times New Roman" panose="02020603050405020304" pitchFamily="18" charset="0"/>
                <a:ea typeface="Times New Roman" panose="02020603050405020304" pitchFamily="18" charset="0"/>
                <a:cs typeface="Times New Roman" panose="02020603050405020304" pitchFamily="18" charset="0"/>
              </a:rPr>
              <a:t>peed - critical angle of attack is reached at a higher speed due to increased wing loading.</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0"/>
              </a:spcAft>
              <a:buFont typeface="Arial" panose="020B0604020202020204" pitchFamily="34" charset="0"/>
              <a:buChar char="•"/>
            </a:pPr>
            <a:r>
              <a:rPr lang="en-US" sz="900" dirty="0">
                <a:effectLst/>
                <a:latin typeface="Times New Roman" panose="02020603050405020304" pitchFamily="18" charset="0"/>
                <a:ea typeface="Times New Roman" panose="02020603050405020304" pitchFamily="18" charset="0"/>
                <a:cs typeface="Times New Roman" panose="02020603050405020304" pitchFamily="18" charset="0"/>
              </a:rPr>
              <a:t>Slower cruise </a:t>
            </a:r>
            <a:r>
              <a:rPr lang="en-US" sz="900" dirty="0">
                <a:latin typeface="Times New Roman" panose="02020603050405020304" pitchFamily="18" charset="0"/>
                <a:ea typeface="Times New Roman" panose="02020603050405020304" pitchFamily="18" charset="0"/>
                <a:cs typeface="Times New Roman" panose="02020603050405020304" pitchFamily="18" charset="0"/>
              </a:rPr>
              <a:t>s</a:t>
            </a:r>
            <a:r>
              <a:rPr lang="en-US" sz="900" dirty="0">
                <a:effectLst/>
                <a:latin typeface="Times New Roman" panose="02020603050405020304" pitchFamily="18" charset="0"/>
                <a:ea typeface="Times New Roman" panose="02020603050405020304" pitchFamily="18" charset="0"/>
                <a:cs typeface="Times New Roman" panose="02020603050405020304" pitchFamily="18" charset="0"/>
              </a:rPr>
              <a:t>peed - increased induced drag; greater angle of attack is required to maintain altitude.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0"/>
              </a:spcAft>
              <a:buFont typeface="Arial" panose="020B0604020202020204" pitchFamily="34" charset="0"/>
              <a:buChar char="•"/>
            </a:pPr>
            <a:r>
              <a:rPr lang="en-US" sz="900" dirty="0">
                <a:effectLst/>
                <a:latin typeface="Times New Roman" panose="02020603050405020304" pitchFamily="18" charset="0"/>
                <a:ea typeface="Times New Roman" panose="02020603050405020304" pitchFamily="18" charset="0"/>
                <a:cs typeface="Times New Roman" panose="02020603050405020304" pitchFamily="18" charset="0"/>
              </a:rPr>
              <a:t>More stable - the center of gravity is farther forward from the center of pressure which increases longitudinal stability.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0"/>
              </a:spcAft>
              <a:buFont typeface="Arial" panose="020B0604020202020204" pitchFamily="34" charset="0"/>
              <a:buChar char="•"/>
            </a:pPr>
            <a:r>
              <a:rPr lang="en-US" sz="900" dirty="0">
                <a:effectLst/>
                <a:latin typeface="Times New Roman" panose="02020603050405020304" pitchFamily="18" charset="0"/>
                <a:ea typeface="Times New Roman" panose="02020603050405020304" pitchFamily="18" charset="0"/>
                <a:cs typeface="Times New Roman" panose="02020603050405020304" pitchFamily="18" charset="0"/>
              </a:rPr>
              <a:t>Greater back elevator pressure required.</a:t>
            </a:r>
          </a:p>
          <a:p>
            <a:pPr marL="171450" marR="0" indent="-171450">
              <a:lnSpc>
                <a:spcPct val="107000"/>
              </a:lnSpc>
              <a:spcBef>
                <a:spcPts val="0"/>
              </a:spcBef>
              <a:spcAft>
                <a:spcPts val="0"/>
              </a:spcAft>
              <a:buFont typeface="Arial" panose="020B0604020202020204" pitchFamily="34" charset="0"/>
              <a:buChar char="•"/>
            </a:pPr>
            <a:r>
              <a:rPr lang="en-US" sz="900" dirty="0">
                <a:latin typeface="Times New Roman" panose="02020603050405020304" pitchFamily="18" charset="0"/>
                <a:ea typeface="Times New Roman" panose="02020603050405020304" pitchFamily="18" charset="0"/>
                <a:cs typeface="Times New Roman" panose="02020603050405020304" pitchFamily="18" charset="0"/>
              </a:rPr>
              <a:t>L</a:t>
            </a:r>
            <a:r>
              <a:rPr lang="en-US" sz="900" dirty="0">
                <a:effectLst/>
                <a:latin typeface="Times New Roman" panose="02020603050405020304" pitchFamily="18" charset="0"/>
                <a:ea typeface="Times New Roman" panose="02020603050405020304" pitchFamily="18" charset="0"/>
                <a:cs typeface="Times New Roman" panose="02020603050405020304" pitchFamily="18" charset="0"/>
              </a:rPr>
              <a:t>onger takeoff roll.</a:t>
            </a:r>
            <a:endParaRPr lang="en-US" sz="900" dirty="0">
              <a:latin typeface="Times New Roman" panose="02020603050405020304" pitchFamily="18" charset="0"/>
              <a:ea typeface="Times New Roman" panose="02020603050405020304" pitchFamily="18" charset="0"/>
              <a:cs typeface="Times New Roman" panose="02020603050405020304" pitchFamily="18" charset="0"/>
            </a:endParaRPr>
          </a:p>
          <a:p>
            <a:pPr marL="171450" marR="0" indent="-171450">
              <a:lnSpc>
                <a:spcPct val="107000"/>
              </a:lnSpc>
              <a:spcBef>
                <a:spcPts val="0"/>
              </a:spcBef>
              <a:spcAft>
                <a:spcPts val="0"/>
              </a:spcAft>
              <a:buFont typeface="Arial" panose="020B0604020202020204" pitchFamily="34" charset="0"/>
              <a:buChar char="•"/>
            </a:pPr>
            <a:r>
              <a:rPr lang="en-US" sz="900" dirty="0">
                <a:latin typeface="Times New Roman" panose="02020603050405020304" pitchFamily="18" charset="0"/>
                <a:ea typeface="Times New Roman" panose="02020603050405020304" pitchFamily="18" charset="0"/>
                <a:cs typeface="Times New Roman" panose="02020603050405020304" pitchFamily="18" charset="0"/>
              </a:rPr>
              <a:t>H</a:t>
            </a:r>
            <a:r>
              <a:rPr lang="en-US" sz="900" dirty="0">
                <a:effectLst/>
                <a:latin typeface="Times New Roman" panose="02020603050405020304" pitchFamily="18" charset="0"/>
                <a:ea typeface="Times New Roman" panose="02020603050405020304" pitchFamily="18" charset="0"/>
                <a:cs typeface="Times New Roman" panose="02020603050405020304" pitchFamily="18" charset="0"/>
              </a:rPr>
              <a:t>igher approach speeds.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9F9602B-FA7B-2135-AD49-64A27C307F64}"/>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pic>
        <p:nvPicPr>
          <p:cNvPr id="6" name="Picture 5">
            <a:extLst>
              <a:ext uri="{FF2B5EF4-FFF2-40B4-BE49-F238E27FC236}">
                <a16:creationId xmlns:a16="http://schemas.microsoft.com/office/drawing/2014/main" id="{644735B9-8377-C28D-262A-5DFDAD3257A6}"/>
              </a:ext>
            </a:extLst>
          </p:cNvPr>
          <p:cNvPicPr>
            <a:picLocks noChangeAspect="1"/>
          </p:cNvPicPr>
          <p:nvPr/>
        </p:nvPicPr>
        <p:blipFill>
          <a:blip r:embed="rId2"/>
          <a:stretch>
            <a:fillRect/>
          </a:stretch>
        </p:blipFill>
        <p:spPr>
          <a:xfrm>
            <a:off x="3053383" y="674285"/>
            <a:ext cx="1288441" cy="1313219"/>
          </a:xfrm>
          <a:prstGeom prst="rect">
            <a:avLst/>
          </a:prstGeom>
        </p:spPr>
      </p:pic>
    </p:spTree>
    <p:extLst>
      <p:ext uri="{BB962C8B-B14F-4D97-AF65-F5344CB8AC3E}">
        <p14:creationId xmlns:p14="http://schemas.microsoft.com/office/powerpoint/2010/main" val="12789094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214BB1-0F12-63AD-1136-A5D4D65581C4}"/>
              </a:ext>
            </a:extLst>
          </p:cNvPr>
          <p:cNvSpPr txBox="1"/>
          <p:nvPr/>
        </p:nvSpPr>
        <p:spPr>
          <a:xfrm>
            <a:off x="641337" y="984763"/>
            <a:ext cx="3289326" cy="773673"/>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Name some factors that affect stall speed?</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en-US" sz="1400" dirty="0">
                <a:latin typeface="Times New Roman" panose="02020603050405020304" pitchFamily="18" charset="0"/>
                <a:cs typeface="Times New Roman" panose="02020603050405020304" pitchFamily="18" charset="0"/>
              </a:rPr>
              <a:t>FAA-H-8083-25B. Ch 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780531D-2B83-A2CA-294D-87161804DF84}"/>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68A2BAE5-E27E-94C8-349F-007862CDA59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3EB6159-1660-B883-2267-88FB1B457FA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863653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0A30A8-DADC-479F-8BC9-A93855A807CC}"/>
              </a:ext>
            </a:extLst>
          </p:cNvPr>
          <p:cNvSpPr txBox="1"/>
          <p:nvPr/>
        </p:nvSpPr>
        <p:spPr>
          <a:xfrm>
            <a:off x="567897" y="1100596"/>
            <a:ext cx="3436205"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Gross weight, Load Factor (Gs), Bank Angle, Wing Configuration (flaps, slats, etc).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7052A41-263D-8F87-4F70-B788A0AF93D3}"/>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15676480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7C77F2-0EDF-3278-E21F-7D5214BDF98E}"/>
              </a:ext>
            </a:extLst>
          </p:cNvPr>
          <p:cNvSpPr txBox="1"/>
          <p:nvPr/>
        </p:nvSpPr>
        <p:spPr>
          <a:xfrm>
            <a:off x="397669" y="1100596"/>
            <a:ext cx="3776662" cy="542008"/>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You are in a steady-state climb at 300 fpm. Are all four forces (lift, weight, drag, thrust) in balance?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AC041E2-1CBE-FE53-55C7-36F9EA960FB5}"/>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9639BB66-CB0C-A23A-A634-7A239A774A1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9EBCFC3-8BD1-751B-1396-55B1CC34364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6148427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335008-BB3D-C210-09C1-691E666D8E1E}"/>
              </a:ext>
            </a:extLst>
          </p:cNvPr>
          <p:cNvSpPr txBox="1"/>
          <p:nvPr/>
        </p:nvSpPr>
        <p:spPr>
          <a:xfrm>
            <a:off x="330200" y="436329"/>
            <a:ext cx="3895789" cy="1690463"/>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Yes.</a:t>
            </a:r>
          </a:p>
          <a:p>
            <a:pPr marL="0" marR="0" algn="just">
              <a:lnSpc>
                <a:spcPct val="107000"/>
              </a:lnSpc>
              <a:spcBef>
                <a:spcPts val="0"/>
              </a:spcBef>
              <a:spcAft>
                <a:spcPts val="0"/>
              </a:spcAft>
            </a:pPr>
            <a:endParaRPr 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 change in acceleration means a change in force (F=mA). If acceleration is zero, then there is no change in the force. In the example given, everything is in steady state therefore, no change in forces…in other words, they are all in balance.</a:t>
            </a:r>
          </a:p>
        </p:txBody>
      </p:sp>
      <p:sp>
        <p:nvSpPr>
          <p:cNvPr id="4" name="TextBox 3">
            <a:extLst>
              <a:ext uri="{FF2B5EF4-FFF2-40B4-BE49-F238E27FC236}">
                <a16:creationId xmlns:a16="http://schemas.microsoft.com/office/drawing/2014/main" id="{D546345F-B916-1536-E428-913A671A2A30}"/>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28182601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6CA683-3F7A-F34E-74D9-24163DECBA8E}"/>
              </a:ext>
            </a:extLst>
          </p:cNvPr>
          <p:cNvSpPr txBox="1"/>
          <p:nvPr/>
        </p:nvSpPr>
        <p:spPr>
          <a:xfrm>
            <a:off x="397669" y="1153940"/>
            <a:ext cx="3776662" cy="311496"/>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What is the purpose of flaps?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F42434C-6E61-DA40-C417-59BFB7951130}"/>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10808EEB-E935-04D6-08F5-CF9493D488E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AE8840E-95C5-8CA4-502E-22BEE855385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5277116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07BF41-CF5D-1BDD-CC28-6DE513946359}"/>
              </a:ext>
            </a:extLst>
          </p:cNvPr>
          <p:cNvSpPr txBox="1"/>
          <p:nvPr/>
        </p:nvSpPr>
        <p:spPr>
          <a:xfrm>
            <a:off x="447675" y="539801"/>
            <a:ext cx="3676650" cy="1663597"/>
          </a:xfrm>
          <a:prstGeom prst="rect">
            <a:avLst/>
          </a:prstGeom>
          <a:noFill/>
        </p:spPr>
        <p:txBody>
          <a:bodyPr wrap="square">
            <a:spAutoFit/>
          </a:bodyPr>
          <a:lstStyle/>
          <a:p>
            <a:pPr marL="0" marR="0" algn="just">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Flaps allow you to reduce airspeed and maintain the same amount of desired lift. This allows for slower takeoff and approach speeds all the while generating enough lift to fly.</a:t>
            </a:r>
          </a:p>
          <a:p>
            <a:pPr marL="0" marR="0" algn="just">
              <a:lnSpc>
                <a:spcPct val="107000"/>
              </a:lnSpc>
              <a:spcBef>
                <a:spcPts val="0"/>
              </a:spcBef>
              <a:spcAft>
                <a:spcPts val="0"/>
              </a:spcAft>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Note: the purpose of flaps is not to let you fly a steeper approach. This is a second order effect of flaps but it is not the </a:t>
            </a:r>
            <a:r>
              <a:rPr lang="en-US" sz="1200" i="1" dirty="0">
                <a:latin typeface="Times New Roman" panose="02020603050405020304" pitchFamily="18" charset="0"/>
                <a:ea typeface="Calibri" panose="020F0502020204030204" pitchFamily="34" charset="0"/>
                <a:cs typeface="Times New Roman" panose="02020603050405020304" pitchFamily="18" charset="0"/>
              </a:rPr>
              <a:t>purpose</a:t>
            </a:r>
            <a:r>
              <a:rPr lang="en-US" sz="1200" dirty="0">
                <a:latin typeface="Times New Roman" panose="02020603050405020304" pitchFamily="18" charset="0"/>
                <a:ea typeface="Calibri" panose="020F0502020204030204" pitchFamily="34" charset="0"/>
                <a:cs typeface="Times New Roman" panose="02020603050405020304" pitchFamily="18" charset="0"/>
              </a:rPr>
              <a:t> of flaps.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F5E98E7-A79E-7534-0C37-64432243A85D}"/>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7326345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B9708F-7C57-A60E-A50E-70342A7025E3}"/>
              </a:ext>
            </a:extLst>
          </p:cNvPr>
          <p:cNvSpPr txBox="1"/>
          <p:nvPr/>
        </p:nvSpPr>
        <p:spPr>
          <a:xfrm>
            <a:off x="513159" y="985340"/>
            <a:ext cx="3545681"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If your wing stalls at </a:t>
            </a:r>
            <a:r>
              <a:rPr lang="en-US" sz="1400" dirty="0">
                <a:latin typeface="Times New Roman" panose="02020603050405020304" pitchFamily="18" charset="0"/>
                <a:ea typeface="Calibri" panose="020F0502020204030204" pitchFamily="34" charset="0"/>
                <a:cs typeface="Times New Roman" panose="02020603050405020304" pitchFamily="18" charset="0"/>
              </a:rPr>
              <a:t>19</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degrees AOA, at what AOA is your wing producing the maximum possible lift?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A776D15-2243-39CC-070B-67AC7920FC90}"/>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1E69D570-41CD-8654-9268-82894BCC578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58963FB-B4F6-743D-26D9-13466534171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440035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1DF996-EE03-BBDA-88B8-4DB75361FDDC}"/>
              </a:ext>
            </a:extLst>
          </p:cNvPr>
          <p:cNvSpPr txBox="1"/>
          <p:nvPr/>
        </p:nvSpPr>
        <p:spPr>
          <a:xfrm>
            <a:off x="310983" y="424193"/>
            <a:ext cx="3950033" cy="1894814"/>
          </a:xfrm>
          <a:prstGeom prst="rect">
            <a:avLst/>
          </a:prstGeom>
          <a:noFill/>
        </p:spPr>
        <p:txBody>
          <a:bodyPr wrap="square">
            <a:spAutoFit/>
          </a:bodyPr>
          <a:lstStyle/>
          <a:p>
            <a:pPr marL="0" marR="0" algn="just">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Mathematically, your maximum lift would occur at </a:t>
            </a:r>
            <a:r>
              <a:rPr lang="en-US" sz="1100" dirty="0">
                <a:latin typeface="Times New Roman" panose="02020603050405020304" pitchFamily="18" charset="0"/>
                <a:ea typeface="Calibri" panose="020F0502020204030204" pitchFamily="34" charset="0"/>
                <a:cs typeface="Times New Roman" panose="02020603050405020304" pitchFamily="18" charset="0"/>
              </a:rPr>
              <a:t>18</a:t>
            </a: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.99999 degrees. However, this is impossible to see in the cockpit. So flying a few degrees less than critical AOA will maximize your wing’s performance. In most general aviation aircraft, you can identify it by keeping your AOA just out of the stall warning horn. More advanced aircraft will often have an AOA gauge</a:t>
            </a:r>
            <a:r>
              <a:rPr lang="en-US" sz="1100" dirty="0">
                <a:latin typeface="Times New Roman" panose="02020603050405020304" pitchFamily="18" charset="0"/>
                <a:ea typeface="Calibri" panose="020F0502020204030204" pitchFamily="34" charset="0"/>
                <a:cs typeface="Times New Roman" panose="02020603050405020304" pitchFamily="18" charset="0"/>
              </a:rPr>
              <a: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endParaRPr lang="en-US" sz="11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Remember, during stall recoveries, you need a safe trade off between attaining safe flying airspeed and at the same time max performing your wing.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137C2EC-6DB7-FAE2-CF88-D6FA2F225456}"/>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1067885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89777F-1F40-761A-AD9B-464CE7075158}"/>
              </a:ext>
            </a:extLst>
          </p:cNvPr>
          <p:cNvSpPr txBox="1"/>
          <p:nvPr/>
        </p:nvSpPr>
        <p:spPr>
          <a:xfrm>
            <a:off x="249135" y="1063823"/>
            <a:ext cx="4073730" cy="307777"/>
          </a:xfrm>
          <a:prstGeom prst="rect">
            <a:avLst/>
          </a:prstGeom>
          <a:noFill/>
        </p:spPr>
        <p:txBody>
          <a:bodyPr wrap="square">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How does density altitude affect aircraft performance?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62C5866-2BD4-4DEC-63AC-580AA50F3E5A}"/>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BC534715-CA1C-E2E3-208D-B4F6FDB9950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CE52750-C5D4-5072-0326-198104D0C0C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1873039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B3F620-30C1-010A-FE51-F38F2A70E9BD}"/>
              </a:ext>
            </a:extLst>
          </p:cNvPr>
          <p:cNvSpPr txBox="1"/>
          <p:nvPr/>
        </p:nvSpPr>
        <p:spPr>
          <a:xfrm>
            <a:off x="115557" y="440362"/>
            <a:ext cx="2607548" cy="1892506"/>
          </a:xfrm>
          <a:prstGeom prst="rect">
            <a:avLst/>
          </a:prstGeom>
          <a:noFill/>
        </p:spPr>
        <p:txBody>
          <a:bodyPr wrap="square">
            <a:spAutoFit/>
          </a:bodyPr>
          <a:lstStyle/>
          <a:p>
            <a:pPr marL="171450" marR="0" indent="-171450" algn="just">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Engine Performance (</a:t>
            </a:r>
            <a:r>
              <a:rPr lang="en-US" sz="1000" dirty="0">
                <a:latin typeface="Times New Roman" panose="02020603050405020304" pitchFamily="18" charset="0"/>
                <a:ea typeface="Times New Roman" panose="02020603050405020304" pitchFamily="18" charset="0"/>
                <a:cs typeface="Times New Roman" panose="02020603050405020304" pitchFamily="18" charset="0"/>
              </a:rPr>
              <a:t>a </a:t>
            </a: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3% reduction in HP for each 1,000 ft increase in DA).</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marR="0" indent="-171450" algn="just">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Reduced Lift Generated by the Wings (lift equation).</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marR="0" indent="-171450" algn="just">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Reduced Thrust Generated by the </a:t>
            </a:r>
            <a:r>
              <a:rPr lang="en-US" sz="1000" dirty="0">
                <a:latin typeface="Times New Roman" panose="02020603050405020304" pitchFamily="18" charset="0"/>
                <a:ea typeface="Times New Roman" panose="02020603050405020304" pitchFamily="18" charset="0"/>
                <a:cs typeface="Times New Roman" panose="02020603050405020304" pitchFamily="18" charset="0"/>
              </a:rPr>
              <a:t>propeller (a spinning wing).</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marR="0" indent="-171450" algn="just">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Increased true airspeed for a given fixed indicated airspeed (leads to larger turn radius).</a:t>
            </a:r>
          </a:p>
          <a:p>
            <a:pPr marL="171450" indent="-171450" algn="just">
              <a:lnSpc>
                <a:spcPct val="107000"/>
              </a:lnSpc>
              <a:buFont typeface="Arial" panose="020B0604020202020204" pitchFamily="34" charset="0"/>
              <a:buChar char="•"/>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Increased ground speed for a given fixed indicated airspeed.</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91D5896-15E8-B87D-2A12-6D4305A665DE}"/>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pic>
        <p:nvPicPr>
          <p:cNvPr id="6" name="Picture 5">
            <a:extLst>
              <a:ext uri="{FF2B5EF4-FFF2-40B4-BE49-F238E27FC236}">
                <a16:creationId xmlns:a16="http://schemas.microsoft.com/office/drawing/2014/main" id="{A37965BD-7123-54EE-E6F3-BD4448E9FF65}"/>
              </a:ext>
            </a:extLst>
          </p:cNvPr>
          <p:cNvPicPr>
            <a:picLocks noChangeAspect="1"/>
          </p:cNvPicPr>
          <p:nvPr/>
        </p:nvPicPr>
        <p:blipFill>
          <a:blip r:embed="rId2"/>
          <a:stretch>
            <a:fillRect/>
          </a:stretch>
        </p:blipFill>
        <p:spPr>
          <a:xfrm>
            <a:off x="2971077" y="697537"/>
            <a:ext cx="1341550" cy="1348126"/>
          </a:xfrm>
          <a:prstGeom prst="rect">
            <a:avLst/>
          </a:prstGeom>
        </p:spPr>
      </p:pic>
    </p:spTree>
    <p:extLst>
      <p:ext uri="{BB962C8B-B14F-4D97-AF65-F5344CB8AC3E}">
        <p14:creationId xmlns:p14="http://schemas.microsoft.com/office/powerpoint/2010/main" val="49357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E9B5E4-00A5-443A-372B-C60FE4407F8E}"/>
              </a:ext>
            </a:extLst>
          </p:cNvPr>
          <p:cNvSpPr txBox="1"/>
          <p:nvPr/>
        </p:nvSpPr>
        <p:spPr>
          <a:xfrm>
            <a:off x="520072" y="679066"/>
            <a:ext cx="3531856" cy="1462323"/>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There are many accidents in which an aircraft lifted off the runway and was able to climb when below takeoff speed. However, moments later,  it began descending at a rate at which the pilot could not control. What do you think happened in these cases?</a:t>
            </a:r>
          </a:p>
          <a:p>
            <a:pPr marL="0" marR="0" algn="just">
              <a:lnSpc>
                <a:spcPct val="107000"/>
              </a:lnSpc>
              <a:spcBef>
                <a:spcPts val="0"/>
              </a:spcBef>
              <a:spcAft>
                <a:spcPts val="0"/>
              </a:spcAft>
            </a:pP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07000"/>
              </a:lnSpc>
            </a:pPr>
            <a:r>
              <a:rPr lang="en-US" sz="1200" dirty="0">
                <a:latin typeface="Times New Roman" panose="02020603050405020304" pitchFamily="18" charset="0"/>
                <a:cs typeface="Times New Roman" panose="02020603050405020304" pitchFamily="18" charset="0"/>
              </a:rPr>
              <a:t>FAA-H-8083-25B, Ch 5</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C584CD9-AFC1-B9EF-2166-72682B64F145}"/>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4DA3D83B-C45F-2310-2D7E-46FC4B8726F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1F89E49-3559-3B43-6C02-986928EDBE2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688104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1FF030-06F5-CF6C-46C9-9127C9D64BA6}"/>
              </a:ext>
            </a:extLst>
          </p:cNvPr>
          <p:cNvSpPr txBox="1"/>
          <p:nvPr/>
        </p:nvSpPr>
        <p:spPr>
          <a:xfrm>
            <a:off x="125316" y="313175"/>
            <a:ext cx="2833924" cy="2075953"/>
          </a:xfrm>
          <a:prstGeom prst="rect">
            <a:avLst/>
          </a:prstGeom>
          <a:noFill/>
        </p:spPr>
        <p:txBody>
          <a:bodyPr wrap="square">
            <a:spAutoFit/>
          </a:bodyPr>
          <a:lstStyle/>
          <a:p>
            <a:pPr marL="0" marR="0" algn="just">
              <a:lnSpc>
                <a:spcPct val="107000"/>
              </a:lnSpc>
              <a:spcBef>
                <a:spcPts val="0"/>
              </a:spcBef>
              <a:spcAft>
                <a:spcPts val="0"/>
              </a:spcAft>
            </a:pP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Ground effect. The aircraft lifted off and climbed due to ground effect. Once it climbed out of ground effect, it began descending. </a:t>
            </a:r>
            <a:r>
              <a:rPr lang="en-US" sz="1100" dirty="0">
                <a:latin typeface="Times New Roman" panose="02020603050405020304" pitchFamily="18" charset="0"/>
                <a:ea typeface="Times New Roman" panose="02020603050405020304" pitchFamily="18" charset="0"/>
                <a:cs typeface="Times New Roman" panose="02020603050405020304" pitchFamily="18" charset="0"/>
              </a:rPr>
              <a:t>This descent cannot be stopped and they are already well past the departure end of the runway. Additionally, ground effect reduces induced drag which in turn provides excess thrust for acceleration. This often tricks pilots into thinking all is well. Here is an article on ground effect and a video of the potential dangers of ground effect.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820D2AA1-219B-A73F-5BFB-55E5E0A0C7C9}"/>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pic>
        <p:nvPicPr>
          <p:cNvPr id="6" name="Picture 5">
            <a:extLst>
              <a:ext uri="{FF2B5EF4-FFF2-40B4-BE49-F238E27FC236}">
                <a16:creationId xmlns:a16="http://schemas.microsoft.com/office/drawing/2014/main" id="{96314E5B-074C-8CAA-C4B3-3592C7774983}"/>
              </a:ext>
            </a:extLst>
          </p:cNvPr>
          <p:cNvPicPr>
            <a:picLocks noChangeAspect="1"/>
          </p:cNvPicPr>
          <p:nvPr/>
        </p:nvPicPr>
        <p:blipFill>
          <a:blip r:embed="rId2"/>
          <a:stretch>
            <a:fillRect/>
          </a:stretch>
        </p:blipFill>
        <p:spPr>
          <a:xfrm>
            <a:off x="3234257" y="1234307"/>
            <a:ext cx="1034932" cy="1039884"/>
          </a:xfrm>
          <a:prstGeom prst="rect">
            <a:avLst/>
          </a:prstGeom>
        </p:spPr>
      </p:pic>
      <p:pic>
        <p:nvPicPr>
          <p:cNvPr id="7" name="Picture 6">
            <a:extLst>
              <a:ext uri="{FF2B5EF4-FFF2-40B4-BE49-F238E27FC236}">
                <a16:creationId xmlns:a16="http://schemas.microsoft.com/office/drawing/2014/main" id="{D0C8EFE0-B05B-C1C0-1B3A-D2A2ABE8F67E}"/>
              </a:ext>
            </a:extLst>
          </p:cNvPr>
          <p:cNvPicPr>
            <a:picLocks noChangeAspect="1"/>
          </p:cNvPicPr>
          <p:nvPr/>
        </p:nvPicPr>
        <p:blipFill>
          <a:blip r:embed="rId3"/>
          <a:stretch>
            <a:fillRect/>
          </a:stretch>
        </p:blipFill>
        <p:spPr>
          <a:xfrm>
            <a:off x="3252683" y="63351"/>
            <a:ext cx="1016506" cy="1021465"/>
          </a:xfrm>
          <a:prstGeom prst="rect">
            <a:avLst/>
          </a:prstGeom>
        </p:spPr>
      </p:pic>
      <p:sp>
        <p:nvSpPr>
          <p:cNvPr id="2" name="TextBox 1">
            <a:extLst>
              <a:ext uri="{FF2B5EF4-FFF2-40B4-BE49-F238E27FC236}">
                <a16:creationId xmlns:a16="http://schemas.microsoft.com/office/drawing/2014/main" id="{FF6089AC-9908-333E-D05A-3A97E4BB250D}"/>
              </a:ext>
            </a:extLst>
          </p:cNvPr>
          <p:cNvSpPr txBox="1"/>
          <p:nvPr/>
        </p:nvSpPr>
        <p:spPr>
          <a:xfrm rot="16200000">
            <a:off x="2884634" y="458667"/>
            <a:ext cx="505267" cy="230832"/>
          </a:xfrm>
          <a:prstGeom prst="rect">
            <a:avLst/>
          </a:prstGeom>
          <a:noFill/>
        </p:spPr>
        <p:txBody>
          <a:bodyPr wrap="none" rtlCol="0">
            <a:spAutoFit/>
          </a:bodyPr>
          <a:lstStyle/>
          <a:p>
            <a:r>
              <a:rPr lang="en-US" sz="900" dirty="0">
                <a:latin typeface="Times New Roman" panose="02020603050405020304" pitchFamily="18" charset="0"/>
                <a:cs typeface="Times New Roman" panose="02020603050405020304" pitchFamily="18" charset="0"/>
              </a:rPr>
              <a:t>Article</a:t>
            </a:r>
          </a:p>
        </p:txBody>
      </p:sp>
      <p:sp>
        <p:nvSpPr>
          <p:cNvPr id="8" name="TextBox 7">
            <a:extLst>
              <a:ext uri="{FF2B5EF4-FFF2-40B4-BE49-F238E27FC236}">
                <a16:creationId xmlns:a16="http://schemas.microsoft.com/office/drawing/2014/main" id="{82EE0BF8-720B-96C5-1F52-DC71F2587D06}"/>
              </a:ext>
            </a:extLst>
          </p:cNvPr>
          <p:cNvSpPr txBox="1"/>
          <p:nvPr/>
        </p:nvSpPr>
        <p:spPr>
          <a:xfrm rot="16200000">
            <a:off x="2903870" y="1638832"/>
            <a:ext cx="466794" cy="230832"/>
          </a:xfrm>
          <a:prstGeom prst="rect">
            <a:avLst/>
          </a:prstGeom>
          <a:noFill/>
        </p:spPr>
        <p:txBody>
          <a:bodyPr wrap="none" rtlCol="0">
            <a:spAutoFit/>
          </a:bodyPr>
          <a:lstStyle/>
          <a:p>
            <a:r>
              <a:rPr lang="en-US" sz="900" dirty="0">
                <a:latin typeface="Times New Roman" panose="02020603050405020304" pitchFamily="18" charset="0"/>
                <a:cs typeface="Times New Roman" panose="02020603050405020304" pitchFamily="18" charset="0"/>
              </a:rPr>
              <a:t>Video</a:t>
            </a:r>
          </a:p>
        </p:txBody>
      </p:sp>
    </p:spTree>
    <p:extLst>
      <p:ext uri="{BB962C8B-B14F-4D97-AF65-F5344CB8AC3E}">
        <p14:creationId xmlns:p14="http://schemas.microsoft.com/office/powerpoint/2010/main" val="15988537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216487-AD2F-506C-462C-3876BB970D98}"/>
              </a:ext>
            </a:extLst>
          </p:cNvPr>
          <p:cNvSpPr txBox="1"/>
          <p:nvPr/>
        </p:nvSpPr>
        <p:spPr>
          <a:xfrm>
            <a:off x="475133" y="542568"/>
            <a:ext cx="3621733" cy="1690463"/>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are planning a cross country with a friend. She recommends moving the 25 pounds of luggage in the rear seats to the aft luggage compartment. The calculated CG is fine. Why would your friend recommend this?</a:t>
            </a:r>
          </a:p>
          <a:p>
            <a:pPr marL="0" marR="0" algn="just">
              <a:lnSpc>
                <a:spcPct val="107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en-US" sz="1400" dirty="0">
                <a:latin typeface="Times New Roman" panose="02020603050405020304" pitchFamily="18" charset="0"/>
                <a:cs typeface="Times New Roman" panose="02020603050405020304" pitchFamily="18" charset="0"/>
              </a:rPr>
              <a:t>FAA-H-8083-25B, Ch 4</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29E5ED7-2E17-B133-54A0-FF63C49F65EB}"/>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C3EF2213-E687-09F8-5CA8-A9FE2DC7756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5FCCF9C-93AD-A1F9-6D37-18953823C9B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3115254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E3C68C-E960-6012-30A4-696DB340610E}"/>
              </a:ext>
            </a:extLst>
          </p:cNvPr>
          <p:cNvSpPr txBox="1"/>
          <p:nvPr/>
        </p:nvSpPr>
        <p:spPr>
          <a:xfrm>
            <a:off x="434975" y="555013"/>
            <a:ext cx="3702050" cy="474232"/>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This moves the CG aft which in turn results in a faster cruise speed</a:t>
            </a:r>
            <a:r>
              <a:rPr lang="en-US" sz="1200" dirty="0">
                <a:latin typeface="Times New Roman" panose="02020603050405020304" pitchFamily="18" charset="0"/>
                <a:ea typeface="Calibri" panose="020F0502020204030204" pitchFamily="34" charset="0"/>
                <a:cs typeface="Times New Roman" panose="02020603050405020304" pitchFamily="18" charset="0"/>
              </a:rPr>
              <a:t> and lower fuel consumption.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54EE742-20ED-495C-A11C-C9BC5D625D5F}"/>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pic>
        <p:nvPicPr>
          <p:cNvPr id="5" name="Picture 4">
            <a:extLst>
              <a:ext uri="{FF2B5EF4-FFF2-40B4-BE49-F238E27FC236}">
                <a16:creationId xmlns:a16="http://schemas.microsoft.com/office/drawing/2014/main" id="{8C8A7585-3033-A65F-F041-A1BC61EBC4D8}"/>
              </a:ext>
            </a:extLst>
          </p:cNvPr>
          <p:cNvPicPr>
            <a:picLocks noChangeAspect="1"/>
          </p:cNvPicPr>
          <p:nvPr/>
        </p:nvPicPr>
        <p:blipFill>
          <a:blip r:embed="rId2"/>
          <a:stretch>
            <a:fillRect/>
          </a:stretch>
        </p:blipFill>
        <p:spPr>
          <a:xfrm>
            <a:off x="1674882" y="1132780"/>
            <a:ext cx="1222235" cy="1210369"/>
          </a:xfrm>
          <a:prstGeom prst="rect">
            <a:avLst/>
          </a:prstGeom>
        </p:spPr>
      </p:pic>
    </p:spTree>
    <p:extLst>
      <p:ext uri="{BB962C8B-B14F-4D97-AF65-F5344CB8AC3E}">
        <p14:creationId xmlns:p14="http://schemas.microsoft.com/office/powerpoint/2010/main" val="17390298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44630B-3B01-60ED-51A3-08883EB3F9FA}"/>
              </a:ext>
            </a:extLst>
          </p:cNvPr>
          <p:cNvSpPr txBox="1"/>
          <p:nvPr/>
        </p:nvSpPr>
        <p:spPr>
          <a:xfrm>
            <a:off x="301215" y="881354"/>
            <a:ext cx="3969569" cy="768415"/>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As airspeed increases _________ drag increases.</a:t>
            </a:r>
          </a:p>
          <a:p>
            <a:pPr marL="0" marR="0" algn="ctr">
              <a:lnSpc>
                <a:spcPct val="107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FAA-H-8083-25, Ch 5</a:t>
            </a:r>
          </a:p>
        </p:txBody>
      </p:sp>
      <p:sp>
        <p:nvSpPr>
          <p:cNvPr id="4" name="TextBox 3">
            <a:extLst>
              <a:ext uri="{FF2B5EF4-FFF2-40B4-BE49-F238E27FC236}">
                <a16:creationId xmlns:a16="http://schemas.microsoft.com/office/drawing/2014/main" id="{D75F6BBD-7621-C77A-35B8-3ED24A3EDE0A}"/>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F860D9AC-F690-44B8-BC85-2D580CB0070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718B993-5F8D-31D1-29E3-69876E01E19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98944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102932-CA77-580D-46FC-C43F0F89B3A1}"/>
              </a:ext>
            </a:extLst>
          </p:cNvPr>
          <p:cNvSpPr txBox="1"/>
          <p:nvPr/>
        </p:nvSpPr>
        <p:spPr>
          <a:xfrm>
            <a:off x="288279" y="344075"/>
            <a:ext cx="3995441" cy="1958678"/>
          </a:xfrm>
          <a:prstGeom prst="rect">
            <a:avLst/>
          </a:prstGeom>
          <a:noFill/>
        </p:spPr>
        <p:txBody>
          <a:bodyPr wrap="square">
            <a:spAutoFit/>
          </a:bodyPr>
          <a:lstStyle/>
          <a:p>
            <a:pPr marL="0" marR="0" algn="ctr">
              <a:lnSpc>
                <a:spcPct val="107000"/>
              </a:lnSpc>
              <a:spcBef>
                <a:spcPts val="0"/>
              </a:spcBef>
              <a:spcAft>
                <a:spcPts val="60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Parasitic drag.</a:t>
            </a:r>
          </a:p>
          <a:p>
            <a:pPr marL="0" marR="0" algn="just">
              <a:lnSpc>
                <a:spcPct val="107000"/>
              </a:lnSpc>
              <a:spcBef>
                <a:spcPts val="0"/>
              </a:spcBef>
              <a:spcAft>
                <a:spcPts val="60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Parasitic drag is created by things hanging out in the slipstream such as landing gear, antennas, rivets, etc. and </a:t>
            </a:r>
            <a:r>
              <a:rPr lang="en-US" sz="1000" dirty="0">
                <a:latin typeface="Times New Roman" panose="02020603050405020304" pitchFamily="18" charset="0"/>
                <a:ea typeface="Calibri" panose="020F0502020204030204" pitchFamily="34" charset="0"/>
                <a:cs typeface="Times New Roman" panose="02020603050405020304" pitchFamily="18" charset="0"/>
              </a:rPr>
              <a:t>is proportional to the square of the airspeed (this is why the drag graph is curved).</a:t>
            </a:r>
          </a:p>
          <a:p>
            <a:pPr marL="0" marR="0" algn="just">
              <a:lnSpc>
                <a:spcPct val="107000"/>
              </a:lnSpc>
              <a:spcBef>
                <a:spcPts val="0"/>
              </a:spcBef>
              <a:spcAft>
                <a:spcPts val="60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Example: hold your hand out your car window. As the car speeds up, the force pushing against your hand increases.</a:t>
            </a:r>
            <a:endParaRPr lang="en-US" sz="10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60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There is a speed at which an aircraft’s total (parasitic plus induced) drag is equal to its total thrust. This speed is the maximum speed the aircraft can fly (not withstanding other limitations such as Vne, over speeding </a:t>
            </a:r>
            <a:r>
              <a:rPr lang="en-US" sz="1000" dirty="0">
                <a:latin typeface="Times New Roman" panose="02020603050405020304" pitchFamily="18" charset="0"/>
                <a:ea typeface="Calibri" panose="020F0502020204030204" pitchFamily="34" charset="0"/>
                <a:cs typeface="Times New Roman" panose="02020603050405020304" pitchFamily="18" charset="0"/>
              </a:rPr>
              <a:t>the </a:t>
            </a: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gear, etc.)</a:t>
            </a:r>
          </a:p>
        </p:txBody>
      </p:sp>
      <p:sp>
        <p:nvSpPr>
          <p:cNvPr id="4" name="TextBox 3">
            <a:extLst>
              <a:ext uri="{FF2B5EF4-FFF2-40B4-BE49-F238E27FC236}">
                <a16:creationId xmlns:a16="http://schemas.microsoft.com/office/drawing/2014/main" id="{6CB377D8-EA83-5685-252C-8C656846770F}"/>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4000711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44630B-3B01-60ED-51A3-08883EB3F9FA}"/>
              </a:ext>
            </a:extLst>
          </p:cNvPr>
          <p:cNvSpPr txBox="1"/>
          <p:nvPr/>
        </p:nvSpPr>
        <p:spPr>
          <a:xfrm>
            <a:off x="301215" y="1102648"/>
            <a:ext cx="3969569"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At what height is ground effect more pronounced?</a:t>
            </a:r>
          </a:p>
          <a:p>
            <a:pPr algn="ctr">
              <a:lnSpc>
                <a:spcPct val="107000"/>
              </a:lnSpc>
            </a:pPr>
            <a:r>
              <a:rPr lang="en-US" sz="1400" dirty="0">
                <a:latin typeface="Times New Roman" panose="02020603050405020304" pitchFamily="18" charset="0"/>
                <a:cs typeface="Times New Roman" panose="02020603050405020304" pitchFamily="18" charset="0"/>
              </a:rPr>
              <a:t>FAA-H-8083-3C, Ch 3</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75F6BBD-7621-C77A-35B8-3ED24A3EDE0A}"/>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2BDDFD23-07EA-ADC2-1360-9457DF03CE5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43CB381-75D4-7869-240E-D6E023A5B6E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175166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102932-CA77-580D-46FC-C43F0F89B3A1}"/>
              </a:ext>
            </a:extLst>
          </p:cNvPr>
          <p:cNvSpPr txBox="1"/>
          <p:nvPr/>
        </p:nvSpPr>
        <p:spPr>
          <a:xfrm>
            <a:off x="418402" y="410966"/>
            <a:ext cx="3735196" cy="1067087"/>
          </a:xfrm>
          <a:prstGeom prst="rect">
            <a:avLst/>
          </a:prstGeom>
          <a:noFill/>
        </p:spPr>
        <p:txBody>
          <a:bodyPr wrap="square">
            <a:spAutoFit/>
          </a:bodyPr>
          <a:lstStyle/>
          <a:p>
            <a:pPr marL="0" marR="0" algn="ctr">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When within one wingspan or less from the ground.</a:t>
            </a:r>
          </a:p>
          <a:p>
            <a:pPr marL="0" marR="0" algn="ctr">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At one half wingspan, induced drag is reduced by 25%. </a:t>
            </a:r>
            <a:r>
              <a:rPr lang="en-US" sz="1200" dirty="0">
                <a:latin typeface="Times New Roman" panose="02020603050405020304" pitchFamily="18" charset="0"/>
                <a:ea typeface="Calibri" panose="020F0502020204030204" pitchFamily="34" charset="0"/>
                <a:cs typeface="Times New Roman" panose="02020603050405020304" pitchFamily="18" charset="0"/>
              </a:rPr>
              <a:t>At one tenth of a wingspan, induced drag is reduced by as much as 50%.</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CB377D8-EA83-5685-252C-8C656846770F}"/>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pic>
        <p:nvPicPr>
          <p:cNvPr id="7" name="Picture 6">
            <a:extLst>
              <a:ext uri="{FF2B5EF4-FFF2-40B4-BE49-F238E27FC236}">
                <a16:creationId xmlns:a16="http://schemas.microsoft.com/office/drawing/2014/main" id="{38790BEA-436C-4BA5-0D34-1CD5CFC8BC29}"/>
              </a:ext>
            </a:extLst>
          </p:cNvPr>
          <p:cNvPicPr>
            <a:picLocks noChangeAspect="1"/>
          </p:cNvPicPr>
          <p:nvPr/>
        </p:nvPicPr>
        <p:blipFill>
          <a:blip r:embed="rId2"/>
          <a:stretch>
            <a:fillRect/>
          </a:stretch>
        </p:blipFill>
        <p:spPr>
          <a:xfrm>
            <a:off x="1649892" y="1371600"/>
            <a:ext cx="1272215" cy="1272215"/>
          </a:xfrm>
          <a:prstGeom prst="rect">
            <a:avLst/>
          </a:prstGeom>
        </p:spPr>
      </p:pic>
    </p:spTree>
    <p:extLst>
      <p:ext uri="{BB962C8B-B14F-4D97-AF65-F5344CB8AC3E}">
        <p14:creationId xmlns:p14="http://schemas.microsoft.com/office/powerpoint/2010/main" val="24932259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44630B-3B01-60ED-51A3-08883EB3F9FA}"/>
              </a:ext>
            </a:extLst>
          </p:cNvPr>
          <p:cNvSpPr txBox="1"/>
          <p:nvPr/>
        </p:nvSpPr>
        <p:spPr>
          <a:xfrm>
            <a:off x="301215" y="756880"/>
            <a:ext cx="3969569" cy="122943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are about to go out and do some spin training in your spin certified aircraft. You notice a few items in the aft luggage compartment. They are not needed for the flight. Should you remove them or leave them there?</a:t>
            </a:r>
          </a:p>
        </p:txBody>
      </p:sp>
      <p:sp>
        <p:nvSpPr>
          <p:cNvPr id="4" name="TextBox 3">
            <a:extLst>
              <a:ext uri="{FF2B5EF4-FFF2-40B4-BE49-F238E27FC236}">
                <a16:creationId xmlns:a16="http://schemas.microsoft.com/office/drawing/2014/main" id="{D75F6BBD-7621-C77A-35B8-3ED24A3EDE0A}"/>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
        <p:nvSpPr>
          <p:cNvPr id="2" name="Rectangle 1">
            <a:extLst>
              <a:ext uri="{FF2B5EF4-FFF2-40B4-BE49-F238E27FC236}">
                <a16:creationId xmlns:a16="http://schemas.microsoft.com/office/drawing/2014/main" id="{2CD7B1C9-4F0B-8584-37FA-0190EA82C85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91913F0-9799-A1AA-8649-A25F109FC53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5463028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102932-CA77-580D-46FC-C43F0F89B3A1}"/>
              </a:ext>
            </a:extLst>
          </p:cNvPr>
          <p:cNvSpPr txBox="1"/>
          <p:nvPr/>
        </p:nvSpPr>
        <p:spPr>
          <a:xfrm>
            <a:off x="254000" y="739247"/>
            <a:ext cx="4063999" cy="1264705"/>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As always, refer to your POH/AFM but </a:t>
            </a:r>
            <a:r>
              <a:rPr lang="en-US" sz="1200" dirty="0">
                <a:latin typeface="Times New Roman" panose="02020603050405020304" pitchFamily="18" charset="0"/>
                <a:ea typeface="Calibri" panose="020F0502020204030204" pitchFamily="34" charset="0"/>
                <a:cs typeface="Times New Roman" panose="02020603050405020304" pitchFamily="18" charset="0"/>
              </a:rPr>
              <a:t>g</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enerally speaking, during any acrobatics or spins, you want as much forward CG as possible. Remember, a forward CG is more stable and recovers easier in the event of an out of control situation. So, unless there is an overriding factor, you should either remove them or at least move them forward. Be sure they are secured!</a:t>
            </a:r>
          </a:p>
        </p:txBody>
      </p:sp>
      <p:sp>
        <p:nvSpPr>
          <p:cNvPr id="4" name="TextBox 3">
            <a:extLst>
              <a:ext uri="{FF2B5EF4-FFF2-40B4-BE49-F238E27FC236}">
                <a16:creationId xmlns:a16="http://schemas.microsoft.com/office/drawing/2014/main" id="{6CB377D8-EA83-5685-252C-8C656846770F}"/>
              </a:ext>
            </a:extLst>
          </p:cNvPr>
          <p:cNvSpPr txBox="1"/>
          <p:nvPr/>
        </p:nvSpPr>
        <p:spPr>
          <a:xfrm>
            <a:off x="62705" y="63351"/>
            <a:ext cx="968535"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Aerodynamics</a:t>
            </a:r>
          </a:p>
        </p:txBody>
      </p:sp>
    </p:spTree>
    <p:extLst>
      <p:ext uri="{BB962C8B-B14F-4D97-AF65-F5344CB8AC3E}">
        <p14:creationId xmlns:p14="http://schemas.microsoft.com/office/powerpoint/2010/main" val="169011745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8501</TotalTime>
  <Words>2289</Words>
  <Application>Microsoft Office PowerPoint</Application>
  <PresentationFormat>Custom</PresentationFormat>
  <Paragraphs>293</Paragraphs>
  <Slides>72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72</vt:i4>
      </vt:variant>
    </vt:vector>
  </HeadingPairs>
  <TitlesOfParts>
    <vt:vector size="79" baseType="lpstr">
      <vt:lpstr>Arial</vt:lpstr>
      <vt:lpstr>Calibri</vt:lpstr>
      <vt:lpstr>Cambria Math</vt:lpstr>
      <vt:lpstr>Segoe UI Semibold</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2025-11-08T22:00:25Z</dcterms:modified>
</cp:coreProperties>
</file>